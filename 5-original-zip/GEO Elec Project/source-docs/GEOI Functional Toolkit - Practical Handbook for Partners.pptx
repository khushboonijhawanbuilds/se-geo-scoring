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4.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5.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 id="2147484352" r:id="rId5"/>
    <p:sldMasterId id="2147484378" r:id="rId6"/>
    <p:sldMasterId id="2147484455" r:id="rId7"/>
    <p:sldMasterId id="2147484476" r:id="rId8"/>
    <p:sldMasterId id="2147484504" r:id="rId9"/>
  </p:sldMasterIdLst>
  <p:notesMasterIdLst>
    <p:notesMasterId r:id="rId155"/>
  </p:notesMasterIdLst>
  <p:handoutMasterIdLst>
    <p:handoutMasterId r:id="rId156"/>
  </p:handoutMasterIdLst>
  <p:sldIdLst>
    <p:sldId id="256" r:id="rId10"/>
    <p:sldId id="2147471254" r:id="rId11"/>
    <p:sldId id="2147471255" r:id="rId12"/>
    <p:sldId id="2147471252" r:id="rId13"/>
    <p:sldId id="2147471249" r:id="rId14"/>
    <p:sldId id="372" r:id="rId15"/>
    <p:sldId id="273" r:id="rId16"/>
    <p:sldId id="393" r:id="rId17"/>
    <p:sldId id="365" r:id="rId18"/>
    <p:sldId id="2147471256" r:id="rId19"/>
    <p:sldId id="343" r:id="rId20"/>
    <p:sldId id="385" r:id="rId21"/>
    <p:sldId id="258" r:id="rId22"/>
    <p:sldId id="340" r:id="rId23"/>
    <p:sldId id="341" r:id="rId24"/>
    <p:sldId id="344" r:id="rId25"/>
    <p:sldId id="342" r:id="rId26"/>
    <p:sldId id="381" r:id="rId27"/>
    <p:sldId id="382" r:id="rId28"/>
    <p:sldId id="350" r:id="rId29"/>
    <p:sldId id="349" r:id="rId30"/>
    <p:sldId id="2147471257" r:id="rId31"/>
    <p:sldId id="2147377983" r:id="rId32"/>
    <p:sldId id="257" r:id="rId33"/>
    <p:sldId id="259" r:id="rId34"/>
    <p:sldId id="261" r:id="rId35"/>
    <p:sldId id="260" r:id="rId36"/>
    <p:sldId id="262" r:id="rId37"/>
    <p:sldId id="263" r:id="rId38"/>
    <p:sldId id="265" r:id="rId39"/>
    <p:sldId id="266" r:id="rId40"/>
    <p:sldId id="267" r:id="rId41"/>
    <p:sldId id="264" r:id="rId42"/>
    <p:sldId id="268" r:id="rId43"/>
    <p:sldId id="269" r:id="rId44"/>
    <p:sldId id="303" r:id="rId45"/>
    <p:sldId id="348" r:id="rId46"/>
    <p:sldId id="270" r:id="rId47"/>
    <p:sldId id="292" r:id="rId48"/>
    <p:sldId id="293" r:id="rId49"/>
    <p:sldId id="281" r:id="rId50"/>
    <p:sldId id="282" r:id="rId51"/>
    <p:sldId id="283" r:id="rId52"/>
    <p:sldId id="289" r:id="rId53"/>
    <p:sldId id="347" r:id="rId54"/>
    <p:sldId id="271" r:id="rId55"/>
    <p:sldId id="287" r:id="rId56"/>
    <p:sldId id="317" r:id="rId57"/>
    <p:sldId id="356" r:id="rId58"/>
    <p:sldId id="358" r:id="rId59"/>
    <p:sldId id="359" r:id="rId60"/>
    <p:sldId id="360" r:id="rId61"/>
    <p:sldId id="362" r:id="rId62"/>
    <p:sldId id="345" r:id="rId63"/>
    <p:sldId id="364" r:id="rId64"/>
    <p:sldId id="390" r:id="rId65"/>
    <p:sldId id="286" r:id="rId66"/>
    <p:sldId id="272" r:id="rId67"/>
    <p:sldId id="304" r:id="rId68"/>
    <p:sldId id="309" r:id="rId69"/>
    <p:sldId id="290" r:id="rId70"/>
    <p:sldId id="295" r:id="rId71"/>
    <p:sldId id="296" r:id="rId72"/>
    <p:sldId id="346" r:id="rId73"/>
    <p:sldId id="274" r:id="rId74"/>
    <p:sldId id="324" r:id="rId75"/>
    <p:sldId id="331" r:id="rId76"/>
    <p:sldId id="288" r:id="rId77"/>
    <p:sldId id="321" r:id="rId78"/>
    <p:sldId id="333" r:id="rId79"/>
    <p:sldId id="334" r:id="rId80"/>
    <p:sldId id="335" r:id="rId81"/>
    <p:sldId id="336" r:id="rId82"/>
    <p:sldId id="323" r:id="rId83"/>
    <p:sldId id="322" r:id="rId84"/>
    <p:sldId id="332" r:id="rId85"/>
    <p:sldId id="314" r:id="rId86"/>
    <p:sldId id="325" r:id="rId87"/>
    <p:sldId id="326" r:id="rId88"/>
    <p:sldId id="327" r:id="rId89"/>
    <p:sldId id="328" r:id="rId90"/>
    <p:sldId id="329" r:id="rId91"/>
    <p:sldId id="330" r:id="rId92"/>
    <p:sldId id="337" r:id="rId93"/>
    <p:sldId id="338" r:id="rId94"/>
    <p:sldId id="339" r:id="rId95"/>
    <p:sldId id="320" r:id="rId96"/>
    <p:sldId id="275" r:id="rId97"/>
    <p:sldId id="388" r:id="rId98"/>
    <p:sldId id="305" r:id="rId99"/>
    <p:sldId id="361" r:id="rId100"/>
    <p:sldId id="397" r:id="rId101"/>
    <p:sldId id="297" r:id="rId102"/>
    <p:sldId id="318" r:id="rId103"/>
    <p:sldId id="319" r:id="rId104"/>
    <p:sldId id="299" r:id="rId105"/>
    <p:sldId id="301" r:id="rId106"/>
    <p:sldId id="310" r:id="rId107"/>
    <p:sldId id="302" r:id="rId108"/>
    <p:sldId id="316" r:id="rId109"/>
    <p:sldId id="311" r:id="rId110"/>
    <p:sldId id="313" r:id="rId111"/>
    <p:sldId id="312" r:id="rId112"/>
    <p:sldId id="276" r:id="rId113"/>
    <p:sldId id="373" r:id="rId114"/>
    <p:sldId id="374" r:id="rId115"/>
    <p:sldId id="383" r:id="rId116"/>
    <p:sldId id="306" r:id="rId117"/>
    <p:sldId id="376" r:id="rId118"/>
    <p:sldId id="375" r:id="rId119"/>
    <p:sldId id="277" r:id="rId120"/>
    <p:sldId id="377" r:id="rId121"/>
    <p:sldId id="378" r:id="rId122"/>
    <p:sldId id="307" r:id="rId123"/>
    <p:sldId id="380" r:id="rId124"/>
    <p:sldId id="379" r:id="rId125"/>
    <p:sldId id="278" r:id="rId126"/>
    <p:sldId id="369" r:id="rId127"/>
    <p:sldId id="308" r:id="rId128"/>
    <p:sldId id="370" r:id="rId129"/>
    <p:sldId id="371" r:id="rId130"/>
    <p:sldId id="387" r:id="rId131"/>
    <p:sldId id="279" r:id="rId132"/>
    <p:sldId id="357" r:id="rId133"/>
    <p:sldId id="386" r:id="rId134"/>
    <p:sldId id="353" r:id="rId135"/>
    <p:sldId id="355" r:id="rId136"/>
    <p:sldId id="291" r:id="rId137"/>
    <p:sldId id="384" r:id="rId138"/>
    <p:sldId id="389" r:id="rId139"/>
    <p:sldId id="391" r:id="rId140"/>
    <p:sldId id="363" r:id="rId141"/>
    <p:sldId id="294" r:id="rId142"/>
    <p:sldId id="354" r:id="rId143"/>
    <p:sldId id="280" r:id="rId144"/>
    <p:sldId id="298" r:id="rId145"/>
    <p:sldId id="285" r:id="rId146"/>
    <p:sldId id="300" r:id="rId147"/>
    <p:sldId id="367" r:id="rId148"/>
    <p:sldId id="368" r:id="rId149"/>
    <p:sldId id="352" r:id="rId150"/>
    <p:sldId id="284" r:id="rId151"/>
    <p:sldId id="351" r:id="rId152"/>
    <p:sldId id="315" r:id="rId153"/>
    <p:sldId id="366" r:id="rId154"/>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O Functional Toolkit" id="{6F00664B-8B47-4D8E-9DA6-76B6ACC1CFD8}">
          <p14:sldIdLst>
            <p14:sldId id="256"/>
            <p14:sldId id="2147471254"/>
            <p14:sldId id="2147471255"/>
          </p14:sldIdLst>
        </p14:section>
        <p14:section name="Chapter 1: Short Introduction to GEO" id="{0D5A1802-2838-48CC-BEA0-315DD36E358E}">
          <p14:sldIdLst>
            <p14:sldId id="2147471252"/>
            <p14:sldId id="2147471249"/>
            <p14:sldId id="372"/>
            <p14:sldId id="273"/>
            <p14:sldId id="393"/>
            <p14:sldId id="365"/>
          </p14:sldIdLst>
        </p14:section>
        <p14:section name="Chapter 2: Prompt Research" id="{C71A0E4D-595D-4FEF-A331-2C98354CA84C}">
          <p14:sldIdLst>
            <p14:sldId id="2147471256"/>
            <p14:sldId id="343"/>
            <p14:sldId id="385"/>
            <p14:sldId id="258"/>
            <p14:sldId id="340"/>
            <p14:sldId id="341"/>
            <p14:sldId id="344"/>
            <p14:sldId id="342"/>
            <p14:sldId id="381"/>
            <p14:sldId id="382"/>
            <p14:sldId id="350"/>
            <p14:sldId id="349"/>
          </p14:sldIdLst>
        </p14:section>
        <p14:section name="Chapter 3: Universal GEO Content Writing Rules" id="{4CAA5B2D-76C4-407B-9DC9-126CF410451A}">
          <p14:sldIdLst>
            <p14:sldId id="2147471257"/>
            <p14:sldId id="2147377983"/>
            <p14:sldId id="257"/>
            <p14:sldId id="259"/>
            <p14:sldId id="261"/>
            <p14:sldId id="260"/>
            <p14:sldId id="262"/>
            <p14:sldId id="263"/>
            <p14:sldId id="265"/>
            <p14:sldId id="266"/>
            <p14:sldId id="267"/>
            <p14:sldId id="264"/>
            <p14:sldId id="268"/>
            <p14:sldId id="269"/>
            <p14:sldId id="303"/>
            <p14:sldId id="348"/>
          </p14:sldIdLst>
        </p14:section>
        <p14:section name="Chapter 4: GEO Optimized Images" id="{2D468C7C-7AD3-448A-8C0D-2E42A4C1DBCF}">
          <p14:sldIdLst>
            <p14:sldId id="270"/>
            <p14:sldId id="292"/>
            <p14:sldId id="293"/>
            <p14:sldId id="281"/>
            <p14:sldId id="282"/>
            <p14:sldId id="283"/>
            <p14:sldId id="289"/>
            <p14:sldId id="347"/>
          </p14:sldIdLst>
        </p14:section>
        <p14:section name="Chapter 5: GEO Optimized Videos" id="{3937C62B-2E10-4492-89A4-08148546B1C0}">
          <p14:sldIdLst>
            <p14:sldId id="271"/>
            <p14:sldId id="287"/>
            <p14:sldId id="317"/>
            <p14:sldId id="356"/>
            <p14:sldId id="358"/>
            <p14:sldId id="359"/>
            <p14:sldId id="360"/>
            <p14:sldId id="362"/>
            <p14:sldId id="345"/>
            <p14:sldId id="364"/>
            <p14:sldId id="390"/>
            <p14:sldId id="286"/>
          </p14:sldIdLst>
        </p14:section>
        <p14:section name="Chapter 6: GEO Optimized FAQ" id="{D7F5A4A0-D1DA-4F6A-B738-147196A48438}">
          <p14:sldIdLst>
            <p14:sldId id="272"/>
            <p14:sldId id="304"/>
            <p14:sldId id="309"/>
            <p14:sldId id="290"/>
            <p14:sldId id="295"/>
            <p14:sldId id="296"/>
            <p14:sldId id="346"/>
          </p14:sldIdLst>
        </p14:section>
        <p14:section name="Chapter 7: GEO Optimized Documents" id="{3D168F4A-14FE-4832-95B6-038F96B24F68}">
          <p14:sldIdLst>
            <p14:sldId id="274"/>
            <p14:sldId id="324"/>
            <p14:sldId id="331"/>
            <p14:sldId id="288"/>
            <p14:sldId id="321"/>
            <p14:sldId id="333"/>
            <p14:sldId id="334"/>
            <p14:sldId id="335"/>
            <p14:sldId id="336"/>
            <p14:sldId id="323"/>
            <p14:sldId id="322"/>
            <p14:sldId id="332"/>
          </p14:sldIdLst>
        </p14:section>
        <p14:section name="Chapter 8: GEO Optimized Blogs" id="{118B568A-FABA-4D0C-9199-B10096ED161A}">
          <p14:sldIdLst>
            <p14:sldId id="314"/>
            <p14:sldId id="325"/>
            <p14:sldId id="326"/>
            <p14:sldId id="327"/>
            <p14:sldId id="328"/>
            <p14:sldId id="329"/>
            <p14:sldId id="330"/>
            <p14:sldId id="337"/>
            <p14:sldId id="338"/>
            <p14:sldId id="339"/>
            <p14:sldId id="320"/>
          </p14:sldIdLst>
        </p14:section>
        <p14:section name="Chapter 9: Prompt into Content – Content Reverse Engineering" id="{5449B4A1-642E-4FBE-A593-AF85FB1BB3E4}">
          <p14:sldIdLst>
            <p14:sldId id="275"/>
            <p14:sldId id="388"/>
            <p14:sldId id="305"/>
            <p14:sldId id="361"/>
            <p14:sldId id="397"/>
            <p14:sldId id="297"/>
            <p14:sldId id="318"/>
            <p14:sldId id="319"/>
            <p14:sldId id="299"/>
            <p14:sldId id="301"/>
            <p14:sldId id="310"/>
            <p14:sldId id="302"/>
            <p14:sldId id="316"/>
            <p14:sldId id="311"/>
            <p14:sldId id="313"/>
            <p14:sldId id="312"/>
          </p14:sldIdLst>
        </p14:section>
        <p14:section name="Chapter 10: GEO Optimization with Social Media" id="{99EE2E17-FC8C-4007-AC7E-D8A9638CFDB0}">
          <p14:sldIdLst>
            <p14:sldId id="276"/>
            <p14:sldId id="373"/>
            <p14:sldId id="374"/>
            <p14:sldId id="383"/>
            <p14:sldId id="306"/>
            <p14:sldId id="376"/>
            <p14:sldId id="375"/>
          </p14:sldIdLst>
        </p14:section>
        <p14:section name="Chapter 11: Linking Structure to Enhance GEO – Internal and External" id="{9C707B4B-CB63-4D5F-89E3-F6995B9C9465}">
          <p14:sldIdLst>
            <p14:sldId id="277"/>
            <p14:sldId id="377"/>
            <p14:sldId id="378"/>
            <p14:sldId id="307"/>
            <p14:sldId id="380"/>
            <p14:sldId id="379"/>
          </p14:sldIdLst>
        </p14:section>
        <p14:section name="Chapter 12: Editorial and Product UX design" id="{37D38003-F481-4314-8620-004E52787119}">
          <p14:sldIdLst>
            <p14:sldId id="278"/>
            <p14:sldId id="369"/>
            <p14:sldId id="308"/>
            <p14:sldId id="370"/>
            <p14:sldId id="371"/>
            <p14:sldId id="387"/>
          </p14:sldIdLst>
        </p14:section>
        <p14:section name="Chapter 13: GEO Analytics" id="{BC281E10-ECE3-4D11-B155-E446AC5F23CD}">
          <p14:sldIdLst>
            <p14:sldId id="279"/>
            <p14:sldId id="357"/>
            <p14:sldId id="386"/>
            <p14:sldId id="353"/>
            <p14:sldId id="355"/>
            <p14:sldId id="291"/>
            <p14:sldId id="384"/>
            <p14:sldId id="389"/>
            <p14:sldId id="391"/>
            <p14:sldId id="363"/>
          </p14:sldIdLst>
        </p14:section>
        <p14:section name="Chapter 14: Technical GEO" id="{142860A3-0B89-4275-83A9-938987F5C288}">
          <p14:sldIdLst>
            <p14:sldId id="294"/>
            <p14:sldId id="354"/>
            <p14:sldId id="280"/>
            <p14:sldId id="298"/>
            <p14:sldId id="285"/>
            <p14:sldId id="300"/>
            <p14:sldId id="367"/>
            <p14:sldId id="368"/>
          </p14:sldIdLst>
        </p14:section>
        <p14:section name="Glossary and main contacts" id="{0F85FF29-8A00-4A5E-8B1C-7E9625E404E2}">
          <p14:sldIdLst>
            <p14:sldId id="352"/>
            <p14:sldId id="284"/>
            <p14:sldId id="351"/>
            <p14:sldId id="315"/>
            <p14:sldId id="366"/>
          </p14:sldIdLst>
        </p14:section>
      </p14:section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F2680F-1D09-8329-D6A2-AA37070AD8FD}" name="JAKUB FALKOWSKI" initials="JF" userId="S::SESA327880@se.com::112a280c-1c34-4958-b1ca-adf37efa4f18" providerId="AD"/>
  <p188:author id="{C32A5214-486E-34B6-06C3-0B2B61A86C0B}" name="Shaurya Avasthi" initials="SA" userId="S::sesa634018@se.com::a90e2fe3-2042-4fec-8e8b-8d6f30463c44" providerId="AD"/>
  <p188:author id="{F41BBB43-D7E8-165D-6752-137C0A99B0BD}" name="Kayla Franey" initials="KF" userId="S::sesa750313@se.com::d3e436af-7e18-4265-9a8a-da8154df7406" providerId="AD"/>
  <p188:author id="{EA724794-70AA-082D-342B-8BE393EF59C7}" name="Ayoub Chaiboub" initials="AC" userId="S::sesa808012@se.com::f9ed38ec-3879-42f8-8669-805c35a05594" providerId="AD"/>
  <p188:author id="{BC6530A4-7987-A42C-D37E-B5F168A62CC4}" name="Michel PAGE" initials="MP" userId="S::sesa58241@se.com::c7b81ee4-8d50-4915-9287-f14145c9112d" providerId="AD"/>
  <p188:author id="{34C583A8-BBE8-0848-0EB2-7F29823054C2}" name="Catherine ALARDO" initials="CA" userId="S::sesa22144@se.com::e9e25f33-5435-414d-9640-e1a8e0d32573" providerId="AD"/>
  <p188:author id="{73CC6DCB-C9F8-925C-9B9A-A1667387CBA0}" name="Kelly Frontani" initials="KF" userId="S::SESA500351@se.com::b86289aa-b732-4ed8-b2f4-a9dfd3191c11" providerId="AD"/>
  <p188:author id="{79F5ABCB-E4C2-E6AE-58C4-E1E37F044470}" name="JAKUB FALKOWSKI" initials="JF" userId="S::sesa327880@se.com::112a280c-1c34-4958-b1ca-adf37efa4f18" providerId="AD"/>
  <p188:author id="{5D0F00D3-3DD1-11BB-B510-8570B9D57920}" name="Bartosz ZAK" initials="BZ" userId="S::SESA728480@se.com::f87eead4-83d5-45cb-a545-174aa01641b6" providerId="AD"/>
  <p188:author id="{C5B409D3-46AE-6294-98DE-00E635DE6181}" name="Tremain JENNINGS" initials="TJ" userId="S::SESA5098@se.com::232a96aa-9320-4f1f-b89e-4aac8425eb0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9530"/>
    <a:srgbClr val="3DCD58"/>
    <a:srgbClr val="36C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EFD10-D51F-14D9-2B87-8221EAC2F564}" v="6" dt="2026-10-07T07:44:59.7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63" Type="http://schemas.openxmlformats.org/officeDocument/2006/relationships/slide" Target="slides/slide54.xml"/><Relationship Id="rId84" Type="http://schemas.openxmlformats.org/officeDocument/2006/relationships/slide" Target="slides/slide75.xml"/><Relationship Id="rId138" Type="http://schemas.openxmlformats.org/officeDocument/2006/relationships/slide" Target="slides/slide129.xml"/><Relationship Id="rId159" Type="http://schemas.openxmlformats.org/officeDocument/2006/relationships/viewProps" Target="viewProps.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53" Type="http://schemas.openxmlformats.org/officeDocument/2006/relationships/slide" Target="slides/slide44.xml"/><Relationship Id="rId74" Type="http://schemas.openxmlformats.org/officeDocument/2006/relationships/slide" Target="slides/slide65.xml"/><Relationship Id="rId128" Type="http://schemas.openxmlformats.org/officeDocument/2006/relationships/slide" Target="slides/slide119.xml"/><Relationship Id="rId149" Type="http://schemas.openxmlformats.org/officeDocument/2006/relationships/slide" Target="slides/slide140.xml"/><Relationship Id="rId5" Type="http://schemas.openxmlformats.org/officeDocument/2006/relationships/slideMaster" Target="slideMasters/slideMaster2.xml"/><Relationship Id="rId95" Type="http://schemas.openxmlformats.org/officeDocument/2006/relationships/slide" Target="slides/slide86.xml"/><Relationship Id="rId160" Type="http://schemas.openxmlformats.org/officeDocument/2006/relationships/theme" Target="theme/theme1.xml"/><Relationship Id="rId22" Type="http://schemas.openxmlformats.org/officeDocument/2006/relationships/slide" Target="slides/slide13.xml"/><Relationship Id="rId43" Type="http://schemas.openxmlformats.org/officeDocument/2006/relationships/slide" Target="slides/slide34.xml"/><Relationship Id="rId64" Type="http://schemas.openxmlformats.org/officeDocument/2006/relationships/slide" Target="slides/slide55.xml"/><Relationship Id="rId118" Type="http://schemas.openxmlformats.org/officeDocument/2006/relationships/slide" Target="slides/slide109.xml"/><Relationship Id="rId139" Type="http://schemas.openxmlformats.org/officeDocument/2006/relationships/slide" Target="slides/slide130.xml"/><Relationship Id="rId85" Type="http://schemas.openxmlformats.org/officeDocument/2006/relationships/slide" Target="slides/slide76.xml"/><Relationship Id="rId150" Type="http://schemas.openxmlformats.org/officeDocument/2006/relationships/slide" Target="slides/slide141.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openxmlformats.org/officeDocument/2006/relationships/slide" Target="slides/slide115.xml"/><Relationship Id="rId129" Type="http://schemas.openxmlformats.org/officeDocument/2006/relationships/slide" Target="slides/slide120.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40" Type="http://schemas.openxmlformats.org/officeDocument/2006/relationships/slide" Target="slides/slide131.xml"/><Relationship Id="rId145" Type="http://schemas.openxmlformats.org/officeDocument/2006/relationships/slide" Target="slides/slide136.xml"/><Relationship Id="rId16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130" Type="http://schemas.openxmlformats.org/officeDocument/2006/relationships/slide" Target="slides/slide121.xml"/><Relationship Id="rId135" Type="http://schemas.openxmlformats.org/officeDocument/2006/relationships/slide" Target="slides/slide126.xml"/><Relationship Id="rId151" Type="http://schemas.openxmlformats.org/officeDocument/2006/relationships/slide" Target="slides/slide142.xml"/><Relationship Id="rId156" Type="http://schemas.openxmlformats.org/officeDocument/2006/relationships/handoutMaster" Target="handoutMasters/handoutMaster1.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slide" Target="slides/slide116.xml"/><Relationship Id="rId141" Type="http://schemas.openxmlformats.org/officeDocument/2006/relationships/slide" Target="slides/slide132.xml"/><Relationship Id="rId146" Type="http://schemas.openxmlformats.org/officeDocument/2006/relationships/slide" Target="slides/slide137.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16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131" Type="http://schemas.openxmlformats.org/officeDocument/2006/relationships/slide" Target="slides/slide122.xml"/><Relationship Id="rId136" Type="http://schemas.openxmlformats.org/officeDocument/2006/relationships/slide" Target="slides/slide127.xml"/><Relationship Id="rId157" Type="http://schemas.openxmlformats.org/officeDocument/2006/relationships/commentAuthors" Target="commentAuthors.xml"/><Relationship Id="rId61" Type="http://schemas.openxmlformats.org/officeDocument/2006/relationships/slide" Target="slides/slide52.xml"/><Relationship Id="rId82" Type="http://schemas.openxmlformats.org/officeDocument/2006/relationships/slide" Target="slides/slide73.xml"/><Relationship Id="rId152" Type="http://schemas.openxmlformats.org/officeDocument/2006/relationships/slide" Target="slides/slide14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slide" Target="slides/slide117.xml"/><Relationship Id="rId147" Type="http://schemas.openxmlformats.org/officeDocument/2006/relationships/slide" Target="slides/slide138.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142" Type="http://schemas.openxmlformats.org/officeDocument/2006/relationships/slide" Target="slides/slide133.xml"/><Relationship Id="rId163" Type="http://schemas.microsoft.com/office/2018/10/relationships/authors" Target="authors.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137" Type="http://schemas.openxmlformats.org/officeDocument/2006/relationships/slide" Target="slides/slide128.xml"/><Relationship Id="rId158" Type="http://schemas.openxmlformats.org/officeDocument/2006/relationships/presProps" Target="presProps.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32" Type="http://schemas.openxmlformats.org/officeDocument/2006/relationships/slide" Target="slides/slide123.xml"/><Relationship Id="rId153" Type="http://schemas.openxmlformats.org/officeDocument/2006/relationships/slide" Target="slides/slide144.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slide" Target="slides/slide118.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slide" Target="slides/slide113.xml"/><Relationship Id="rId143" Type="http://schemas.openxmlformats.org/officeDocument/2006/relationships/slide" Target="slides/slide134.xml"/><Relationship Id="rId148" Type="http://schemas.openxmlformats.org/officeDocument/2006/relationships/slide" Target="slides/slide139.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7.xml"/><Relationship Id="rId47" Type="http://schemas.openxmlformats.org/officeDocument/2006/relationships/slide" Target="slides/slide38.xml"/><Relationship Id="rId68" Type="http://schemas.openxmlformats.org/officeDocument/2006/relationships/slide" Target="slides/slide59.xml"/><Relationship Id="rId89" Type="http://schemas.openxmlformats.org/officeDocument/2006/relationships/slide" Target="slides/slide80.xml"/><Relationship Id="rId112" Type="http://schemas.openxmlformats.org/officeDocument/2006/relationships/slide" Target="slides/slide103.xml"/><Relationship Id="rId133" Type="http://schemas.openxmlformats.org/officeDocument/2006/relationships/slide" Target="slides/slide124.xml"/><Relationship Id="rId154" Type="http://schemas.openxmlformats.org/officeDocument/2006/relationships/slide" Target="slides/slide145.xml"/><Relationship Id="rId16" Type="http://schemas.openxmlformats.org/officeDocument/2006/relationships/slide" Target="slides/slide7.xml"/><Relationship Id="rId37" Type="http://schemas.openxmlformats.org/officeDocument/2006/relationships/slide" Target="slides/slide28.xml"/><Relationship Id="rId58" Type="http://schemas.openxmlformats.org/officeDocument/2006/relationships/slide" Target="slides/slide49.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slide" Target="slides/slide114.xml"/><Relationship Id="rId144" Type="http://schemas.openxmlformats.org/officeDocument/2006/relationships/slide" Target="slides/slide135.xml"/><Relationship Id="rId90" Type="http://schemas.openxmlformats.org/officeDocument/2006/relationships/slide" Target="slides/slide81.xml"/><Relationship Id="rId27" Type="http://schemas.openxmlformats.org/officeDocument/2006/relationships/slide" Target="slides/slide18.xml"/><Relationship Id="rId48" Type="http://schemas.openxmlformats.org/officeDocument/2006/relationships/slide" Target="slides/slide39.xml"/><Relationship Id="rId69" Type="http://schemas.openxmlformats.org/officeDocument/2006/relationships/slide" Target="slides/slide60.xml"/><Relationship Id="rId113" Type="http://schemas.openxmlformats.org/officeDocument/2006/relationships/slide" Target="slides/slide104.xml"/><Relationship Id="rId134" Type="http://schemas.openxmlformats.org/officeDocument/2006/relationships/slide" Target="slides/slide125.xml"/><Relationship Id="rId80" Type="http://schemas.openxmlformats.org/officeDocument/2006/relationships/slide" Target="slides/slide71.xml"/><Relationship Id="rId15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EC77B3-1926-49A1-A28D-2400BF0E7EFE}" type="doc">
      <dgm:prSet loTypeId="urn:microsoft.com/office/officeart/2005/8/layout/radial6" loCatId="cycle" qsTypeId="urn:microsoft.com/office/officeart/2005/8/quickstyle/simple1#1" qsCatId="simple" csTypeId="urn:microsoft.com/office/officeart/2005/8/colors/accent1_2#1" csCatId="accent1" phldr="1"/>
      <dgm:spPr/>
      <dgm:t>
        <a:bodyPr/>
        <a:lstStyle/>
        <a:p>
          <a:endParaRPr lang="pl-PL"/>
        </a:p>
      </dgm:t>
    </dgm:pt>
    <dgm:pt modelId="{7915E84C-161A-496D-A588-B57673FDB7B7}">
      <dgm:prSet phldrT="[Text]" phldr="0" custT="1"/>
      <dgm:spPr>
        <a:solidFill>
          <a:schemeClr val="accent5"/>
        </a:solidFill>
        <a:ln>
          <a:solidFill>
            <a:schemeClr val="tx1"/>
          </a:solidFill>
        </a:ln>
      </dgm:spPr>
      <dgm:t>
        <a:bodyPr/>
        <a:lstStyle/>
        <a:p>
          <a:r>
            <a:rPr lang="pl-PL" sz="2000" b="1">
              <a:solidFill>
                <a:schemeClr val="tx1"/>
              </a:solidFill>
            </a:rPr>
            <a:t>GEO</a:t>
          </a:r>
        </a:p>
      </dgm:t>
    </dgm:pt>
    <dgm:pt modelId="{BDB4B50F-DA66-4D68-8AC4-CD47D8298A9A}" type="parTrans" cxnId="{B399375D-981C-4A55-A0EF-8308E41684E5}">
      <dgm:prSet/>
      <dgm:spPr/>
      <dgm:t>
        <a:bodyPr/>
        <a:lstStyle/>
        <a:p>
          <a:endParaRPr lang="pl-PL"/>
        </a:p>
      </dgm:t>
    </dgm:pt>
    <dgm:pt modelId="{EF780C8D-6353-420E-82FC-F1C20A3BD884}" type="sibTrans" cxnId="{B399375D-981C-4A55-A0EF-8308E41684E5}">
      <dgm:prSet/>
      <dgm:spPr/>
      <dgm:t>
        <a:bodyPr/>
        <a:lstStyle/>
        <a:p>
          <a:endParaRPr lang="pl-PL"/>
        </a:p>
      </dgm:t>
    </dgm:pt>
    <dgm:pt modelId="{282D2B1C-1B58-485A-B339-58E5C1F9B083}">
      <dgm:prSet phldrT="[Text]" phldr="0"/>
      <dgm:spPr>
        <a:solidFill>
          <a:schemeClr val="tx2">
            <a:lumMod val="50000"/>
          </a:schemeClr>
        </a:solidFill>
      </dgm:spPr>
      <dgm:t>
        <a:bodyPr/>
        <a:lstStyle/>
        <a:p>
          <a:r>
            <a:rPr lang="pl-PL" b="1"/>
            <a:t>Analytics </a:t>
          </a:r>
        </a:p>
      </dgm:t>
    </dgm:pt>
    <dgm:pt modelId="{E59CEB2E-5EF5-48DD-8A75-9F079322DBD0}" type="parTrans" cxnId="{F46DE01B-2CED-4EBD-881E-D655BB257869}">
      <dgm:prSet/>
      <dgm:spPr/>
      <dgm:t>
        <a:bodyPr/>
        <a:lstStyle/>
        <a:p>
          <a:endParaRPr lang="pl-PL"/>
        </a:p>
      </dgm:t>
    </dgm:pt>
    <dgm:pt modelId="{BF2F4533-34B0-4536-84AE-00ABDD340714}" type="sibTrans" cxnId="{F46DE01B-2CED-4EBD-881E-D655BB257869}">
      <dgm:prSet/>
      <dgm:spPr/>
      <dgm:t>
        <a:bodyPr/>
        <a:lstStyle/>
        <a:p>
          <a:endParaRPr lang="pl-PL"/>
        </a:p>
      </dgm:t>
    </dgm:pt>
    <dgm:pt modelId="{7588D301-80EF-4B64-B989-E81154AD9DEA}">
      <dgm:prSet phldrT="[Text]" phldr="0"/>
      <dgm:spPr>
        <a:solidFill>
          <a:schemeClr val="tx2">
            <a:lumMod val="75000"/>
          </a:schemeClr>
        </a:solidFill>
      </dgm:spPr>
      <dgm:t>
        <a:bodyPr/>
        <a:lstStyle/>
        <a:p>
          <a:r>
            <a:rPr lang="pl-PL" b="1"/>
            <a:t>Prompt research</a:t>
          </a:r>
        </a:p>
      </dgm:t>
    </dgm:pt>
    <dgm:pt modelId="{80FBD808-5E80-4B62-95DC-CC02BBF20142}" type="parTrans" cxnId="{7F1D024D-7774-4F97-9FAB-2D98379CAD82}">
      <dgm:prSet/>
      <dgm:spPr/>
      <dgm:t>
        <a:bodyPr/>
        <a:lstStyle/>
        <a:p>
          <a:endParaRPr lang="pl-PL"/>
        </a:p>
      </dgm:t>
    </dgm:pt>
    <dgm:pt modelId="{CEA5F27D-4386-489E-A632-6EC7F1DAE9A5}" type="sibTrans" cxnId="{7F1D024D-7774-4F97-9FAB-2D98379CAD82}">
      <dgm:prSet/>
      <dgm:spPr/>
      <dgm:t>
        <a:bodyPr/>
        <a:lstStyle/>
        <a:p>
          <a:endParaRPr lang="pl-PL"/>
        </a:p>
      </dgm:t>
    </dgm:pt>
    <dgm:pt modelId="{EF9F5518-0A3B-4873-86F7-C90C4ED69740}">
      <dgm:prSet phldrT="[Text]" phldr="0"/>
      <dgm:spPr>
        <a:solidFill>
          <a:srgbClr val="36C746"/>
        </a:solidFill>
      </dgm:spPr>
      <dgm:t>
        <a:bodyPr/>
        <a:lstStyle/>
        <a:p>
          <a:r>
            <a:rPr lang="pl-PL" b="1"/>
            <a:t>Content optimization</a:t>
          </a:r>
        </a:p>
      </dgm:t>
    </dgm:pt>
    <dgm:pt modelId="{27535C64-EF1C-4900-8911-0E1D0BE64EEF}" type="parTrans" cxnId="{41A05161-D73C-42E0-83C1-B1CB66967E1B}">
      <dgm:prSet/>
      <dgm:spPr/>
      <dgm:t>
        <a:bodyPr/>
        <a:lstStyle/>
        <a:p>
          <a:endParaRPr lang="pl-PL"/>
        </a:p>
      </dgm:t>
    </dgm:pt>
    <dgm:pt modelId="{CD8BD63D-1F3D-4596-AA9E-B8EB17C79163}" type="sibTrans" cxnId="{41A05161-D73C-42E0-83C1-B1CB66967E1B}">
      <dgm:prSet/>
      <dgm:spPr/>
      <dgm:t>
        <a:bodyPr/>
        <a:lstStyle/>
        <a:p>
          <a:endParaRPr lang="pl-PL"/>
        </a:p>
      </dgm:t>
    </dgm:pt>
    <dgm:pt modelId="{556F6A65-00AA-4DD7-9615-631550E1AFD8}">
      <dgm:prSet phldrT="[Text]" phldr="0"/>
      <dgm:spPr>
        <a:solidFill>
          <a:schemeClr val="tx2">
            <a:lumMod val="75000"/>
          </a:schemeClr>
        </a:solidFill>
      </dgm:spPr>
      <dgm:t>
        <a:bodyPr/>
        <a:lstStyle/>
        <a:p>
          <a:r>
            <a:rPr lang="pl-PL" b="1"/>
            <a:t>UX/UI check</a:t>
          </a:r>
        </a:p>
      </dgm:t>
    </dgm:pt>
    <dgm:pt modelId="{D6D0673D-2924-40B1-BA1B-E49B4DC2E375}" type="parTrans" cxnId="{CC36DDBE-985A-4638-80B9-2A377DA3A9C7}">
      <dgm:prSet/>
      <dgm:spPr/>
      <dgm:t>
        <a:bodyPr/>
        <a:lstStyle/>
        <a:p>
          <a:endParaRPr lang="pl-PL"/>
        </a:p>
      </dgm:t>
    </dgm:pt>
    <dgm:pt modelId="{A1492556-A151-4D99-91EE-83C37F625B5C}" type="sibTrans" cxnId="{CC36DDBE-985A-4638-80B9-2A377DA3A9C7}">
      <dgm:prSet/>
      <dgm:spPr/>
      <dgm:t>
        <a:bodyPr/>
        <a:lstStyle/>
        <a:p>
          <a:endParaRPr lang="pl-PL"/>
        </a:p>
      </dgm:t>
    </dgm:pt>
    <dgm:pt modelId="{2C1307C0-D1AF-4B92-8A1D-E4AC57B67735}">
      <dgm:prSet phldrT="[Text]" phldr="0"/>
      <dgm:spPr>
        <a:solidFill>
          <a:schemeClr val="tx2">
            <a:lumMod val="50000"/>
          </a:schemeClr>
        </a:solidFill>
      </dgm:spPr>
      <dgm:t>
        <a:bodyPr/>
        <a:lstStyle/>
        <a:p>
          <a:r>
            <a:rPr lang="pl-PL" b="1"/>
            <a:t>Page update</a:t>
          </a:r>
        </a:p>
      </dgm:t>
    </dgm:pt>
    <dgm:pt modelId="{5044D67A-11CF-4E71-9649-D5BF4819482E}" type="parTrans" cxnId="{7ECD6BA0-E12A-4C56-85C7-1514A7D77708}">
      <dgm:prSet/>
      <dgm:spPr/>
      <dgm:t>
        <a:bodyPr/>
        <a:lstStyle/>
        <a:p>
          <a:endParaRPr lang="pl-PL"/>
        </a:p>
      </dgm:t>
    </dgm:pt>
    <dgm:pt modelId="{6200BA7D-2F3C-464F-B284-3D896B0FBC9B}" type="sibTrans" cxnId="{7ECD6BA0-E12A-4C56-85C7-1514A7D77708}">
      <dgm:prSet/>
      <dgm:spPr/>
      <dgm:t>
        <a:bodyPr/>
        <a:lstStyle/>
        <a:p>
          <a:endParaRPr lang="pl-PL"/>
        </a:p>
      </dgm:t>
    </dgm:pt>
    <dgm:pt modelId="{43D9569E-3A00-4009-8AE7-2B5D9A9F212A}">
      <dgm:prSet phldrT="[Text]" phldr="0"/>
      <dgm:spPr>
        <a:solidFill>
          <a:schemeClr val="bg2">
            <a:lumMod val="50000"/>
          </a:schemeClr>
        </a:solidFill>
      </dgm:spPr>
      <dgm:t>
        <a:bodyPr/>
        <a:lstStyle/>
        <a:p>
          <a:r>
            <a:rPr lang="pl-PL" b="1"/>
            <a:t>Page deployment</a:t>
          </a:r>
        </a:p>
      </dgm:t>
    </dgm:pt>
    <dgm:pt modelId="{500883A6-BAD5-4778-A1FD-AEFBDB331B45}" type="parTrans" cxnId="{1E623737-48D9-4260-ABDB-747BCFFF13C3}">
      <dgm:prSet/>
      <dgm:spPr/>
      <dgm:t>
        <a:bodyPr/>
        <a:lstStyle/>
        <a:p>
          <a:endParaRPr lang="pl-PL"/>
        </a:p>
      </dgm:t>
    </dgm:pt>
    <dgm:pt modelId="{2E4F96B8-16C3-45FF-99F3-5E4A5FBD67CA}" type="sibTrans" cxnId="{1E623737-48D9-4260-ABDB-747BCFFF13C3}">
      <dgm:prSet/>
      <dgm:spPr/>
      <dgm:t>
        <a:bodyPr/>
        <a:lstStyle/>
        <a:p>
          <a:endParaRPr lang="pl-PL"/>
        </a:p>
      </dgm:t>
    </dgm:pt>
    <dgm:pt modelId="{6C7BD0A9-7850-4EA4-8113-46E1438576DE}" type="pres">
      <dgm:prSet presAssocID="{02EC77B3-1926-49A1-A28D-2400BF0E7EFE}" presName="Name0" presStyleCnt="0">
        <dgm:presLayoutVars>
          <dgm:chMax val="1"/>
          <dgm:dir/>
          <dgm:animLvl val="ctr"/>
          <dgm:resizeHandles val="exact"/>
        </dgm:presLayoutVars>
      </dgm:prSet>
      <dgm:spPr/>
    </dgm:pt>
    <dgm:pt modelId="{DA3048B1-E063-4724-A20E-B764FDF05742}" type="pres">
      <dgm:prSet presAssocID="{7915E84C-161A-496D-A588-B57673FDB7B7}" presName="centerShape" presStyleLbl="node0" presStyleIdx="0" presStyleCnt="1"/>
      <dgm:spPr/>
    </dgm:pt>
    <dgm:pt modelId="{D270F8B4-FC0F-43CE-9BDE-CABD74A9BABF}" type="pres">
      <dgm:prSet presAssocID="{282D2B1C-1B58-485A-B339-58E5C1F9B083}" presName="node" presStyleLbl="node1" presStyleIdx="0" presStyleCnt="6">
        <dgm:presLayoutVars>
          <dgm:bulletEnabled val="1"/>
        </dgm:presLayoutVars>
      </dgm:prSet>
      <dgm:spPr/>
    </dgm:pt>
    <dgm:pt modelId="{0E80A169-2878-4453-B5BE-FF50E1AD86FD}" type="pres">
      <dgm:prSet presAssocID="{282D2B1C-1B58-485A-B339-58E5C1F9B083}" presName="dummy" presStyleCnt="0"/>
      <dgm:spPr/>
    </dgm:pt>
    <dgm:pt modelId="{18B0AF39-F02E-47EA-B306-E40480950306}" type="pres">
      <dgm:prSet presAssocID="{BF2F4533-34B0-4536-84AE-00ABDD340714}" presName="sibTrans" presStyleLbl="sibTrans2D1" presStyleIdx="0" presStyleCnt="6"/>
      <dgm:spPr/>
    </dgm:pt>
    <dgm:pt modelId="{E51EEC29-E7F2-4405-AA5A-2A8004BA526A}" type="pres">
      <dgm:prSet presAssocID="{7588D301-80EF-4B64-B989-E81154AD9DEA}" presName="node" presStyleLbl="node1" presStyleIdx="1" presStyleCnt="6">
        <dgm:presLayoutVars>
          <dgm:bulletEnabled val="1"/>
        </dgm:presLayoutVars>
      </dgm:prSet>
      <dgm:spPr/>
    </dgm:pt>
    <dgm:pt modelId="{C9AF4305-5C2E-4DB5-A49D-8E57C1D2B140}" type="pres">
      <dgm:prSet presAssocID="{7588D301-80EF-4B64-B989-E81154AD9DEA}" presName="dummy" presStyleCnt="0"/>
      <dgm:spPr/>
    </dgm:pt>
    <dgm:pt modelId="{CF569C4E-9566-4045-A8AA-071362C812AB}" type="pres">
      <dgm:prSet presAssocID="{CEA5F27D-4386-489E-A632-6EC7F1DAE9A5}" presName="sibTrans" presStyleLbl="sibTrans2D1" presStyleIdx="1" presStyleCnt="6"/>
      <dgm:spPr/>
    </dgm:pt>
    <dgm:pt modelId="{8294AC99-2718-447D-9F9F-0BE21F0EC49E}" type="pres">
      <dgm:prSet presAssocID="{EF9F5518-0A3B-4873-86F7-C90C4ED69740}" presName="node" presStyleLbl="node1" presStyleIdx="2" presStyleCnt="6">
        <dgm:presLayoutVars>
          <dgm:bulletEnabled val="1"/>
        </dgm:presLayoutVars>
      </dgm:prSet>
      <dgm:spPr/>
    </dgm:pt>
    <dgm:pt modelId="{B98B63B5-C48D-40D0-80CC-0717A99FC2A8}" type="pres">
      <dgm:prSet presAssocID="{EF9F5518-0A3B-4873-86F7-C90C4ED69740}" presName="dummy" presStyleCnt="0"/>
      <dgm:spPr/>
    </dgm:pt>
    <dgm:pt modelId="{ECAA0D74-31E9-41E0-BFFB-A191DFBB456F}" type="pres">
      <dgm:prSet presAssocID="{CD8BD63D-1F3D-4596-AA9E-B8EB17C79163}" presName="sibTrans" presStyleLbl="sibTrans2D1" presStyleIdx="2" presStyleCnt="6"/>
      <dgm:spPr/>
    </dgm:pt>
    <dgm:pt modelId="{01EE3C00-BD58-4E2F-82DE-3663B0DC164B}" type="pres">
      <dgm:prSet presAssocID="{556F6A65-00AA-4DD7-9615-631550E1AFD8}" presName="node" presStyleLbl="node1" presStyleIdx="3" presStyleCnt="6">
        <dgm:presLayoutVars>
          <dgm:bulletEnabled val="1"/>
        </dgm:presLayoutVars>
      </dgm:prSet>
      <dgm:spPr/>
    </dgm:pt>
    <dgm:pt modelId="{9F5B60D9-2758-4AE7-9A00-FF20C6F89094}" type="pres">
      <dgm:prSet presAssocID="{556F6A65-00AA-4DD7-9615-631550E1AFD8}" presName="dummy" presStyleCnt="0"/>
      <dgm:spPr/>
    </dgm:pt>
    <dgm:pt modelId="{0D17F414-7202-409B-B145-8DD46B6FC328}" type="pres">
      <dgm:prSet presAssocID="{A1492556-A151-4D99-91EE-83C37F625B5C}" presName="sibTrans" presStyleLbl="sibTrans2D1" presStyleIdx="3" presStyleCnt="6"/>
      <dgm:spPr/>
    </dgm:pt>
    <dgm:pt modelId="{DB97D994-8477-4103-8841-BB19A571C334}" type="pres">
      <dgm:prSet presAssocID="{2C1307C0-D1AF-4B92-8A1D-E4AC57B67735}" presName="node" presStyleLbl="node1" presStyleIdx="4" presStyleCnt="6">
        <dgm:presLayoutVars>
          <dgm:bulletEnabled val="1"/>
        </dgm:presLayoutVars>
      </dgm:prSet>
      <dgm:spPr/>
    </dgm:pt>
    <dgm:pt modelId="{F1C01AAD-BCA5-40C0-8354-0C95545BAC8C}" type="pres">
      <dgm:prSet presAssocID="{2C1307C0-D1AF-4B92-8A1D-E4AC57B67735}" presName="dummy" presStyleCnt="0"/>
      <dgm:spPr/>
    </dgm:pt>
    <dgm:pt modelId="{3F3DEBDB-38C5-4A59-802E-199E0D47D3A2}" type="pres">
      <dgm:prSet presAssocID="{6200BA7D-2F3C-464F-B284-3D896B0FBC9B}" presName="sibTrans" presStyleLbl="sibTrans2D1" presStyleIdx="4" presStyleCnt="6"/>
      <dgm:spPr/>
    </dgm:pt>
    <dgm:pt modelId="{62DC55DD-0073-4E2E-ACCA-1AC07110DF5C}" type="pres">
      <dgm:prSet presAssocID="{43D9569E-3A00-4009-8AE7-2B5D9A9F212A}" presName="node" presStyleLbl="node1" presStyleIdx="5" presStyleCnt="6">
        <dgm:presLayoutVars>
          <dgm:bulletEnabled val="1"/>
        </dgm:presLayoutVars>
      </dgm:prSet>
      <dgm:spPr/>
    </dgm:pt>
    <dgm:pt modelId="{B846DC14-FBC2-4331-95B6-B7D58D24C8BA}" type="pres">
      <dgm:prSet presAssocID="{43D9569E-3A00-4009-8AE7-2B5D9A9F212A}" presName="dummy" presStyleCnt="0"/>
      <dgm:spPr/>
    </dgm:pt>
    <dgm:pt modelId="{4F04587F-49DC-4647-A49A-6DB6ABC06C60}" type="pres">
      <dgm:prSet presAssocID="{2E4F96B8-16C3-45FF-99F3-5E4A5FBD67CA}" presName="sibTrans" presStyleLbl="sibTrans2D1" presStyleIdx="5" presStyleCnt="6"/>
      <dgm:spPr/>
    </dgm:pt>
  </dgm:ptLst>
  <dgm:cxnLst>
    <dgm:cxn modelId="{5FA5E406-C5C9-44EA-AE39-89DE1F2F7416}" type="presOf" srcId="{CD8BD63D-1F3D-4596-AA9E-B8EB17C79163}" destId="{ECAA0D74-31E9-41E0-BFFB-A191DFBB456F}" srcOrd="0" destOrd="0" presId="urn:microsoft.com/office/officeart/2005/8/layout/radial6"/>
    <dgm:cxn modelId="{A42D6612-1317-4F42-9414-F510A3AB5628}" type="presOf" srcId="{282D2B1C-1B58-485A-B339-58E5C1F9B083}" destId="{D270F8B4-FC0F-43CE-9BDE-CABD74A9BABF}" srcOrd="0" destOrd="0" presId="urn:microsoft.com/office/officeart/2005/8/layout/radial6"/>
    <dgm:cxn modelId="{F46DE01B-2CED-4EBD-881E-D655BB257869}" srcId="{7915E84C-161A-496D-A588-B57673FDB7B7}" destId="{282D2B1C-1B58-485A-B339-58E5C1F9B083}" srcOrd="0" destOrd="0" parTransId="{E59CEB2E-5EF5-48DD-8A75-9F079322DBD0}" sibTransId="{BF2F4533-34B0-4536-84AE-00ABDD340714}"/>
    <dgm:cxn modelId="{1E623737-48D9-4260-ABDB-747BCFFF13C3}" srcId="{7915E84C-161A-496D-A588-B57673FDB7B7}" destId="{43D9569E-3A00-4009-8AE7-2B5D9A9F212A}" srcOrd="5" destOrd="0" parTransId="{500883A6-BAD5-4778-A1FD-AEFBDB331B45}" sibTransId="{2E4F96B8-16C3-45FF-99F3-5E4A5FBD67CA}"/>
    <dgm:cxn modelId="{B399375D-981C-4A55-A0EF-8308E41684E5}" srcId="{02EC77B3-1926-49A1-A28D-2400BF0E7EFE}" destId="{7915E84C-161A-496D-A588-B57673FDB7B7}" srcOrd="0" destOrd="0" parTransId="{BDB4B50F-DA66-4D68-8AC4-CD47D8298A9A}" sibTransId="{EF780C8D-6353-420E-82FC-F1C20A3BD884}"/>
    <dgm:cxn modelId="{41A05161-D73C-42E0-83C1-B1CB66967E1B}" srcId="{7915E84C-161A-496D-A588-B57673FDB7B7}" destId="{EF9F5518-0A3B-4873-86F7-C90C4ED69740}" srcOrd="2" destOrd="0" parTransId="{27535C64-EF1C-4900-8911-0E1D0BE64EEF}" sibTransId="{CD8BD63D-1F3D-4596-AA9E-B8EB17C79163}"/>
    <dgm:cxn modelId="{7F1D024D-7774-4F97-9FAB-2D98379CAD82}" srcId="{7915E84C-161A-496D-A588-B57673FDB7B7}" destId="{7588D301-80EF-4B64-B989-E81154AD9DEA}" srcOrd="1" destOrd="0" parTransId="{80FBD808-5E80-4B62-95DC-CC02BBF20142}" sibTransId="{CEA5F27D-4386-489E-A632-6EC7F1DAE9A5}"/>
    <dgm:cxn modelId="{B9B1834E-DE28-4D54-ADB8-71812056D940}" type="presOf" srcId="{6200BA7D-2F3C-464F-B284-3D896B0FBC9B}" destId="{3F3DEBDB-38C5-4A59-802E-199E0D47D3A2}" srcOrd="0" destOrd="0" presId="urn:microsoft.com/office/officeart/2005/8/layout/radial6"/>
    <dgm:cxn modelId="{9932F49A-0759-402D-978F-5164764A56EB}" type="presOf" srcId="{BF2F4533-34B0-4536-84AE-00ABDD340714}" destId="{18B0AF39-F02E-47EA-B306-E40480950306}" srcOrd="0" destOrd="0" presId="urn:microsoft.com/office/officeart/2005/8/layout/radial6"/>
    <dgm:cxn modelId="{7ECD6BA0-E12A-4C56-85C7-1514A7D77708}" srcId="{7915E84C-161A-496D-A588-B57673FDB7B7}" destId="{2C1307C0-D1AF-4B92-8A1D-E4AC57B67735}" srcOrd="4" destOrd="0" parTransId="{5044D67A-11CF-4E71-9649-D5BF4819482E}" sibTransId="{6200BA7D-2F3C-464F-B284-3D896B0FBC9B}"/>
    <dgm:cxn modelId="{DCF830A4-6B75-4488-80D4-99DC7542DE6C}" type="presOf" srcId="{EF9F5518-0A3B-4873-86F7-C90C4ED69740}" destId="{8294AC99-2718-447D-9F9F-0BE21F0EC49E}" srcOrd="0" destOrd="0" presId="urn:microsoft.com/office/officeart/2005/8/layout/radial6"/>
    <dgm:cxn modelId="{FBD2CCAE-41BD-41E4-9A72-012A97FD1CDE}" type="presOf" srcId="{43D9569E-3A00-4009-8AE7-2B5D9A9F212A}" destId="{62DC55DD-0073-4E2E-ACCA-1AC07110DF5C}" srcOrd="0" destOrd="0" presId="urn:microsoft.com/office/officeart/2005/8/layout/radial6"/>
    <dgm:cxn modelId="{1E9E38B8-E95D-4F87-9350-7F3FB967207B}" type="presOf" srcId="{A1492556-A151-4D99-91EE-83C37F625B5C}" destId="{0D17F414-7202-409B-B145-8DD46B6FC328}" srcOrd="0" destOrd="0" presId="urn:microsoft.com/office/officeart/2005/8/layout/radial6"/>
    <dgm:cxn modelId="{CC36DDBE-985A-4638-80B9-2A377DA3A9C7}" srcId="{7915E84C-161A-496D-A588-B57673FDB7B7}" destId="{556F6A65-00AA-4DD7-9615-631550E1AFD8}" srcOrd="3" destOrd="0" parTransId="{D6D0673D-2924-40B1-BA1B-E49B4DC2E375}" sibTransId="{A1492556-A151-4D99-91EE-83C37F625B5C}"/>
    <dgm:cxn modelId="{AD8401CA-5314-4518-BBF4-04A48EDF89C0}" type="presOf" srcId="{2E4F96B8-16C3-45FF-99F3-5E4A5FBD67CA}" destId="{4F04587F-49DC-4647-A49A-6DB6ABC06C60}" srcOrd="0" destOrd="0" presId="urn:microsoft.com/office/officeart/2005/8/layout/radial6"/>
    <dgm:cxn modelId="{D26961DE-7CD4-4B57-811B-01BEFDEBE459}" type="presOf" srcId="{7588D301-80EF-4B64-B989-E81154AD9DEA}" destId="{E51EEC29-E7F2-4405-AA5A-2A8004BA526A}" srcOrd="0" destOrd="0" presId="urn:microsoft.com/office/officeart/2005/8/layout/radial6"/>
    <dgm:cxn modelId="{246C9AE9-799B-4C97-916B-A53B374F68B2}" type="presOf" srcId="{CEA5F27D-4386-489E-A632-6EC7F1DAE9A5}" destId="{CF569C4E-9566-4045-A8AA-071362C812AB}" srcOrd="0" destOrd="0" presId="urn:microsoft.com/office/officeart/2005/8/layout/radial6"/>
    <dgm:cxn modelId="{89F086ED-7A10-4B20-AA56-4F3B311E57D4}" type="presOf" srcId="{556F6A65-00AA-4DD7-9615-631550E1AFD8}" destId="{01EE3C00-BD58-4E2F-82DE-3663B0DC164B}" srcOrd="0" destOrd="0" presId="urn:microsoft.com/office/officeart/2005/8/layout/radial6"/>
    <dgm:cxn modelId="{D0488CEE-D496-47E3-A06B-EAC7F1FA3AAE}" type="presOf" srcId="{7915E84C-161A-496D-A588-B57673FDB7B7}" destId="{DA3048B1-E063-4724-A20E-B764FDF05742}" srcOrd="0" destOrd="0" presId="urn:microsoft.com/office/officeart/2005/8/layout/radial6"/>
    <dgm:cxn modelId="{468931F5-B916-4597-94BB-5F69F693D83E}" type="presOf" srcId="{2C1307C0-D1AF-4B92-8A1D-E4AC57B67735}" destId="{DB97D994-8477-4103-8841-BB19A571C334}" srcOrd="0" destOrd="0" presId="urn:microsoft.com/office/officeart/2005/8/layout/radial6"/>
    <dgm:cxn modelId="{42B284F7-78D9-4AFE-8E5F-9120FD4F0883}" type="presOf" srcId="{02EC77B3-1926-49A1-A28D-2400BF0E7EFE}" destId="{6C7BD0A9-7850-4EA4-8113-46E1438576DE}" srcOrd="0" destOrd="0" presId="urn:microsoft.com/office/officeart/2005/8/layout/radial6"/>
    <dgm:cxn modelId="{CAF4E262-E9A8-46D9-ADCD-F9897F5FC52E}" type="presParOf" srcId="{6C7BD0A9-7850-4EA4-8113-46E1438576DE}" destId="{DA3048B1-E063-4724-A20E-B764FDF05742}" srcOrd="0" destOrd="0" presId="urn:microsoft.com/office/officeart/2005/8/layout/radial6"/>
    <dgm:cxn modelId="{CC810627-F41A-4630-850B-2DB6B20B957F}" type="presParOf" srcId="{6C7BD0A9-7850-4EA4-8113-46E1438576DE}" destId="{D270F8B4-FC0F-43CE-9BDE-CABD74A9BABF}" srcOrd="1" destOrd="0" presId="urn:microsoft.com/office/officeart/2005/8/layout/radial6"/>
    <dgm:cxn modelId="{25D2FBEC-DE97-4268-806C-7D9287F1D5D1}" type="presParOf" srcId="{6C7BD0A9-7850-4EA4-8113-46E1438576DE}" destId="{0E80A169-2878-4453-B5BE-FF50E1AD86FD}" srcOrd="2" destOrd="0" presId="urn:microsoft.com/office/officeart/2005/8/layout/radial6"/>
    <dgm:cxn modelId="{78E88A93-7A7C-4C6D-9F9F-B6FE1DDF7115}" type="presParOf" srcId="{6C7BD0A9-7850-4EA4-8113-46E1438576DE}" destId="{18B0AF39-F02E-47EA-B306-E40480950306}" srcOrd="3" destOrd="0" presId="urn:microsoft.com/office/officeart/2005/8/layout/radial6"/>
    <dgm:cxn modelId="{5E684335-D9FC-4F81-A80F-98C0AC53CB49}" type="presParOf" srcId="{6C7BD0A9-7850-4EA4-8113-46E1438576DE}" destId="{E51EEC29-E7F2-4405-AA5A-2A8004BA526A}" srcOrd="4" destOrd="0" presId="urn:microsoft.com/office/officeart/2005/8/layout/radial6"/>
    <dgm:cxn modelId="{0E30B608-3531-4454-9FBA-19B0A8D44C5F}" type="presParOf" srcId="{6C7BD0A9-7850-4EA4-8113-46E1438576DE}" destId="{C9AF4305-5C2E-4DB5-A49D-8E57C1D2B140}" srcOrd="5" destOrd="0" presId="urn:microsoft.com/office/officeart/2005/8/layout/radial6"/>
    <dgm:cxn modelId="{2A96DEB9-C3B3-450F-8160-ED12424B76E0}" type="presParOf" srcId="{6C7BD0A9-7850-4EA4-8113-46E1438576DE}" destId="{CF569C4E-9566-4045-A8AA-071362C812AB}" srcOrd="6" destOrd="0" presId="urn:microsoft.com/office/officeart/2005/8/layout/radial6"/>
    <dgm:cxn modelId="{23A15737-DCAE-4851-914E-5DCA4AD54B8A}" type="presParOf" srcId="{6C7BD0A9-7850-4EA4-8113-46E1438576DE}" destId="{8294AC99-2718-447D-9F9F-0BE21F0EC49E}" srcOrd="7" destOrd="0" presId="urn:microsoft.com/office/officeart/2005/8/layout/radial6"/>
    <dgm:cxn modelId="{318D2855-99B2-4AB7-8F5E-A8534513AF0F}" type="presParOf" srcId="{6C7BD0A9-7850-4EA4-8113-46E1438576DE}" destId="{B98B63B5-C48D-40D0-80CC-0717A99FC2A8}" srcOrd="8" destOrd="0" presId="urn:microsoft.com/office/officeart/2005/8/layout/radial6"/>
    <dgm:cxn modelId="{71A0397A-38C7-4E22-BC5A-81BEC7A2EE96}" type="presParOf" srcId="{6C7BD0A9-7850-4EA4-8113-46E1438576DE}" destId="{ECAA0D74-31E9-41E0-BFFB-A191DFBB456F}" srcOrd="9" destOrd="0" presId="urn:microsoft.com/office/officeart/2005/8/layout/radial6"/>
    <dgm:cxn modelId="{1D61E0A4-D189-4B86-91C7-AAAAFB40E375}" type="presParOf" srcId="{6C7BD0A9-7850-4EA4-8113-46E1438576DE}" destId="{01EE3C00-BD58-4E2F-82DE-3663B0DC164B}" srcOrd="10" destOrd="0" presId="urn:microsoft.com/office/officeart/2005/8/layout/radial6"/>
    <dgm:cxn modelId="{DE976C81-665B-46CC-8608-1440C04E6A14}" type="presParOf" srcId="{6C7BD0A9-7850-4EA4-8113-46E1438576DE}" destId="{9F5B60D9-2758-4AE7-9A00-FF20C6F89094}" srcOrd="11" destOrd="0" presId="urn:microsoft.com/office/officeart/2005/8/layout/radial6"/>
    <dgm:cxn modelId="{E36762D5-B8FB-4457-9216-C91CBC23340B}" type="presParOf" srcId="{6C7BD0A9-7850-4EA4-8113-46E1438576DE}" destId="{0D17F414-7202-409B-B145-8DD46B6FC328}" srcOrd="12" destOrd="0" presId="urn:microsoft.com/office/officeart/2005/8/layout/radial6"/>
    <dgm:cxn modelId="{72ED901D-5583-41C1-84CA-D9A25A2B1A6A}" type="presParOf" srcId="{6C7BD0A9-7850-4EA4-8113-46E1438576DE}" destId="{DB97D994-8477-4103-8841-BB19A571C334}" srcOrd="13" destOrd="0" presId="urn:microsoft.com/office/officeart/2005/8/layout/radial6"/>
    <dgm:cxn modelId="{CCCAE269-4482-4BD2-9F74-8936E80D5303}" type="presParOf" srcId="{6C7BD0A9-7850-4EA4-8113-46E1438576DE}" destId="{F1C01AAD-BCA5-40C0-8354-0C95545BAC8C}" srcOrd="14" destOrd="0" presId="urn:microsoft.com/office/officeart/2005/8/layout/radial6"/>
    <dgm:cxn modelId="{8379505F-6FC7-4B90-8C7E-55A1D60EB640}" type="presParOf" srcId="{6C7BD0A9-7850-4EA4-8113-46E1438576DE}" destId="{3F3DEBDB-38C5-4A59-802E-199E0D47D3A2}" srcOrd="15" destOrd="0" presId="urn:microsoft.com/office/officeart/2005/8/layout/radial6"/>
    <dgm:cxn modelId="{4AB4A5B3-C54D-4689-B41A-66462CC531AA}" type="presParOf" srcId="{6C7BD0A9-7850-4EA4-8113-46E1438576DE}" destId="{62DC55DD-0073-4E2E-ACCA-1AC07110DF5C}" srcOrd="16" destOrd="0" presId="urn:microsoft.com/office/officeart/2005/8/layout/radial6"/>
    <dgm:cxn modelId="{21D31E5F-B5E3-423C-B4FA-2B6EDB4639F4}" type="presParOf" srcId="{6C7BD0A9-7850-4EA4-8113-46E1438576DE}" destId="{B846DC14-FBC2-4331-95B6-B7D58D24C8BA}" srcOrd="17" destOrd="0" presId="urn:microsoft.com/office/officeart/2005/8/layout/radial6"/>
    <dgm:cxn modelId="{32CD6CD7-2EFB-4CDF-8EAD-803B4D720E64}" type="presParOf" srcId="{6C7BD0A9-7850-4EA4-8113-46E1438576DE}" destId="{4F04587F-49DC-4647-A49A-6DB6ABC06C60}" srcOrd="18"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562088-13BD-4A43-8DC5-F7EBC08ADBA4}" type="doc">
      <dgm:prSet loTypeId="urn:microsoft.com/office/officeart/2005/8/layout/bProcess3" loCatId="process" qsTypeId="urn:microsoft.com/office/officeart/2005/8/quickstyle/simple1#2" qsCatId="simple" csTypeId="urn:microsoft.com/office/officeart/2005/8/colors/accent1_2#2" csCatId="accent1" phldr="1"/>
      <dgm:spPr/>
      <dgm:t>
        <a:bodyPr/>
        <a:lstStyle/>
        <a:p>
          <a:endParaRPr lang="pl-PL"/>
        </a:p>
      </dgm:t>
    </dgm:pt>
    <dgm:pt modelId="{C7A79095-DC14-4814-8FE6-6BDE01D532DF}">
      <dgm:prSet phldrT="[Text]" custT="1"/>
      <dgm:spPr>
        <a:solidFill>
          <a:schemeClr val="accent5"/>
        </a:solidFill>
        <a:ln>
          <a:solidFill>
            <a:schemeClr val="tx1"/>
          </a:solidFill>
        </a:ln>
      </dgm:spPr>
      <dgm:t>
        <a:bodyPr/>
        <a:lstStyle/>
        <a:p>
          <a:r>
            <a:rPr lang="pl-PL" sz="1200" b="1">
              <a:solidFill>
                <a:schemeClr val="tx1"/>
              </a:solidFill>
            </a:rPr>
            <a:t>1. Discovery &amp; crawling</a:t>
          </a:r>
        </a:p>
        <a:p>
          <a:r>
            <a:rPr lang="en-US" sz="900">
              <a:solidFill>
                <a:schemeClr val="tx1"/>
              </a:solidFill>
            </a:rPr>
            <a:t>A crawler finds the page or file through sitemaps, internal links, or a submitted feed </a:t>
          </a:r>
          <a:r>
            <a:rPr lang="pl-PL" sz="900">
              <a:solidFill>
                <a:schemeClr val="tx1"/>
              </a:solidFill>
            </a:rPr>
            <a:t>-</a:t>
          </a:r>
          <a:r>
            <a:rPr lang="en-US" sz="900">
              <a:solidFill>
                <a:schemeClr val="tx1"/>
              </a:solidFill>
            </a:rPr>
            <a:t> </a:t>
          </a:r>
          <a:r>
            <a:rPr lang="en-US" sz="900" b="1">
              <a:solidFill>
                <a:schemeClr val="tx1"/>
              </a:solidFill>
            </a:rPr>
            <a:t>nothing after this step happens if the file is never found.</a:t>
          </a:r>
          <a:endParaRPr lang="pl-PL" sz="900" b="1">
            <a:solidFill>
              <a:schemeClr val="tx1"/>
            </a:solidFill>
          </a:endParaRPr>
        </a:p>
      </dgm:t>
    </dgm:pt>
    <dgm:pt modelId="{2AFD9225-4FAF-4CB1-B49D-8B5549991E15}" type="parTrans" cxnId="{8D06F9DA-A0B8-4134-A608-76679C2FAF34}">
      <dgm:prSet/>
      <dgm:spPr/>
      <dgm:t>
        <a:bodyPr/>
        <a:lstStyle/>
        <a:p>
          <a:endParaRPr lang="pl-PL"/>
        </a:p>
      </dgm:t>
    </dgm:pt>
    <dgm:pt modelId="{DC375EE1-30DD-4DA8-A75D-1A6BC00AB1B3}" type="sibTrans" cxnId="{8D06F9DA-A0B8-4134-A608-76679C2FAF34}">
      <dgm:prSet/>
      <dgm:spPr>
        <a:ln w="38100">
          <a:solidFill>
            <a:schemeClr val="tx1"/>
          </a:solidFill>
        </a:ln>
      </dgm:spPr>
      <dgm:t>
        <a:bodyPr/>
        <a:lstStyle/>
        <a:p>
          <a:endParaRPr lang="pl-PL"/>
        </a:p>
      </dgm:t>
    </dgm:pt>
    <dgm:pt modelId="{04E62784-CF31-438C-9CB5-1C6DF2D5F1BE}">
      <dgm:prSet phldrT="[Text]" custT="1"/>
      <dgm:spPr>
        <a:solidFill>
          <a:schemeClr val="accent5"/>
        </a:solidFill>
        <a:ln>
          <a:solidFill>
            <a:schemeClr val="tx1"/>
          </a:solidFill>
        </a:ln>
      </dgm:spPr>
      <dgm: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2. Fetching &amp; rendering</a:t>
          </a:r>
        </a:p>
        <a:p>
          <a:pPr marL="0" lvl="0" indent="0" algn="ctr" defTabSz="533400">
            <a:lnSpc>
              <a:spcPct val="90000"/>
            </a:lnSpc>
            <a:spcBef>
              <a:spcPct val="0"/>
            </a:spcBef>
            <a:spcAft>
              <a:spcPct val="35000"/>
            </a:spcAft>
            <a:buNone/>
          </a:pPr>
          <a:r>
            <a:rPr lang="en-US" sz="900" kern="1200">
              <a:solidFill>
                <a:srgbClr val="0A2F24"/>
              </a:solidFill>
              <a:latin typeface="Poppins"/>
              <a:ea typeface="+mn-ea"/>
              <a:cs typeface="+mn-cs"/>
            </a:rPr>
            <a:t>The engine downloads the raw file and renders any JavaScript</a:t>
          </a:r>
          <a:r>
            <a:rPr lang="pl-PL" sz="900" kern="1200">
              <a:solidFill>
                <a:srgbClr val="0A2F24"/>
              </a:solidFill>
              <a:latin typeface="Poppins"/>
              <a:ea typeface="+mn-ea"/>
              <a:cs typeface="+mn-cs"/>
            </a:rPr>
            <a:t>-</a:t>
          </a:r>
          <a:r>
            <a:rPr lang="en-US" sz="900" kern="1200">
              <a:solidFill>
                <a:srgbClr val="0A2F24"/>
              </a:solidFill>
              <a:latin typeface="Poppins"/>
              <a:ea typeface="+mn-ea"/>
              <a:cs typeface="+mn-cs"/>
            </a:rPr>
            <a:t>driven content. </a:t>
          </a:r>
          <a:r>
            <a:rPr lang="en-US" sz="900" b="1" kern="1200">
              <a:solidFill>
                <a:srgbClr val="0A2F24"/>
              </a:solidFill>
              <a:latin typeface="Poppins"/>
              <a:ea typeface="+mn-ea"/>
              <a:cs typeface="+mn-cs"/>
            </a:rPr>
            <a:t>A scanned image or blocked file stalls here.</a:t>
          </a:r>
          <a:endParaRPr lang="pl-PL" sz="900" b="1" kern="1200">
            <a:solidFill>
              <a:srgbClr val="0A2F24"/>
            </a:solidFill>
            <a:latin typeface="Poppins"/>
            <a:ea typeface="+mn-ea"/>
            <a:cs typeface="+mn-cs"/>
          </a:endParaRPr>
        </a:p>
      </dgm:t>
    </dgm:pt>
    <dgm:pt modelId="{6B764AFC-7034-42F4-9C20-DE2EC5E8C8F6}" type="parTrans" cxnId="{572ACB9D-8856-455A-B928-F15D1DAC4549}">
      <dgm:prSet/>
      <dgm:spPr/>
      <dgm:t>
        <a:bodyPr/>
        <a:lstStyle/>
        <a:p>
          <a:endParaRPr lang="pl-PL"/>
        </a:p>
      </dgm:t>
    </dgm:pt>
    <dgm:pt modelId="{FFA810AE-5B7C-4775-B968-92EF644B0D71}" type="sibTrans" cxnId="{572ACB9D-8856-455A-B928-F15D1DAC4549}">
      <dgm:prSet/>
      <dgm:spPr>
        <a:ln w="38100">
          <a:solidFill>
            <a:schemeClr val="tx1"/>
          </a:solidFill>
        </a:ln>
      </dgm:spPr>
      <dgm:t>
        <a:bodyPr/>
        <a:lstStyle/>
        <a:p>
          <a:endParaRPr lang="pl-PL"/>
        </a:p>
      </dgm:t>
    </dgm:pt>
    <dgm:pt modelId="{5202610E-A27C-4E57-9729-A39D85493CC7}">
      <dgm:prSet phldrT="[Text]" custT="1"/>
      <dgm:spPr>
        <a:solidFill>
          <a:schemeClr val="accent5"/>
        </a:solidFill>
        <a:ln>
          <a:solidFill>
            <a:schemeClr val="tx1"/>
          </a:solidFill>
        </a:ln>
      </dgm:spPr>
      <dgm: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3. Parsing &amp; extraction</a:t>
          </a:r>
        </a:p>
        <a:p>
          <a:pPr marL="0" lvl="0" indent="0" algn="ctr" defTabSz="533400">
            <a:lnSpc>
              <a:spcPct val="90000"/>
            </a:lnSpc>
            <a:spcBef>
              <a:spcPct val="0"/>
            </a:spcBef>
            <a:spcAft>
              <a:spcPct val="35000"/>
            </a:spcAft>
            <a:buNone/>
          </a:pPr>
          <a:r>
            <a:rPr lang="en-US" sz="900" b="1" kern="1200">
              <a:solidFill>
                <a:srgbClr val="0A2F24"/>
              </a:solidFill>
              <a:latin typeface="Poppins"/>
              <a:ea typeface="+mn-ea"/>
              <a:cs typeface="+mn-cs"/>
            </a:rPr>
            <a:t>Text, headings, and tables are pulled out </a:t>
          </a:r>
          <a:r>
            <a:rPr lang="en-US" sz="900" kern="1200">
              <a:solidFill>
                <a:srgbClr val="0A2F24"/>
              </a:solidFill>
              <a:latin typeface="Poppins"/>
              <a:ea typeface="+mn-ea"/>
              <a:cs typeface="+mn-cs"/>
            </a:rPr>
            <a:t>using the document's tags and structure </a:t>
          </a:r>
          <a:r>
            <a:rPr lang="pl-PL" sz="900" kern="1200">
              <a:solidFill>
                <a:srgbClr val="0A2F24"/>
              </a:solidFill>
              <a:latin typeface="Poppins"/>
              <a:ea typeface="+mn-ea"/>
              <a:cs typeface="+mn-cs"/>
            </a:rPr>
            <a:t>-</a:t>
          </a:r>
          <a:r>
            <a:rPr lang="en-US" sz="900" kern="1200">
              <a:solidFill>
                <a:srgbClr val="0A2F24"/>
              </a:solidFill>
              <a:latin typeface="Poppins"/>
              <a:ea typeface="+mn-ea"/>
              <a:cs typeface="+mn-cs"/>
            </a:rPr>
            <a:t> untagged or scanned files yield little usable text. </a:t>
          </a:r>
          <a:endParaRPr lang="pl-PL" sz="900" kern="1200">
            <a:solidFill>
              <a:srgbClr val="0A2F24"/>
            </a:solidFill>
            <a:latin typeface="Poppins"/>
            <a:ea typeface="+mn-ea"/>
            <a:cs typeface="+mn-cs"/>
          </a:endParaRPr>
        </a:p>
      </dgm:t>
    </dgm:pt>
    <dgm:pt modelId="{EB04D440-1057-4BA7-9984-117A87EE3A49}" type="parTrans" cxnId="{729E1166-5844-4632-A5E4-09D1236D5819}">
      <dgm:prSet/>
      <dgm:spPr/>
      <dgm:t>
        <a:bodyPr/>
        <a:lstStyle/>
        <a:p>
          <a:endParaRPr lang="pl-PL"/>
        </a:p>
      </dgm:t>
    </dgm:pt>
    <dgm:pt modelId="{197E0B1D-1D5C-40A0-B576-D1DE6125A940}" type="sibTrans" cxnId="{729E1166-5844-4632-A5E4-09D1236D5819}">
      <dgm:prSet/>
      <dgm:spPr>
        <a:ln w="38100">
          <a:solidFill>
            <a:schemeClr val="tx1"/>
          </a:solidFill>
        </a:ln>
      </dgm:spPr>
      <dgm:t>
        <a:bodyPr/>
        <a:lstStyle/>
        <a:p>
          <a:endParaRPr lang="pl-PL"/>
        </a:p>
      </dgm:t>
    </dgm:pt>
    <dgm:pt modelId="{DC82B708-E7FD-497A-A36F-5AB2B3191A29}">
      <dgm:prSet phldrT="[Text]" custT="1"/>
      <dgm:spPr>
        <a:solidFill>
          <a:schemeClr val="accent5"/>
        </a:solidFill>
        <a:ln>
          <a:solidFill>
            <a:schemeClr val="tx1"/>
          </a:solidFill>
        </a:ln>
      </dgm:spPr>
      <dgm: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4. Chunking</a:t>
          </a:r>
        </a:p>
        <a:p>
          <a:pPr marL="0" lvl="0" indent="0" algn="ctr" defTabSz="533400">
            <a:lnSpc>
              <a:spcPct val="90000"/>
            </a:lnSpc>
            <a:spcBef>
              <a:spcPct val="0"/>
            </a:spcBef>
            <a:spcAft>
              <a:spcPct val="35000"/>
            </a:spcAft>
            <a:buNone/>
          </a:pPr>
          <a:r>
            <a:rPr lang="en-US" sz="900" kern="1200">
              <a:solidFill>
                <a:srgbClr val="0A2F24"/>
              </a:solidFill>
              <a:latin typeface="Poppins"/>
              <a:ea typeface="+mn-ea"/>
              <a:cs typeface="+mn-cs"/>
            </a:rPr>
            <a:t>Extracted content is split into smaller passages small enough to retrieve and quote on their own, </a:t>
          </a:r>
          <a:r>
            <a:rPr lang="en-US" sz="900" b="1" kern="1200">
              <a:solidFill>
                <a:srgbClr val="0A2F24"/>
              </a:solidFill>
              <a:latin typeface="Poppins"/>
              <a:ea typeface="+mn-ea"/>
              <a:cs typeface="+mn-cs"/>
            </a:rPr>
            <a:t>usually by heading or paragraph</a:t>
          </a:r>
          <a:r>
            <a:rPr lang="en-US" sz="900" kern="1200">
              <a:solidFill>
                <a:srgbClr val="0A2F24"/>
              </a:solidFill>
              <a:latin typeface="Poppins"/>
              <a:ea typeface="+mn-ea"/>
              <a:cs typeface="+mn-cs"/>
            </a:rPr>
            <a:t>.</a:t>
          </a:r>
          <a:endParaRPr lang="pl-PL" sz="900" kern="1200">
            <a:solidFill>
              <a:srgbClr val="0A2F24"/>
            </a:solidFill>
            <a:latin typeface="Poppins"/>
            <a:ea typeface="+mn-ea"/>
            <a:cs typeface="+mn-cs"/>
          </a:endParaRPr>
        </a:p>
      </dgm:t>
    </dgm:pt>
    <dgm:pt modelId="{337AFEF1-C093-4576-9906-3A922685A449}" type="parTrans" cxnId="{203C466C-F0EA-491B-B54D-F958FDE86D35}">
      <dgm:prSet/>
      <dgm:spPr/>
      <dgm:t>
        <a:bodyPr/>
        <a:lstStyle/>
        <a:p>
          <a:endParaRPr lang="pl-PL"/>
        </a:p>
      </dgm:t>
    </dgm:pt>
    <dgm:pt modelId="{A10B97E4-5E62-4186-A8AB-13790741A504}" type="sibTrans" cxnId="{203C466C-F0EA-491B-B54D-F958FDE86D35}">
      <dgm:prSet/>
      <dgm:spPr>
        <a:ln w="38100">
          <a:solidFill>
            <a:schemeClr val="tx1"/>
          </a:solidFill>
        </a:ln>
      </dgm:spPr>
      <dgm:t>
        <a:bodyPr/>
        <a:lstStyle/>
        <a:p>
          <a:endParaRPr lang="pl-PL"/>
        </a:p>
      </dgm:t>
    </dgm:pt>
    <dgm:pt modelId="{A0013EAF-03E6-4979-810E-F00CF0C7ABED}">
      <dgm:prSet phldrT="[Text]" custT="1"/>
      <dgm:spPr>
        <a:solidFill>
          <a:schemeClr val="accent5"/>
        </a:solidFill>
        <a:ln>
          <a:solidFill>
            <a:schemeClr val="tx1"/>
          </a:solidFill>
        </a:ln>
      </dgm:spPr>
      <dgm: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5. Embedding &amp; indexing</a:t>
          </a:r>
        </a:p>
        <a:p>
          <a:pPr marL="0" lvl="0" indent="0" algn="ctr" defTabSz="533400">
            <a:lnSpc>
              <a:spcPct val="90000"/>
            </a:lnSpc>
            <a:spcBef>
              <a:spcPct val="0"/>
            </a:spcBef>
            <a:spcAft>
              <a:spcPct val="35000"/>
            </a:spcAft>
            <a:buNone/>
          </a:pPr>
          <a:r>
            <a:rPr lang="en-US" sz="900" kern="1200">
              <a:solidFill>
                <a:srgbClr val="0A2F24"/>
              </a:solidFill>
              <a:latin typeface="Poppins"/>
              <a:ea typeface="+mn-ea"/>
              <a:cs typeface="+mn-cs"/>
            </a:rPr>
            <a:t>Each chunk is converted into a vector representation</a:t>
          </a:r>
          <a:r>
            <a:rPr lang="pl-PL" sz="900" kern="1200">
              <a:solidFill>
                <a:srgbClr val="0A2F24"/>
              </a:solidFill>
              <a:latin typeface="Poppins"/>
              <a:ea typeface="+mn-ea"/>
              <a:cs typeface="+mn-cs"/>
            </a:rPr>
            <a:t>*</a:t>
          </a:r>
          <a:r>
            <a:rPr lang="en-US" sz="900" kern="1200">
              <a:solidFill>
                <a:srgbClr val="0A2F24"/>
              </a:solidFill>
              <a:latin typeface="Poppins"/>
              <a:ea typeface="+mn-ea"/>
              <a:cs typeface="+mn-cs"/>
            </a:rPr>
            <a:t> and stored in a </a:t>
          </a:r>
          <a:r>
            <a:rPr lang="en-US" sz="900" b="1" kern="1200">
              <a:solidFill>
                <a:srgbClr val="0A2F24"/>
              </a:solidFill>
              <a:latin typeface="Poppins"/>
              <a:ea typeface="+mn-ea"/>
              <a:cs typeface="+mn-cs"/>
            </a:rPr>
            <a:t>searchable index alongside metadata like title and date</a:t>
          </a:r>
          <a:r>
            <a:rPr lang="en-US" sz="900" kern="1200">
              <a:solidFill>
                <a:srgbClr val="0A2F24"/>
              </a:solidFill>
              <a:latin typeface="Poppins"/>
              <a:ea typeface="+mn-ea"/>
              <a:cs typeface="+mn-cs"/>
            </a:rPr>
            <a:t>.</a:t>
          </a:r>
          <a:endParaRPr lang="pl-PL" sz="900" kern="1200">
            <a:solidFill>
              <a:srgbClr val="0A2F24"/>
            </a:solidFill>
            <a:latin typeface="Poppins"/>
            <a:ea typeface="+mn-ea"/>
            <a:cs typeface="+mn-cs"/>
          </a:endParaRPr>
        </a:p>
      </dgm:t>
    </dgm:pt>
    <dgm:pt modelId="{E21A4DD7-0D43-40A2-A1BC-58EA50563BBD}" type="parTrans" cxnId="{51CE358D-CDF8-4C59-84E6-27770D07B266}">
      <dgm:prSet/>
      <dgm:spPr/>
      <dgm:t>
        <a:bodyPr/>
        <a:lstStyle/>
        <a:p>
          <a:endParaRPr lang="pl-PL"/>
        </a:p>
      </dgm:t>
    </dgm:pt>
    <dgm:pt modelId="{48C59812-7853-42CF-8907-3F5D0B5456D5}" type="sibTrans" cxnId="{51CE358D-CDF8-4C59-84E6-27770D07B266}">
      <dgm:prSet custT="1"/>
      <dgm:spPr>
        <a:noFill/>
        <a:ln w="38100" cap="flat" cmpd="sng" algn="ctr">
          <a:solidFill>
            <a:srgbClr val="0A2F24"/>
          </a:solidFill>
          <a:prstDash val="solid"/>
          <a:tailEnd type="arrow"/>
        </a:ln>
        <a:effectLst/>
      </dgm:spPr>
      <dgm:t>
        <a:bodyPr spcFirstLastPara="0" vert="horz" wrap="square" lIns="12700" tIns="0" rIns="12700" bIns="0" numCol="1" spcCol="1270" anchor="ctr" anchorCtr="0"/>
        <a:lstStyle/>
        <a:p>
          <a:pPr marL="0" lvl="0" indent="0" algn="ctr" defTabSz="222250">
            <a:lnSpc>
              <a:spcPct val="90000"/>
            </a:lnSpc>
            <a:spcBef>
              <a:spcPct val="0"/>
            </a:spcBef>
            <a:spcAft>
              <a:spcPct val="35000"/>
            </a:spcAft>
            <a:buNone/>
          </a:pPr>
          <a:endParaRPr lang="pl-PL" sz="500" kern="1200">
            <a:solidFill>
              <a:srgbClr val="0A2F24">
                <a:hueOff val="0"/>
                <a:satOff val="0"/>
                <a:lumOff val="0"/>
                <a:alphaOff val="0"/>
              </a:srgbClr>
            </a:solidFill>
            <a:latin typeface="Poppins"/>
            <a:ea typeface="+mn-ea"/>
            <a:cs typeface="+mn-cs"/>
          </a:endParaRPr>
        </a:p>
      </dgm:t>
    </dgm:pt>
    <dgm:pt modelId="{15CA9E36-2254-4914-BB47-C67A28EBB6D9}">
      <dgm:prSet phldrT="[Text]" custT="1"/>
      <dgm:spPr>
        <a:solidFill>
          <a:schemeClr val="tx1"/>
        </a:solidFill>
        <a:ln>
          <a:solidFill>
            <a:schemeClr val="tx1"/>
          </a:solidFill>
        </a:ln>
      </dgm:spPr>
      <dgm:t>
        <a:bodyPr/>
        <a:lstStyle/>
        <a:p>
          <a:pPr marL="0" lvl="0" indent="0" algn="ctr" defTabSz="533400">
            <a:lnSpc>
              <a:spcPct val="90000"/>
            </a:lnSpc>
            <a:spcBef>
              <a:spcPct val="0"/>
            </a:spcBef>
            <a:spcAft>
              <a:spcPct val="35000"/>
            </a:spcAft>
            <a:buNone/>
          </a:pPr>
          <a:r>
            <a:rPr lang="pl-PL" sz="1200" b="1" kern="1200">
              <a:solidFill>
                <a:schemeClr val="accent5"/>
              </a:solidFill>
              <a:latin typeface="Poppins"/>
              <a:ea typeface="+mn-ea"/>
              <a:cs typeface="+mn-cs"/>
            </a:rPr>
            <a:t>6. Retrieval &amp; citation</a:t>
          </a:r>
        </a:p>
        <a:p>
          <a:pPr marL="0" lvl="0" indent="0" algn="ctr" defTabSz="533400">
            <a:lnSpc>
              <a:spcPct val="90000"/>
            </a:lnSpc>
            <a:spcBef>
              <a:spcPct val="0"/>
            </a:spcBef>
            <a:spcAft>
              <a:spcPct val="35000"/>
            </a:spcAft>
            <a:buNone/>
          </a:pPr>
          <a:r>
            <a:rPr lang="en-US" sz="900" b="1" kern="1200">
              <a:solidFill>
                <a:schemeClr val="accent5"/>
              </a:solidFill>
              <a:latin typeface="Poppins"/>
              <a:ea typeface="+mn-ea"/>
              <a:cs typeface="+mn-cs"/>
            </a:rPr>
            <a:t>When a prompt matches, the most relevant chunks are retrieved and used to generate the answer </a:t>
          </a:r>
          <a:r>
            <a:rPr lang="pl-PL" sz="900" b="1" kern="1200">
              <a:solidFill>
                <a:schemeClr val="accent5"/>
              </a:solidFill>
              <a:latin typeface="Poppins"/>
              <a:ea typeface="+mn-ea"/>
              <a:cs typeface="+mn-cs"/>
            </a:rPr>
            <a:t>-</a:t>
          </a:r>
          <a:r>
            <a:rPr lang="en-US" sz="900" b="1" kern="1200">
              <a:solidFill>
                <a:schemeClr val="accent5"/>
              </a:solidFill>
              <a:latin typeface="Poppins"/>
              <a:ea typeface="+mn-ea"/>
              <a:cs typeface="+mn-cs"/>
            </a:rPr>
            <a:t> and sometimes shown as a citation</a:t>
          </a:r>
          <a:r>
            <a:rPr lang="en-US" sz="1200" kern="1200">
              <a:solidFill>
                <a:srgbClr val="0A2F24"/>
              </a:solidFill>
              <a:latin typeface="Poppins"/>
              <a:ea typeface="+mn-ea"/>
              <a:cs typeface="+mn-cs"/>
            </a:rPr>
            <a:t>.</a:t>
          </a:r>
          <a:endParaRPr lang="pl-PL" sz="1200" kern="1200">
            <a:solidFill>
              <a:srgbClr val="0A2F24"/>
            </a:solidFill>
            <a:latin typeface="Poppins"/>
            <a:ea typeface="+mn-ea"/>
            <a:cs typeface="+mn-cs"/>
          </a:endParaRPr>
        </a:p>
      </dgm:t>
    </dgm:pt>
    <dgm:pt modelId="{EF386743-ADFE-4B74-ACE9-762AA329FE5C}" type="parTrans" cxnId="{40F87BFC-9A93-47B2-92E9-D8CD82FFF7FC}">
      <dgm:prSet/>
      <dgm:spPr/>
      <dgm:t>
        <a:bodyPr/>
        <a:lstStyle/>
        <a:p>
          <a:endParaRPr lang="pl-PL"/>
        </a:p>
      </dgm:t>
    </dgm:pt>
    <dgm:pt modelId="{45E08A67-4CA5-4E1A-BB6D-3825E433F1D6}" type="sibTrans" cxnId="{40F87BFC-9A93-47B2-92E9-D8CD82FFF7FC}">
      <dgm:prSet/>
      <dgm:spPr/>
      <dgm:t>
        <a:bodyPr/>
        <a:lstStyle/>
        <a:p>
          <a:endParaRPr lang="pl-PL"/>
        </a:p>
      </dgm:t>
    </dgm:pt>
    <dgm:pt modelId="{27C13A67-C0B8-4B9F-9F92-BE686ACFB3E5}" type="pres">
      <dgm:prSet presAssocID="{4B562088-13BD-4A43-8DC5-F7EBC08ADBA4}" presName="Name0" presStyleCnt="0">
        <dgm:presLayoutVars>
          <dgm:dir/>
          <dgm:resizeHandles val="exact"/>
        </dgm:presLayoutVars>
      </dgm:prSet>
      <dgm:spPr/>
    </dgm:pt>
    <dgm:pt modelId="{0D0620DC-08AF-4F06-A8C9-A2CD37269905}" type="pres">
      <dgm:prSet presAssocID="{C7A79095-DC14-4814-8FE6-6BDE01D532DF}" presName="node" presStyleLbl="node1" presStyleIdx="0" presStyleCnt="6">
        <dgm:presLayoutVars>
          <dgm:bulletEnabled val="1"/>
        </dgm:presLayoutVars>
      </dgm:prSet>
      <dgm:spPr/>
    </dgm:pt>
    <dgm:pt modelId="{85CBDB7E-8AFE-49FF-AD7E-A91ADDE941FD}" type="pres">
      <dgm:prSet presAssocID="{DC375EE1-30DD-4DA8-A75D-1A6BC00AB1B3}" presName="sibTrans" presStyleLbl="sibTrans1D1" presStyleIdx="0" presStyleCnt="5"/>
      <dgm:spPr/>
    </dgm:pt>
    <dgm:pt modelId="{50018DD3-ED6A-4108-831B-0A58BB055C42}" type="pres">
      <dgm:prSet presAssocID="{DC375EE1-30DD-4DA8-A75D-1A6BC00AB1B3}" presName="connectorText" presStyleLbl="sibTrans1D1" presStyleIdx="0" presStyleCnt="5"/>
      <dgm:spPr/>
    </dgm:pt>
    <dgm:pt modelId="{29553E52-D767-4AE6-9310-579D8C99CD94}" type="pres">
      <dgm:prSet presAssocID="{04E62784-CF31-438C-9CB5-1C6DF2D5F1BE}" presName="node" presStyleLbl="node1" presStyleIdx="1" presStyleCnt="6">
        <dgm:presLayoutVars>
          <dgm:bulletEnabled val="1"/>
        </dgm:presLayoutVars>
      </dgm:prSet>
      <dgm:spPr/>
    </dgm:pt>
    <dgm:pt modelId="{A53EFB89-1EC0-4EF5-B387-A472D055CDFF}" type="pres">
      <dgm:prSet presAssocID="{FFA810AE-5B7C-4775-B968-92EF644B0D71}" presName="sibTrans" presStyleLbl="sibTrans1D1" presStyleIdx="1" presStyleCnt="5"/>
      <dgm:spPr/>
    </dgm:pt>
    <dgm:pt modelId="{35DF743D-7F1D-42B1-AE42-ABC40BC89B29}" type="pres">
      <dgm:prSet presAssocID="{FFA810AE-5B7C-4775-B968-92EF644B0D71}" presName="connectorText" presStyleLbl="sibTrans1D1" presStyleIdx="1" presStyleCnt="5"/>
      <dgm:spPr/>
    </dgm:pt>
    <dgm:pt modelId="{33C97567-69C0-4DDE-BE2F-23B542D56AF3}" type="pres">
      <dgm:prSet presAssocID="{5202610E-A27C-4E57-9729-A39D85493CC7}" presName="node" presStyleLbl="node1" presStyleIdx="2" presStyleCnt="6">
        <dgm:presLayoutVars>
          <dgm:bulletEnabled val="1"/>
        </dgm:presLayoutVars>
      </dgm:prSet>
      <dgm:spPr/>
    </dgm:pt>
    <dgm:pt modelId="{B1CA3551-CCD8-4549-97DE-C1132A4FFCB9}" type="pres">
      <dgm:prSet presAssocID="{197E0B1D-1D5C-40A0-B576-D1DE6125A940}" presName="sibTrans" presStyleLbl="sibTrans1D1" presStyleIdx="2" presStyleCnt="5"/>
      <dgm:spPr/>
    </dgm:pt>
    <dgm:pt modelId="{3BBF338A-789C-4EF2-B031-475F6C3A7F3F}" type="pres">
      <dgm:prSet presAssocID="{197E0B1D-1D5C-40A0-B576-D1DE6125A940}" presName="connectorText" presStyleLbl="sibTrans1D1" presStyleIdx="2" presStyleCnt="5"/>
      <dgm:spPr/>
    </dgm:pt>
    <dgm:pt modelId="{0E32AAB1-F1BE-4C8B-A570-8A45FF9E2B1D}" type="pres">
      <dgm:prSet presAssocID="{DC82B708-E7FD-497A-A36F-5AB2B3191A29}" presName="node" presStyleLbl="node1" presStyleIdx="3" presStyleCnt="6">
        <dgm:presLayoutVars>
          <dgm:bulletEnabled val="1"/>
        </dgm:presLayoutVars>
      </dgm:prSet>
      <dgm:spPr/>
    </dgm:pt>
    <dgm:pt modelId="{9F9324D7-6C9F-4A14-8AC0-DA28A62D9AC8}" type="pres">
      <dgm:prSet presAssocID="{A10B97E4-5E62-4186-A8AB-13790741A504}" presName="sibTrans" presStyleLbl="sibTrans1D1" presStyleIdx="3" presStyleCnt="5"/>
      <dgm:spPr/>
    </dgm:pt>
    <dgm:pt modelId="{EF0D90C3-1D43-4C6F-999E-3FF217F269BA}" type="pres">
      <dgm:prSet presAssocID="{A10B97E4-5E62-4186-A8AB-13790741A504}" presName="connectorText" presStyleLbl="sibTrans1D1" presStyleIdx="3" presStyleCnt="5"/>
      <dgm:spPr/>
    </dgm:pt>
    <dgm:pt modelId="{F03465DF-A16E-46B4-9695-F0BDF4397802}" type="pres">
      <dgm:prSet presAssocID="{A0013EAF-03E6-4979-810E-F00CF0C7ABED}" presName="node" presStyleLbl="node1" presStyleIdx="4" presStyleCnt="6">
        <dgm:presLayoutVars>
          <dgm:bulletEnabled val="1"/>
        </dgm:presLayoutVars>
      </dgm:prSet>
      <dgm:spPr/>
    </dgm:pt>
    <dgm:pt modelId="{045AF976-A6AB-4DDE-B48F-F9BF47A84137}" type="pres">
      <dgm:prSet presAssocID="{48C59812-7853-42CF-8907-3F5D0B5456D5}" presName="sibTrans" presStyleLbl="sibTrans1D1" presStyleIdx="4" presStyleCnt="5"/>
      <dgm:spPr>
        <a:xfrm>
          <a:off x="4799659" y="2878761"/>
          <a:ext cx="464028" cy="91440"/>
        </a:xfrm>
        <a:custGeom>
          <a:avLst/>
          <a:gdLst/>
          <a:ahLst/>
          <a:cxnLst/>
          <a:rect l="0" t="0" r="0" b="0"/>
          <a:pathLst>
            <a:path>
              <a:moveTo>
                <a:pt x="0" y="45720"/>
              </a:moveTo>
              <a:lnTo>
                <a:pt x="464028" y="45720"/>
              </a:lnTo>
            </a:path>
          </a:pathLst>
        </a:custGeom>
      </dgm:spPr>
    </dgm:pt>
    <dgm:pt modelId="{34AB4061-5CAF-4605-828F-063B8A314C1A}" type="pres">
      <dgm:prSet presAssocID="{48C59812-7853-42CF-8907-3F5D0B5456D5}" presName="connectorText" presStyleLbl="sibTrans1D1" presStyleIdx="4" presStyleCnt="5"/>
      <dgm:spPr/>
    </dgm:pt>
    <dgm:pt modelId="{AFE19BCB-CAEA-488A-9464-BDCEFC02EDD8}" type="pres">
      <dgm:prSet presAssocID="{15CA9E36-2254-4914-BB47-C67A28EBB6D9}" presName="node" presStyleLbl="node1" presStyleIdx="5" presStyleCnt="6">
        <dgm:presLayoutVars>
          <dgm:bulletEnabled val="1"/>
        </dgm:presLayoutVars>
      </dgm:prSet>
      <dgm:spPr/>
    </dgm:pt>
  </dgm:ptLst>
  <dgm:cxnLst>
    <dgm:cxn modelId="{318C5F01-A8F5-47A1-9DE9-21F2E6A713D4}" type="presOf" srcId="{DC375EE1-30DD-4DA8-A75D-1A6BC00AB1B3}" destId="{50018DD3-ED6A-4108-831B-0A58BB055C42}" srcOrd="1" destOrd="0" presId="urn:microsoft.com/office/officeart/2005/8/layout/bProcess3"/>
    <dgm:cxn modelId="{0871C306-E5C6-4A63-810D-FC2D23E94647}" type="presOf" srcId="{197E0B1D-1D5C-40A0-B576-D1DE6125A940}" destId="{B1CA3551-CCD8-4549-97DE-C1132A4FFCB9}" srcOrd="0" destOrd="0" presId="urn:microsoft.com/office/officeart/2005/8/layout/bProcess3"/>
    <dgm:cxn modelId="{C6EBBD10-5F35-407C-A729-B95ED3B21F44}" type="presOf" srcId="{48C59812-7853-42CF-8907-3F5D0B5456D5}" destId="{045AF976-A6AB-4DDE-B48F-F9BF47A84137}" srcOrd="0" destOrd="0" presId="urn:microsoft.com/office/officeart/2005/8/layout/bProcess3"/>
    <dgm:cxn modelId="{9FFAE714-DE5B-4004-B39E-1BCABD8B9B5D}" type="presOf" srcId="{197E0B1D-1D5C-40A0-B576-D1DE6125A940}" destId="{3BBF338A-789C-4EF2-B031-475F6C3A7F3F}" srcOrd="1" destOrd="0" presId="urn:microsoft.com/office/officeart/2005/8/layout/bProcess3"/>
    <dgm:cxn modelId="{729E1166-5844-4632-A5E4-09D1236D5819}" srcId="{4B562088-13BD-4A43-8DC5-F7EBC08ADBA4}" destId="{5202610E-A27C-4E57-9729-A39D85493CC7}" srcOrd="2" destOrd="0" parTransId="{EB04D440-1057-4BA7-9984-117A87EE3A49}" sibTransId="{197E0B1D-1D5C-40A0-B576-D1DE6125A940}"/>
    <dgm:cxn modelId="{203C466C-F0EA-491B-B54D-F958FDE86D35}" srcId="{4B562088-13BD-4A43-8DC5-F7EBC08ADBA4}" destId="{DC82B708-E7FD-497A-A36F-5AB2B3191A29}" srcOrd="3" destOrd="0" parTransId="{337AFEF1-C093-4576-9906-3A922685A449}" sibTransId="{A10B97E4-5E62-4186-A8AB-13790741A504}"/>
    <dgm:cxn modelId="{A4D0986F-A820-47AB-AA96-92BB95CDFBF0}" type="presOf" srcId="{A10B97E4-5E62-4186-A8AB-13790741A504}" destId="{EF0D90C3-1D43-4C6F-999E-3FF217F269BA}" srcOrd="1" destOrd="0" presId="urn:microsoft.com/office/officeart/2005/8/layout/bProcess3"/>
    <dgm:cxn modelId="{7A73A170-8890-4E70-8DBB-C360C9603A4B}" type="presOf" srcId="{C7A79095-DC14-4814-8FE6-6BDE01D532DF}" destId="{0D0620DC-08AF-4F06-A8C9-A2CD37269905}" srcOrd="0" destOrd="0" presId="urn:microsoft.com/office/officeart/2005/8/layout/bProcess3"/>
    <dgm:cxn modelId="{6935B959-3B75-4F5D-ADF4-9C39D1D73F25}" type="presOf" srcId="{04E62784-CF31-438C-9CB5-1C6DF2D5F1BE}" destId="{29553E52-D767-4AE6-9310-579D8C99CD94}" srcOrd="0" destOrd="0" presId="urn:microsoft.com/office/officeart/2005/8/layout/bProcess3"/>
    <dgm:cxn modelId="{8854187D-37CC-42E3-AEF9-87599CB25670}" type="presOf" srcId="{FFA810AE-5B7C-4775-B968-92EF644B0D71}" destId="{35DF743D-7F1D-42B1-AE42-ABC40BC89B29}" srcOrd="1" destOrd="0" presId="urn:microsoft.com/office/officeart/2005/8/layout/bProcess3"/>
    <dgm:cxn modelId="{6A7D4F7D-D1B2-420D-BB9F-1D93CA4B9A3B}" type="presOf" srcId="{A10B97E4-5E62-4186-A8AB-13790741A504}" destId="{9F9324D7-6C9F-4A14-8AC0-DA28A62D9AC8}" srcOrd="0" destOrd="0" presId="urn:microsoft.com/office/officeart/2005/8/layout/bProcess3"/>
    <dgm:cxn modelId="{51CE358D-CDF8-4C59-84E6-27770D07B266}" srcId="{4B562088-13BD-4A43-8DC5-F7EBC08ADBA4}" destId="{A0013EAF-03E6-4979-810E-F00CF0C7ABED}" srcOrd="4" destOrd="0" parTransId="{E21A4DD7-0D43-40A2-A1BC-58EA50563BBD}" sibTransId="{48C59812-7853-42CF-8907-3F5D0B5456D5}"/>
    <dgm:cxn modelId="{01DC389D-EBC9-4E87-9B17-9221C9C2022F}" type="presOf" srcId="{5202610E-A27C-4E57-9729-A39D85493CC7}" destId="{33C97567-69C0-4DDE-BE2F-23B542D56AF3}" srcOrd="0" destOrd="0" presId="urn:microsoft.com/office/officeart/2005/8/layout/bProcess3"/>
    <dgm:cxn modelId="{572ACB9D-8856-455A-B928-F15D1DAC4549}" srcId="{4B562088-13BD-4A43-8DC5-F7EBC08ADBA4}" destId="{04E62784-CF31-438C-9CB5-1C6DF2D5F1BE}" srcOrd="1" destOrd="0" parTransId="{6B764AFC-7034-42F4-9C20-DE2EC5E8C8F6}" sibTransId="{FFA810AE-5B7C-4775-B968-92EF644B0D71}"/>
    <dgm:cxn modelId="{B34F25A1-71F6-4F3F-A27B-051EC16130AF}" type="presOf" srcId="{FFA810AE-5B7C-4775-B968-92EF644B0D71}" destId="{A53EFB89-1EC0-4EF5-B387-A472D055CDFF}" srcOrd="0" destOrd="0" presId="urn:microsoft.com/office/officeart/2005/8/layout/bProcess3"/>
    <dgm:cxn modelId="{0139F2C5-714D-4748-9C48-740827F0D39D}" type="presOf" srcId="{DC82B708-E7FD-497A-A36F-5AB2B3191A29}" destId="{0E32AAB1-F1BE-4C8B-A570-8A45FF9E2B1D}" srcOrd="0" destOrd="0" presId="urn:microsoft.com/office/officeart/2005/8/layout/bProcess3"/>
    <dgm:cxn modelId="{43D5B4CE-6013-42B3-87E1-516859DA2342}" type="presOf" srcId="{DC375EE1-30DD-4DA8-A75D-1A6BC00AB1B3}" destId="{85CBDB7E-8AFE-49FF-AD7E-A91ADDE941FD}" srcOrd="0" destOrd="0" presId="urn:microsoft.com/office/officeart/2005/8/layout/bProcess3"/>
    <dgm:cxn modelId="{8D06F9DA-A0B8-4134-A608-76679C2FAF34}" srcId="{4B562088-13BD-4A43-8DC5-F7EBC08ADBA4}" destId="{C7A79095-DC14-4814-8FE6-6BDE01D532DF}" srcOrd="0" destOrd="0" parTransId="{2AFD9225-4FAF-4CB1-B49D-8B5549991E15}" sibTransId="{DC375EE1-30DD-4DA8-A75D-1A6BC00AB1B3}"/>
    <dgm:cxn modelId="{3F695EE3-F349-4834-9125-D707A4F7A87F}" type="presOf" srcId="{48C59812-7853-42CF-8907-3F5D0B5456D5}" destId="{34AB4061-5CAF-4605-828F-063B8A314C1A}" srcOrd="1" destOrd="0" presId="urn:microsoft.com/office/officeart/2005/8/layout/bProcess3"/>
    <dgm:cxn modelId="{88CADDE5-A327-4246-B481-86E826C70B92}" type="presOf" srcId="{15CA9E36-2254-4914-BB47-C67A28EBB6D9}" destId="{AFE19BCB-CAEA-488A-9464-BDCEFC02EDD8}" srcOrd="0" destOrd="0" presId="urn:microsoft.com/office/officeart/2005/8/layout/bProcess3"/>
    <dgm:cxn modelId="{4E92C7EE-4D93-4B03-8332-F19C317972F0}" type="presOf" srcId="{4B562088-13BD-4A43-8DC5-F7EBC08ADBA4}" destId="{27C13A67-C0B8-4B9F-9F92-BE686ACFB3E5}" srcOrd="0" destOrd="0" presId="urn:microsoft.com/office/officeart/2005/8/layout/bProcess3"/>
    <dgm:cxn modelId="{673E14F7-DBC6-49BE-9C0B-9BD96816BD22}" type="presOf" srcId="{A0013EAF-03E6-4979-810E-F00CF0C7ABED}" destId="{F03465DF-A16E-46B4-9695-F0BDF4397802}" srcOrd="0" destOrd="0" presId="urn:microsoft.com/office/officeart/2005/8/layout/bProcess3"/>
    <dgm:cxn modelId="{40F87BFC-9A93-47B2-92E9-D8CD82FFF7FC}" srcId="{4B562088-13BD-4A43-8DC5-F7EBC08ADBA4}" destId="{15CA9E36-2254-4914-BB47-C67A28EBB6D9}" srcOrd="5" destOrd="0" parTransId="{EF386743-ADFE-4B74-ACE9-762AA329FE5C}" sibTransId="{45E08A67-4CA5-4E1A-BB6D-3825E433F1D6}"/>
    <dgm:cxn modelId="{984810A7-FA1B-4857-864F-1FD3312D3F89}" type="presParOf" srcId="{27C13A67-C0B8-4B9F-9F92-BE686ACFB3E5}" destId="{0D0620DC-08AF-4F06-A8C9-A2CD37269905}" srcOrd="0" destOrd="0" presId="urn:microsoft.com/office/officeart/2005/8/layout/bProcess3"/>
    <dgm:cxn modelId="{C8B6DE8A-6D78-4F8C-BB7D-B8A3D2BB576B}" type="presParOf" srcId="{27C13A67-C0B8-4B9F-9F92-BE686ACFB3E5}" destId="{85CBDB7E-8AFE-49FF-AD7E-A91ADDE941FD}" srcOrd="1" destOrd="0" presId="urn:microsoft.com/office/officeart/2005/8/layout/bProcess3"/>
    <dgm:cxn modelId="{EFE721B7-6851-4C8D-9D3D-293186F5EF49}" type="presParOf" srcId="{85CBDB7E-8AFE-49FF-AD7E-A91ADDE941FD}" destId="{50018DD3-ED6A-4108-831B-0A58BB055C42}" srcOrd="0" destOrd="0" presId="urn:microsoft.com/office/officeart/2005/8/layout/bProcess3"/>
    <dgm:cxn modelId="{8B574109-9EA1-4855-8764-A2FF08FD0976}" type="presParOf" srcId="{27C13A67-C0B8-4B9F-9F92-BE686ACFB3E5}" destId="{29553E52-D767-4AE6-9310-579D8C99CD94}" srcOrd="2" destOrd="0" presId="urn:microsoft.com/office/officeart/2005/8/layout/bProcess3"/>
    <dgm:cxn modelId="{BA04CF07-EB2A-47C2-8565-9F7F9CC8044A}" type="presParOf" srcId="{27C13A67-C0B8-4B9F-9F92-BE686ACFB3E5}" destId="{A53EFB89-1EC0-4EF5-B387-A472D055CDFF}" srcOrd="3" destOrd="0" presId="urn:microsoft.com/office/officeart/2005/8/layout/bProcess3"/>
    <dgm:cxn modelId="{974CC784-5E0E-49E8-9173-C5C4967FADC9}" type="presParOf" srcId="{A53EFB89-1EC0-4EF5-B387-A472D055CDFF}" destId="{35DF743D-7F1D-42B1-AE42-ABC40BC89B29}" srcOrd="0" destOrd="0" presId="urn:microsoft.com/office/officeart/2005/8/layout/bProcess3"/>
    <dgm:cxn modelId="{9A634AC6-0140-4AEF-8DAE-3172439049A6}" type="presParOf" srcId="{27C13A67-C0B8-4B9F-9F92-BE686ACFB3E5}" destId="{33C97567-69C0-4DDE-BE2F-23B542D56AF3}" srcOrd="4" destOrd="0" presId="urn:microsoft.com/office/officeart/2005/8/layout/bProcess3"/>
    <dgm:cxn modelId="{7ECA1BCD-9C00-43C4-BD5A-B6F52D87B561}" type="presParOf" srcId="{27C13A67-C0B8-4B9F-9F92-BE686ACFB3E5}" destId="{B1CA3551-CCD8-4549-97DE-C1132A4FFCB9}" srcOrd="5" destOrd="0" presId="urn:microsoft.com/office/officeart/2005/8/layout/bProcess3"/>
    <dgm:cxn modelId="{27A0373F-E08F-4910-BD01-078772638D28}" type="presParOf" srcId="{B1CA3551-CCD8-4549-97DE-C1132A4FFCB9}" destId="{3BBF338A-789C-4EF2-B031-475F6C3A7F3F}" srcOrd="0" destOrd="0" presId="urn:microsoft.com/office/officeart/2005/8/layout/bProcess3"/>
    <dgm:cxn modelId="{E8D66888-8CAA-4931-9F98-AC82436ACEB4}" type="presParOf" srcId="{27C13A67-C0B8-4B9F-9F92-BE686ACFB3E5}" destId="{0E32AAB1-F1BE-4C8B-A570-8A45FF9E2B1D}" srcOrd="6" destOrd="0" presId="urn:microsoft.com/office/officeart/2005/8/layout/bProcess3"/>
    <dgm:cxn modelId="{DFD6F729-D9EE-4AA5-BEFB-1BEC3BF6E1A5}" type="presParOf" srcId="{27C13A67-C0B8-4B9F-9F92-BE686ACFB3E5}" destId="{9F9324D7-6C9F-4A14-8AC0-DA28A62D9AC8}" srcOrd="7" destOrd="0" presId="urn:microsoft.com/office/officeart/2005/8/layout/bProcess3"/>
    <dgm:cxn modelId="{4D7FA5D0-3E11-483C-86DC-82BFE391AD3B}" type="presParOf" srcId="{9F9324D7-6C9F-4A14-8AC0-DA28A62D9AC8}" destId="{EF0D90C3-1D43-4C6F-999E-3FF217F269BA}" srcOrd="0" destOrd="0" presId="urn:microsoft.com/office/officeart/2005/8/layout/bProcess3"/>
    <dgm:cxn modelId="{B4C18FE7-43F4-4278-A523-1674FC91C815}" type="presParOf" srcId="{27C13A67-C0B8-4B9F-9F92-BE686ACFB3E5}" destId="{F03465DF-A16E-46B4-9695-F0BDF4397802}" srcOrd="8" destOrd="0" presId="urn:microsoft.com/office/officeart/2005/8/layout/bProcess3"/>
    <dgm:cxn modelId="{D728CD95-F5FA-433E-89E8-DA87F4A10A52}" type="presParOf" srcId="{27C13A67-C0B8-4B9F-9F92-BE686ACFB3E5}" destId="{045AF976-A6AB-4DDE-B48F-F9BF47A84137}" srcOrd="9" destOrd="0" presId="urn:microsoft.com/office/officeart/2005/8/layout/bProcess3"/>
    <dgm:cxn modelId="{9EC2A0E1-FADF-4911-B39D-2035F5D96A40}" type="presParOf" srcId="{045AF976-A6AB-4DDE-B48F-F9BF47A84137}" destId="{34AB4061-5CAF-4605-828F-063B8A314C1A}" srcOrd="0" destOrd="0" presId="urn:microsoft.com/office/officeart/2005/8/layout/bProcess3"/>
    <dgm:cxn modelId="{9DEFB067-0B67-4193-A2C1-72D813D9E93E}" type="presParOf" srcId="{27C13A67-C0B8-4B9F-9F92-BE686ACFB3E5}" destId="{AFE19BCB-CAEA-488A-9464-BDCEFC02EDD8}"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4587F-49DC-4647-A49A-6DB6ABC06C60}">
      <dsp:nvSpPr>
        <dsp:cNvPr id="0" name=""/>
        <dsp:cNvSpPr/>
      </dsp:nvSpPr>
      <dsp:spPr>
        <a:xfrm>
          <a:off x="979371" y="292298"/>
          <a:ext cx="2013688" cy="2013688"/>
        </a:xfrm>
        <a:prstGeom prst="blockArc">
          <a:avLst>
            <a:gd name="adj1" fmla="val 12600000"/>
            <a:gd name="adj2" fmla="val 16200000"/>
            <a:gd name="adj3" fmla="val 449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3DEBDB-38C5-4A59-802E-199E0D47D3A2}">
      <dsp:nvSpPr>
        <dsp:cNvPr id="0" name=""/>
        <dsp:cNvSpPr/>
      </dsp:nvSpPr>
      <dsp:spPr>
        <a:xfrm>
          <a:off x="979371" y="292298"/>
          <a:ext cx="2013688" cy="2013688"/>
        </a:xfrm>
        <a:prstGeom prst="blockArc">
          <a:avLst>
            <a:gd name="adj1" fmla="val 9000000"/>
            <a:gd name="adj2" fmla="val 12600000"/>
            <a:gd name="adj3" fmla="val 449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D17F414-7202-409B-B145-8DD46B6FC328}">
      <dsp:nvSpPr>
        <dsp:cNvPr id="0" name=""/>
        <dsp:cNvSpPr/>
      </dsp:nvSpPr>
      <dsp:spPr>
        <a:xfrm>
          <a:off x="979371" y="292298"/>
          <a:ext cx="2013688" cy="2013688"/>
        </a:xfrm>
        <a:prstGeom prst="blockArc">
          <a:avLst>
            <a:gd name="adj1" fmla="val 5400000"/>
            <a:gd name="adj2" fmla="val 9000000"/>
            <a:gd name="adj3" fmla="val 449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AA0D74-31E9-41E0-BFFB-A191DFBB456F}">
      <dsp:nvSpPr>
        <dsp:cNvPr id="0" name=""/>
        <dsp:cNvSpPr/>
      </dsp:nvSpPr>
      <dsp:spPr>
        <a:xfrm>
          <a:off x="979371" y="292298"/>
          <a:ext cx="2013688" cy="2013688"/>
        </a:xfrm>
        <a:prstGeom prst="blockArc">
          <a:avLst>
            <a:gd name="adj1" fmla="val 1800000"/>
            <a:gd name="adj2" fmla="val 5400000"/>
            <a:gd name="adj3" fmla="val 449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569C4E-9566-4045-A8AA-071362C812AB}">
      <dsp:nvSpPr>
        <dsp:cNvPr id="0" name=""/>
        <dsp:cNvSpPr/>
      </dsp:nvSpPr>
      <dsp:spPr>
        <a:xfrm>
          <a:off x="979371" y="292298"/>
          <a:ext cx="2013688" cy="2013688"/>
        </a:xfrm>
        <a:prstGeom prst="blockArc">
          <a:avLst>
            <a:gd name="adj1" fmla="val 19800000"/>
            <a:gd name="adj2" fmla="val 1800000"/>
            <a:gd name="adj3" fmla="val 449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B0AF39-F02E-47EA-B306-E40480950306}">
      <dsp:nvSpPr>
        <dsp:cNvPr id="0" name=""/>
        <dsp:cNvSpPr/>
      </dsp:nvSpPr>
      <dsp:spPr>
        <a:xfrm>
          <a:off x="979371" y="292298"/>
          <a:ext cx="2013688" cy="2013688"/>
        </a:xfrm>
        <a:prstGeom prst="blockArc">
          <a:avLst>
            <a:gd name="adj1" fmla="val 16200000"/>
            <a:gd name="adj2" fmla="val 19800000"/>
            <a:gd name="adj3" fmla="val 449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3048B1-E063-4724-A20E-B764FDF05742}">
      <dsp:nvSpPr>
        <dsp:cNvPr id="0" name=""/>
        <dsp:cNvSpPr/>
      </dsp:nvSpPr>
      <dsp:spPr>
        <a:xfrm>
          <a:off x="1537183" y="850110"/>
          <a:ext cx="898064" cy="898064"/>
        </a:xfrm>
        <a:prstGeom prst="ellipse">
          <a:avLst/>
        </a:prstGeom>
        <a:solidFill>
          <a:schemeClr val="accent5"/>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pl-PL" sz="2000" b="1" kern="1200">
              <a:solidFill>
                <a:schemeClr val="tx1"/>
              </a:solidFill>
            </a:rPr>
            <a:t>GEO</a:t>
          </a:r>
        </a:p>
      </dsp:txBody>
      <dsp:txXfrm>
        <a:off x="1668701" y="981628"/>
        <a:ext cx="635028" cy="635028"/>
      </dsp:txXfrm>
    </dsp:sp>
    <dsp:sp modelId="{D270F8B4-FC0F-43CE-9BDE-CABD74A9BABF}">
      <dsp:nvSpPr>
        <dsp:cNvPr id="0" name=""/>
        <dsp:cNvSpPr/>
      </dsp:nvSpPr>
      <dsp:spPr>
        <a:xfrm>
          <a:off x="1671893" y="607"/>
          <a:ext cx="628645" cy="628645"/>
        </a:xfrm>
        <a:prstGeom prst="ellipse">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pl-PL" sz="500" b="1" kern="1200"/>
            <a:t>Analytics </a:t>
          </a:r>
        </a:p>
      </dsp:txBody>
      <dsp:txXfrm>
        <a:off x="1763956" y="92670"/>
        <a:ext cx="444519" cy="444519"/>
      </dsp:txXfrm>
    </dsp:sp>
    <dsp:sp modelId="{E51EEC29-E7F2-4405-AA5A-2A8004BA526A}">
      <dsp:nvSpPr>
        <dsp:cNvPr id="0" name=""/>
        <dsp:cNvSpPr/>
      </dsp:nvSpPr>
      <dsp:spPr>
        <a:xfrm>
          <a:off x="2524247" y="492713"/>
          <a:ext cx="628645" cy="628645"/>
        </a:xfrm>
        <a:prstGeom prst="ellipse">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pl-PL" sz="500" b="1" kern="1200"/>
            <a:t>Prompt research</a:t>
          </a:r>
        </a:p>
      </dsp:txBody>
      <dsp:txXfrm>
        <a:off x="2616310" y="584776"/>
        <a:ext cx="444519" cy="444519"/>
      </dsp:txXfrm>
    </dsp:sp>
    <dsp:sp modelId="{8294AC99-2718-447D-9F9F-0BE21F0EC49E}">
      <dsp:nvSpPr>
        <dsp:cNvPr id="0" name=""/>
        <dsp:cNvSpPr/>
      </dsp:nvSpPr>
      <dsp:spPr>
        <a:xfrm>
          <a:off x="2524247" y="1476926"/>
          <a:ext cx="628645" cy="628645"/>
        </a:xfrm>
        <a:prstGeom prst="ellipse">
          <a:avLst/>
        </a:prstGeom>
        <a:solidFill>
          <a:srgbClr val="36C74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pl-PL" sz="500" b="1" kern="1200"/>
            <a:t>Content optimization</a:t>
          </a:r>
        </a:p>
      </dsp:txBody>
      <dsp:txXfrm>
        <a:off x="2616310" y="1568989"/>
        <a:ext cx="444519" cy="444519"/>
      </dsp:txXfrm>
    </dsp:sp>
    <dsp:sp modelId="{01EE3C00-BD58-4E2F-82DE-3663B0DC164B}">
      <dsp:nvSpPr>
        <dsp:cNvPr id="0" name=""/>
        <dsp:cNvSpPr/>
      </dsp:nvSpPr>
      <dsp:spPr>
        <a:xfrm>
          <a:off x="1671893" y="1969033"/>
          <a:ext cx="628645" cy="628645"/>
        </a:xfrm>
        <a:prstGeom prst="ellipse">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pl-PL" sz="500" b="1" kern="1200"/>
            <a:t>UX/UI check</a:t>
          </a:r>
        </a:p>
      </dsp:txBody>
      <dsp:txXfrm>
        <a:off x="1763956" y="2061096"/>
        <a:ext cx="444519" cy="444519"/>
      </dsp:txXfrm>
    </dsp:sp>
    <dsp:sp modelId="{DB97D994-8477-4103-8841-BB19A571C334}">
      <dsp:nvSpPr>
        <dsp:cNvPr id="0" name=""/>
        <dsp:cNvSpPr/>
      </dsp:nvSpPr>
      <dsp:spPr>
        <a:xfrm>
          <a:off x="819539" y="1476926"/>
          <a:ext cx="628645" cy="628645"/>
        </a:xfrm>
        <a:prstGeom prst="ellipse">
          <a:avLst/>
        </a:prstGeom>
        <a:solidFill>
          <a:schemeClr val="tx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pl-PL" sz="500" b="1" kern="1200"/>
            <a:t>Page update</a:t>
          </a:r>
        </a:p>
      </dsp:txBody>
      <dsp:txXfrm>
        <a:off x="911602" y="1568989"/>
        <a:ext cx="444519" cy="444519"/>
      </dsp:txXfrm>
    </dsp:sp>
    <dsp:sp modelId="{62DC55DD-0073-4E2E-ACCA-1AC07110DF5C}">
      <dsp:nvSpPr>
        <dsp:cNvPr id="0" name=""/>
        <dsp:cNvSpPr/>
      </dsp:nvSpPr>
      <dsp:spPr>
        <a:xfrm>
          <a:off x="819539" y="492713"/>
          <a:ext cx="628645" cy="628645"/>
        </a:xfrm>
        <a:prstGeom prst="ellipse">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pl-PL" sz="500" b="1" kern="1200"/>
            <a:t>Page deployment</a:t>
          </a:r>
        </a:p>
      </dsp:txBody>
      <dsp:txXfrm>
        <a:off x="911602" y="584776"/>
        <a:ext cx="444519" cy="444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CBDB7E-8AFE-49FF-AD7E-A91ADDE941FD}">
      <dsp:nvSpPr>
        <dsp:cNvPr id="0" name=""/>
        <dsp:cNvSpPr/>
      </dsp:nvSpPr>
      <dsp:spPr>
        <a:xfrm>
          <a:off x="2154471" y="1093798"/>
          <a:ext cx="464028" cy="91440"/>
        </a:xfrm>
        <a:custGeom>
          <a:avLst/>
          <a:gdLst/>
          <a:ahLst/>
          <a:cxnLst/>
          <a:rect l="0" t="0" r="0" b="0"/>
          <a:pathLst>
            <a:path>
              <a:moveTo>
                <a:pt x="0" y="45720"/>
              </a:moveTo>
              <a:lnTo>
                <a:pt x="464028" y="45720"/>
              </a:lnTo>
            </a:path>
          </a:pathLst>
        </a:custGeom>
        <a:noFill/>
        <a:ln w="38100"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l-PL" sz="500" kern="1200"/>
        </a:p>
      </dsp:txBody>
      <dsp:txXfrm>
        <a:off x="2374120" y="1137044"/>
        <a:ext cx="24731" cy="4946"/>
      </dsp:txXfrm>
    </dsp:sp>
    <dsp:sp modelId="{0D0620DC-08AF-4F06-A8C9-A2CD37269905}">
      <dsp:nvSpPr>
        <dsp:cNvPr id="0" name=""/>
        <dsp:cNvSpPr/>
      </dsp:nvSpPr>
      <dsp:spPr>
        <a:xfrm>
          <a:off x="5712" y="494350"/>
          <a:ext cx="2150558" cy="1290335"/>
        </a:xfrm>
        <a:prstGeom prst="rect">
          <a:avLst/>
        </a:prstGeom>
        <a:solidFill>
          <a:schemeClr val="accent5"/>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l-PL" sz="1200" b="1" kern="1200">
              <a:solidFill>
                <a:schemeClr val="tx1"/>
              </a:solidFill>
            </a:rPr>
            <a:t>1. Discovery &amp; crawling</a:t>
          </a:r>
        </a:p>
        <a:p>
          <a:pPr marL="0" lvl="0" indent="0" algn="ctr" defTabSz="533400">
            <a:lnSpc>
              <a:spcPct val="90000"/>
            </a:lnSpc>
            <a:spcBef>
              <a:spcPct val="0"/>
            </a:spcBef>
            <a:spcAft>
              <a:spcPct val="35000"/>
            </a:spcAft>
            <a:buNone/>
          </a:pPr>
          <a:r>
            <a:rPr lang="en-US" sz="900" kern="1200">
              <a:solidFill>
                <a:schemeClr val="tx1"/>
              </a:solidFill>
            </a:rPr>
            <a:t>A crawler finds the page or file through sitemaps, internal links, or a submitted feed </a:t>
          </a:r>
          <a:r>
            <a:rPr lang="pl-PL" sz="900" kern="1200">
              <a:solidFill>
                <a:schemeClr val="tx1"/>
              </a:solidFill>
            </a:rPr>
            <a:t>-</a:t>
          </a:r>
          <a:r>
            <a:rPr lang="en-US" sz="900" kern="1200">
              <a:solidFill>
                <a:schemeClr val="tx1"/>
              </a:solidFill>
            </a:rPr>
            <a:t> </a:t>
          </a:r>
          <a:r>
            <a:rPr lang="en-US" sz="900" b="1" kern="1200">
              <a:solidFill>
                <a:schemeClr val="tx1"/>
              </a:solidFill>
            </a:rPr>
            <a:t>nothing after this step happens if the file is never found.</a:t>
          </a:r>
          <a:endParaRPr lang="pl-PL" sz="900" b="1" kern="1200">
            <a:solidFill>
              <a:schemeClr val="tx1"/>
            </a:solidFill>
          </a:endParaRPr>
        </a:p>
      </dsp:txBody>
      <dsp:txXfrm>
        <a:off x="5712" y="494350"/>
        <a:ext cx="2150558" cy="1290335"/>
      </dsp:txXfrm>
    </dsp:sp>
    <dsp:sp modelId="{A53EFB89-1EC0-4EF5-B387-A472D055CDFF}">
      <dsp:nvSpPr>
        <dsp:cNvPr id="0" name=""/>
        <dsp:cNvSpPr/>
      </dsp:nvSpPr>
      <dsp:spPr>
        <a:xfrm>
          <a:off x="4799659" y="1093798"/>
          <a:ext cx="464028" cy="91440"/>
        </a:xfrm>
        <a:custGeom>
          <a:avLst/>
          <a:gdLst/>
          <a:ahLst/>
          <a:cxnLst/>
          <a:rect l="0" t="0" r="0" b="0"/>
          <a:pathLst>
            <a:path>
              <a:moveTo>
                <a:pt x="0" y="45720"/>
              </a:moveTo>
              <a:lnTo>
                <a:pt x="464028" y="45720"/>
              </a:lnTo>
            </a:path>
          </a:pathLst>
        </a:custGeom>
        <a:noFill/>
        <a:ln w="38100"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l-PL" sz="500" kern="1200"/>
        </a:p>
      </dsp:txBody>
      <dsp:txXfrm>
        <a:off x="5019308" y="1137044"/>
        <a:ext cx="24731" cy="4946"/>
      </dsp:txXfrm>
    </dsp:sp>
    <dsp:sp modelId="{29553E52-D767-4AE6-9310-579D8C99CD94}">
      <dsp:nvSpPr>
        <dsp:cNvPr id="0" name=""/>
        <dsp:cNvSpPr/>
      </dsp:nvSpPr>
      <dsp:spPr>
        <a:xfrm>
          <a:off x="2650900" y="494350"/>
          <a:ext cx="2150558" cy="1290335"/>
        </a:xfrm>
        <a:prstGeom prst="rect">
          <a:avLst/>
        </a:prstGeom>
        <a:solidFill>
          <a:schemeClr val="accent5"/>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2. Fetching &amp; rendering</a:t>
          </a:r>
        </a:p>
        <a:p>
          <a:pPr marL="0" lvl="0" indent="0" algn="ctr" defTabSz="533400">
            <a:lnSpc>
              <a:spcPct val="90000"/>
            </a:lnSpc>
            <a:spcBef>
              <a:spcPct val="0"/>
            </a:spcBef>
            <a:spcAft>
              <a:spcPct val="35000"/>
            </a:spcAft>
            <a:buNone/>
          </a:pPr>
          <a:r>
            <a:rPr lang="en-US" sz="900" kern="1200">
              <a:solidFill>
                <a:srgbClr val="0A2F24"/>
              </a:solidFill>
              <a:latin typeface="Poppins"/>
              <a:ea typeface="+mn-ea"/>
              <a:cs typeface="+mn-cs"/>
            </a:rPr>
            <a:t>The engine downloads the raw file and renders any JavaScript</a:t>
          </a:r>
          <a:r>
            <a:rPr lang="pl-PL" sz="900" kern="1200">
              <a:solidFill>
                <a:srgbClr val="0A2F24"/>
              </a:solidFill>
              <a:latin typeface="Poppins"/>
              <a:ea typeface="+mn-ea"/>
              <a:cs typeface="+mn-cs"/>
            </a:rPr>
            <a:t>-</a:t>
          </a:r>
          <a:r>
            <a:rPr lang="en-US" sz="900" kern="1200">
              <a:solidFill>
                <a:srgbClr val="0A2F24"/>
              </a:solidFill>
              <a:latin typeface="Poppins"/>
              <a:ea typeface="+mn-ea"/>
              <a:cs typeface="+mn-cs"/>
            </a:rPr>
            <a:t>driven content. </a:t>
          </a:r>
          <a:r>
            <a:rPr lang="en-US" sz="900" b="1" kern="1200">
              <a:solidFill>
                <a:srgbClr val="0A2F24"/>
              </a:solidFill>
              <a:latin typeface="Poppins"/>
              <a:ea typeface="+mn-ea"/>
              <a:cs typeface="+mn-cs"/>
            </a:rPr>
            <a:t>A scanned image or blocked file stalls here.</a:t>
          </a:r>
          <a:endParaRPr lang="pl-PL" sz="900" b="1" kern="1200">
            <a:solidFill>
              <a:srgbClr val="0A2F24"/>
            </a:solidFill>
            <a:latin typeface="Poppins"/>
            <a:ea typeface="+mn-ea"/>
            <a:cs typeface="+mn-cs"/>
          </a:endParaRPr>
        </a:p>
      </dsp:txBody>
      <dsp:txXfrm>
        <a:off x="2650900" y="494350"/>
        <a:ext cx="2150558" cy="1290335"/>
      </dsp:txXfrm>
    </dsp:sp>
    <dsp:sp modelId="{B1CA3551-CCD8-4549-97DE-C1132A4FFCB9}">
      <dsp:nvSpPr>
        <dsp:cNvPr id="0" name=""/>
        <dsp:cNvSpPr/>
      </dsp:nvSpPr>
      <dsp:spPr>
        <a:xfrm>
          <a:off x="1080992" y="1782885"/>
          <a:ext cx="5290375" cy="464028"/>
        </a:xfrm>
        <a:custGeom>
          <a:avLst/>
          <a:gdLst/>
          <a:ahLst/>
          <a:cxnLst/>
          <a:rect l="0" t="0" r="0" b="0"/>
          <a:pathLst>
            <a:path>
              <a:moveTo>
                <a:pt x="5290375" y="0"/>
              </a:moveTo>
              <a:lnTo>
                <a:pt x="5290375" y="249114"/>
              </a:lnTo>
              <a:lnTo>
                <a:pt x="0" y="249114"/>
              </a:lnTo>
              <a:lnTo>
                <a:pt x="0" y="464028"/>
              </a:lnTo>
            </a:path>
          </a:pathLst>
        </a:custGeom>
        <a:noFill/>
        <a:ln w="38100"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l-PL" sz="500" kern="1200"/>
        </a:p>
      </dsp:txBody>
      <dsp:txXfrm>
        <a:off x="3593343" y="2012426"/>
        <a:ext cx="265672" cy="4946"/>
      </dsp:txXfrm>
    </dsp:sp>
    <dsp:sp modelId="{33C97567-69C0-4DDE-BE2F-23B542D56AF3}">
      <dsp:nvSpPr>
        <dsp:cNvPr id="0" name=""/>
        <dsp:cNvSpPr/>
      </dsp:nvSpPr>
      <dsp:spPr>
        <a:xfrm>
          <a:off x="5296088" y="494350"/>
          <a:ext cx="2150558" cy="1290335"/>
        </a:xfrm>
        <a:prstGeom prst="rect">
          <a:avLst/>
        </a:prstGeom>
        <a:solidFill>
          <a:schemeClr val="accent5"/>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3. Parsing &amp; extraction</a:t>
          </a:r>
        </a:p>
        <a:p>
          <a:pPr marL="0" lvl="0" indent="0" algn="ctr" defTabSz="533400">
            <a:lnSpc>
              <a:spcPct val="90000"/>
            </a:lnSpc>
            <a:spcBef>
              <a:spcPct val="0"/>
            </a:spcBef>
            <a:spcAft>
              <a:spcPct val="35000"/>
            </a:spcAft>
            <a:buNone/>
          </a:pPr>
          <a:r>
            <a:rPr lang="en-US" sz="900" b="1" kern="1200">
              <a:solidFill>
                <a:srgbClr val="0A2F24"/>
              </a:solidFill>
              <a:latin typeface="Poppins"/>
              <a:ea typeface="+mn-ea"/>
              <a:cs typeface="+mn-cs"/>
            </a:rPr>
            <a:t>Text, headings, and tables are pulled out </a:t>
          </a:r>
          <a:r>
            <a:rPr lang="en-US" sz="900" kern="1200">
              <a:solidFill>
                <a:srgbClr val="0A2F24"/>
              </a:solidFill>
              <a:latin typeface="Poppins"/>
              <a:ea typeface="+mn-ea"/>
              <a:cs typeface="+mn-cs"/>
            </a:rPr>
            <a:t>using the document's tags and structure </a:t>
          </a:r>
          <a:r>
            <a:rPr lang="pl-PL" sz="900" kern="1200">
              <a:solidFill>
                <a:srgbClr val="0A2F24"/>
              </a:solidFill>
              <a:latin typeface="Poppins"/>
              <a:ea typeface="+mn-ea"/>
              <a:cs typeface="+mn-cs"/>
            </a:rPr>
            <a:t>-</a:t>
          </a:r>
          <a:r>
            <a:rPr lang="en-US" sz="900" kern="1200">
              <a:solidFill>
                <a:srgbClr val="0A2F24"/>
              </a:solidFill>
              <a:latin typeface="Poppins"/>
              <a:ea typeface="+mn-ea"/>
              <a:cs typeface="+mn-cs"/>
            </a:rPr>
            <a:t> untagged or scanned files yield little usable text. </a:t>
          </a:r>
          <a:endParaRPr lang="pl-PL" sz="900" kern="1200">
            <a:solidFill>
              <a:srgbClr val="0A2F24"/>
            </a:solidFill>
            <a:latin typeface="Poppins"/>
            <a:ea typeface="+mn-ea"/>
            <a:cs typeface="+mn-cs"/>
          </a:endParaRPr>
        </a:p>
      </dsp:txBody>
      <dsp:txXfrm>
        <a:off x="5296088" y="494350"/>
        <a:ext cx="2150558" cy="1290335"/>
      </dsp:txXfrm>
    </dsp:sp>
    <dsp:sp modelId="{9F9324D7-6C9F-4A14-8AC0-DA28A62D9AC8}">
      <dsp:nvSpPr>
        <dsp:cNvPr id="0" name=""/>
        <dsp:cNvSpPr/>
      </dsp:nvSpPr>
      <dsp:spPr>
        <a:xfrm>
          <a:off x="2154471" y="2878761"/>
          <a:ext cx="464028" cy="91440"/>
        </a:xfrm>
        <a:custGeom>
          <a:avLst/>
          <a:gdLst/>
          <a:ahLst/>
          <a:cxnLst/>
          <a:rect l="0" t="0" r="0" b="0"/>
          <a:pathLst>
            <a:path>
              <a:moveTo>
                <a:pt x="0" y="45720"/>
              </a:moveTo>
              <a:lnTo>
                <a:pt x="464028" y="45720"/>
              </a:lnTo>
            </a:path>
          </a:pathLst>
        </a:custGeom>
        <a:noFill/>
        <a:ln w="38100"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l-PL" sz="500" kern="1200"/>
        </a:p>
      </dsp:txBody>
      <dsp:txXfrm>
        <a:off x="2374120" y="2922008"/>
        <a:ext cx="24731" cy="4946"/>
      </dsp:txXfrm>
    </dsp:sp>
    <dsp:sp modelId="{0E32AAB1-F1BE-4C8B-A570-8A45FF9E2B1D}">
      <dsp:nvSpPr>
        <dsp:cNvPr id="0" name=""/>
        <dsp:cNvSpPr/>
      </dsp:nvSpPr>
      <dsp:spPr>
        <a:xfrm>
          <a:off x="5712" y="2279314"/>
          <a:ext cx="2150558" cy="1290335"/>
        </a:xfrm>
        <a:prstGeom prst="rect">
          <a:avLst/>
        </a:prstGeom>
        <a:solidFill>
          <a:schemeClr val="accent5"/>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4. Chunking</a:t>
          </a:r>
        </a:p>
        <a:p>
          <a:pPr marL="0" lvl="0" indent="0" algn="ctr" defTabSz="533400">
            <a:lnSpc>
              <a:spcPct val="90000"/>
            </a:lnSpc>
            <a:spcBef>
              <a:spcPct val="0"/>
            </a:spcBef>
            <a:spcAft>
              <a:spcPct val="35000"/>
            </a:spcAft>
            <a:buNone/>
          </a:pPr>
          <a:r>
            <a:rPr lang="en-US" sz="900" kern="1200">
              <a:solidFill>
                <a:srgbClr val="0A2F24"/>
              </a:solidFill>
              <a:latin typeface="Poppins"/>
              <a:ea typeface="+mn-ea"/>
              <a:cs typeface="+mn-cs"/>
            </a:rPr>
            <a:t>Extracted content is split into smaller passages small enough to retrieve and quote on their own, </a:t>
          </a:r>
          <a:r>
            <a:rPr lang="en-US" sz="900" b="1" kern="1200">
              <a:solidFill>
                <a:srgbClr val="0A2F24"/>
              </a:solidFill>
              <a:latin typeface="Poppins"/>
              <a:ea typeface="+mn-ea"/>
              <a:cs typeface="+mn-cs"/>
            </a:rPr>
            <a:t>usually by heading or paragraph</a:t>
          </a:r>
          <a:r>
            <a:rPr lang="en-US" sz="900" kern="1200">
              <a:solidFill>
                <a:srgbClr val="0A2F24"/>
              </a:solidFill>
              <a:latin typeface="Poppins"/>
              <a:ea typeface="+mn-ea"/>
              <a:cs typeface="+mn-cs"/>
            </a:rPr>
            <a:t>.</a:t>
          </a:r>
          <a:endParaRPr lang="pl-PL" sz="900" kern="1200">
            <a:solidFill>
              <a:srgbClr val="0A2F24"/>
            </a:solidFill>
            <a:latin typeface="Poppins"/>
            <a:ea typeface="+mn-ea"/>
            <a:cs typeface="+mn-cs"/>
          </a:endParaRPr>
        </a:p>
      </dsp:txBody>
      <dsp:txXfrm>
        <a:off x="5712" y="2279314"/>
        <a:ext cx="2150558" cy="1290335"/>
      </dsp:txXfrm>
    </dsp:sp>
    <dsp:sp modelId="{045AF976-A6AB-4DDE-B48F-F9BF47A84137}">
      <dsp:nvSpPr>
        <dsp:cNvPr id="0" name=""/>
        <dsp:cNvSpPr/>
      </dsp:nvSpPr>
      <dsp:spPr>
        <a:xfrm>
          <a:off x="4799659" y="2878761"/>
          <a:ext cx="464028" cy="91440"/>
        </a:xfrm>
        <a:custGeom>
          <a:avLst/>
          <a:gdLst/>
          <a:ahLst/>
          <a:cxnLst/>
          <a:rect l="0" t="0" r="0" b="0"/>
          <a:pathLst>
            <a:path>
              <a:moveTo>
                <a:pt x="0" y="45720"/>
              </a:moveTo>
              <a:lnTo>
                <a:pt x="464028" y="45720"/>
              </a:lnTo>
            </a:path>
          </a:pathLst>
        </a:custGeom>
        <a:noFill/>
        <a:ln w="38100" cap="flat" cmpd="sng" algn="ctr">
          <a:solidFill>
            <a:srgbClr val="0A2F24"/>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pl-PL" sz="500" kern="1200">
            <a:solidFill>
              <a:srgbClr val="0A2F24">
                <a:hueOff val="0"/>
                <a:satOff val="0"/>
                <a:lumOff val="0"/>
                <a:alphaOff val="0"/>
              </a:srgbClr>
            </a:solidFill>
            <a:latin typeface="Poppins"/>
            <a:ea typeface="+mn-ea"/>
            <a:cs typeface="+mn-cs"/>
          </a:endParaRPr>
        </a:p>
      </dsp:txBody>
      <dsp:txXfrm>
        <a:off x="5019308" y="2922008"/>
        <a:ext cx="24731" cy="4946"/>
      </dsp:txXfrm>
    </dsp:sp>
    <dsp:sp modelId="{F03465DF-A16E-46B4-9695-F0BDF4397802}">
      <dsp:nvSpPr>
        <dsp:cNvPr id="0" name=""/>
        <dsp:cNvSpPr/>
      </dsp:nvSpPr>
      <dsp:spPr>
        <a:xfrm>
          <a:off x="2650900" y="2279314"/>
          <a:ext cx="2150558" cy="1290335"/>
        </a:xfrm>
        <a:prstGeom prst="rect">
          <a:avLst/>
        </a:prstGeom>
        <a:solidFill>
          <a:schemeClr val="accent5"/>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l-PL" sz="1200" b="1" kern="1200">
              <a:solidFill>
                <a:srgbClr val="0A2F24"/>
              </a:solidFill>
              <a:latin typeface="Poppins"/>
              <a:ea typeface="+mn-ea"/>
              <a:cs typeface="+mn-cs"/>
            </a:rPr>
            <a:t>5. Embedding &amp; indexing</a:t>
          </a:r>
        </a:p>
        <a:p>
          <a:pPr marL="0" lvl="0" indent="0" algn="ctr" defTabSz="533400">
            <a:lnSpc>
              <a:spcPct val="90000"/>
            </a:lnSpc>
            <a:spcBef>
              <a:spcPct val="0"/>
            </a:spcBef>
            <a:spcAft>
              <a:spcPct val="35000"/>
            </a:spcAft>
            <a:buNone/>
          </a:pPr>
          <a:r>
            <a:rPr lang="en-US" sz="900" kern="1200">
              <a:solidFill>
                <a:srgbClr val="0A2F24"/>
              </a:solidFill>
              <a:latin typeface="Poppins"/>
              <a:ea typeface="+mn-ea"/>
              <a:cs typeface="+mn-cs"/>
            </a:rPr>
            <a:t>Each chunk is converted into a vector representation</a:t>
          </a:r>
          <a:r>
            <a:rPr lang="pl-PL" sz="900" kern="1200">
              <a:solidFill>
                <a:srgbClr val="0A2F24"/>
              </a:solidFill>
              <a:latin typeface="Poppins"/>
              <a:ea typeface="+mn-ea"/>
              <a:cs typeface="+mn-cs"/>
            </a:rPr>
            <a:t>*</a:t>
          </a:r>
          <a:r>
            <a:rPr lang="en-US" sz="900" kern="1200">
              <a:solidFill>
                <a:srgbClr val="0A2F24"/>
              </a:solidFill>
              <a:latin typeface="Poppins"/>
              <a:ea typeface="+mn-ea"/>
              <a:cs typeface="+mn-cs"/>
            </a:rPr>
            <a:t> and stored in a </a:t>
          </a:r>
          <a:r>
            <a:rPr lang="en-US" sz="900" b="1" kern="1200">
              <a:solidFill>
                <a:srgbClr val="0A2F24"/>
              </a:solidFill>
              <a:latin typeface="Poppins"/>
              <a:ea typeface="+mn-ea"/>
              <a:cs typeface="+mn-cs"/>
            </a:rPr>
            <a:t>searchable index alongside metadata like title and date</a:t>
          </a:r>
          <a:r>
            <a:rPr lang="en-US" sz="900" kern="1200">
              <a:solidFill>
                <a:srgbClr val="0A2F24"/>
              </a:solidFill>
              <a:latin typeface="Poppins"/>
              <a:ea typeface="+mn-ea"/>
              <a:cs typeface="+mn-cs"/>
            </a:rPr>
            <a:t>.</a:t>
          </a:r>
          <a:endParaRPr lang="pl-PL" sz="900" kern="1200">
            <a:solidFill>
              <a:srgbClr val="0A2F24"/>
            </a:solidFill>
            <a:latin typeface="Poppins"/>
            <a:ea typeface="+mn-ea"/>
            <a:cs typeface="+mn-cs"/>
          </a:endParaRPr>
        </a:p>
      </dsp:txBody>
      <dsp:txXfrm>
        <a:off x="2650900" y="2279314"/>
        <a:ext cx="2150558" cy="1290335"/>
      </dsp:txXfrm>
    </dsp:sp>
    <dsp:sp modelId="{AFE19BCB-CAEA-488A-9464-BDCEFC02EDD8}">
      <dsp:nvSpPr>
        <dsp:cNvPr id="0" name=""/>
        <dsp:cNvSpPr/>
      </dsp:nvSpPr>
      <dsp:spPr>
        <a:xfrm>
          <a:off x="5296088" y="2279314"/>
          <a:ext cx="2150558" cy="1290335"/>
        </a:xfrm>
        <a:prstGeom prst="rect">
          <a:avLst/>
        </a:prstGeom>
        <a:solidFill>
          <a:schemeClr val="tx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pl-PL" sz="1200" b="1" kern="1200">
              <a:solidFill>
                <a:schemeClr val="accent5"/>
              </a:solidFill>
              <a:latin typeface="Poppins"/>
              <a:ea typeface="+mn-ea"/>
              <a:cs typeface="+mn-cs"/>
            </a:rPr>
            <a:t>6. Retrieval &amp; citation</a:t>
          </a:r>
        </a:p>
        <a:p>
          <a:pPr marL="0" lvl="0" indent="0" algn="ctr" defTabSz="533400">
            <a:lnSpc>
              <a:spcPct val="90000"/>
            </a:lnSpc>
            <a:spcBef>
              <a:spcPct val="0"/>
            </a:spcBef>
            <a:spcAft>
              <a:spcPct val="35000"/>
            </a:spcAft>
            <a:buNone/>
          </a:pPr>
          <a:r>
            <a:rPr lang="en-US" sz="900" b="1" kern="1200">
              <a:solidFill>
                <a:schemeClr val="accent5"/>
              </a:solidFill>
              <a:latin typeface="Poppins"/>
              <a:ea typeface="+mn-ea"/>
              <a:cs typeface="+mn-cs"/>
            </a:rPr>
            <a:t>When a prompt matches, the most relevant chunks are retrieved and used to generate the answer </a:t>
          </a:r>
          <a:r>
            <a:rPr lang="pl-PL" sz="900" b="1" kern="1200">
              <a:solidFill>
                <a:schemeClr val="accent5"/>
              </a:solidFill>
              <a:latin typeface="Poppins"/>
              <a:ea typeface="+mn-ea"/>
              <a:cs typeface="+mn-cs"/>
            </a:rPr>
            <a:t>-</a:t>
          </a:r>
          <a:r>
            <a:rPr lang="en-US" sz="900" b="1" kern="1200">
              <a:solidFill>
                <a:schemeClr val="accent5"/>
              </a:solidFill>
              <a:latin typeface="Poppins"/>
              <a:ea typeface="+mn-ea"/>
              <a:cs typeface="+mn-cs"/>
            </a:rPr>
            <a:t> and sometimes shown as a citation</a:t>
          </a:r>
          <a:r>
            <a:rPr lang="en-US" sz="1200" kern="1200">
              <a:solidFill>
                <a:srgbClr val="0A2F24"/>
              </a:solidFill>
              <a:latin typeface="Poppins"/>
              <a:ea typeface="+mn-ea"/>
              <a:cs typeface="+mn-cs"/>
            </a:rPr>
            <a:t>.</a:t>
          </a:r>
          <a:endParaRPr lang="pl-PL" sz="1200" kern="1200">
            <a:solidFill>
              <a:srgbClr val="0A2F24"/>
            </a:solidFill>
            <a:latin typeface="Poppins"/>
            <a:ea typeface="+mn-ea"/>
            <a:cs typeface="+mn-cs"/>
          </a:endParaRPr>
        </a:p>
      </dsp:txBody>
      <dsp:txXfrm>
        <a:off x="5296088" y="2279314"/>
        <a:ext cx="2150558" cy="1290335"/>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10/13/2026</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10/13/2026</a:t>
            </a:fld>
            <a:endParaRPr lang="en-US"/>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E0CF-2B6E-11E7-16ED-E5537056E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FEAF4-9053-991F-56C1-A9F53CC03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B37E7-6217-A29F-5AE8-18468EB93E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DA9B14-2DB0-1644-E069-7DCE547C09B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82322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EADB7-85A2-EA4C-F294-47CC5D0E5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12FCF-10F6-C5B9-9AE9-0EF22868D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7111D-2797-4A7A-2D48-4D5F6E166E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FC510C-62E9-4843-1D34-519D86209C1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70756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4ABC-86AD-E7E6-E8F3-332BAEE39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5284E-3156-6F03-92AB-B29800BCA53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4EE9D1D-A6C4-17AA-0570-49E34B8168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D2A01C-AED9-01B4-1523-67589373796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078059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0B402-3785-1B93-8DD3-24CD9AE22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3F3A4-3FC2-C31B-8023-70249EEB6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A2C3F-A75D-4E0A-70AE-26213BD565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D92BD4-A504-C294-1158-9D4D0E08D00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35936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a:p>
        </p:txBody>
      </p:sp>
      <p:sp>
        <p:nvSpPr>
          <p:cNvPr id="4" name="Slide Number Placeholder 3"/>
          <p:cNvSpPr>
            <a:spLocks noGrp="1"/>
          </p:cNvSpPr>
          <p:nvPr>
            <p:ph type="sldNum" sz="quarter" idx="5"/>
          </p:nvPr>
        </p:nvSpPr>
        <p:spPr/>
        <p:txBody>
          <a:bodyPr/>
          <a:lstStyle/>
          <a:p>
            <a:fld id="{E7F34D1A-B7E5-DE48-8EA9-859D9DE63652}" type="slidenum">
              <a:rPr lang="en-US" smtClean="0"/>
              <a:pPr/>
              <a:t>8</a:t>
            </a:fld>
            <a:endParaRPr lang="en-US"/>
          </a:p>
        </p:txBody>
      </p:sp>
    </p:spTree>
    <p:extLst>
      <p:ext uri="{BB962C8B-B14F-4D97-AF65-F5344CB8AC3E}">
        <p14:creationId xmlns:p14="http://schemas.microsoft.com/office/powerpoint/2010/main" val="3654604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9189F-286C-205C-E619-FAD82FD8F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B59D2-4FA1-64B6-11F5-94E3A64F1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E04BE0-6A87-8F40-0ED9-C58D275C0257}"/>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1A65582F-1A5A-2653-83F7-7100D01616EF}"/>
              </a:ext>
            </a:extLst>
          </p:cNvPr>
          <p:cNvSpPr>
            <a:spLocks noGrp="1"/>
          </p:cNvSpPr>
          <p:nvPr>
            <p:ph type="sldNum" sz="quarter" idx="5"/>
          </p:nvPr>
        </p:nvSpPr>
        <p:spPr/>
        <p:txBody>
          <a:bodyPr/>
          <a:lstStyle/>
          <a:p>
            <a:fld id="{E7F34D1A-B7E5-DE48-8EA9-859D9DE63652}" type="slidenum">
              <a:rPr lang="en-US" smtClean="0"/>
              <a:pPr/>
              <a:t>9</a:t>
            </a:fld>
            <a:endParaRPr lang="en-US"/>
          </a:p>
        </p:txBody>
      </p:sp>
    </p:spTree>
    <p:extLst>
      <p:ext uri="{BB962C8B-B14F-4D97-AF65-F5344CB8AC3E}">
        <p14:creationId xmlns:p14="http://schemas.microsoft.com/office/powerpoint/2010/main" val="2720665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D5E9-76A4-95FB-39EB-926F8DED9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1AB76-9D60-B893-DF99-98A5E4B7529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9CB69D8-C7D5-5B12-2258-096F6104AF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1C057E-E3B8-9BA7-F5B5-CCB281FC88A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43215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3DFC1-9881-46A3-248C-95E2F6972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F10DA-63E1-C2BE-A011-6B561CDCE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B9D3C-0F1C-8661-AD5E-8C8DD348B8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F77D7D-CF1A-41CF-C5EE-1CF7FFB92E5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46774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81B24-9B86-5869-11B6-F6977DC08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FB783-60B3-15E9-1455-8DE45E139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4D9D0-7BEC-6FE7-E562-56E613ECDC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35C2A6-A0EA-412A-7B25-A6F90431DE2E}"/>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21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1148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a:p>
        </p:txBody>
      </p:sp>
      <p:sp>
        <p:nvSpPr>
          <p:cNvPr id="4" name="Slide Number Placeholder 3"/>
          <p:cNvSpPr>
            <a:spLocks noGrp="1"/>
          </p:cNvSpPr>
          <p:nvPr>
            <p:ph type="sldNum" sz="quarter" idx="5"/>
          </p:nvPr>
        </p:nvSpPr>
        <p:spPr/>
        <p:txBody>
          <a:bodyPr/>
          <a:lstStyle/>
          <a:p>
            <a:fld id="{E7F34D1A-B7E5-DE48-8EA9-859D9DE63652}" type="slidenum">
              <a:rPr lang="en-US" smtClean="0"/>
              <a:pPr/>
              <a:t>28</a:t>
            </a:fld>
            <a:endParaRPr lang="en-US"/>
          </a:p>
        </p:txBody>
      </p:sp>
    </p:spTree>
    <p:extLst>
      <p:ext uri="{BB962C8B-B14F-4D97-AF65-F5344CB8AC3E}">
        <p14:creationId xmlns:p14="http://schemas.microsoft.com/office/powerpoint/2010/main" val="1866741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62BD-4FDA-6088-3623-70BDEF39D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2F0DE-D0F4-6A4B-1ABD-0ED09C448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35354-8244-025B-9337-5EEC9593772B}"/>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33654772-3E4F-2B50-C92F-B92E82ECA49F}"/>
              </a:ext>
            </a:extLst>
          </p:cNvPr>
          <p:cNvSpPr>
            <a:spLocks noGrp="1"/>
          </p:cNvSpPr>
          <p:nvPr>
            <p:ph type="sldNum" sz="quarter" idx="5"/>
          </p:nvPr>
        </p:nvSpPr>
        <p:spPr/>
        <p:txBody>
          <a:bodyPr/>
          <a:lstStyle/>
          <a:p>
            <a:fld id="{E7F34D1A-B7E5-DE48-8EA9-859D9DE63652}" type="slidenum">
              <a:rPr lang="en-US" smtClean="0"/>
              <a:pPr/>
              <a:t>29</a:t>
            </a:fld>
            <a:endParaRPr lang="en-US"/>
          </a:p>
        </p:txBody>
      </p:sp>
    </p:spTree>
    <p:extLst>
      <p:ext uri="{BB962C8B-B14F-4D97-AF65-F5344CB8AC3E}">
        <p14:creationId xmlns:p14="http://schemas.microsoft.com/office/powerpoint/2010/main" val="922485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E0B1-5CC5-396C-4749-2CA5A8B67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1B899-F629-78D9-F72B-42A8D3CB5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04197-DDB2-A445-F040-DC7375C952EF}"/>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E6701026-B45B-C09C-5D33-9058F021A46B}"/>
              </a:ext>
            </a:extLst>
          </p:cNvPr>
          <p:cNvSpPr>
            <a:spLocks noGrp="1"/>
          </p:cNvSpPr>
          <p:nvPr>
            <p:ph type="sldNum" sz="quarter" idx="5"/>
          </p:nvPr>
        </p:nvSpPr>
        <p:spPr/>
        <p:txBody>
          <a:bodyPr/>
          <a:lstStyle/>
          <a:p>
            <a:fld id="{E7F34D1A-B7E5-DE48-8EA9-859D9DE63652}" type="slidenum">
              <a:rPr lang="en-US" smtClean="0"/>
              <a:pPr/>
              <a:t>30</a:t>
            </a:fld>
            <a:endParaRPr lang="en-US"/>
          </a:p>
        </p:txBody>
      </p:sp>
    </p:spTree>
    <p:extLst>
      <p:ext uri="{BB962C8B-B14F-4D97-AF65-F5344CB8AC3E}">
        <p14:creationId xmlns:p14="http://schemas.microsoft.com/office/powerpoint/2010/main" val="2297602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61544-73E7-F871-BBC4-6EAFFEBF8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4ED55-B2EF-F40F-BEB8-154917F27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865B8-F103-2AB9-4A62-D4C487BB84C8}"/>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3978396D-2508-0CC9-FE85-58BE05C9F582}"/>
              </a:ext>
            </a:extLst>
          </p:cNvPr>
          <p:cNvSpPr>
            <a:spLocks noGrp="1"/>
          </p:cNvSpPr>
          <p:nvPr>
            <p:ph type="sldNum" sz="quarter" idx="5"/>
          </p:nvPr>
        </p:nvSpPr>
        <p:spPr/>
        <p:txBody>
          <a:bodyPr/>
          <a:lstStyle/>
          <a:p>
            <a:fld id="{E7F34D1A-B7E5-DE48-8EA9-859D9DE63652}" type="slidenum">
              <a:rPr lang="en-US" smtClean="0"/>
              <a:pPr/>
              <a:t>31</a:t>
            </a:fld>
            <a:endParaRPr lang="en-US"/>
          </a:p>
        </p:txBody>
      </p:sp>
    </p:spTree>
    <p:extLst>
      <p:ext uri="{BB962C8B-B14F-4D97-AF65-F5344CB8AC3E}">
        <p14:creationId xmlns:p14="http://schemas.microsoft.com/office/powerpoint/2010/main" val="968629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B681F-C2F7-EC62-5094-D64BA41D6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D46ED-78AD-7850-0A90-280EC83524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9E0FA-08A8-FC63-E5F3-A7199E27A5C1}"/>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6B2809D5-E2BD-E548-97F5-B659A9184FDC}"/>
              </a:ext>
            </a:extLst>
          </p:cNvPr>
          <p:cNvSpPr>
            <a:spLocks noGrp="1"/>
          </p:cNvSpPr>
          <p:nvPr>
            <p:ph type="sldNum" sz="quarter" idx="5"/>
          </p:nvPr>
        </p:nvSpPr>
        <p:spPr/>
        <p:txBody>
          <a:bodyPr/>
          <a:lstStyle/>
          <a:p>
            <a:fld id="{E7F34D1A-B7E5-DE48-8EA9-859D9DE63652}" type="slidenum">
              <a:rPr lang="en-US" smtClean="0"/>
              <a:pPr/>
              <a:t>32</a:t>
            </a:fld>
            <a:endParaRPr lang="en-US"/>
          </a:p>
        </p:txBody>
      </p:sp>
    </p:spTree>
    <p:extLst>
      <p:ext uri="{BB962C8B-B14F-4D97-AF65-F5344CB8AC3E}">
        <p14:creationId xmlns:p14="http://schemas.microsoft.com/office/powerpoint/2010/main" val="3129416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E635F-A11C-200E-9626-E20E16192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92A42-6548-FDFE-A10A-9C59C47C5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52391-4614-B0D7-DD00-0174B4B054AB}"/>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BFA357C0-43A7-6E1D-8766-BF39DC69BD8E}"/>
              </a:ext>
            </a:extLst>
          </p:cNvPr>
          <p:cNvSpPr>
            <a:spLocks noGrp="1"/>
          </p:cNvSpPr>
          <p:nvPr>
            <p:ph type="sldNum" sz="quarter" idx="5"/>
          </p:nvPr>
        </p:nvSpPr>
        <p:spPr/>
        <p:txBody>
          <a:bodyPr/>
          <a:lstStyle/>
          <a:p>
            <a:fld id="{E7F34D1A-B7E5-DE48-8EA9-859D9DE63652}" type="slidenum">
              <a:rPr lang="en-US" smtClean="0"/>
              <a:pPr/>
              <a:t>33</a:t>
            </a:fld>
            <a:endParaRPr lang="en-US"/>
          </a:p>
        </p:txBody>
      </p:sp>
    </p:spTree>
    <p:extLst>
      <p:ext uri="{BB962C8B-B14F-4D97-AF65-F5344CB8AC3E}">
        <p14:creationId xmlns:p14="http://schemas.microsoft.com/office/powerpoint/2010/main" val="31383526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98DA7-9A1C-7314-46A9-2189D6607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63013-C310-B0B5-C6EC-257A9D08F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B90BF-BA10-BFAE-F621-396888A886A0}"/>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C2FB9B1A-82B4-0E7C-698A-B0D107E2217C}"/>
              </a:ext>
            </a:extLst>
          </p:cNvPr>
          <p:cNvSpPr>
            <a:spLocks noGrp="1"/>
          </p:cNvSpPr>
          <p:nvPr>
            <p:ph type="sldNum" sz="quarter" idx="5"/>
          </p:nvPr>
        </p:nvSpPr>
        <p:spPr/>
        <p:txBody>
          <a:bodyPr/>
          <a:lstStyle/>
          <a:p>
            <a:fld id="{E7F34D1A-B7E5-DE48-8EA9-859D9DE63652}" type="slidenum">
              <a:rPr lang="en-US" smtClean="0"/>
              <a:pPr/>
              <a:t>34</a:t>
            </a:fld>
            <a:endParaRPr lang="en-US"/>
          </a:p>
        </p:txBody>
      </p:sp>
    </p:spTree>
    <p:extLst>
      <p:ext uri="{BB962C8B-B14F-4D97-AF65-F5344CB8AC3E}">
        <p14:creationId xmlns:p14="http://schemas.microsoft.com/office/powerpoint/2010/main" val="3004298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8AAB-5C3A-ACC6-F890-B2C65BEBC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40644-3BBC-2236-94D7-7B97C69E0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C0703-A13A-B247-530E-0AA02D04B5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79295E-8485-2F97-F9A3-38150705AFA5}"/>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37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3776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6489-A9D5-8ED0-6811-2F53F8C7B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6B840-E8AE-3C6F-0DE9-F22E7263463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6C608F7-BC64-6D16-E603-6AFC4E7138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3294C0-9B29-3C66-D885-A9982FC7969E}"/>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909058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79A9-9654-1F1C-EA19-1A3CD819D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CBBF1-99F6-52A2-5175-1C4C3C8FD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FDF49-3C14-778D-7EB5-541BA2710B67}"/>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202BFDC9-1CAF-B09C-999F-F0071B2347B5}"/>
              </a:ext>
            </a:extLst>
          </p:cNvPr>
          <p:cNvSpPr>
            <a:spLocks noGrp="1"/>
          </p:cNvSpPr>
          <p:nvPr>
            <p:ph type="sldNum" sz="quarter" idx="5"/>
          </p:nvPr>
        </p:nvSpPr>
        <p:spPr/>
        <p:txBody>
          <a:bodyPr/>
          <a:lstStyle/>
          <a:p>
            <a:fld id="{E7F34D1A-B7E5-DE48-8EA9-859D9DE63652}" type="slidenum">
              <a:rPr lang="en-US" smtClean="0"/>
              <a:pPr/>
              <a:t>39</a:t>
            </a:fld>
            <a:endParaRPr lang="en-US"/>
          </a:p>
        </p:txBody>
      </p:sp>
    </p:spTree>
    <p:extLst>
      <p:ext uri="{BB962C8B-B14F-4D97-AF65-F5344CB8AC3E}">
        <p14:creationId xmlns:p14="http://schemas.microsoft.com/office/powerpoint/2010/main" val="1584642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86D24-F649-FBD6-9D07-6656756D5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833A1-9D98-3A2B-B64A-132AD1D73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AA883-D164-FA79-EB69-A73AD924DF38}"/>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0E5A50D8-5F99-913E-CC16-5B28B637AB95}"/>
              </a:ext>
            </a:extLst>
          </p:cNvPr>
          <p:cNvSpPr>
            <a:spLocks noGrp="1"/>
          </p:cNvSpPr>
          <p:nvPr>
            <p:ph type="sldNum" sz="quarter" idx="5"/>
          </p:nvPr>
        </p:nvSpPr>
        <p:spPr/>
        <p:txBody>
          <a:bodyPr/>
          <a:lstStyle/>
          <a:p>
            <a:fld id="{E7F34D1A-B7E5-DE48-8EA9-859D9DE63652}" type="slidenum">
              <a:rPr lang="en-US" smtClean="0"/>
              <a:pPr/>
              <a:t>41</a:t>
            </a:fld>
            <a:endParaRPr lang="en-US"/>
          </a:p>
        </p:txBody>
      </p:sp>
    </p:spTree>
    <p:extLst>
      <p:ext uri="{BB962C8B-B14F-4D97-AF65-F5344CB8AC3E}">
        <p14:creationId xmlns:p14="http://schemas.microsoft.com/office/powerpoint/2010/main" val="2279732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39EB-AE19-BB14-F380-1FD2EE0D5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534D0-B647-8E5C-6D87-CBF1C463B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BC01A-3C22-7347-F2F7-98071C57A328}"/>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8B6A2FEB-A3B6-31E3-C221-0F01CB5ABEDF}"/>
              </a:ext>
            </a:extLst>
          </p:cNvPr>
          <p:cNvSpPr>
            <a:spLocks noGrp="1"/>
          </p:cNvSpPr>
          <p:nvPr>
            <p:ph type="sldNum" sz="quarter" idx="5"/>
          </p:nvPr>
        </p:nvSpPr>
        <p:spPr/>
        <p:txBody>
          <a:bodyPr/>
          <a:lstStyle/>
          <a:p>
            <a:fld id="{E7F34D1A-B7E5-DE48-8EA9-859D9DE63652}" type="slidenum">
              <a:rPr lang="en-US" smtClean="0"/>
              <a:pPr/>
              <a:t>42</a:t>
            </a:fld>
            <a:endParaRPr lang="en-US"/>
          </a:p>
        </p:txBody>
      </p:sp>
    </p:spTree>
    <p:extLst>
      <p:ext uri="{BB962C8B-B14F-4D97-AF65-F5344CB8AC3E}">
        <p14:creationId xmlns:p14="http://schemas.microsoft.com/office/powerpoint/2010/main" val="3126761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B22F-A7EC-19B3-8817-5014137B4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8B580-C0D2-2636-AFA8-E203D5021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050E6-2023-60E2-A583-75228A22239E}"/>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FAB43457-1086-5B80-9B6F-02A63CE4AAEC}"/>
              </a:ext>
            </a:extLst>
          </p:cNvPr>
          <p:cNvSpPr>
            <a:spLocks noGrp="1"/>
          </p:cNvSpPr>
          <p:nvPr>
            <p:ph type="sldNum" sz="quarter" idx="5"/>
          </p:nvPr>
        </p:nvSpPr>
        <p:spPr/>
        <p:txBody>
          <a:bodyPr/>
          <a:lstStyle/>
          <a:p>
            <a:fld id="{E7F34D1A-B7E5-DE48-8EA9-859D9DE63652}" type="slidenum">
              <a:rPr lang="en-US" smtClean="0"/>
              <a:pPr/>
              <a:t>43</a:t>
            </a:fld>
            <a:endParaRPr lang="en-US"/>
          </a:p>
        </p:txBody>
      </p:sp>
    </p:spTree>
    <p:extLst>
      <p:ext uri="{BB962C8B-B14F-4D97-AF65-F5344CB8AC3E}">
        <p14:creationId xmlns:p14="http://schemas.microsoft.com/office/powerpoint/2010/main" val="2706880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1EC2C-3D4A-0D93-85B3-9F27BCE9A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564A4-94B1-4836-B336-5239FC057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E9EF2-B65A-1DB2-A5FE-22E387802299}"/>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AD18604A-E938-B08F-6D4F-C36E98D1C779}"/>
              </a:ext>
            </a:extLst>
          </p:cNvPr>
          <p:cNvSpPr>
            <a:spLocks noGrp="1"/>
          </p:cNvSpPr>
          <p:nvPr>
            <p:ph type="sldNum" sz="quarter" idx="5"/>
          </p:nvPr>
        </p:nvSpPr>
        <p:spPr/>
        <p:txBody>
          <a:bodyPr/>
          <a:lstStyle/>
          <a:p>
            <a:fld id="{E7F34D1A-B7E5-DE48-8EA9-859D9DE63652}" type="slidenum">
              <a:rPr lang="en-US" smtClean="0"/>
              <a:pPr/>
              <a:t>44</a:t>
            </a:fld>
            <a:endParaRPr lang="en-US"/>
          </a:p>
        </p:txBody>
      </p:sp>
    </p:spTree>
    <p:extLst>
      <p:ext uri="{BB962C8B-B14F-4D97-AF65-F5344CB8AC3E}">
        <p14:creationId xmlns:p14="http://schemas.microsoft.com/office/powerpoint/2010/main" val="615605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68B68-53E5-DD3F-B13A-7BA7C5B01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15AA6-3BAD-68C4-FEDF-B76278ED7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DC65E-857B-EEF4-EBC6-04E2769F21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46BDDB-E624-ACC0-030E-DECE80DA1D5E}"/>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45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2368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9AA92-0220-4E25-2190-E4FE6B201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6507B6-8C39-9871-A09D-7AD95ABFBA1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F840C52-0352-86AC-510F-C859E555B4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0DB378-5ED8-AC1A-52E7-7A28435E2DD2}"/>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175392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AAD7-3CD8-C657-E68C-3F2AD8600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FD663-0CA5-97E7-7BB3-006A9B1E4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860CD-ACCB-E956-596F-51122367CC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A18B2B-6FA9-6ECF-8FBA-9F03850DCB25}"/>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063858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C89A4-8D0D-1A5D-7B95-80CB698E1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851F00-F945-E722-A52B-947F85F30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A5858-2776-CB5F-D512-1DF3303DAC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A26E4E-2912-C004-12AF-1CAB4DED3CEF}"/>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56232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EE6DC-EB9E-C434-0EE9-BB4BB6631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9AB16-3388-CDFC-7529-8DCC3024A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8E604-00F1-1ADB-6133-6F20EEB09C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541359-40D6-C69B-DAD8-86FA7C051688}"/>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47143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34046-BCED-3CDA-6893-790134F49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75C1B-D316-5EC1-607A-D2F787544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62019E-773B-4305-8487-A9FA2FE4BA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8A688A-9F99-EC5D-E5A3-FCDBD13A943E}"/>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581661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20F8D-107E-9518-2824-3EEF32B74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93ABB-F809-E0A7-4B6D-90689FB6E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D0883-2826-9DEA-F56E-F4B17B89D1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45573A-0650-D6A2-651C-C8CC0980666D}"/>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155619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C14E9-858B-EDF9-10C7-45EC8246F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502C2-10EB-B1AD-EA94-32F5DA645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3DA75-1AD0-1A02-3F4C-302C0623E5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991D66-58A5-3BBE-BD82-C2E2F5DB1FE4}"/>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218009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321E-C502-4FD7-E94B-B5B8E3D76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B3BA7-BB73-6FE0-B0AE-8F226A6D6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2ADF8D-02A5-A51B-FD53-BC1D6F15CC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D25660-3185-1985-1499-476287A35B92}"/>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41852548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EE71-96F0-05B5-D8B8-93D965049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FD621-7D1F-D1B6-1C87-C812FC9CC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C3698-AFAF-0930-87B5-7D264E132A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11E6F5-E724-CB41-FA2A-A07D453DDB39}"/>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20073475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01E70-6F8C-7F0B-C8C2-42B1DF3B3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20FAD-F1EB-8101-11C6-7399DA34B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E7CBC-33B9-5BF3-4B6D-C94CEEBA20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7778AA-0F69-294E-7482-CFDE8E8C26CB}"/>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9917126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B2C9D-1DFF-7833-4C2F-D59CF3674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E742F-35B3-A22A-1840-7ADDB67BC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0CAEF-8610-46C9-FB47-9AEB0175BF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579074-565A-37D8-D4C0-A0607C7FD131}"/>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2439794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EDCE8-4734-60B0-12B1-652DC8CCD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E960E-4589-CFD4-B158-CD3EE53B3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6C1FD-25A4-02BB-E6F9-E84D2259F2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640556-7A15-C34C-ECFC-B65E7E829021}"/>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57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81420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5CAED-8ACC-A133-709D-F7427691D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8A4B1-5B60-F739-3CCA-7F5B9C5C5F8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AF0B78B-AC5E-9E6B-5BA3-BE2DAB7A0E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9D0B70-6D90-32F0-049F-52C4CEA5C925}"/>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840075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93010-BD9E-CBBD-F73B-0CFE0A3EB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77E95-E008-4473-DEB0-6D7206F37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2D29F-22BA-55C3-5526-5F4252B44A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79DA6C-7DA7-7708-8FFE-DE384C037D30}"/>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64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32261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E6437-86EF-1AA0-45D4-5060147DA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1ADF5-A1EA-50E1-CEFE-520F5D31797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960BEA4-795F-EE80-C59E-ADCC41322F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15EF35-FE3D-CA47-7D27-17246C3A743A}"/>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863325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C5D8B-99AA-DD60-98A9-DC3310337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1D6EE-7AE9-B204-BD56-2C11B4895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491F7-2DC2-1C95-EAA4-58DE02F847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20B9D6-CF9D-E437-7AA4-8A33F33FD9D7}"/>
              </a:ext>
            </a:extLst>
          </p:cNvPr>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343437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F49C3-F4AD-EDF8-9914-89D1203CE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D2D80-F577-ACE4-CB89-225605D30FC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31A939F-FBBF-CE5E-A5F6-BC63DB5AAB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1DA9CF-3266-9A0C-CF42-539D0940B7FC}"/>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6259855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F02F8-372A-236A-9610-9BE92A5F4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D704C-F712-925E-836C-137444983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EBB0B-3359-B5A4-6BD1-7C4FAD0F8B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8D9448-4DA6-857C-D711-7C323CF8EF52}"/>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87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82530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FCDA-60C6-E690-596A-C8CF80FFC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B8ADB-1861-AE01-0020-A62E4F87050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BA2F60C-66AE-FB6D-E50F-F1A52FEB54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D8157D-5D44-8B7E-5E72-FC278577BDF0}"/>
              </a:ext>
            </a:extLst>
          </p:cNvPr>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9778616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1C0BE-B850-A4B5-B1D5-902DAE337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B2FE8-EC35-EA91-0CAB-FC88B4EB8F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FC788-8F2C-A26B-BD7A-14B04EF1F2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CA36B6-CAD9-0080-EED7-5EC03562AA91}"/>
              </a:ext>
            </a:extLst>
          </p:cNvPr>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40048903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981F-66F0-E985-E570-B1BDB8C64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FE0BB-7746-8929-7867-BDE22AFC9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EFE97-AFB3-150D-098F-263C026254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AC06F8-36AC-8C3F-3EA4-AC87A55280F3}"/>
              </a:ext>
            </a:extLst>
          </p:cNvPr>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6168562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19327-6E24-097F-588D-F4F44C1C6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BA62D-9D40-015C-49CD-49FACEB88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F8AFF-8B5E-7B53-E684-3947BDB740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8F4A95-71B2-3AF3-4C17-ACC8CD9DC2C9}"/>
              </a:ext>
            </a:extLst>
          </p:cNvPr>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26472908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A65D2-B8F4-AF36-2154-C5C64E71D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76D8E-2AF0-6209-3F14-29346E7E6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D1E5AF-7DE7-B5D6-D850-CD390A87E4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8B67A-8373-2D9B-B782-E8258EEF96CC}"/>
              </a:ext>
            </a:extLst>
          </p:cNvPr>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27114753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1BF64-1492-C5F6-6F43-442B1C518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38815-ABB3-23D2-A4A2-53581B0D6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BA85C-F75A-6685-63AD-22F9D4BB89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46D5A5-DFFD-17EF-35CE-94176699EBEF}"/>
              </a:ext>
            </a:extLst>
          </p:cNvPr>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2957050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380FA-8A17-ECFD-0F22-ADEC4ECF5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D8F0D-35D7-AB28-7391-516D4D9D0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B1D25-7707-FD1B-76AE-D606D71E48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E28F62-3A14-703F-99F9-D7DCCC501A48}"/>
              </a:ext>
            </a:extLst>
          </p:cNvPr>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4063825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282D-F95A-EE22-DFD3-4C0BD02C0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1E4AA-D910-09B6-2D2F-4A9142C99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D4843-55B9-FF3B-7C6A-B56A72FC81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F92A14-53A4-437B-0AF3-DC5ADA7B7242}"/>
              </a:ext>
            </a:extLst>
          </p:cNvPr>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31947745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EC55F-37EA-1051-DCF2-2D823D750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B76D1-16FB-F44A-B6E0-9CCCFE468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CF0A9-624F-E88B-3052-9B25B08DD5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CE4DF3-8A09-46E3-BE14-6C532F1EB0C0}"/>
              </a:ext>
            </a:extLst>
          </p:cNvPr>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93273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CCE50-EDA6-DF0A-6937-4AFCF5510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6E0AE-21C1-0885-8F0E-5B5211F19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4871C-DBAA-AB2E-FB9E-826D9A8692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A37FB1-2E76-A2B1-D225-A483853C0142}"/>
              </a:ext>
            </a:extLst>
          </p:cNvPr>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987940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DD711-CE8E-A76B-4BFC-AEF550B82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5EBF1-1B9C-EEAB-51A3-397F591E7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CF870-14D1-95A4-F11A-E816A8F685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F58B2C-E2C4-76A2-4BE7-E0D64494D52C}"/>
              </a:ext>
            </a:extLst>
          </p:cNvPr>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8719263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2B25A-1FD5-86AB-71A5-8185A7125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3CA07-BD95-9404-42A9-75D32026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58EFA-A951-2142-3C80-FE97CD2DD2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D544A0-40FA-9DD3-896B-E3EF46010D2D}"/>
              </a:ext>
            </a:extLst>
          </p:cNvPr>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363050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B8227-F7A4-8B7C-94B2-E9F89FFA3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D2528-A321-896F-D807-2A16CCB77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1CF08-69BB-7CD2-830C-5EBDF5DF9D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4722EE-1472-1835-7775-4611880C57AD}"/>
              </a:ext>
            </a:extLst>
          </p:cNvPr>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36865425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C854-706D-EAE9-6B1A-0A504A2331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0D3DB-9600-4E74-7681-8CBCA7BA94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829AD-E18F-B20F-B24D-19390AD9E7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330DE3-E257-A528-57D8-F847D61DEA3D}"/>
              </a:ext>
            </a:extLst>
          </p:cNvPr>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6907711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6584-D55B-E5E5-B054-1362DC636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64576-218C-2BE6-04B1-39CB9A34F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703D7-B362-0185-C3CC-94088FCEC6C9}"/>
              </a:ext>
            </a:extLst>
          </p:cNvPr>
          <p:cNvSpPr>
            <a:spLocks noGrp="1"/>
          </p:cNvSpPr>
          <p:nvPr>
            <p:ph type="body" idx="1"/>
          </p:nvPr>
        </p:nvSpPr>
        <p:spPr/>
        <p:txBody>
          <a:bodyPr/>
          <a:lstStyle/>
          <a:p>
            <a:endParaRPr lang="pl-PL"/>
          </a:p>
        </p:txBody>
      </p:sp>
      <p:sp>
        <p:nvSpPr>
          <p:cNvPr id="4" name="Slide Number Placeholder 3">
            <a:extLst>
              <a:ext uri="{FF2B5EF4-FFF2-40B4-BE49-F238E27FC236}">
                <a16:creationId xmlns:a16="http://schemas.microsoft.com/office/drawing/2014/main" id="{733A24D8-337E-6D86-0F25-35FC082867FF}"/>
              </a:ext>
            </a:extLst>
          </p:cNvPr>
          <p:cNvSpPr>
            <a:spLocks noGrp="1"/>
          </p:cNvSpPr>
          <p:nvPr>
            <p:ph type="sldNum" sz="quarter" idx="5"/>
          </p:nvPr>
        </p:nvSpPr>
        <p:spPr/>
        <p:txBody>
          <a:bodyPr/>
          <a:lstStyle/>
          <a:p>
            <a:fld id="{E7F34D1A-B7E5-DE48-8EA9-859D9DE63652}" type="slidenum">
              <a:rPr lang="en-US" smtClean="0"/>
              <a:pPr/>
              <a:t>102</a:t>
            </a:fld>
            <a:endParaRPr lang="en-US"/>
          </a:p>
        </p:txBody>
      </p:sp>
    </p:spTree>
    <p:extLst>
      <p:ext uri="{BB962C8B-B14F-4D97-AF65-F5344CB8AC3E}">
        <p14:creationId xmlns:p14="http://schemas.microsoft.com/office/powerpoint/2010/main" val="20989426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C6C6-5DBE-6126-1C72-61FD7F0C2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349F9-9669-B0FC-BF19-75C2E19BB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CEF3E-DF78-E296-7CA6-5D0DE53CF1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67E939-5884-D204-B8B1-85CAE3C5FA5A}"/>
              </a:ext>
            </a:extLst>
          </p:cNvPr>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28027545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4B446-BB12-6547-68CE-3567CE542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EDF3E-6F62-1C37-50CC-3DA456D5D50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EC8539E0-88F8-CE1D-E112-C744AEE519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4DD36D-63D2-7C4A-C34A-E308232F66F2}"/>
              </a:ext>
            </a:extLst>
          </p:cNvPr>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5561626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E7F34D1A-B7E5-DE48-8EA9-859D9DE63652}" type="slidenum">
              <a:rPr lang="en-US" smtClean="0"/>
              <a:pPr/>
              <a:t>106</a:t>
            </a:fld>
            <a:endParaRPr lang="en-US"/>
          </a:p>
        </p:txBody>
      </p:sp>
    </p:spTree>
    <p:extLst>
      <p:ext uri="{BB962C8B-B14F-4D97-AF65-F5344CB8AC3E}">
        <p14:creationId xmlns:p14="http://schemas.microsoft.com/office/powerpoint/2010/main" val="33031828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043ED-61CE-3F7B-C6BC-1B9691A4A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A426B-381D-930F-79A8-E7A0EBD25D7C}"/>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FC7720D-CBE2-48AD-4066-1960540B75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996024-A845-AE28-CBBF-3F9B2DDBAB16}"/>
              </a:ext>
            </a:extLst>
          </p:cNvPr>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30856104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55F9-2F8C-D298-7694-F9A2A8D70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16AFD-F109-9CEA-9C1C-98FAD5E26CD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E816F87-FC61-D7FE-FF07-B819913DDC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95DC83-3768-E41F-1B29-6C572A801395}"/>
              </a:ext>
            </a:extLst>
          </p:cNvPr>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7130864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1CCCF-D370-08E0-9987-F88FE3B4D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7E1B9-0124-96B2-6368-ACAB2FF981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34EFB-0E16-8818-E5FB-064063B37B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456576-5D68-F5F4-1C1A-3D5364F6B4AB}"/>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122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87916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810E-F117-D97A-C904-2E6DAA329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0ECB0-C296-56FD-E8C2-D9E7BEC7A71F}"/>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729E580-F0FF-E15B-A614-396421564C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937FFA-455E-B30E-F301-6B28E4BD27B5}"/>
              </a:ext>
            </a:extLst>
          </p:cNvPr>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30942242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74DA-C27A-E1D0-D8D1-62E707973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CBA43-EB3C-0D0A-1BA0-6F5085CA7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138E4-8C44-F0F9-2EA4-02A3E6DC68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C74BF9-CE01-C309-E88D-E317263DCA49}"/>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124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925607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67281-8F75-8B75-DE5D-9BA28BCAC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6E43B-61C0-1B1A-DE41-9BD2373E4A3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71E9CC0-04D0-6858-C64F-CC12F94F7D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AE3598-F6D6-F933-9312-722BD9F0CB65}"/>
              </a:ext>
            </a:extLst>
          </p:cNvPr>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2013880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6AFDC-1339-3D81-C13E-7389F11AC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88202-2EC7-4630-DC69-6D5F5B411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49C2F5-75B0-080B-895D-1151219A2C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0A3647-9009-A56A-4E4D-C4BAAA62A084}"/>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134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996644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45041-B77B-5053-A527-EFCEDFDC0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CC161-A2D4-0B35-694E-5CE19759E10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14D3886-4E30-DFFC-2809-ABD03C0A3C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C56F33-C621-07E4-36A2-3E9BC61CEBCD}"/>
              </a:ext>
            </a:extLst>
          </p:cNvPr>
          <p:cNvSpPr>
            <a:spLocks noGrp="1"/>
          </p:cNvSpPr>
          <p:nvPr>
            <p:ph type="sldNum" sz="quarter" idx="10"/>
          </p:nvPr>
        </p:nvSpPr>
        <p:spPr/>
        <p:txBody>
          <a:bodyPr/>
          <a:lstStyle/>
          <a:p>
            <a:pPr marL="0" marR="0" lvl="0" indent="0" algn="r" defTabSz="457184"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184" rtl="0" eaLnBrk="1" fontAlgn="auto" latinLnBrk="0" hangingPunct="1">
                <a:lnSpc>
                  <a:spcPct val="100000"/>
                </a:lnSpc>
                <a:spcBef>
                  <a:spcPts val="0"/>
                </a:spcBef>
                <a:spcAft>
                  <a:spcPts val="0"/>
                </a:spcAft>
                <a:buClrTx/>
                <a:buSzTx/>
                <a:buFontTx/>
                <a:buNone/>
                <a:tabLst/>
                <a:defRPr/>
              </a:pPr>
              <a:t>141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65951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EF8E-8669-5D1A-0794-EF5B0D474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5FA12-C63E-2444-43F5-86B05506D5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22A7C-D7F4-C088-79DA-91E075E161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C68634-9420-C724-7795-A97A8A5946E7}"/>
              </a:ext>
            </a:extLst>
          </p:cNvPr>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2526428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3BDA-5F07-2F8B-E5F7-C68F1B0DC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3692E-BBF3-8E20-93E1-79C63100D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7BE17-FA78-9953-7622-5053771CE3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8E9A7A-45A5-4412-9D61-4FD7E95B561E}"/>
              </a:ext>
            </a:extLst>
          </p:cNvPr>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7287520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78622-A807-5C64-A9FF-D6BE62039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251C6-7A08-ADC3-19D1-6316BC9FD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28E78-CA6D-3E8F-8CBA-7394EFC1D8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5A4B9B-ED64-54A6-5B16-536316A79C19}"/>
              </a:ext>
            </a:extLst>
          </p:cNvPr>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453762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2.svg"/><Relationship Id="rId2" Type="http://schemas.openxmlformats.org/officeDocument/2006/relationships/hyperlink" Target="https://www.se.com/ww/en/" TargetMode="External"/><Relationship Id="rId1" Type="http://schemas.openxmlformats.org/officeDocument/2006/relationships/slideMaster" Target="../slideMasters/slideMaster1.xml"/><Relationship Id="rId6" Type="http://schemas.openxmlformats.org/officeDocument/2006/relationships/image" Target="../media/image9.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hyperlink" Target="https://twitter.com/SchneiderElec" TargetMode="External"/><Relationship Id="rId14"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2.svg"/><Relationship Id="rId2" Type="http://schemas.openxmlformats.org/officeDocument/2006/relationships/hyperlink" Target="https://www.se.com/ww/en/" TargetMode="External"/><Relationship Id="rId1" Type="http://schemas.openxmlformats.org/officeDocument/2006/relationships/slideMaster" Target="../slideMasters/slideMaster2.xml"/><Relationship Id="rId6" Type="http://schemas.openxmlformats.org/officeDocument/2006/relationships/image" Target="../media/image9.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15.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hyperlink" Target="https://twitter.com/SchneiderElec" TargetMode="External"/><Relationship Id="rId14"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21.svg"/><Relationship Id="rId2" Type="http://schemas.openxmlformats.org/officeDocument/2006/relationships/hyperlink" Target="https://www.se.com/ww/en/" TargetMode="External"/><Relationship Id="rId1" Type="http://schemas.openxmlformats.org/officeDocument/2006/relationships/slideMaster" Target="../slideMasters/slideMaster3.xml"/><Relationship Id="rId6" Type="http://schemas.openxmlformats.org/officeDocument/2006/relationships/image" Target="../media/image18.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3.svg"/><Relationship Id="rId10" Type="http://schemas.openxmlformats.org/officeDocument/2006/relationships/image" Target="../media/image20.svg"/><Relationship Id="rId4" Type="http://schemas.openxmlformats.org/officeDocument/2006/relationships/image" Target="../media/image17.svg"/><Relationship Id="rId9" Type="http://schemas.openxmlformats.org/officeDocument/2006/relationships/hyperlink" Target="https://twitter.com/SchneiderElec" TargetMode="External"/><Relationship Id="rId14" Type="http://schemas.openxmlformats.org/officeDocument/2006/relationships/image" Target="../media/image22.svg"/></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29.svg"/><Relationship Id="rId2" Type="http://schemas.openxmlformats.org/officeDocument/2006/relationships/hyperlink" Target="https://www.se.com/ww/en/" TargetMode="External"/><Relationship Id="rId1" Type="http://schemas.openxmlformats.org/officeDocument/2006/relationships/slideMaster" Target="../slideMasters/slideMaster4.xml"/><Relationship Id="rId6" Type="http://schemas.openxmlformats.org/officeDocument/2006/relationships/image" Target="../media/image26.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4.svg"/><Relationship Id="rId10" Type="http://schemas.openxmlformats.org/officeDocument/2006/relationships/image" Target="../media/image28.svg"/><Relationship Id="rId4" Type="http://schemas.openxmlformats.org/officeDocument/2006/relationships/image" Target="../media/image25.svg"/><Relationship Id="rId9" Type="http://schemas.openxmlformats.org/officeDocument/2006/relationships/hyperlink" Target="https://twitter.com/SchneiderElec" TargetMode="External"/><Relationship Id="rId14" Type="http://schemas.openxmlformats.org/officeDocument/2006/relationships/image" Target="../media/image30.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29.svg"/><Relationship Id="rId2" Type="http://schemas.openxmlformats.org/officeDocument/2006/relationships/hyperlink" Target="https://www.se.com/ww/en/" TargetMode="External"/><Relationship Id="rId1" Type="http://schemas.openxmlformats.org/officeDocument/2006/relationships/slideMaster" Target="../slideMasters/slideMaster5.xml"/><Relationship Id="rId6" Type="http://schemas.openxmlformats.org/officeDocument/2006/relationships/image" Target="../media/image26.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4.svg"/><Relationship Id="rId10" Type="http://schemas.openxmlformats.org/officeDocument/2006/relationships/image" Target="../media/image28.svg"/><Relationship Id="rId4" Type="http://schemas.openxmlformats.org/officeDocument/2006/relationships/image" Target="../media/image25.svg"/><Relationship Id="rId9" Type="http://schemas.openxmlformats.org/officeDocument/2006/relationships/hyperlink" Target="https://twitter.com/SchneiderElec" TargetMode="External"/><Relationship Id="rId14" Type="http://schemas.openxmlformats.org/officeDocument/2006/relationships/image" Target="../media/image30.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2.svg"/><Relationship Id="rId2" Type="http://schemas.openxmlformats.org/officeDocument/2006/relationships/hyperlink" Target="https://www.se.com/ww/en/" TargetMode="External"/><Relationship Id="rId1" Type="http://schemas.openxmlformats.org/officeDocument/2006/relationships/slideMaster" Target="../slideMasters/slideMaster6.xml"/><Relationship Id="rId6" Type="http://schemas.openxmlformats.org/officeDocument/2006/relationships/image" Target="../media/image9.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hyperlink" Target="https://twitter.com/SchneiderElec" TargetMode="External"/><Relationship Id="rId14" Type="http://schemas.openxmlformats.org/officeDocument/2006/relationships/image" Target="../media/image13.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51104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627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05790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Offer comm">
    <p:bg>
      <p:bgRef idx="1001">
        <a:schemeClr val="bg1"/>
      </p:bgRef>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1769970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1306486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484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7691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3725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41366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2018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36997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174231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 uri="{C183D7F6-B498-43B3-948B-1728B52AA6E4}">
                <adec:decorative xmlns:adec="http://schemas.microsoft.com/office/drawing/2017/decorative" val="0"/>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15770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77921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1000"/>
            <a:extLst>
              <a:ext uri="{28A0092B-C50C-407E-A947-70E740481C1C}">
                <a14:useLocalDpi xmlns:a14="http://schemas.microsoft.com/office/drawing/2010/main"/>
              </a:ext>
            </a:extLst>
          </a:blip>
          <a:srcRect l="1619" t="1619"/>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66118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04508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14249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7573679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09431950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16145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857256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31431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713434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64128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3031357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94661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in two lines one column">
    <p:spTree>
      <p:nvGrpSpPr>
        <p:cNvPr id="1" name=""/>
        <p:cNvGrpSpPr/>
        <p:nvPr/>
      </p:nvGrpSpPr>
      <p:grpSpPr>
        <a:xfrm>
          <a:off x="0" y="0"/>
          <a:ext cx="0" cy="0"/>
          <a:chOff x="0" y="0"/>
          <a:chExt cx="0" cy="0"/>
        </a:xfrm>
      </p:grpSpPr>
      <p:sp>
        <p:nvSpPr>
          <p:cNvPr id="4" name="Title placeholder">
            <a:extLst>
              <a:ext uri="{FF2B5EF4-FFF2-40B4-BE49-F238E27FC236}">
                <a16:creationId xmlns:a16="http://schemas.microsoft.com/office/drawing/2014/main" id="{F9E46972-4FF7-FD54-938B-06DDFCF08D0A}"/>
              </a:ext>
            </a:extLst>
          </p:cNvPr>
          <p:cNvSpPr>
            <a:spLocks noGrp="1"/>
          </p:cNvSpPr>
          <p:nvPr>
            <p:ph type="title" hasCustomPrompt="1"/>
          </p:nvPr>
        </p:nvSpPr>
        <p:spPr>
          <a:xfrm>
            <a:off x="395288" y="419925"/>
            <a:ext cx="8353425" cy="675449"/>
          </a:xfrm>
          <a:prstGeom prst="rect">
            <a:avLst/>
          </a:prstGeom>
        </p:spPr>
        <p:txBody>
          <a:bodyPr lIns="0" tIns="0" rIns="0" bIns="0"/>
          <a:lstStyle>
            <a:lvl1pPr>
              <a:lnSpc>
                <a:spcPts val="2580"/>
              </a:lnSpc>
              <a:defRPr b="1">
                <a:solidFill>
                  <a:schemeClr val="tx2"/>
                </a:solidFill>
              </a:defRPr>
            </a:lvl1pPr>
          </a:lstStyle>
          <a:p>
            <a:r>
              <a:rPr lang="en-GB"/>
              <a:t>Click to edit </a:t>
            </a:r>
            <a:br>
              <a:rPr lang="en-GB"/>
            </a:br>
            <a:r>
              <a:rPr lang="en-GB"/>
              <a:t>Master title style</a:t>
            </a:r>
            <a:endParaRPr lang="en-PL"/>
          </a:p>
        </p:txBody>
      </p:sp>
      <p:sp>
        <p:nvSpPr>
          <p:cNvPr id="3" name="Subhead placeholder">
            <a:extLst>
              <a:ext uri="{FF2B5EF4-FFF2-40B4-BE49-F238E27FC236}">
                <a16:creationId xmlns:a16="http://schemas.microsoft.com/office/drawing/2014/main" id="{62F3512C-764F-77DB-DC6F-2FB90D80AEF1}"/>
              </a:ext>
            </a:extLst>
          </p:cNvPr>
          <p:cNvSpPr>
            <a:spLocks noGrp="1"/>
          </p:cNvSpPr>
          <p:nvPr>
            <p:ph type="body" sz="quarter" idx="10" hasCustomPrompt="1"/>
          </p:nvPr>
        </p:nvSpPr>
        <p:spPr>
          <a:xfrm>
            <a:off x="395288" y="1095375"/>
            <a:ext cx="8353425" cy="255894"/>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12" name="Text placeholder">
            <a:extLst>
              <a:ext uri="{FF2B5EF4-FFF2-40B4-BE49-F238E27FC236}">
                <a16:creationId xmlns:a16="http://schemas.microsoft.com/office/drawing/2014/main" id="{1B8BB3E6-4B98-DE9C-FD65-86C75C7D5E30}"/>
              </a:ext>
            </a:extLst>
          </p:cNvPr>
          <p:cNvSpPr>
            <a:spLocks noGrp="1"/>
          </p:cNvSpPr>
          <p:nvPr>
            <p:ph idx="1"/>
          </p:nvPr>
        </p:nvSpPr>
        <p:spPr>
          <a:xfrm>
            <a:off x="395290" y="1539241"/>
            <a:ext cx="8353424" cy="2616835"/>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Footer placeholder">
            <a:extLst>
              <a:ext uri="{FF2B5EF4-FFF2-40B4-BE49-F238E27FC236}">
                <a16:creationId xmlns:a16="http://schemas.microsoft.com/office/drawing/2014/main" id="{AA354058-D733-16D2-61E8-32BC823CE6B7}"/>
              </a:ext>
            </a:extLst>
          </p:cNvPr>
          <p:cNvSpPr>
            <a:spLocks noGrp="1"/>
          </p:cNvSpPr>
          <p:nvPr>
            <p:ph type="ftr" sz="quarter" idx="3"/>
          </p:nvPr>
        </p:nvSpPr>
        <p:spPr>
          <a:xfrm>
            <a:off x="398463" y="4871780"/>
            <a:ext cx="1097280"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a:t>Property of Schneider Electric |</a:t>
            </a:r>
          </a:p>
        </p:txBody>
      </p:sp>
      <p:sp>
        <p:nvSpPr>
          <p:cNvPr id="26" name="Slide number placeholder">
            <a:extLst>
              <a:ext uri="{FF2B5EF4-FFF2-40B4-BE49-F238E27FC236}">
                <a16:creationId xmlns:a16="http://schemas.microsoft.com/office/drawing/2014/main" id="{FEAACA09-B0D3-A12B-2A4B-F9BE3154F75E}"/>
              </a:ext>
            </a:extLst>
          </p:cNvPr>
          <p:cNvSpPr>
            <a:spLocks noGrp="1"/>
          </p:cNvSpPr>
          <p:nvPr>
            <p:ph type="sldNum" sz="quarter" idx="4"/>
          </p:nvPr>
        </p:nvSpPr>
        <p:spPr>
          <a:xfrm>
            <a:off x="1494313" y="4871781"/>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4087286144"/>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simple">
    <p:bg>
      <p:bgPr>
        <a:solidFill>
          <a:schemeClr val="accent5"/>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42594868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p:bg>
      <p:bgPr>
        <a:solidFill>
          <a:schemeClr val="accent5"/>
        </a:solidFill>
        <a:effectLst/>
      </p:bgPr>
    </p:bg>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31008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column two line headline">
    <p:bg>
      <p:bgPr>
        <a:solidFill>
          <a:schemeClr val="accent5"/>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29457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Offer comm">
    <p:bg>
      <p:bgPr>
        <a:solidFill>
          <a:schemeClr val="accent5"/>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761991401"/>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5"/>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6338837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column with sketches">
    <p:bg>
      <p:bgPr>
        <a:solidFill>
          <a:schemeClr val="accent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235488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slide with title">
    <p:bg>
      <p:bgPr>
        <a:solidFill>
          <a:schemeClr val="accent5"/>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765039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accent5"/>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03333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e column 2/3 of slide">
    <p:bg>
      <p:bgPr>
        <a:solidFill>
          <a:schemeClr val="accent5"/>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tx1"/>
              </a:buCl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404780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lumn with callout">
    <p:bg>
      <p:bgPr>
        <a:solidFill>
          <a:schemeClr val="accent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50073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s">
    <p:bg>
      <p:bgPr>
        <a:solidFill>
          <a:schemeClr val="accent5"/>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439092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bg>
      <p:bgPr>
        <a:solidFill>
          <a:schemeClr val="accent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7082873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accent5"/>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748079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column with object">
    <p:bg>
      <p:bgPr>
        <a:solidFill>
          <a:schemeClr val="accent5"/>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684989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bg>
      <p:bgPr>
        <a:solidFill>
          <a:schemeClr val="accent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0000"/>
            <a:extLst>
              <a:ext uri="{28A0092B-C50C-407E-A947-70E740481C1C}">
                <a14:useLocalDpi xmlns:a14="http://schemas.microsoft.com/office/drawing/2010/main"/>
              </a:ext>
            </a:extLst>
          </a:blip>
          <a:srcRect l="1731" t="1731"/>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7638101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bg>
      <p:bgPr>
        <a:solidFill>
          <a:schemeClr val="accent5"/>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7399141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 column with 1/3 object">
    <p:bg>
      <p:bgPr>
        <a:solidFill>
          <a:schemeClr val="accent5"/>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846069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slide">
    <p:bg>
      <p:bgPr>
        <a:solidFill>
          <a:schemeClr val="accent5"/>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tx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17935366"/>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slide with sketches">
    <p:bg>
      <p:bgPr>
        <a:solidFill>
          <a:schemeClr val="accent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tx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75237273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break with subhead">
    <p:bg>
      <p:bgPr>
        <a:solidFill>
          <a:schemeClr val="accent5"/>
        </a:solidFill>
        <a:effectLst/>
      </p:bgPr>
    </p:bg>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331349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break for longer copy">
    <p:bg>
      <p:bgPr>
        <a:solidFill>
          <a:schemeClr val="accent5"/>
        </a:solidFill>
        <a:effectLst/>
      </p:bgPr>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060726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bg>
      <p:bgPr>
        <a:solidFill>
          <a:schemeClr val="accent5"/>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9393863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493349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dvancing Energy Tech slide">
    <p:bg>
      <p:bgPr>
        <a:solidFill>
          <a:schemeClr val="accent5"/>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565016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5"/>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2924345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4202336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060520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77005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Offer comm">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5848476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1300920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23391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2576709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669832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1805804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357635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42756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21600127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0856108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688910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3417196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4805897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12049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99936610"/>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73095315"/>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accent5"/>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accent5"/>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207639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690744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151233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191633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accent5"/>
                </a:solidFill>
                <a:latin typeface="+mj-lt"/>
                <a:ea typeface="+mj-ea"/>
                <a:cs typeface="Arial"/>
              </a:rPr>
              <a:t>Advancing Energy</a:t>
            </a:r>
            <a:r>
              <a:rPr lang="en-US" sz="3400" b="0" kern="1200" baseline="0">
                <a:solidFill>
                  <a:schemeClr val="accent5"/>
                </a:solidFill>
                <a:latin typeface="+mj-lt"/>
                <a:ea typeface="+mn-ea"/>
                <a:cs typeface="Arial"/>
              </a:rPr>
              <a:t> </a:t>
            </a:r>
            <a:r>
              <a:rPr lang="en-US" sz="3400" b="0" kern="1200" baseline="0">
                <a:solidFill>
                  <a:schemeClr val="accent5"/>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410752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accent5"/>
                </a:solidFill>
                <a:effectLst/>
                <a:uLnTx/>
                <a:uFillTx/>
                <a:latin typeface="+mj-lt"/>
              </a:rPr>
              <a:t>s</a:t>
            </a:r>
            <a:r>
              <a:rPr kumimoji="0" lang="en-PL" sz="1400" b="0" i="0" u="none" strike="noStrike" kern="0" cap="none" spc="0" normalizeH="0" baseline="0" noProof="0">
                <a:ln>
                  <a:noFill/>
                </a:ln>
                <a:solidFill>
                  <a:schemeClr val="accent5"/>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accent5"/>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Schneider Electric trademark</a:t>
            </a:r>
            <a:r>
              <a:rPr lang="en-US" sz="800">
                <a:solidFill>
                  <a:schemeClr val="accent5"/>
                </a:solidFill>
                <a:latin typeface="+mn-lt"/>
                <a:cs typeface="Arial"/>
              </a:rPr>
              <a:t> </a:t>
            </a:r>
            <a:r>
              <a:rPr kumimoji="0" lang="en-US" sz="800" b="0" i="0" u="none" strike="noStrike" kern="1200" cap="none" spc="0" normalizeH="0" baseline="0" noProof="0">
                <a:ln>
                  <a:noFill/>
                </a:ln>
                <a:solidFill>
                  <a:schemeClr val="accent5"/>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229369814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897721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249680"/>
            <a:ext cx="8229600" cy="3277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69861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3024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1173318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426817065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249681"/>
            <a:ext cx="8229600" cy="3277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565222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0736989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3085573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243584"/>
            <a:ext cx="5449625" cy="3316224"/>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243584"/>
            <a:ext cx="2483909" cy="3316224"/>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7050317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243584"/>
            <a:ext cx="4013901" cy="3310127"/>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243584"/>
            <a:ext cx="4013900" cy="3310127"/>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6459401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 uri="{C183D7F6-B498-43B3-948B-1728B52AA6E4}">
                <adec:decorative xmlns:adec="http://schemas.microsoft.com/office/drawing/2017/decorative" val="0"/>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249680"/>
            <a:ext cx="2545828" cy="3328415"/>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249680"/>
            <a:ext cx="2545828" cy="3328415"/>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249680"/>
            <a:ext cx="2545828" cy="3328415"/>
          </a:xfrm>
          <a:prstGeom prst="rect">
            <a:avLst/>
          </a:prstGeom>
        </p:spPr>
        <p:txBody>
          <a:bodyPr vert="horz" lIns="0" tIns="0" rIns="0" bIns="0" rtlCol="0">
            <a:noAutofit/>
          </a:bodyPr>
          <a:lstStyle>
            <a:lvl1pPr marL="0" indent="0">
              <a:buClr>
                <a:schemeClr val="bg2"/>
              </a:buClr>
              <a:defRPr sz="1400"/>
            </a:lvl1pPr>
            <a:lvl2pPr>
              <a:buClr>
                <a:schemeClr val="bg2"/>
              </a:buClr>
              <a:defRPr sz="1200"/>
            </a:lvl2pPr>
            <a:lvl3pPr>
              <a:buClr>
                <a:schemeClr val="bg2"/>
              </a:buClr>
              <a:defRPr sz="1100"/>
            </a:lvl3pPr>
            <a:lvl4pPr>
              <a:buClr>
                <a:schemeClr val="bg2"/>
              </a:buClr>
              <a:defRPr sz="1050"/>
            </a:lvl4pPr>
            <a:lvl5pPr>
              <a:buClr>
                <a:schemeClr val="bg2"/>
              </a:buCl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58199245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1663695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3323190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84087126"/>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8354351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0537080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8945129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0652555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3122517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33999085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972813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8" y="2529359"/>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9"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72" indent="0" algn="ctr">
              <a:buNone/>
              <a:defRPr>
                <a:solidFill>
                  <a:schemeClr val="tx1">
                    <a:tint val="75000"/>
                  </a:schemeClr>
                </a:solidFill>
              </a:defRPr>
            </a:lvl2pPr>
            <a:lvl3pPr marL="914345" indent="0" algn="ctr">
              <a:buNone/>
              <a:defRPr>
                <a:solidFill>
                  <a:schemeClr val="tx1">
                    <a:tint val="75000"/>
                  </a:schemeClr>
                </a:solidFill>
              </a:defRPr>
            </a:lvl3pPr>
            <a:lvl4pPr marL="1371518" indent="0" algn="ctr">
              <a:buNone/>
              <a:defRPr>
                <a:solidFill>
                  <a:schemeClr val="tx1">
                    <a:tint val="75000"/>
                  </a:schemeClr>
                </a:solidFill>
              </a:defRPr>
            </a:lvl4pPr>
            <a:lvl5pPr marL="1828691" indent="0" algn="ctr">
              <a:buNone/>
              <a:defRPr>
                <a:solidFill>
                  <a:schemeClr val="tx1">
                    <a:tint val="75000"/>
                  </a:schemeClr>
                </a:solidFill>
              </a:defRPr>
            </a:lvl5pPr>
            <a:lvl6pPr marL="2285862" indent="0" algn="ctr">
              <a:buNone/>
              <a:defRPr>
                <a:solidFill>
                  <a:schemeClr val="tx1">
                    <a:tint val="75000"/>
                  </a:schemeClr>
                </a:solidFill>
              </a:defRPr>
            </a:lvl6pPr>
            <a:lvl7pPr marL="2743034" indent="0" algn="ctr">
              <a:buNone/>
              <a:defRPr>
                <a:solidFill>
                  <a:schemeClr val="tx1">
                    <a:tint val="75000"/>
                  </a:schemeClr>
                </a:solidFill>
              </a:defRPr>
            </a:lvl7pPr>
            <a:lvl8pPr marL="3200207" indent="0" algn="ctr">
              <a:buNone/>
              <a:defRPr>
                <a:solidFill>
                  <a:schemeClr val="tx1">
                    <a:tint val="75000"/>
                  </a:schemeClr>
                </a:solidFill>
              </a:defRPr>
            </a:lvl8pPr>
            <a:lvl9pPr marL="3657380"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9" y="4108906"/>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02320628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5"/>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715304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8"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1"/>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09597233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Offer comm">
    <p:bg>
      <p:bgRef idx="1001">
        <a:schemeClr val="bg1"/>
      </p:bgRef>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8" y="2529359"/>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9"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72" indent="0" algn="ctr">
              <a:buNone/>
              <a:defRPr>
                <a:solidFill>
                  <a:schemeClr val="tx1">
                    <a:tint val="75000"/>
                  </a:schemeClr>
                </a:solidFill>
              </a:defRPr>
            </a:lvl2pPr>
            <a:lvl3pPr marL="914345" indent="0" algn="ctr">
              <a:buNone/>
              <a:defRPr>
                <a:solidFill>
                  <a:schemeClr val="tx1">
                    <a:tint val="75000"/>
                  </a:schemeClr>
                </a:solidFill>
              </a:defRPr>
            </a:lvl3pPr>
            <a:lvl4pPr marL="1371518" indent="0" algn="ctr">
              <a:buNone/>
              <a:defRPr>
                <a:solidFill>
                  <a:schemeClr val="tx1">
                    <a:tint val="75000"/>
                  </a:schemeClr>
                </a:solidFill>
              </a:defRPr>
            </a:lvl4pPr>
            <a:lvl5pPr marL="1828691" indent="0" algn="ctr">
              <a:buNone/>
              <a:defRPr>
                <a:solidFill>
                  <a:schemeClr val="tx1">
                    <a:tint val="75000"/>
                  </a:schemeClr>
                </a:solidFill>
              </a:defRPr>
            </a:lvl5pPr>
            <a:lvl6pPr marL="2285862" indent="0" algn="ctr">
              <a:buNone/>
              <a:defRPr>
                <a:solidFill>
                  <a:schemeClr val="tx1">
                    <a:tint val="75000"/>
                  </a:schemeClr>
                </a:solidFill>
              </a:defRPr>
            </a:lvl6pPr>
            <a:lvl7pPr marL="2743034" indent="0" algn="ctr">
              <a:buNone/>
              <a:defRPr>
                <a:solidFill>
                  <a:schemeClr val="tx1">
                    <a:tint val="75000"/>
                  </a:schemeClr>
                </a:solidFill>
              </a:defRPr>
            </a:lvl7pPr>
            <a:lvl8pPr marL="3200207" indent="0" algn="ctr">
              <a:buNone/>
              <a:defRPr>
                <a:solidFill>
                  <a:schemeClr val="tx1">
                    <a:tint val="75000"/>
                  </a:schemeClr>
                </a:solidFill>
              </a:defRPr>
            </a:lvl8pPr>
            <a:lvl9pPr marL="3657380"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9" y="4108906"/>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1"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6"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sz="1800"/>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986744691"/>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8"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9"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72" indent="0" algn="ctr">
              <a:buNone/>
              <a:defRPr>
                <a:solidFill>
                  <a:schemeClr val="tx1">
                    <a:tint val="75000"/>
                  </a:schemeClr>
                </a:solidFill>
              </a:defRPr>
            </a:lvl2pPr>
            <a:lvl3pPr marL="914345" indent="0" algn="ctr">
              <a:buNone/>
              <a:defRPr>
                <a:solidFill>
                  <a:schemeClr val="tx1">
                    <a:tint val="75000"/>
                  </a:schemeClr>
                </a:solidFill>
              </a:defRPr>
            </a:lvl3pPr>
            <a:lvl4pPr marL="1371518" indent="0" algn="ctr">
              <a:buNone/>
              <a:defRPr>
                <a:solidFill>
                  <a:schemeClr val="tx1">
                    <a:tint val="75000"/>
                  </a:schemeClr>
                </a:solidFill>
              </a:defRPr>
            </a:lvl4pPr>
            <a:lvl5pPr marL="1828691" indent="0" algn="ctr">
              <a:buNone/>
              <a:defRPr>
                <a:solidFill>
                  <a:schemeClr val="tx1">
                    <a:tint val="75000"/>
                  </a:schemeClr>
                </a:solidFill>
              </a:defRPr>
            </a:lvl5pPr>
            <a:lvl6pPr marL="2285862" indent="0" algn="ctr">
              <a:buNone/>
              <a:defRPr>
                <a:solidFill>
                  <a:schemeClr val="tx1">
                    <a:tint val="75000"/>
                  </a:schemeClr>
                </a:solidFill>
              </a:defRPr>
            </a:lvl6pPr>
            <a:lvl7pPr marL="2743034" indent="0" algn="ctr">
              <a:buNone/>
              <a:defRPr>
                <a:solidFill>
                  <a:schemeClr val="tx1">
                    <a:tint val="75000"/>
                  </a:schemeClr>
                </a:solidFill>
              </a:defRPr>
            </a:lvl7pPr>
            <a:lvl8pPr marL="3200207" indent="0" algn="ctr">
              <a:buNone/>
              <a:defRPr>
                <a:solidFill>
                  <a:schemeClr val="tx1">
                    <a:tint val="75000"/>
                  </a:schemeClr>
                </a:solidFill>
              </a:defRPr>
            </a:lvl8pPr>
            <a:lvl9pPr marL="3657380"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9" y="4108906"/>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75713257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5"/>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4218323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9758278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4870749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9" y="1508393"/>
            <a:ext cx="5449625" cy="266713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9" y="4341814"/>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3779002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9" y="1508393"/>
            <a:ext cx="5449625"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6" y="1508393"/>
            <a:ext cx="2483909"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262161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1"/>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100" y="1713426"/>
            <a:ext cx="4013901"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900" y="1352551"/>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900" y="1713426"/>
            <a:ext cx="4013900"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3827718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100"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4341814"/>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8"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8" y="4341814"/>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965021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 uri="{C183D7F6-B498-43B3-948B-1728B52AA6E4}">
                <adec:decorative xmlns:adec="http://schemas.microsoft.com/office/drawing/2017/decorative" val="0"/>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9"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7"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4833817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7"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02" indent="-265106">
              <a:buFont typeface="Arial"/>
              <a:buChar char="•"/>
              <a:defRPr sz="1800">
                <a:solidFill>
                  <a:schemeClr val="accent1"/>
                </a:solidFill>
              </a:defRPr>
            </a:lvl2pPr>
            <a:lvl3pPr marL="708008" indent="-228594">
              <a:buFont typeface="Lucida Grande"/>
              <a:buChar char="–"/>
              <a:defRPr sz="1600">
                <a:solidFill>
                  <a:schemeClr val="accent1"/>
                </a:solidFill>
              </a:defRPr>
            </a:lvl3pPr>
            <a:lvl4pPr marL="976289" indent="-228594">
              <a:buFont typeface="Lucida Grande"/>
              <a:buChar char="–"/>
              <a:defRPr sz="1400">
                <a:solidFill>
                  <a:schemeClr val="accent1"/>
                </a:solidFill>
              </a:defRPr>
            </a:lvl4pPr>
            <a:lvl5pPr marL="1258856" indent="-231770" defTabSz="314318">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2271831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1000"/>
            <a:extLst>
              <a:ext uri="{28A0092B-C50C-407E-A947-70E740481C1C}">
                <a14:useLocalDpi xmlns:a14="http://schemas.microsoft.com/office/drawing/2010/main"/>
              </a:ext>
            </a:extLst>
          </a:blip>
          <a:srcRect l="1619" t="1619"/>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7"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02" indent="-265106">
              <a:buFont typeface="Arial"/>
              <a:buChar char="•"/>
              <a:defRPr sz="1800">
                <a:solidFill>
                  <a:schemeClr val="accent1"/>
                </a:solidFill>
              </a:defRPr>
            </a:lvl2pPr>
            <a:lvl3pPr marL="708008" indent="-228594">
              <a:buFont typeface="Lucida Grande"/>
              <a:buChar char="–"/>
              <a:defRPr sz="1600">
                <a:solidFill>
                  <a:schemeClr val="accent1"/>
                </a:solidFill>
              </a:defRPr>
            </a:lvl3pPr>
            <a:lvl4pPr marL="976289" indent="-228594">
              <a:buFont typeface="Lucida Grande"/>
              <a:buChar char="–"/>
              <a:defRPr sz="1400">
                <a:solidFill>
                  <a:schemeClr val="accent1"/>
                </a:solidFill>
              </a:defRPr>
            </a:lvl4pPr>
            <a:lvl5pPr marL="1258856" indent="-231770" defTabSz="314318">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12339042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1"/>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02" indent="-265106">
              <a:buFont typeface="Arial"/>
              <a:buChar char="•"/>
              <a:defRPr sz="1800">
                <a:solidFill>
                  <a:schemeClr val="accent1"/>
                </a:solidFill>
              </a:defRPr>
            </a:lvl2pPr>
            <a:lvl3pPr marL="708008" indent="-228594">
              <a:buFont typeface="Lucida Grande"/>
              <a:buChar char="–"/>
              <a:defRPr sz="1600">
                <a:solidFill>
                  <a:schemeClr val="accent1"/>
                </a:solidFill>
              </a:defRPr>
            </a:lvl3pPr>
            <a:lvl4pPr marL="976289" indent="-228594">
              <a:buFont typeface="Lucida Grande"/>
              <a:buChar char="–"/>
              <a:defRPr sz="1400">
                <a:solidFill>
                  <a:schemeClr val="accent1"/>
                </a:solidFill>
              </a:defRPr>
            </a:lvl4pPr>
            <a:lvl5pPr marL="1258856" indent="-231770" defTabSz="314318">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1314776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1"/>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02" indent="-265106">
              <a:buFont typeface="Arial"/>
              <a:buChar char="•"/>
              <a:defRPr sz="1800">
                <a:solidFill>
                  <a:schemeClr val="accent1"/>
                </a:solidFill>
              </a:defRPr>
            </a:lvl2pPr>
            <a:lvl3pPr marL="708008" indent="-228594">
              <a:buFont typeface="Lucida Grande"/>
              <a:buChar char="–"/>
              <a:defRPr sz="1600">
                <a:solidFill>
                  <a:schemeClr val="accent1"/>
                </a:solidFill>
              </a:defRPr>
            </a:lvl3pPr>
            <a:lvl4pPr marL="976289" indent="-228594">
              <a:buFont typeface="Lucida Grande"/>
              <a:buChar char="–"/>
              <a:defRPr sz="1400">
                <a:solidFill>
                  <a:schemeClr val="accent1"/>
                </a:solidFill>
              </a:defRPr>
            </a:lvl4pPr>
            <a:lvl5pPr marL="1258856" indent="-231770" defTabSz="314318">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7312775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8" y="1504950"/>
            <a:ext cx="8229601" cy="2819400"/>
          </a:xfrm>
          <a:prstGeom prst="rect">
            <a:avLst/>
          </a:prstGeom>
        </p:spPr>
        <p:txBody>
          <a:bodyPr vert="horz" lIns="0" tIns="0" rIns="0" bIns="0" rtlCol="0">
            <a:noAutofit/>
          </a:bodyPr>
          <a:lstStyle>
            <a:lvl1pPr marL="342892" indent="-342892">
              <a:buClr>
                <a:schemeClr val="bg2"/>
              </a:buClr>
              <a:buFont typeface="+mj-lt"/>
              <a:buAutoNum type="arabicPeriod"/>
              <a:defRPr/>
            </a:lvl1pPr>
            <a:lvl2pPr marL="522268" indent="-342892">
              <a:buFont typeface="+mj-lt"/>
              <a:buAutoNum type="arabicPeriod"/>
              <a:defRPr/>
            </a:lvl2pPr>
            <a:lvl3pPr marL="701645" indent="-342892">
              <a:buFont typeface="+mj-lt"/>
              <a:buAutoNum type="arabicPeriod"/>
              <a:defRPr/>
            </a:lvl3pPr>
            <a:lvl4pPr marL="882609" indent="-342892">
              <a:buFont typeface="+mj-lt"/>
              <a:buAutoNum type="arabicPeriod"/>
              <a:defRPr/>
            </a:lvl4pPr>
            <a:lvl5pPr marL="1054049" indent="-342892">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154566038"/>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8" y="1504950"/>
            <a:ext cx="8229601" cy="2819400"/>
          </a:xfrm>
          <a:prstGeom prst="rect">
            <a:avLst/>
          </a:prstGeom>
        </p:spPr>
        <p:txBody>
          <a:bodyPr vert="horz" lIns="0" tIns="0" rIns="0" bIns="0" rtlCol="0">
            <a:noAutofit/>
          </a:bodyPr>
          <a:lstStyle>
            <a:lvl1pPr marL="342892" indent="-342892">
              <a:buClr>
                <a:schemeClr val="bg2"/>
              </a:buClr>
              <a:buFont typeface="+mj-lt"/>
              <a:buAutoNum type="arabicPeriod"/>
              <a:defRPr/>
            </a:lvl1pPr>
            <a:lvl2pPr marL="522268" indent="-342892">
              <a:buFont typeface="+mj-lt"/>
              <a:buAutoNum type="arabicPeriod"/>
              <a:defRPr/>
            </a:lvl2pPr>
            <a:lvl3pPr marL="701645" indent="-342892">
              <a:buFont typeface="+mj-lt"/>
              <a:buAutoNum type="arabicPeriod"/>
              <a:defRPr/>
            </a:lvl3pPr>
            <a:lvl4pPr marL="882609" indent="-342892">
              <a:buFont typeface="+mj-lt"/>
              <a:buAutoNum type="arabicPeriod"/>
              <a:defRPr/>
            </a:lvl4pPr>
            <a:lvl5pPr marL="1054049" indent="-342892">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77789642"/>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8" y="2155231"/>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03015823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8"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3456389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8"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2216628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8"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5664541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4" y="1262024"/>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10" y="2233746"/>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5108722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72"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7" y="4041001"/>
            <a:ext cx="4563070" cy="492443"/>
          </a:xfrm>
          <a:prstGeom prst="rect">
            <a:avLst/>
          </a:prstGeom>
          <a:noFill/>
        </p:spPr>
        <p:txBody>
          <a:bodyPr wrap="square" lIns="0" tIns="0" rIns="0" bIns="0" rtlCol="0">
            <a:spAutoFit/>
          </a:bodyPr>
          <a:lstStyle/>
          <a:p>
            <a:pPr marL="179377" marR="0" lvl="1" indent="0" algn="ctr" defTabSz="447648"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9"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2"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5" y="4242029"/>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200" y="4226076"/>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6"/>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2" y="4226076"/>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4"/>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15439712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669526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Title in two lines one column">
    <p:spTree>
      <p:nvGrpSpPr>
        <p:cNvPr id="1" name=""/>
        <p:cNvGrpSpPr/>
        <p:nvPr/>
      </p:nvGrpSpPr>
      <p:grpSpPr>
        <a:xfrm>
          <a:off x="0" y="0"/>
          <a:ext cx="0" cy="0"/>
          <a:chOff x="0" y="0"/>
          <a:chExt cx="0" cy="0"/>
        </a:xfrm>
      </p:grpSpPr>
      <p:sp>
        <p:nvSpPr>
          <p:cNvPr id="4" name="Title placeholder">
            <a:extLst>
              <a:ext uri="{FF2B5EF4-FFF2-40B4-BE49-F238E27FC236}">
                <a16:creationId xmlns:a16="http://schemas.microsoft.com/office/drawing/2014/main" id="{F9E46972-4FF7-FD54-938B-06DDFCF08D0A}"/>
              </a:ext>
            </a:extLst>
          </p:cNvPr>
          <p:cNvSpPr>
            <a:spLocks noGrp="1"/>
          </p:cNvSpPr>
          <p:nvPr>
            <p:ph type="title" hasCustomPrompt="1"/>
          </p:nvPr>
        </p:nvSpPr>
        <p:spPr>
          <a:xfrm>
            <a:off x="395288" y="419925"/>
            <a:ext cx="8353425" cy="675449"/>
          </a:xfrm>
          <a:prstGeom prst="rect">
            <a:avLst/>
          </a:prstGeom>
        </p:spPr>
        <p:txBody>
          <a:bodyPr lIns="0" tIns="0" rIns="0" bIns="0"/>
          <a:lstStyle>
            <a:lvl1pPr>
              <a:lnSpc>
                <a:spcPts val="2580"/>
              </a:lnSpc>
              <a:defRPr b="1">
                <a:solidFill>
                  <a:schemeClr val="tx2"/>
                </a:solidFill>
              </a:defRPr>
            </a:lvl1pPr>
          </a:lstStyle>
          <a:p>
            <a:r>
              <a:rPr lang="en-GB"/>
              <a:t>Click to edit </a:t>
            </a:r>
            <a:br>
              <a:rPr lang="en-GB"/>
            </a:br>
            <a:r>
              <a:rPr lang="en-GB"/>
              <a:t>Master title style</a:t>
            </a:r>
            <a:endParaRPr lang="en-PL"/>
          </a:p>
        </p:txBody>
      </p:sp>
      <p:sp>
        <p:nvSpPr>
          <p:cNvPr id="3" name="Subhead placeholder">
            <a:extLst>
              <a:ext uri="{FF2B5EF4-FFF2-40B4-BE49-F238E27FC236}">
                <a16:creationId xmlns:a16="http://schemas.microsoft.com/office/drawing/2014/main" id="{62F3512C-764F-77DB-DC6F-2FB90D80AEF1}"/>
              </a:ext>
            </a:extLst>
          </p:cNvPr>
          <p:cNvSpPr>
            <a:spLocks noGrp="1"/>
          </p:cNvSpPr>
          <p:nvPr>
            <p:ph type="body" sz="quarter" idx="10" hasCustomPrompt="1"/>
          </p:nvPr>
        </p:nvSpPr>
        <p:spPr>
          <a:xfrm>
            <a:off x="395288" y="1095375"/>
            <a:ext cx="8353425" cy="255894"/>
          </a:xfrm>
          <a:prstGeom prst="rect">
            <a:avLst/>
          </a:prstGeom>
        </p:spPr>
        <p:txBody>
          <a:bodyPr lIns="0" tIns="0" rIns="0" bIns="0"/>
          <a:lstStyle>
            <a:lvl1pPr marL="0" indent="0">
              <a:defRPr>
                <a:solidFill>
                  <a:schemeClr val="tx2"/>
                </a:solidFill>
              </a:defRPr>
            </a:lvl1pPr>
          </a:lstStyle>
          <a:p>
            <a:pPr lvl="0"/>
            <a:r>
              <a:rPr lang="en-GB"/>
              <a:t>Click to edit Subhead</a:t>
            </a:r>
            <a:endParaRPr lang="en-PL"/>
          </a:p>
        </p:txBody>
      </p:sp>
      <p:sp>
        <p:nvSpPr>
          <p:cNvPr id="12" name="Text placeholder">
            <a:extLst>
              <a:ext uri="{FF2B5EF4-FFF2-40B4-BE49-F238E27FC236}">
                <a16:creationId xmlns:a16="http://schemas.microsoft.com/office/drawing/2014/main" id="{1B8BB3E6-4B98-DE9C-FD65-86C75C7D5E30}"/>
              </a:ext>
            </a:extLst>
          </p:cNvPr>
          <p:cNvSpPr>
            <a:spLocks noGrp="1"/>
          </p:cNvSpPr>
          <p:nvPr>
            <p:ph idx="1"/>
          </p:nvPr>
        </p:nvSpPr>
        <p:spPr>
          <a:xfrm>
            <a:off x="395290" y="1539242"/>
            <a:ext cx="8353424" cy="2616835"/>
          </a:xfrm>
          <a:prstGeom prst="rect">
            <a:avLst/>
          </a:prstGeom>
        </p:spPr>
        <p:txBody>
          <a:bodyPr vert="horz" lIns="0" tIns="0" rIns="0" bIns="0" rtlCol="0">
            <a:noAutofit/>
          </a:bodyPr>
          <a:lstStyle>
            <a:lvl1pPr marL="0" indent="0">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Footer placeholder">
            <a:extLst>
              <a:ext uri="{FF2B5EF4-FFF2-40B4-BE49-F238E27FC236}">
                <a16:creationId xmlns:a16="http://schemas.microsoft.com/office/drawing/2014/main" id="{AA354058-D733-16D2-61E8-32BC823CE6B7}"/>
              </a:ext>
            </a:extLst>
          </p:cNvPr>
          <p:cNvSpPr>
            <a:spLocks noGrp="1"/>
          </p:cNvSpPr>
          <p:nvPr>
            <p:ph type="ftr" sz="quarter" idx="3"/>
          </p:nvPr>
        </p:nvSpPr>
        <p:spPr>
          <a:xfrm>
            <a:off x="398463" y="4871781"/>
            <a:ext cx="1097280" cy="92333"/>
          </a:xfrm>
          <a:prstGeom prst="rect">
            <a:avLst/>
          </a:prstGeom>
        </p:spPr>
        <p:txBody>
          <a:bodyPr vert="horz" wrap="square" lIns="0" tIns="0" rIns="0" bIns="0" rtlCol="0" anchor="ctr">
            <a:spAutoFit/>
          </a:bodyPr>
          <a:lstStyle>
            <a:lvl1pPr algn="l">
              <a:defRPr sz="600">
                <a:solidFill>
                  <a:schemeClr val="accent1"/>
                </a:solidFill>
                <a:latin typeface="Arial"/>
                <a:cs typeface="Arial"/>
              </a:defRPr>
            </a:lvl1pPr>
          </a:lstStyle>
          <a:p>
            <a:r>
              <a:rPr lang="en-US"/>
              <a:t>Property of Schneider Electric |</a:t>
            </a:r>
          </a:p>
        </p:txBody>
      </p:sp>
      <p:sp>
        <p:nvSpPr>
          <p:cNvPr id="26" name="Slide number placeholder">
            <a:extLst>
              <a:ext uri="{FF2B5EF4-FFF2-40B4-BE49-F238E27FC236}">
                <a16:creationId xmlns:a16="http://schemas.microsoft.com/office/drawing/2014/main" id="{FEAACA09-B0D3-A12B-2A4B-F9BE3154F75E}"/>
              </a:ext>
            </a:extLst>
          </p:cNvPr>
          <p:cNvSpPr>
            <a:spLocks noGrp="1"/>
          </p:cNvSpPr>
          <p:nvPr>
            <p:ph type="sldNum" sz="quarter" idx="4"/>
          </p:nvPr>
        </p:nvSpPr>
        <p:spPr>
          <a:xfrm>
            <a:off x="1494313" y="4871782"/>
            <a:ext cx="525690" cy="92333"/>
          </a:xfrm>
          <a:prstGeom prst="rect">
            <a:avLst/>
          </a:prstGeom>
        </p:spPr>
        <p:txBody>
          <a:bodyPr vert="horz" lIns="0" tIns="0" rIns="0" bIns="0" rtlCol="0" anchor="ctr">
            <a:spAutoFit/>
          </a:bodyPr>
          <a:lstStyle>
            <a:lvl1pPr algn="l">
              <a:defRPr sz="600">
                <a:solidFill>
                  <a:schemeClr val="bg2"/>
                </a:solidFill>
                <a:latin typeface="Arial"/>
                <a:cs typeface="Arial"/>
              </a:defRPr>
            </a:lvl1pPr>
          </a:lstStyle>
          <a:p>
            <a:r>
              <a:rPr lang="en-US"/>
              <a:t>Page </a:t>
            </a:r>
            <a:fld id="{5A9C12DC-491F-9444-86A2-13AC5C62A2FC}" type="slidenum">
              <a:rPr lang="en-US" smtClean="0"/>
              <a:pPr/>
              <a:t>‹#›</a:t>
            </a:fld>
            <a:endParaRPr lang="en-US"/>
          </a:p>
        </p:txBody>
      </p:sp>
    </p:spTree>
    <p:extLst>
      <p:ext uri="{BB962C8B-B14F-4D97-AF65-F5344CB8AC3E}">
        <p14:creationId xmlns:p14="http://schemas.microsoft.com/office/powerpoint/2010/main" val="291875237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191194420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423045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95515584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Offer comm">
    <p:bg>
      <p:bgRef idx="1001">
        <a:schemeClr val="bg1"/>
      </p:bgRef>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152318310"/>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117518699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8130243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9755332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15181695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037310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9669745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7386574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3601068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 uri="{C183D7F6-B498-43B3-948B-1728B52AA6E4}">
                <adec:decorative xmlns:adec="http://schemas.microsoft.com/office/drawing/2017/decorative" val="0"/>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0336819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842117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1000"/>
            <a:extLst>
              <a:ext uri="{28A0092B-C50C-407E-A947-70E740481C1C}">
                <a14:useLocalDpi xmlns:a14="http://schemas.microsoft.com/office/drawing/2010/main"/>
              </a:ext>
            </a:extLst>
          </a:blip>
          <a:srcRect l="1619" t="1619"/>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7826254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08463286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7491021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29929922"/>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20100108"/>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8503589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16476601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1131044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06441395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72191695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18972381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9016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theme" Target="../theme/theme2.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image" Target="../media/image14.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theme" Target="../theme/theme3.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image" Target="../media/image14.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 Type="http://schemas.openxmlformats.org/officeDocument/2006/relationships/slideLayout" Target="../slideLayouts/slideLayout80.xml"/><Relationship Id="rId21" Type="http://schemas.openxmlformats.org/officeDocument/2006/relationships/theme" Target="../theme/theme4.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image" Target="../media/image1.sv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26" Type="http://schemas.openxmlformats.org/officeDocument/2006/relationships/slideLayout" Target="../slideLayouts/slideLayout123.xml"/><Relationship Id="rId3" Type="http://schemas.openxmlformats.org/officeDocument/2006/relationships/slideLayout" Target="../slideLayouts/slideLayout100.xml"/><Relationship Id="rId21" Type="http://schemas.openxmlformats.org/officeDocument/2006/relationships/slideLayout" Target="../slideLayouts/slideLayout118.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5" Type="http://schemas.openxmlformats.org/officeDocument/2006/relationships/slideLayout" Target="../slideLayouts/slideLayout122.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20" Type="http://schemas.openxmlformats.org/officeDocument/2006/relationships/slideLayout" Target="../slideLayouts/slideLayout117.xml"/><Relationship Id="rId29" Type="http://schemas.openxmlformats.org/officeDocument/2006/relationships/image" Target="../media/image1.svg"/><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24" Type="http://schemas.openxmlformats.org/officeDocument/2006/relationships/slideLayout" Target="../slideLayouts/slideLayout121.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23" Type="http://schemas.openxmlformats.org/officeDocument/2006/relationships/slideLayout" Target="../slideLayouts/slideLayout120.xml"/><Relationship Id="rId28" Type="http://schemas.openxmlformats.org/officeDocument/2006/relationships/theme" Target="../theme/theme5.xml"/><Relationship Id="rId10" Type="http://schemas.openxmlformats.org/officeDocument/2006/relationships/slideLayout" Target="../slideLayouts/slideLayout107.xml"/><Relationship Id="rId19" Type="http://schemas.openxmlformats.org/officeDocument/2006/relationships/slideLayout" Target="../slideLayouts/slideLayout116.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 Id="rId22" Type="http://schemas.openxmlformats.org/officeDocument/2006/relationships/slideLayout" Target="../slideLayouts/slideLayout119.xml"/><Relationship Id="rId27" Type="http://schemas.openxmlformats.org/officeDocument/2006/relationships/slideLayout" Target="../slideLayouts/slideLayout12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26" Type="http://schemas.openxmlformats.org/officeDocument/2006/relationships/slideLayout" Target="../slideLayouts/slideLayout150.xml"/><Relationship Id="rId3" Type="http://schemas.openxmlformats.org/officeDocument/2006/relationships/slideLayout" Target="../slideLayouts/slideLayout127.xml"/><Relationship Id="rId21" Type="http://schemas.openxmlformats.org/officeDocument/2006/relationships/slideLayout" Target="../slideLayouts/slideLayout145.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5" Type="http://schemas.openxmlformats.org/officeDocument/2006/relationships/slideLayout" Target="../slideLayouts/slideLayout149.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24" Type="http://schemas.openxmlformats.org/officeDocument/2006/relationships/slideLayout" Target="../slideLayouts/slideLayout148.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23" Type="http://schemas.openxmlformats.org/officeDocument/2006/relationships/slideLayout" Target="../slideLayouts/slideLayout147.xml"/><Relationship Id="rId28" Type="http://schemas.openxmlformats.org/officeDocument/2006/relationships/image" Target="../media/image1.svg"/><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slideLayout" Target="../slideLayouts/slideLayout146.xml"/><Relationship Id="rId27"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9"/>
              </a:ext>
            </a:extLst>
          </a:blip>
          <a:srcRect/>
          <a:stretch/>
        </p:blipFill>
        <p:spPr>
          <a:xfrm>
            <a:off x="7710646" y="4687803"/>
            <a:ext cx="976154" cy="289230"/>
          </a:xfrm>
          <a:prstGeom prst="rect">
            <a:avLst/>
          </a:prstGeom>
        </p:spPr>
      </p:pic>
      <p:sp>
        <p:nvSpPr>
          <p:cNvPr id="4" name="TextBox 3">
            <a:extLst>
              <a:ext uri="{FF2B5EF4-FFF2-40B4-BE49-F238E27FC236}">
                <a16:creationId xmlns:a16="http://schemas.microsoft.com/office/drawing/2014/main" id="{99BC2FE1-A6D0-23E7-2983-91A2BDA59804}"/>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pl-PL"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1569160103"/>
      </p:ext>
    </p:extLst>
  </p:cSld>
  <p:clrMap bg1="lt1" tx1="dk1" bg2="lt2" tx2="dk2" accent1="accent1" accent2="accent2" accent3="accent3" accent4="accent4" accent5="accent5" accent6="accent6" hlink="hlink" folHlink="folHlink"/>
  <p:sldLayoutIdLst>
    <p:sldLayoutId id="2147483851" r:id="rId1"/>
    <p:sldLayoutId id="2147484068" r:id="rId2"/>
    <p:sldLayoutId id="2147484069" r:id="rId3"/>
    <p:sldLayoutId id="2147484015" r:id="rId4"/>
    <p:sldLayoutId id="2147484065" r:id="rId5"/>
    <p:sldLayoutId id="2147484070" r:id="rId6"/>
    <p:sldLayoutId id="2147484067" r:id="rId7"/>
    <p:sldLayoutId id="2147483932" r:id="rId8"/>
    <p:sldLayoutId id="2147483824" r:id="rId9"/>
    <p:sldLayoutId id="2147483837" r:id="rId10"/>
    <p:sldLayoutId id="2147483840" r:id="rId11"/>
    <p:sldLayoutId id="2147484004" r:id="rId12"/>
    <p:sldLayoutId id="2147483841" r:id="rId13"/>
    <p:sldLayoutId id="2147483844" r:id="rId14"/>
    <p:sldLayoutId id="2147484007" r:id="rId15"/>
    <p:sldLayoutId id="2147483852" r:id="rId16"/>
    <p:sldLayoutId id="2147483846" r:id="rId17"/>
    <p:sldLayoutId id="2147483757" r:id="rId18"/>
    <p:sldLayoutId id="2147484022" r:id="rId19"/>
    <p:sldLayoutId id="2147483754" r:id="rId20"/>
    <p:sldLayoutId id="2147483803" r:id="rId21"/>
    <p:sldLayoutId id="2147483996" r:id="rId22"/>
    <p:sldLayoutId id="2147484011" r:id="rId23"/>
    <p:sldLayoutId id="2147484033" r:id="rId24"/>
    <p:sldLayoutId id="2147484026" r:id="rId25"/>
    <p:sldLayoutId id="2147484430" r:id="rId26"/>
    <p:sldLayoutId id="2147484432" r:id="rId27"/>
  </p:sldLayoutIdLst>
  <p:hf hdr="0" dt="0"/>
  <p:txStyles>
    <p:titleStyle>
      <a:lvl1pPr algn="l" defTabSz="457184" rtl="0" eaLnBrk="1" latinLnBrk="0" hangingPunct="1">
        <a:lnSpc>
          <a:spcPts val="2400"/>
        </a:lnSpc>
        <a:spcBef>
          <a:spcPct val="0"/>
        </a:spcBef>
        <a:buNone/>
        <a:defRPr sz="2200" b="0" kern="1200">
          <a:solidFill>
            <a:schemeClr val="bg2"/>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84"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7"/>
              </a:ext>
            </a:extLst>
          </a:blip>
          <a:srcRect/>
          <a:stretch/>
        </p:blipFill>
        <p:spPr>
          <a:xfrm>
            <a:off x="7710646" y="4687803"/>
            <a:ext cx="976154" cy="289230"/>
          </a:xfrm>
          <a:prstGeom prst="rect">
            <a:avLst/>
          </a:prstGeom>
        </p:spPr>
      </p:pic>
      <p:sp>
        <p:nvSpPr>
          <p:cNvPr id="4" name="TextBox 3">
            <a:extLst>
              <a:ext uri="{FF2B5EF4-FFF2-40B4-BE49-F238E27FC236}">
                <a16:creationId xmlns:a16="http://schemas.microsoft.com/office/drawing/2014/main" id="{91FF65F5-B684-9DAB-0105-99F5E87422B4}"/>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pl-PL"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3463004925"/>
      </p:ext>
    </p:extLst>
  </p:cSld>
  <p:clrMap bg1="lt1" tx1="dk1" bg2="lt2" tx2="dk2" accent1="accent1" accent2="accent2" accent3="accent3" accent4="accent4" accent5="accent5" accent6="accent6" hlink="hlink" folHlink="folHlink"/>
  <p:sldLayoutIdLst>
    <p:sldLayoutId id="2147484353" r:id="rId1"/>
    <p:sldLayoutId id="2147484354" r:id="rId2"/>
    <p:sldLayoutId id="2147484355" r:id="rId3"/>
    <p:sldLayoutId id="2147484356" r:id="rId4"/>
    <p:sldLayoutId id="2147484357" r:id="rId5"/>
    <p:sldLayoutId id="2147484358" r:id="rId6"/>
    <p:sldLayoutId id="2147484359" r:id="rId7"/>
    <p:sldLayoutId id="2147484360" r:id="rId8"/>
    <p:sldLayoutId id="2147484361" r:id="rId9"/>
    <p:sldLayoutId id="2147484362" r:id="rId10"/>
    <p:sldLayoutId id="2147484363" r:id="rId11"/>
    <p:sldLayoutId id="2147484364" r:id="rId12"/>
    <p:sldLayoutId id="2147484365" r:id="rId13"/>
    <p:sldLayoutId id="2147484366" r:id="rId14"/>
    <p:sldLayoutId id="2147484367" r:id="rId15"/>
    <p:sldLayoutId id="2147484368" r:id="rId16"/>
    <p:sldLayoutId id="2147484369" r:id="rId17"/>
    <p:sldLayoutId id="2147484370" r:id="rId18"/>
    <p:sldLayoutId id="2147484371" r:id="rId19"/>
    <p:sldLayoutId id="2147484372" r:id="rId20"/>
    <p:sldLayoutId id="2147484373" r:id="rId21"/>
    <p:sldLayoutId id="2147484374" r:id="rId22"/>
    <p:sldLayoutId id="2147484375" r:id="rId23"/>
    <p:sldLayoutId id="2147484376" r:id="rId24"/>
    <p:sldLayoutId id="2147484377" r:id="rId25"/>
  </p:sldLayoutIdLst>
  <p:hf hdr="0" dt="0"/>
  <p:txStyles>
    <p:titleStyle>
      <a:lvl1pPr algn="l" defTabSz="457184" rtl="0" eaLnBrk="1" latinLnBrk="0" hangingPunct="1">
        <a:lnSpc>
          <a:spcPts val="2400"/>
        </a:lnSpc>
        <a:spcBef>
          <a:spcPct val="0"/>
        </a:spcBef>
        <a:buNone/>
        <a:defRPr sz="2200" b="0" kern="1200">
          <a:solidFill>
            <a:schemeClr val="tx1"/>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tx1"/>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tx1"/>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tx1"/>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tx1"/>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tx1"/>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accent5"/>
                </a:solidFill>
              </a:defRPr>
            </a:lvl1pPr>
          </a:lstStyle>
          <a:p>
            <a:r>
              <a:rPr lang="en-US"/>
              <a:t>©2026 Schneider Electric. All Rights Reserved.</a:t>
            </a: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accent5"/>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7"/>
              </a:ext>
            </a:extLst>
          </a:blip>
          <a:srcRect/>
          <a:stretch/>
        </p:blipFill>
        <p:spPr>
          <a:xfrm>
            <a:off x="7710646" y="4687803"/>
            <a:ext cx="976154" cy="289230"/>
          </a:xfrm>
          <a:prstGeom prst="rect">
            <a:avLst/>
          </a:prstGeom>
        </p:spPr>
      </p:pic>
      <p:sp>
        <p:nvSpPr>
          <p:cNvPr id="4" name="TextBox 3">
            <a:extLst>
              <a:ext uri="{FF2B5EF4-FFF2-40B4-BE49-F238E27FC236}">
                <a16:creationId xmlns:a16="http://schemas.microsoft.com/office/drawing/2014/main" id="{D17CE95D-E6AC-1CF3-4093-8CE5DE1D99B6}"/>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pl-PL"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3913320297"/>
      </p:ext>
    </p:extLst>
  </p:cSld>
  <p:clrMap bg1="dk1" tx1="lt1" bg2="dk2" tx2="lt2" accent1="accent1" accent2="accent2" accent3="accent3" accent4="accent4" accent5="accent5" accent6="accent6" hlink="hlink" folHlink="folHlink"/>
  <p:sldLayoutIdLst>
    <p:sldLayoutId id="2147484379" r:id="rId1"/>
    <p:sldLayoutId id="2147484380" r:id="rId2"/>
    <p:sldLayoutId id="2147484381" r:id="rId3"/>
    <p:sldLayoutId id="2147484382" r:id="rId4"/>
    <p:sldLayoutId id="2147484383" r:id="rId5"/>
    <p:sldLayoutId id="2147484384" r:id="rId6"/>
    <p:sldLayoutId id="2147484385" r:id="rId7"/>
    <p:sldLayoutId id="2147484386" r:id="rId8"/>
    <p:sldLayoutId id="2147484387" r:id="rId9"/>
    <p:sldLayoutId id="2147484388" r:id="rId10"/>
    <p:sldLayoutId id="2147484389" r:id="rId11"/>
    <p:sldLayoutId id="2147484390" r:id="rId12"/>
    <p:sldLayoutId id="2147484391" r:id="rId13"/>
    <p:sldLayoutId id="2147484392" r:id="rId14"/>
    <p:sldLayoutId id="2147484393" r:id="rId15"/>
    <p:sldLayoutId id="2147484394" r:id="rId16"/>
    <p:sldLayoutId id="2147484395" r:id="rId17"/>
    <p:sldLayoutId id="2147484396" r:id="rId18"/>
    <p:sldLayoutId id="2147484397" r:id="rId19"/>
    <p:sldLayoutId id="2147484398" r:id="rId20"/>
    <p:sldLayoutId id="2147484399" r:id="rId21"/>
    <p:sldLayoutId id="2147484400" r:id="rId22"/>
    <p:sldLayoutId id="2147484401" r:id="rId23"/>
    <p:sldLayoutId id="2147484402" r:id="rId24"/>
    <p:sldLayoutId id="2147484403" r:id="rId25"/>
  </p:sldLayoutIdLst>
  <p:hf hdr="0" dt="0"/>
  <p:txStyles>
    <p:titleStyle>
      <a:lvl1pPr algn="l" defTabSz="457184" rtl="0" eaLnBrk="1" latinLnBrk="0" hangingPunct="1">
        <a:lnSpc>
          <a:spcPts val="2400"/>
        </a:lnSpc>
        <a:spcBef>
          <a:spcPct val="0"/>
        </a:spcBef>
        <a:buNone/>
        <a:defRPr sz="2200" b="0" kern="1200">
          <a:solidFill>
            <a:schemeClr val="accent1"/>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accent1"/>
        </a:buClr>
        <a:buFont typeface="Arial" panose="020B0604020202020204" pitchFamily="34" charset="0"/>
        <a:buNone/>
        <a:defRPr sz="1400" b="0" kern="1200">
          <a:solidFill>
            <a:schemeClr val="accent5"/>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914400"/>
            <a:ext cx="8229599" cy="363931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2"/>
              </a:ext>
            </a:extLst>
          </a:blip>
          <a:srcRect/>
          <a:stretch/>
        </p:blipFill>
        <p:spPr>
          <a:xfrm>
            <a:off x="7710646" y="4687803"/>
            <a:ext cx="976154" cy="289230"/>
          </a:xfrm>
          <a:prstGeom prst="rect">
            <a:avLst/>
          </a:prstGeom>
        </p:spPr>
      </p:pic>
      <p:sp>
        <p:nvSpPr>
          <p:cNvPr id="4" name="TextBox 3">
            <a:extLst>
              <a:ext uri="{FF2B5EF4-FFF2-40B4-BE49-F238E27FC236}">
                <a16:creationId xmlns:a16="http://schemas.microsoft.com/office/drawing/2014/main" id="{C8BA1A96-05BB-1953-988B-9D9592E78F4A}"/>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en-US"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1621489865"/>
      </p:ext>
    </p:extLst>
  </p:cSld>
  <p:clrMap bg1="lt1" tx1="dk1" bg2="lt2" tx2="dk2" accent1="accent1" accent2="accent2" accent3="accent3" accent4="accent4" accent5="accent5" accent6="accent6" hlink="hlink" folHlink="folHlink"/>
  <p:sldLayoutIdLst>
    <p:sldLayoutId id="2147484456" r:id="rId1"/>
    <p:sldLayoutId id="2147484457" r:id="rId2"/>
    <p:sldLayoutId id="2147484458" r:id="rId3"/>
    <p:sldLayoutId id="2147484459" r:id="rId4"/>
    <p:sldLayoutId id="2147484460" r:id="rId5"/>
    <p:sldLayoutId id="2147484461" r:id="rId6"/>
    <p:sldLayoutId id="2147484462" r:id="rId7"/>
    <p:sldLayoutId id="2147484463" r:id="rId8"/>
    <p:sldLayoutId id="2147484464" r:id="rId9"/>
    <p:sldLayoutId id="2147484465" r:id="rId10"/>
    <p:sldLayoutId id="2147484466" r:id="rId11"/>
    <p:sldLayoutId id="2147484467" r:id="rId12"/>
    <p:sldLayoutId id="2147484468" r:id="rId13"/>
    <p:sldLayoutId id="2147484469" r:id="rId14"/>
    <p:sldLayoutId id="2147484470" r:id="rId15"/>
    <p:sldLayoutId id="2147484471" r:id="rId16"/>
    <p:sldLayoutId id="2147484472" r:id="rId17"/>
    <p:sldLayoutId id="2147484473" r:id="rId18"/>
    <p:sldLayoutId id="2147484474" r:id="rId19"/>
    <p:sldLayoutId id="2147484475" r:id="rId20"/>
  </p:sldLayoutIdLst>
  <p:hf hdr="0" dt="0"/>
  <p:txStyles>
    <p:titleStyle>
      <a:lvl1pPr algn="l" defTabSz="457184" rtl="0" eaLnBrk="1" latinLnBrk="0" hangingPunct="1">
        <a:lnSpc>
          <a:spcPts val="2400"/>
        </a:lnSpc>
        <a:spcBef>
          <a:spcPct val="0"/>
        </a:spcBef>
        <a:buNone/>
        <a:defRPr sz="2200" b="0" kern="1200">
          <a:solidFill>
            <a:schemeClr val="bg2"/>
          </a:solidFill>
          <a:latin typeface="+mj-lt"/>
          <a:ea typeface="+mj-ea"/>
          <a:cs typeface="Arial"/>
        </a:defRPr>
      </a:lvl1pPr>
    </p:titleStyle>
    <p:bodyStyle>
      <a:lvl1pPr marL="0" indent="0" algn="l" defTabSz="457184" rtl="0" eaLnBrk="1" latinLnBrk="0" hangingPunct="1">
        <a:lnSpc>
          <a:spcPct val="100000"/>
        </a:lnSpc>
        <a:spcBef>
          <a:spcPts val="200"/>
        </a:spcBef>
        <a:spcAft>
          <a:spcPts val="300"/>
        </a:spcAft>
        <a:buClr>
          <a:schemeClr val="bg2"/>
        </a:buClr>
        <a:buFont typeface="Arial" panose="020B0604020202020204" pitchFamily="34" charset="0"/>
        <a:buNone/>
        <a:defRPr sz="1800" b="0" kern="1200">
          <a:solidFill>
            <a:schemeClr val="tx1"/>
          </a:solidFill>
          <a:latin typeface="+mn-lt"/>
          <a:ea typeface="+mn-ea"/>
          <a:cs typeface="Arial"/>
        </a:defRPr>
      </a:lvl1pPr>
      <a:lvl2pPr marL="361938" indent="-182557" algn="l" defTabSz="447659" rtl="0" eaLnBrk="1" latinLnBrk="0" hangingPunct="1">
        <a:lnSpc>
          <a:spcPct val="100000"/>
        </a:lnSpc>
        <a:spcBef>
          <a:spcPts val="200"/>
        </a:spcBef>
        <a:spcAft>
          <a:spcPts val="300"/>
        </a:spcAft>
        <a:buClr>
          <a:schemeClr val="bg2"/>
        </a:buClr>
        <a:buFont typeface="Arial" pitchFamily="34" charset="0"/>
        <a:buChar char="•"/>
        <a:defRPr sz="1600" kern="1200">
          <a:solidFill>
            <a:schemeClr val="tx1"/>
          </a:solidFill>
          <a:latin typeface="+mn-lt"/>
          <a:ea typeface="+mn-ea"/>
          <a:cs typeface="Arial"/>
        </a:defRPr>
      </a:lvl2pPr>
      <a:lvl3pPr marL="538144" indent="-179382" algn="l" defTabSz="457184" rtl="0" eaLnBrk="1" latinLnBrk="0" hangingPunct="1">
        <a:lnSpc>
          <a:spcPct val="100000"/>
        </a:lnSpc>
        <a:spcBef>
          <a:spcPts val="200"/>
        </a:spcBef>
        <a:spcAft>
          <a:spcPts val="3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ct val="100000"/>
        </a:lnSpc>
        <a:spcBef>
          <a:spcPts val="200"/>
        </a:spcBef>
        <a:spcAft>
          <a:spcPts val="300"/>
        </a:spcAft>
        <a:buClr>
          <a:schemeClr val="bg2"/>
        </a:buClr>
        <a:buFont typeface="Arial" panose="020B0604020202020204" pitchFamily="34" charset="0"/>
        <a:buChar char="–"/>
        <a:defRPr sz="1200" kern="1200">
          <a:solidFill>
            <a:schemeClr val="tx1"/>
          </a:solidFill>
          <a:latin typeface="+mn-lt"/>
          <a:ea typeface="+mn-ea"/>
          <a:cs typeface="Arial"/>
        </a:defRPr>
      </a:lvl4pPr>
      <a:lvl5pPr marL="896906" indent="-185731" algn="l" defTabSz="457184" rtl="0" eaLnBrk="1" latinLnBrk="0" hangingPunct="1">
        <a:lnSpc>
          <a:spcPct val="100000"/>
        </a:lnSpc>
        <a:spcBef>
          <a:spcPts val="200"/>
        </a:spcBef>
        <a:spcAft>
          <a:spcPts val="300"/>
        </a:spcAft>
        <a:buClr>
          <a:schemeClr val="bg2"/>
        </a:buClr>
        <a:buFont typeface="Arial" panose="020B0604020202020204" pitchFamily="34" charset="0"/>
        <a:buChar char="–"/>
        <a:defRPr sz="11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4" orient="horz" pos="684">
          <p15:clr>
            <a:srgbClr val="F26B43"/>
          </p15:clr>
        </p15:guide>
        <p15:guide id="5" orient="horz" pos="948">
          <p15:clr>
            <a:srgbClr val="F26B43"/>
          </p15:clr>
        </p15:guide>
        <p15:guide id="6" orient="horz" pos="2724">
          <p15:clr>
            <a:srgbClr val="F26B43"/>
          </p15:clr>
        </p15:guide>
        <p15:guide id="8" orient="horz" pos="3125">
          <p15:clr>
            <a:srgbClr val="F26B43"/>
          </p15:clr>
        </p15:guide>
        <p15:guide id="9" pos="5472">
          <p15:clr>
            <a:srgbClr val="F26B43"/>
          </p15:clr>
        </p15:guide>
        <p15:guide id="10" pos="288">
          <p15:clr>
            <a:srgbClr val="F26B43"/>
          </p15:clr>
        </p15:guide>
        <p15:guide id="11" orient="horz" pos="2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8"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8" y="1508394"/>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9" y="4867447"/>
            <a:ext cx="1721517" cy="105253"/>
          </a:xfrm>
          <a:prstGeom prst="rect">
            <a:avLst/>
          </a:prstGeom>
        </p:spPr>
        <p:txBody>
          <a:bodyPr vert="horz" lIns="0" tIns="0" rIns="0" bIns="0" rtlCol="0" anchor="ctr"/>
          <a:lstStyle>
            <a:lvl1pPr marL="0" marR="0" indent="0" algn="l" defTabSz="457172"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6"/>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9"/>
              </a:ext>
            </a:extLst>
          </a:blip>
          <a:srcRect/>
          <a:stretch/>
        </p:blipFill>
        <p:spPr>
          <a:xfrm>
            <a:off x="7710646" y="4687803"/>
            <a:ext cx="976154" cy="289230"/>
          </a:xfrm>
          <a:prstGeom prst="rect">
            <a:avLst/>
          </a:prstGeom>
        </p:spPr>
      </p:pic>
      <p:sp>
        <p:nvSpPr>
          <p:cNvPr id="4" name="TextBox 3">
            <a:extLst>
              <a:ext uri="{FF2B5EF4-FFF2-40B4-BE49-F238E27FC236}">
                <a16:creationId xmlns:a16="http://schemas.microsoft.com/office/drawing/2014/main" id="{99BC2FE1-A6D0-23E7-2983-91A2BDA59804}"/>
              </a:ext>
            </a:extLst>
          </p:cNvPr>
          <p:cNvSpPr txBox="1"/>
          <p:nvPr>
            <p:extLst>
              <p:ext uri="{1162E1C5-73C7-4A58-AE30-91384D911F3F}">
                <p184:classification xmlns:p184="http://schemas.microsoft.com/office/powerpoint/2018/4/main" val="ftr"/>
              </p:ext>
            </p:extLst>
          </p:nvPr>
        </p:nvSpPr>
        <p:spPr>
          <a:xfrm>
            <a:off x="4474369" y="5027295"/>
            <a:ext cx="207217" cy="69250"/>
          </a:xfrm>
          <a:prstGeom prst="rect">
            <a:avLst/>
          </a:prstGeom>
        </p:spPr>
        <p:txBody>
          <a:bodyPr horzOverflow="overflow" lIns="0" tIns="0" rIns="0" bIns="0">
            <a:spAutoFit/>
          </a:bodyPr>
          <a:lstStyle/>
          <a:p>
            <a:pPr algn="l"/>
            <a:r>
              <a:rPr lang="pl-PL" sz="45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4152758138"/>
      </p:ext>
    </p:extLst>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 id="2147484488" r:id="rId12"/>
    <p:sldLayoutId id="2147484489" r:id="rId13"/>
    <p:sldLayoutId id="2147484490" r:id="rId14"/>
    <p:sldLayoutId id="2147484491" r:id="rId15"/>
    <p:sldLayoutId id="2147484492" r:id="rId16"/>
    <p:sldLayoutId id="2147484493" r:id="rId17"/>
    <p:sldLayoutId id="2147484494" r:id="rId18"/>
    <p:sldLayoutId id="2147484495" r:id="rId19"/>
    <p:sldLayoutId id="2147484496" r:id="rId20"/>
    <p:sldLayoutId id="2147484497" r:id="rId21"/>
    <p:sldLayoutId id="2147484498" r:id="rId22"/>
    <p:sldLayoutId id="2147484499" r:id="rId23"/>
    <p:sldLayoutId id="2147484500" r:id="rId24"/>
    <p:sldLayoutId id="2147484501" r:id="rId25"/>
    <p:sldLayoutId id="2147484502" r:id="rId26"/>
    <p:sldLayoutId id="2147484503" r:id="rId27"/>
  </p:sldLayoutIdLst>
  <p:hf hdr="0" dt="0"/>
  <p:txStyles>
    <p:titleStyle>
      <a:lvl1pPr algn="l" defTabSz="457172" rtl="0" eaLnBrk="1" latinLnBrk="0" hangingPunct="1">
        <a:lnSpc>
          <a:spcPts val="2400"/>
        </a:lnSpc>
        <a:spcBef>
          <a:spcPct val="0"/>
        </a:spcBef>
        <a:buNone/>
        <a:defRPr sz="2200" b="0" kern="1200">
          <a:solidFill>
            <a:schemeClr val="bg2"/>
          </a:solidFill>
          <a:latin typeface="+mj-lt"/>
          <a:ea typeface="+mj-ea"/>
          <a:cs typeface="Arial"/>
        </a:defRPr>
      </a:lvl1pPr>
    </p:titleStyle>
    <p:bodyStyle>
      <a:lvl1pPr marL="0" indent="0" algn="l" defTabSz="457172"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29" indent="-182552" algn="l" defTabSz="447648"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30" indent="-179378" algn="l" defTabSz="457172"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095" indent="-179378" algn="l" defTabSz="457172"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884" indent="-185726" algn="l" defTabSz="457172"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57" indent="-182870" algn="l" defTabSz="457172"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57" indent="-182870" algn="l" defTabSz="457172"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793" indent="-228587" algn="l" defTabSz="457172" rtl="0" eaLnBrk="1" latinLnBrk="0" hangingPunct="1">
        <a:spcBef>
          <a:spcPct val="20000"/>
        </a:spcBef>
        <a:buFont typeface="Arial"/>
        <a:buChar char="•"/>
        <a:defRPr sz="2000" kern="1200">
          <a:solidFill>
            <a:schemeClr val="tx1"/>
          </a:solidFill>
          <a:latin typeface="+mn-lt"/>
          <a:ea typeface="+mn-ea"/>
          <a:cs typeface="+mn-cs"/>
        </a:defRPr>
      </a:lvl8pPr>
      <a:lvl9pPr marL="3885966" indent="-228587" algn="l" defTabSz="457172"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72" rtl="0" eaLnBrk="1" latinLnBrk="0" hangingPunct="1">
        <a:defRPr sz="1800" kern="1200">
          <a:solidFill>
            <a:schemeClr val="tx1"/>
          </a:solidFill>
          <a:latin typeface="+mn-lt"/>
          <a:ea typeface="+mn-ea"/>
          <a:cs typeface="+mn-cs"/>
        </a:defRPr>
      </a:lvl1pPr>
      <a:lvl2pPr marL="457172" algn="l" defTabSz="457172" rtl="0" eaLnBrk="1" latinLnBrk="0" hangingPunct="1">
        <a:defRPr sz="1800" kern="1200">
          <a:solidFill>
            <a:schemeClr val="tx1"/>
          </a:solidFill>
          <a:latin typeface="+mn-lt"/>
          <a:ea typeface="+mn-ea"/>
          <a:cs typeface="+mn-cs"/>
        </a:defRPr>
      </a:lvl2pPr>
      <a:lvl3pPr marL="914345" algn="l" defTabSz="457172" rtl="0" eaLnBrk="1" latinLnBrk="0" hangingPunct="1">
        <a:defRPr sz="1800" kern="1200">
          <a:solidFill>
            <a:schemeClr val="tx1"/>
          </a:solidFill>
          <a:latin typeface="+mn-lt"/>
          <a:ea typeface="+mn-ea"/>
          <a:cs typeface="+mn-cs"/>
        </a:defRPr>
      </a:lvl3pPr>
      <a:lvl4pPr marL="1371518" algn="l" defTabSz="457172" rtl="0" eaLnBrk="1" latinLnBrk="0" hangingPunct="1">
        <a:defRPr sz="1800" kern="1200">
          <a:solidFill>
            <a:schemeClr val="tx1"/>
          </a:solidFill>
          <a:latin typeface="+mn-lt"/>
          <a:ea typeface="+mn-ea"/>
          <a:cs typeface="+mn-cs"/>
        </a:defRPr>
      </a:lvl4pPr>
      <a:lvl5pPr marL="1828691" algn="l" defTabSz="457172" rtl="0" eaLnBrk="1" latinLnBrk="0" hangingPunct="1">
        <a:defRPr sz="1800" kern="1200">
          <a:solidFill>
            <a:schemeClr val="tx1"/>
          </a:solidFill>
          <a:latin typeface="+mn-lt"/>
          <a:ea typeface="+mn-ea"/>
          <a:cs typeface="+mn-cs"/>
        </a:defRPr>
      </a:lvl5pPr>
      <a:lvl6pPr marL="2285862" algn="l" defTabSz="457172" rtl="0" eaLnBrk="1" latinLnBrk="0" hangingPunct="1">
        <a:defRPr sz="1800" kern="1200">
          <a:solidFill>
            <a:schemeClr val="tx1"/>
          </a:solidFill>
          <a:latin typeface="+mn-lt"/>
          <a:ea typeface="+mn-ea"/>
          <a:cs typeface="+mn-cs"/>
        </a:defRPr>
      </a:lvl6pPr>
      <a:lvl7pPr marL="2743034" algn="l" defTabSz="457172" rtl="0" eaLnBrk="1" latinLnBrk="0" hangingPunct="1">
        <a:defRPr sz="1800" kern="1200">
          <a:solidFill>
            <a:schemeClr val="tx1"/>
          </a:solidFill>
          <a:latin typeface="+mn-lt"/>
          <a:ea typeface="+mn-ea"/>
          <a:cs typeface="+mn-cs"/>
        </a:defRPr>
      </a:lvl7pPr>
      <a:lvl8pPr marL="3200207" algn="l" defTabSz="457172" rtl="0" eaLnBrk="1" latinLnBrk="0" hangingPunct="1">
        <a:defRPr sz="1800" kern="1200">
          <a:solidFill>
            <a:schemeClr val="tx1"/>
          </a:solidFill>
          <a:latin typeface="+mn-lt"/>
          <a:ea typeface="+mn-ea"/>
          <a:cs typeface="+mn-cs"/>
        </a:defRPr>
      </a:lvl8pPr>
      <a:lvl9pPr marL="3657380" algn="l" defTabSz="45717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4" orient="horz" pos="684">
          <p15:clr>
            <a:srgbClr val="F26B43"/>
          </p15:clr>
        </p15:guide>
        <p15:guide id="5" orient="horz" pos="948">
          <p15:clr>
            <a:srgbClr val="F26B43"/>
          </p15:clr>
        </p15:guide>
        <p15:guide id="6" orient="horz" pos="2724">
          <p15:clr>
            <a:srgbClr val="F26B43"/>
          </p15:clr>
        </p15:guide>
        <p15:guide id="8" orient="horz" pos="3125">
          <p15:clr>
            <a:srgbClr val="F26B43"/>
          </p15:clr>
        </p15:guide>
        <p15:guide id="9" pos="5472">
          <p15:clr>
            <a:srgbClr val="F26B43"/>
          </p15:clr>
        </p15:guide>
        <p15:guide id="10" pos="288">
          <p15:clr>
            <a:srgbClr val="F26B43"/>
          </p15:clr>
        </p15:guide>
        <p15:guide id="11" orient="horz" pos="2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8"/>
              </a:ext>
            </a:extLst>
          </a:blip>
          <a:srcRect/>
          <a:stretch/>
        </p:blipFill>
        <p:spPr>
          <a:xfrm>
            <a:off x="7710646" y="4687803"/>
            <a:ext cx="976154" cy="289230"/>
          </a:xfrm>
          <a:prstGeom prst="rect">
            <a:avLst/>
          </a:prstGeom>
        </p:spPr>
      </p:pic>
      <p:sp>
        <p:nvSpPr>
          <p:cNvPr id="4" name="TextBox 3">
            <a:extLst>
              <a:ext uri="{FF2B5EF4-FFF2-40B4-BE49-F238E27FC236}">
                <a16:creationId xmlns:a16="http://schemas.microsoft.com/office/drawing/2014/main" id="{99BC2FE1-A6D0-23E7-2983-91A2BDA59804}"/>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pl-PL"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299660926"/>
      </p:ext>
    </p:extLst>
  </p:cSld>
  <p:clrMap bg1="lt1" tx1="dk1" bg2="lt2" tx2="dk2" accent1="accent1" accent2="accent2" accent3="accent3" accent4="accent4" accent5="accent5" accent6="accent6" hlink="hlink" folHlink="folHlink"/>
  <p:sldLayoutIdLst>
    <p:sldLayoutId id="2147484505" r:id="rId1"/>
    <p:sldLayoutId id="2147484506" r:id="rId2"/>
    <p:sldLayoutId id="2147484507" r:id="rId3"/>
    <p:sldLayoutId id="2147484508" r:id="rId4"/>
    <p:sldLayoutId id="2147484509" r:id="rId5"/>
    <p:sldLayoutId id="2147484510" r:id="rId6"/>
    <p:sldLayoutId id="2147484511" r:id="rId7"/>
    <p:sldLayoutId id="2147484512" r:id="rId8"/>
    <p:sldLayoutId id="2147484513" r:id="rId9"/>
    <p:sldLayoutId id="2147484514" r:id="rId10"/>
    <p:sldLayoutId id="2147484515" r:id="rId11"/>
    <p:sldLayoutId id="2147484516" r:id="rId12"/>
    <p:sldLayoutId id="2147484517" r:id="rId13"/>
    <p:sldLayoutId id="2147484518" r:id="rId14"/>
    <p:sldLayoutId id="2147484519" r:id="rId15"/>
    <p:sldLayoutId id="2147484520" r:id="rId16"/>
    <p:sldLayoutId id="2147484521" r:id="rId17"/>
    <p:sldLayoutId id="2147484522" r:id="rId18"/>
    <p:sldLayoutId id="2147484523" r:id="rId19"/>
    <p:sldLayoutId id="2147484524" r:id="rId20"/>
    <p:sldLayoutId id="2147484525" r:id="rId21"/>
    <p:sldLayoutId id="2147484526" r:id="rId22"/>
    <p:sldLayoutId id="2147484527" r:id="rId23"/>
    <p:sldLayoutId id="2147484528" r:id="rId24"/>
    <p:sldLayoutId id="2147484529" r:id="rId25"/>
    <p:sldLayoutId id="2147484530" r:id="rId26"/>
  </p:sldLayoutIdLst>
  <p:hf hdr="0" dt="0"/>
  <p:txStyles>
    <p:titleStyle>
      <a:lvl1pPr algn="l" defTabSz="457184" rtl="0" eaLnBrk="1" latinLnBrk="0" hangingPunct="1">
        <a:lnSpc>
          <a:spcPts val="2400"/>
        </a:lnSpc>
        <a:spcBef>
          <a:spcPct val="0"/>
        </a:spcBef>
        <a:buNone/>
        <a:defRPr sz="2200" b="0" kern="1200">
          <a:solidFill>
            <a:schemeClr val="bg2"/>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4" orient="horz" pos="684">
          <p15:clr>
            <a:srgbClr val="F26B43"/>
          </p15:clr>
        </p15:guide>
        <p15:guide id="5" orient="horz" pos="948">
          <p15:clr>
            <a:srgbClr val="F26B43"/>
          </p15:clr>
        </p15:guide>
        <p15:guide id="6" orient="horz" pos="2724">
          <p15:clr>
            <a:srgbClr val="F26B43"/>
          </p15:clr>
        </p15:guide>
        <p15:guide id="8" orient="horz" pos="3125">
          <p15:clr>
            <a:srgbClr val="F26B43"/>
          </p15:clr>
        </p15:guide>
        <p15:guide id="9" pos="5472">
          <p15:clr>
            <a:srgbClr val="F26B43"/>
          </p15:clr>
        </p15:guide>
        <p15:guide id="10" pos="288">
          <p15:clr>
            <a:srgbClr val="F26B43"/>
          </p15:clr>
        </p15:guide>
        <p15:guide id="11" orient="horz" pos="2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xml"/><Relationship Id="rId1" Type="http://schemas.openxmlformats.org/officeDocument/2006/relationships/slideLayout" Target="../slideLayouts/slideLayout56.xml"/><Relationship Id="rId4" Type="http://schemas.openxmlformats.org/officeDocument/2006/relationships/image" Target="../media/image3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8" Type="http://schemas.openxmlformats.org/officeDocument/2006/relationships/slide" Target="slide58.xml"/><Relationship Id="rId13" Type="http://schemas.openxmlformats.org/officeDocument/2006/relationships/slide" Target="slide111.xml"/><Relationship Id="rId3" Type="http://schemas.openxmlformats.org/officeDocument/2006/relationships/slide" Target="slide4.xml"/><Relationship Id="rId7" Type="http://schemas.openxmlformats.org/officeDocument/2006/relationships/slide" Target="slide46.xml"/><Relationship Id="rId12" Type="http://schemas.openxmlformats.org/officeDocument/2006/relationships/slide" Target="slide104.xml"/><Relationship Id="rId17" Type="http://schemas.openxmlformats.org/officeDocument/2006/relationships/slide" Target="slide141.xml"/><Relationship Id="rId2" Type="http://schemas.openxmlformats.org/officeDocument/2006/relationships/notesSlide" Target="../notesSlides/notesSlide3.xml"/><Relationship Id="rId16" Type="http://schemas.openxmlformats.org/officeDocument/2006/relationships/slide" Target="slide133.xml"/><Relationship Id="rId1" Type="http://schemas.openxmlformats.org/officeDocument/2006/relationships/slideLayout" Target="../slideLayouts/slideLayout23.xml"/><Relationship Id="rId6" Type="http://schemas.openxmlformats.org/officeDocument/2006/relationships/slide" Target="slide38.xml"/><Relationship Id="rId11" Type="http://schemas.openxmlformats.org/officeDocument/2006/relationships/slide" Target="slide88.xml"/><Relationship Id="rId5" Type="http://schemas.openxmlformats.org/officeDocument/2006/relationships/slide" Target="slide22.xml"/><Relationship Id="rId15" Type="http://schemas.openxmlformats.org/officeDocument/2006/relationships/slide" Target="slide123.xml"/><Relationship Id="rId10" Type="http://schemas.openxmlformats.org/officeDocument/2006/relationships/slide" Target="slide77.xml"/><Relationship Id="rId4" Type="http://schemas.openxmlformats.org/officeDocument/2006/relationships/slide" Target="slide10.xml"/><Relationship Id="rId9" Type="http://schemas.openxmlformats.org/officeDocument/2006/relationships/slide" Target="slide65.xml"/><Relationship Id="rId14" Type="http://schemas.openxmlformats.org/officeDocument/2006/relationships/slide" Target="slide117.xml"/></Relationships>
</file>

<file path=ppt/slides/_rels/slide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4.xml"/><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6.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7.xml"/><Relationship Id="rId1" Type="http://schemas.openxmlformats.org/officeDocument/2006/relationships/slideLayout" Target="../slideLayouts/slideLayout27.xml"/><Relationship Id="rId5" Type="http://schemas.openxmlformats.org/officeDocument/2006/relationships/image" Target="../media/image40.svg"/><Relationship Id="rId4" Type="http://schemas.openxmlformats.org/officeDocument/2006/relationships/image" Target="../media/image39.sv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9.xml"/><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5.xml"/></Relationships>
</file>

<file path=ppt/slides/_rels/slide2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2.xml"/><Relationship Id="rId1" Type="http://schemas.openxmlformats.org/officeDocument/2006/relationships/slideLayout" Target="../slideLayouts/slideLayout7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7.xml"/><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27.xml"/><Relationship Id="rId5" Type="http://schemas.openxmlformats.org/officeDocument/2006/relationships/image" Target="../media/image57.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27.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27.xml"/><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5.xml"/></Relationships>
</file>

<file path=ppt/slides/_rels/slide3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21.xml"/><Relationship Id="rId1" Type="http://schemas.openxmlformats.org/officeDocument/2006/relationships/slideLayout" Target="../slideLayouts/slideLayout75.xml"/></Relationships>
</file>

<file path=ppt/slides/_rels/slide39.xml.rels><?xml version="1.0" encoding="UTF-8" standalone="yes"?>
<Relationships xmlns="http://schemas.openxmlformats.org/package/2006/relationships"><Relationship Id="rId3" Type="http://schemas.openxmlformats.org/officeDocument/2006/relationships/hyperlink" Target="https://schneiderelectric-my.sharepoint.com/:p:/r/personal/sesa327880_se_com/Documents/Functional%20Toolkit.pptx?d=w5520e0f9322440f89ef59e061162d928&amp;csf=1&amp;web=1&amp;e=CDlsYe&amp;nav=eyJzSWQiOjI5NCwiY0lkIjozODI3NjA1ODM3fQ" TargetMode="External"/><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5.xml"/></Relationships>
</file>

<file path=ppt/slides/_rels/slide4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28.xml"/><Relationship Id="rId1" Type="http://schemas.openxmlformats.org/officeDocument/2006/relationships/slideLayout" Target="../slideLayouts/slideLayout75.xml"/></Relationships>
</file>

<file path=ppt/slides/_rels/slide47.xml.rels><?xml version="1.0" encoding="UTF-8" standalone="yes"?>
<Relationships xmlns="http://schemas.openxmlformats.org/package/2006/relationships"><Relationship Id="rId3" Type="http://schemas.openxmlformats.org/officeDocument/2006/relationships/hyperlink" Target="https://schneiderelectric-my.sharepoint.com/:p:/r/personal/sesa327880_se_com/Documents/Functional%20Toolkit.pptx?d=w5520e0f9322440f89ef59e061162d928&amp;csf=1&amp;web=1&amp;e=CDlsYe&amp;nav=eyJzSWQiOjI5NCwiY0lkIjozODI3NjA1ODM3fQ" TargetMode="External"/><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3" Type="http://schemas.openxmlformats.org/officeDocument/2006/relationships/hyperlink" Target="https://ai.google.dev/gemini-api/docs/video-understanding#:~:text=Gemini%20models%20offer%20powerful%20capabilities,answering%20questions%20about%20its%20content." TargetMode="External"/><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3" Type="http://schemas.openxmlformats.org/officeDocument/2006/relationships/hyperlink" Target="https://www.brightedge.com/resources/weekly-ai-search-insights/youtube-presence-ai-search" TargetMode="External"/><Relationship Id="rId2" Type="http://schemas.openxmlformats.org/officeDocument/2006/relationships/notesSlide" Target="../notesSlides/notesSlide33.xml"/><Relationship Id="rId1" Type="http://schemas.openxmlformats.org/officeDocument/2006/relationships/slideLayout" Target="../slideLayouts/slideLayout26.xml"/><Relationship Id="rId4" Type="http://schemas.openxmlformats.org/officeDocument/2006/relationships/hyperlink" Target="https://support.google.com/youtube/answer/9884579?hl=en" TargetMode="External"/></Relationships>
</file>

<file path=ppt/slides/_rels/slide52.xml.rels><?xml version="1.0" encoding="UTF-8" standalone="yes"?>
<Relationships xmlns="http://schemas.openxmlformats.org/package/2006/relationships"><Relationship Id="rId3" Type="http://schemas.openxmlformats.org/officeDocument/2006/relationships/hyperlink" Target="https://schneiderelectric-my.sharepoint.com/:p:/r/personal/sesa327880_se_com/Documents/Functional%20Toolkit.pptx?d=w5520e0f9322440f89ef59e061162d928&amp;csf=1&amp;web=1&amp;e=CDlsYe&amp;nav=eyJzSWQiOjI5NCwiY0lkIjozODI3NjA1ODM3fQ" TargetMode="External"/><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hyperlink" Target="https://www.youtube.com/watch?v=Zv2ljP-7JHE" TargetMode="External"/><Relationship Id="rId2" Type="http://schemas.openxmlformats.org/officeDocument/2006/relationships/notesSlide" Target="../notesSlides/notesSlide35.xml"/><Relationship Id="rId1" Type="http://schemas.openxmlformats.org/officeDocument/2006/relationships/slideLayout" Target="../slideLayouts/slideLayout26.xml"/><Relationship Id="rId6" Type="http://schemas.openxmlformats.org/officeDocument/2006/relationships/image" Target="../media/image67.jpeg"/><Relationship Id="rId5" Type="http://schemas.openxmlformats.org/officeDocument/2006/relationships/hyperlink" Target="https://www.youtube.com/watch?v=7_GPTty4CfE" TargetMode="External"/><Relationship Id="rId4" Type="http://schemas.openxmlformats.org/officeDocument/2006/relationships/hyperlink" Target="https://www.se.com/us/en/work/products/master-ranges/galaxy/"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www.youtube.com/watch?v=7_GPTty4CfE" TargetMode="External"/><Relationship Id="rId2" Type="http://schemas.openxmlformats.org/officeDocument/2006/relationships/notesSlide" Target="../notesSlides/notesSlide36.xml"/><Relationship Id="rId1" Type="http://schemas.openxmlformats.org/officeDocument/2006/relationships/slideLayout" Target="../slideLayouts/slideLayout26.xml"/><Relationship Id="rId6" Type="http://schemas.openxmlformats.org/officeDocument/2006/relationships/image" Target="../media/image68.jpeg"/><Relationship Id="rId5" Type="http://schemas.openxmlformats.org/officeDocument/2006/relationships/hyperlink" Target="https://www.youtube.com/watch?v=Zv2ljP-7JHE" TargetMode="External"/><Relationship Id="rId4" Type="http://schemas.openxmlformats.org/officeDocument/2006/relationships/hyperlink" Target="https://www.se.com/us/en/product/ATV350U07N4W/variable-speed-drive-altivar-machine-atv350-standard-i-o-sto-0-75kw-1hp-400-to-480v-ip66/?selectedNodeId=164638943386"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3_OHjzncg8o" TargetMode="External"/><Relationship Id="rId2" Type="http://schemas.openxmlformats.org/officeDocument/2006/relationships/notesSlide" Target="../notesSlides/notesSlide37.xml"/><Relationship Id="rId1" Type="http://schemas.openxmlformats.org/officeDocument/2006/relationships/slideLayout" Target="../slideLayouts/slideLayout97.xml"/><Relationship Id="rId6" Type="http://schemas.openxmlformats.org/officeDocument/2006/relationships/image" Target="../media/image69.jpeg"/><Relationship Id="rId5" Type="http://schemas.openxmlformats.org/officeDocument/2006/relationships/hyperlink" Target="https://www.se.com/be/en/product/EVB4S22N40/charging-station-schneider-charge-pro-1p3p-1xt2s-7-41122kw-1632a-with-communication-with-tic/" TargetMode="External"/><Relationship Id="rId4" Type="http://schemas.openxmlformats.org/officeDocument/2006/relationships/hyperlink" Target="https://www.youtube.com/watch?v=7_GPTty4CfE"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5.xml"/></Relationships>
</file>

<file path=ppt/slides/_rels/slide5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40.xml"/><Relationship Id="rId1" Type="http://schemas.openxmlformats.org/officeDocument/2006/relationships/slideLayout" Target="../slideLayouts/slideLayout7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2" Type="http://schemas.openxmlformats.org/officeDocument/2006/relationships/image" Target="../media/image70.svg"/><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5.xml"/></Relationships>
</file>

<file path=ppt/slides/_rels/slide6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42.xml"/><Relationship Id="rId1" Type="http://schemas.openxmlformats.org/officeDocument/2006/relationships/slideLayout" Target="../slideLayouts/slideLayout75.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2" Type="http://schemas.openxmlformats.org/officeDocument/2006/relationships/hyperlink" Target="https://schneiderelectric.sharepoint.com/:p:/r/sites/MarketingOfferDataandDigitalAssetsofficialguidelines/_layouts/15/Doc.aspx?sourcedoc=%7BC801059D-0F17-4B69-9C21-ADFE27C76CA1%7D&amp;file=Offer%20Related%20Assets%20Naming%20Guidelines.pptx&amp;action=edit&amp;mobileredirect=true" TargetMode="External"/><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4.xml.rels><?xml version="1.0" encoding="UTF-8" standalone="yes"?>
<Relationships xmlns="http://schemas.openxmlformats.org/package/2006/relationships"><Relationship Id="rId2" Type="http://schemas.openxmlformats.org/officeDocument/2006/relationships/image" Target="../media/image70.svg"/><Relationship Id="rId1" Type="http://schemas.openxmlformats.org/officeDocument/2006/relationships/slideLayout" Target="../slideLayouts/slideLayout2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5.xml"/></Relationships>
</file>

<file path=ppt/slides/_rels/slide7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44.xml"/><Relationship Id="rId1" Type="http://schemas.openxmlformats.org/officeDocument/2006/relationships/slideLayout" Target="../slideLayouts/slideLayout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5.xml.rels><?xml version="1.0" encoding="UTF-8" standalone="yes"?>
<Relationships xmlns="http://schemas.openxmlformats.org/package/2006/relationships"><Relationship Id="rId2" Type="http://schemas.openxmlformats.org/officeDocument/2006/relationships/image" Target="../media/image70.svg"/><Relationship Id="rId1" Type="http://schemas.openxmlformats.org/officeDocument/2006/relationships/slideLayout" Target="../slideLayouts/slideLayout2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5.xml"/></Relationships>
</file>

<file path=ppt/slides/_rels/slide8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46.xml"/><Relationship Id="rId1" Type="http://schemas.openxmlformats.org/officeDocument/2006/relationships/slideLayout" Target="../slideLayouts/slideLayout7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50.xml"/><Relationship Id="rId1" Type="http://schemas.openxmlformats.org/officeDocument/2006/relationships/slideLayout" Target="../slideLayouts/slideLayout26.xml"/><Relationship Id="rId6" Type="http://schemas.openxmlformats.org/officeDocument/2006/relationships/image" Target="../media/image76.svg"/><Relationship Id="rId5" Type="http://schemas.openxmlformats.org/officeDocument/2006/relationships/image" Target="../media/image75.svg"/><Relationship Id="rId4" Type="http://schemas.openxmlformats.org/officeDocument/2006/relationships/image" Target="../media/image74.svg"/></Relationships>
</file>

<file path=ppt/slides/_rels/slide9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51.xml"/><Relationship Id="rId1" Type="http://schemas.openxmlformats.org/officeDocument/2006/relationships/slideLayout" Target="../slideLayouts/slideLayout26.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9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2.xml"/><Relationship Id="rId1" Type="http://schemas.openxmlformats.org/officeDocument/2006/relationships/slideLayout" Target="../slideLayouts/slideLayout26.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9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3.xml"/><Relationship Id="rId1" Type="http://schemas.openxmlformats.org/officeDocument/2006/relationships/slideLayout" Target="../slideLayouts/slideLayout26.xml"/><Relationship Id="rId6" Type="http://schemas.openxmlformats.org/officeDocument/2006/relationships/image" Target="../media/image83.png"/><Relationship Id="rId5" Type="http://schemas.openxmlformats.org/officeDocument/2006/relationships/image" Target="../media/image86.png"/><Relationship Id="rId4" Type="http://schemas.openxmlformats.org/officeDocument/2006/relationships/image" Target="../media/image79.png"/></Relationships>
</file>

<file path=ppt/slides/_rels/slide9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4.xml"/><Relationship Id="rId1" Type="http://schemas.openxmlformats.org/officeDocument/2006/relationships/slideLayout" Target="../slideLayouts/slideLayout26.xml"/><Relationship Id="rId6" Type="http://schemas.openxmlformats.org/officeDocument/2006/relationships/image" Target="../media/image84.png"/><Relationship Id="rId5" Type="http://schemas.openxmlformats.org/officeDocument/2006/relationships/image" Target="../media/image88.png"/><Relationship Id="rId4" Type="http://schemas.openxmlformats.org/officeDocument/2006/relationships/image" Target="../media/image87.png"/></Relationships>
</file>

<file path=ppt/slides/_rels/slide9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5.xml"/><Relationship Id="rId1" Type="http://schemas.openxmlformats.org/officeDocument/2006/relationships/slideLayout" Target="../slideLayouts/slideLayout26.xml"/><Relationship Id="rId6" Type="http://schemas.openxmlformats.org/officeDocument/2006/relationships/image" Target="../media/image85.png"/><Relationship Id="rId5" Type="http://schemas.openxmlformats.org/officeDocument/2006/relationships/image" Target="../media/image80.png"/><Relationship Id="rId4" Type="http://schemas.openxmlformats.org/officeDocument/2006/relationships/image" Target="../media/image89.png"/></Relationships>
</file>

<file path=ppt/slides/_rels/slide9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6.xml"/><Relationship Id="rId1" Type="http://schemas.openxmlformats.org/officeDocument/2006/relationships/slideLayout" Target="../slideLayouts/slideLayout26.xml"/><Relationship Id="rId6" Type="http://schemas.openxmlformats.org/officeDocument/2006/relationships/image" Target="../media/image77.png"/><Relationship Id="rId5" Type="http://schemas.openxmlformats.org/officeDocument/2006/relationships/image" Target="../media/image90.png"/><Relationship Id="rId4" Type="http://schemas.openxmlformats.org/officeDocument/2006/relationships/image" Target="../media/image85.png"/></Relationships>
</file>

<file path=ppt/slides/_rels/slide9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7.xml"/><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8.xml"/><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5.xml"/></Relationships>
</file>

<file path=ppt/slides/_rels/slide10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62.xml"/><Relationship Id="rId1" Type="http://schemas.openxmlformats.org/officeDocument/2006/relationships/slideLayout" Target="../slideLayouts/slideLayout7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7.xml"/></Relationships>
</file>

<file path=ppt/slides/_rels/slide107.xml.rels><?xml version="1.0" encoding="UTF-8" standalone="yes"?>
<Relationships xmlns="http://schemas.openxmlformats.org/package/2006/relationships"><Relationship Id="rId3" Type="http://schemas.openxmlformats.org/officeDocument/2006/relationships/hyperlink" Target="https://schneiderelectric-my.sharepoint.com/:p:/r/personal/sesa327880_se_com/Documents/Functional%20Toolkit.pptx?d=w5520e0f9322440f89ef59e061162d928&amp;csf=1&amp;web=1&amp;e=CDlsYe&amp;nav=eyJzSWQiOjI5NCwiY0lkIjozODI3NjA1ODM3fQ" TargetMode="External"/><Relationship Id="rId2" Type="http://schemas.openxmlformats.org/officeDocument/2006/relationships/hyperlink" Target="https://schneiderelectric-my.sharepoint.com/:p:/r/personal/sesa327880_se_com/Documents/Functional%20Toolkit.pptx?d=w5520e0f9322440f89ef59e061162d928&amp;csf=1&amp;web=1&amp;e=W1Zf1T&amp;nav=eyJzSWQiOjI3MSwiY0lkIjoyOTcwMzM0MjJ9" TargetMode="External"/><Relationship Id="rId1" Type="http://schemas.openxmlformats.org/officeDocument/2006/relationships/slideLayout" Target="../slideLayouts/slideLayout2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9.xml.rels><?xml version="1.0" encoding="UTF-8" standalone="yes"?>
<Relationships xmlns="http://schemas.openxmlformats.org/package/2006/relationships"><Relationship Id="rId2" Type="http://schemas.openxmlformats.org/officeDocument/2006/relationships/hyperlink" Target="https://schneiderelectric-my.sharepoint.com/:p:/r/personal/sesa327880_se_com/Documents/Functional%20Toolkit.pptx?d=w5520e0f9322440f89ef59e061162d928&amp;csf=1&amp;web=1&amp;e=Bzjdun&amp;nav=eyJzSWQiOjI3OSwiY0lkIjozNTc5NTgxNzQ4fQ" TargetMode="External"/><Relationship Id="rId1" Type="http://schemas.openxmlformats.org/officeDocument/2006/relationships/slideLayout" Target="../slideLayouts/slideLayout2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64.xml"/><Relationship Id="rId1" Type="http://schemas.openxmlformats.org/officeDocument/2006/relationships/slideLayout" Target="../slideLayouts/slideLayout7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65.xml"/><Relationship Id="rId1" Type="http://schemas.openxmlformats.org/officeDocument/2006/relationships/slideLayout" Target="../slideLayouts/slideLayout7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2.xml.rels><?xml version="1.0" encoding="UTF-8" standalone="yes"?>
<Relationships xmlns="http://schemas.openxmlformats.org/package/2006/relationships"><Relationship Id="rId3" Type="http://schemas.openxmlformats.org/officeDocument/2006/relationships/hyperlink" Target="https://www.figma.com/design/skxQ1GShQPDqj2EogBBZg3/GEO-Power-Page-Template?node-id=111-72379&amp;t=c82juT2EytzCGUWN-0" TargetMode="External"/><Relationship Id="rId2" Type="http://schemas.openxmlformats.org/officeDocument/2006/relationships/notesSlide" Target="../notesSlides/notesSlide66.xml"/><Relationship Id="rId1" Type="http://schemas.openxmlformats.org/officeDocument/2006/relationships/slideLayout" Target="../slideLayouts/slideLayout150.xml"/><Relationship Id="rId6" Type="http://schemas.openxmlformats.org/officeDocument/2006/relationships/image" Target="../media/image93.png"/><Relationship Id="rId5" Type="http://schemas.openxmlformats.org/officeDocument/2006/relationships/hyperlink" Target="https://www.figma.com/proto/t0IehWXhS5RW1hAVCApuzJ/CaaS-template-2023?type=design&amp;node-id=15-43&amp;scaling=scale-down-width&amp;page-id=6%3A2&amp;starting-point-node-id=15%3A43&amp;t=keNQ0qBvOs93D76R-1" TargetMode="External"/><Relationship Id="rId4" Type="http://schemas.openxmlformats.org/officeDocument/2006/relationships/hyperlink" Target="https://www.figma.com/design/skxQ1GShQPDqj2EogBBZg3/GEO-Power-Page-Template?node-id=856-76745&amp;t=c82juT2EytzCGUWN-0" TargetMode="External"/></Relationships>
</file>

<file path=ppt/slides/_rels/slide12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67.xml"/><Relationship Id="rId1" Type="http://schemas.openxmlformats.org/officeDocument/2006/relationships/slideLayout" Target="../slideLayouts/slideLayout7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7.png"/><Relationship Id="rId1" Type="http://schemas.openxmlformats.org/officeDocument/2006/relationships/slideLayout" Target="../slideLayouts/slideLayout27.xml"/><Relationship Id="rId5" Type="http://schemas.openxmlformats.org/officeDocument/2006/relationships/image" Target="../media/image79.png"/><Relationship Id="rId4" Type="http://schemas.openxmlformats.org/officeDocument/2006/relationships/hyperlink" Target="https://schneiderelectric-my.sharepoint.com/:p:/r/personal/sesa327880_se_com/Documents/Functional%20Toolkit.pptx?d=w5520e0f9322440f89ef59e061162d928&amp;csf=1&amp;web=1&amp;e=Uv47tN&amp;nav=eyJzSWQiOjI3NSwiY0lkIjoxNTA4MTAyNzM1fQ"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2.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hyperlink" Target="https://schneiderelectric.sharepoint.com/:p:/s/AnalyticsforWaaBGroup/IQBpzr4m984QSIg1NsRMlITBAWZB0jzMi6B0m6rxuUFl6VM" TargetMode="External"/><Relationship Id="rId2" Type="http://schemas.openxmlformats.org/officeDocument/2006/relationships/image" Target="../media/image94.png"/><Relationship Id="rId1" Type="http://schemas.openxmlformats.org/officeDocument/2006/relationships/slideLayout" Target="../slideLayouts/slideLayout124.xml"/><Relationship Id="rId6" Type="http://schemas.openxmlformats.org/officeDocument/2006/relationships/hyperlink" Target="https://datastudio.google.com/s/r2NwOzSt90U" TargetMode="External"/><Relationship Id="rId5" Type="http://schemas.openxmlformats.org/officeDocument/2006/relationships/hyperlink" Target="https://analytics.google.com/analytics/web/?authuser=3#/a244870666p376635860/reports/explorer?params=_u..nav%3Dmaui%26_u.comparisonOption%3Ddisabled%26_u.date00%3D20260701%26_u.date01%3D20260723%26_r.explorerCard..selectedRows%3D%5B%22Organic%20Search%22,%22Paid%20Search%22,%22Direct%22,%22Referral%22,%22__total__%22,%22AI%20Assistant%22%5D&amp;ruid=lifecycle-traffic-acquisition-v2,life-cycle,acquisition&amp;collectionId=9958369520&amp;r=lifecycle-traffic-acquisition-v2" TargetMode="External"/><Relationship Id="rId4" Type="http://schemas.openxmlformats.org/officeDocument/2006/relationships/image" Target="../media/image96.png"/></Relationships>
</file>

<file path=ppt/slides/_rels/slide13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69.xml"/><Relationship Id="rId1" Type="http://schemas.openxmlformats.org/officeDocument/2006/relationships/slideLayout" Target="../slideLayouts/slideLayout7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71.xml"/><Relationship Id="rId1" Type="http://schemas.openxmlformats.org/officeDocument/2006/relationships/slideLayout" Target="../slideLayouts/slideLayout75.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614"/>
            <a:ext cx="9144000" cy="5156113"/>
          </a:xfrm>
          <a:prstGeom prst="rect">
            <a:avLst/>
          </a:prstGeom>
        </p:spPr>
      </p:pic>
      <p:sp>
        <p:nvSpPr>
          <p:cNvPr id="3" name="Text 0"/>
          <p:cNvSpPr/>
          <p:nvPr/>
        </p:nvSpPr>
        <p:spPr>
          <a:xfrm>
            <a:off x="742951" y="1820791"/>
            <a:ext cx="7943852" cy="553998"/>
          </a:xfrm>
          <a:prstGeom prst="rect">
            <a:avLst/>
          </a:prstGeom>
          <a:noFill/>
          <a:ln/>
        </p:spPr>
        <p:txBody>
          <a:bodyPr wrap="square" lIns="0" tIns="0" rIns="0" bIns="0" rtlCol="0" anchor="t">
            <a:spAutoFit/>
          </a:bodyPr>
          <a:lstStyle/>
          <a:p>
            <a:r>
              <a:rPr lang="pl-PL" sz="3600">
                <a:solidFill>
                  <a:schemeClr val="accent5"/>
                </a:solidFill>
              </a:rPr>
              <a:t>GEO </a:t>
            </a:r>
            <a:r>
              <a:rPr lang="pl-PL" sz="3600" err="1">
                <a:solidFill>
                  <a:schemeClr val="accent5"/>
                </a:solidFill>
              </a:rPr>
              <a:t>Functional</a:t>
            </a:r>
            <a:r>
              <a:rPr lang="pl-PL" sz="3600">
                <a:solidFill>
                  <a:schemeClr val="accent5"/>
                </a:solidFill>
              </a:rPr>
              <a:t> Toolkit</a:t>
            </a:r>
            <a:endParaRPr lang="en-US" sz="3600">
              <a:solidFill>
                <a:schemeClr val="accent5"/>
              </a:solidFill>
            </a:endParaRPr>
          </a:p>
        </p:txBody>
      </p:sp>
      <p:sp>
        <p:nvSpPr>
          <p:cNvPr id="4" name="Text 1"/>
          <p:cNvSpPr/>
          <p:nvPr/>
        </p:nvSpPr>
        <p:spPr>
          <a:xfrm>
            <a:off x="742950" y="2412467"/>
            <a:ext cx="5715000" cy="246221"/>
          </a:xfrm>
          <a:prstGeom prst="rect">
            <a:avLst/>
          </a:prstGeom>
          <a:noFill/>
          <a:ln/>
        </p:spPr>
        <p:txBody>
          <a:bodyPr wrap="square" lIns="0" tIns="0" rIns="0" bIns="0" rtlCol="0" anchor="t">
            <a:spAutoFit/>
          </a:bodyPr>
          <a:lstStyle/>
          <a:p>
            <a:endParaRPr lang="en-US" sz="1600">
              <a:solidFill>
                <a:schemeClr val="bg1"/>
              </a:solidFill>
            </a:endParaRPr>
          </a:p>
        </p:txBody>
      </p:sp>
      <p:sp>
        <p:nvSpPr>
          <p:cNvPr id="5" name="Text 2"/>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61024880-2430-D9E9-B223-BF3868BE52F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710648" y="4683469"/>
            <a:ext cx="976154" cy="289230"/>
          </a:xfrm>
          <a:prstGeom prst="rect">
            <a:avLst/>
          </a:prstGeom>
        </p:spPr>
      </p:pic>
      <p:sp>
        <p:nvSpPr>
          <p:cNvPr id="13" name="Subtitle 12">
            <a:extLst>
              <a:ext uri="{FF2B5EF4-FFF2-40B4-BE49-F238E27FC236}">
                <a16:creationId xmlns:a16="http://schemas.microsoft.com/office/drawing/2014/main" id="{9CAEBE27-4390-6C37-9216-CD05D6BA2C94}"/>
              </a:ext>
            </a:extLst>
          </p:cNvPr>
          <p:cNvSpPr>
            <a:spLocks noGrp="1"/>
          </p:cNvSpPr>
          <p:nvPr>
            <p:ph type="subTitle" idx="1"/>
          </p:nvPr>
        </p:nvSpPr>
        <p:spPr/>
        <p:txBody>
          <a:bodyPr vert="horz" lIns="0" tIns="0" rIns="0" bIns="0" rtlCol="0" anchor="t">
            <a:noAutofit/>
          </a:bodyPr>
          <a:lstStyle/>
          <a:p>
            <a:r>
              <a:rPr lang="pl-PL"/>
              <a:t>Practical Handbook</a:t>
            </a:r>
            <a:endParaRPr lang="en-US"/>
          </a:p>
        </p:txBody>
      </p:sp>
      <p:sp>
        <p:nvSpPr>
          <p:cNvPr id="14" name="Text Placeholder 13">
            <a:extLst>
              <a:ext uri="{FF2B5EF4-FFF2-40B4-BE49-F238E27FC236}">
                <a16:creationId xmlns:a16="http://schemas.microsoft.com/office/drawing/2014/main" id="{F5DB7B56-F0F6-3668-46D8-1D6C3E7CA84A}"/>
              </a:ext>
            </a:extLst>
          </p:cNvPr>
          <p:cNvSpPr>
            <a:spLocks noGrp="1"/>
          </p:cNvSpPr>
          <p:nvPr>
            <p:ph type="body" sz="quarter" idx="15"/>
          </p:nvPr>
        </p:nvSpPr>
        <p:spPr/>
        <p:txBody>
          <a:bodyPr/>
          <a:lstStyle/>
          <a:p>
            <a:r>
              <a:rPr lang="en-US"/>
              <a:t>Jakub Falkowski – Global GEO Lead</a:t>
            </a:r>
          </a:p>
          <a:p>
            <a:r>
              <a:rPr lang="en-US"/>
              <a:t>CXCT – Intelligent Digital Experience</a:t>
            </a:r>
            <a:endParaRPr lang="pl-PL"/>
          </a:p>
          <a:p>
            <a:r>
              <a:rPr lang="pl-PL"/>
              <a:t>v.1.0 last updated 21st August 2026</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BDA56-D3FD-8F40-14DA-96813487FCF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9669DE-D23F-9BE1-B440-5F4BF4E4616E}"/>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CB0CCA85-49E6-1A20-EC17-F7DBB21E4E4D}"/>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About this document</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84C4C977-86BC-7F33-B3C9-2EDB6CCE5205}"/>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Introduction to GEO Functional Toolkit</a:t>
            </a:r>
            <a:endParaRPr lang="en-US" sz="1100">
              <a:solidFill>
                <a:schemeClr val="accent5"/>
              </a:solidFill>
              <a:cs typeface="Arial"/>
            </a:endParaRPr>
          </a:p>
        </p:txBody>
      </p:sp>
      <p:sp>
        <p:nvSpPr>
          <p:cNvPr id="7" name="Shape 4">
            <a:extLst>
              <a:ext uri="{FF2B5EF4-FFF2-40B4-BE49-F238E27FC236}">
                <a16:creationId xmlns:a16="http://schemas.microsoft.com/office/drawing/2014/main" id="{D22246F9-615C-B299-0036-DFDDFAAA0638}"/>
              </a:ext>
            </a:extLst>
          </p:cNvPr>
          <p:cNvSpPr/>
          <p:nvPr/>
        </p:nvSpPr>
        <p:spPr>
          <a:xfrm>
            <a:off x="342900" y="1106424"/>
            <a:ext cx="8420100" cy="3515582"/>
          </a:xfrm>
          <a:prstGeom prst="roundRect">
            <a:avLst>
              <a:gd name="adj" fmla="val 1978"/>
            </a:avLst>
          </a:prstGeom>
          <a:solidFill>
            <a:schemeClr val="bg1">
              <a:alpha val="56000"/>
            </a:schemeClr>
          </a:solidFill>
          <a:ln>
            <a:noFill/>
          </a:ln>
          <a:effectLst>
            <a:outerShdw blurRad="76200" dist="25400" dir="2700000" algn="bl" rotWithShape="0">
              <a:srgbClr val="000000">
                <a:alpha val="8000"/>
              </a:srgbClr>
            </a:outerShdw>
          </a:effectLst>
        </p:spPr>
        <p:txBody>
          <a:bodyPr lIns="91440" tIns="45720" rIns="91440" bIns="45720" anchor="t"/>
          <a:lstStyle/>
          <a:p>
            <a:r>
              <a:rPr lang="en-US" sz="1050" b="1"/>
              <a:t>As AI-powered search and generative engines reshape how people discover information, traditional SEO tactics alone are no longer enough to ensure visibility. Th</a:t>
            </a:r>
            <a:r>
              <a:rPr lang="pl-PL" sz="1050" b="1"/>
              <a:t>is</a:t>
            </a:r>
            <a:r>
              <a:rPr lang="en-US" sz="1050" b="1"/>
              <a:t> GEO Functional Toolkit is a comprehensive set of </a:t>
            </a:r>
            <a:r>
              <a:rPr lang="pl-PL" sz="1050" b="1"/>
              <a:t>knowledge, best practices</a:t>
            </a:r>
            <a:r>
              <a:rPr lang="en-US" sz="1050" b="1"/>
              <a:t> and frameworks designed to help </a:t>
            </a:r>
            <a:r>
              <a:rPr lang="pl-PL" sz="1050" b="1"/>
              <a:t>content owners </a:t>
            </a:r>
            <a:r>
              <a:rPr lang="en-US" sz="1050" b="1"/>
              <a:t>optimize their digital presence for generative AI platforms. </a:t>
            </a:r>
            <a:endParaRPr lang="pl-PL" sz="1050" b="1"/>
          </a:p>
          <a:p>
            <a:endParaRPr lang="pl-PL" sz="1050" b="1"/>
          </a:p>
          <a:p>
            <a:r>
              <a:rPr lang="pl-PL" sz="1050" b="1"/>
              <a:t>This Toolkit is divided by content type optimization and GEO activity for easier use of this complex document. Each element is located in its own chapter containing:</a:t>
            </a:r>
          </a:p>
          <a:p>
            <a:pPr marL="171450" indent="-171450">
              <a:buFont typeface="Arial" panose="020B0604020202020204" pitchFamily="34" charset="0"/>
              <a:buChar char="•"/>
            </a:pPr>
            <a:r>
              <a:rPr lang="pl-PL" sz="1050" b="1"/>
              <a:t>GEO context for the topic</a:t>
            </a:r>
          </a:p>
          <a:p>
            <a:pPr marL="171450" indent="-171450">
              <a:buFont typeface="Arial" panose="020B0604020202020204" pitchFamily="34" charset="0"/>
              <a:buChar char="•"/>
            </a:pPr>
            <a:r>
              <a:rPr lang="pl-PL" sz="1050" b="1"/>
              <a:t>Optimization strategies/actions to take</a:t>
            </a:r>
          </a:p>
          <a:p>
            <a:pPr marL="171450" indent="-171450">
              <a:buFont typeface="Arial" panose="020B0604020202020204" pitchFamily="34" charset="0"/>
              <a:buChar char="•"/>
            </a:pPr>
            <a:r>
              <a:rPr lang="pl-PL" sz="1050" b="1"/>
              <a:t>Checklist </a:t>
            </a:r>
          </a:p>
          <a:p>
            <a:endParaRPr lang="pl-PL" sz="1050"/>
          </a:p>
          <a:p>
            <a:r>
              <a:rPr lang="pl-PL" sz="1050" b="1"/>
              <a:t>Toolkit creator: </a:t>
            </a:r>
            <a:r>
              <a:rPr lang="pl-PL" sz="1050"/>
              <a:t>Jakub Falkowski</a:t>
            </a:r>
          </a:p>
          <a:p>
            <a:endParaRPr lang="pl-PL" sz="1050"/>
          </a:p>
          <a:p>
            <a:r>
              <a:rPr lang="pl-PL" sz="1050" b="1"/>
              <a:t>Thank you to all content cotributors:</a:t>
            </a:r>
            <a:r>
              <a:rPr lang="pl-PL" sz="1050"/>
              <a:t> Shuchi Mahajan, Mateusz Madejowski, Bartosz Żak, Michel Page, Christopher Clerc, Tremain Jennings</a:t>
            </a:r>
          </a:p>
          <a:p>
            <a:endParaRPr lang="pl-PL" sz="1050"/>
          </a:p>
          <a:p>
            <a:r>
              <a:rPr lang="pl-PL" sz="1050" b="1"/>
              <a:t>Special thanks to reviewers: </a:t>
            </a:r>
            <a:r>
              <a:rPr lang="pl-PL" sz="1050"/>
              <a:t>Agnieszka Dabal, Alexis Bouilliez, Alina Tucan, Anakshi Das, Anthony Locke, Antoine Bish, Archana Kumari, Arun Kumar Ramaswamy, Basak Nayci, Catherine Alardo, Georgios Dampanis, Giuseppe Forciniti, Ilyana Anufrieva, Jayaprakash Kutty Shankar, Karina Da Silva, Kieren Palmer, Maciej Malesa, Matt Graves, Matthew Wood, Neha Panchal, Paul Flores, Piotr Walczuk, Prankul Gupta, Raghavendra Singh, Ramon Rubio, Sanjay Mehta, Salman Kureishi, Sergiy Borovik, Shalini Balodi, Shaura Avasti, Snezana Dragin, Stuart Linacre, Suraj Bakane, Umer Noor, Yusuf Hakimuddin</a:t>
            </a:r>
          </a:p>
        </p:txBody>
      </p:sp>
    </p:spTree>
    <p:extLst>
      <p:ext uri="{BB962C8B-B14F-4D97-AF65-F5344CB8AC3E}">
        <p14:creationId xmlns:p14="http://schemas.microsoft.com/office/powerpoint/2010/main" val="3645245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E729D-AC7F-1F00-7B6E-794401A312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0F0634-89C5-0014-CBE0-FF171B95072E}"/>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EAC1E94C-7CB9-883A-BDE3-4A334F39A108}"/>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Table of contents</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5EF04C56-A63C-E3BC-4B83-57DA3181B61B}"/>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List of the chapters</a:t>
            </a:r>
            <a:endParaRPr lang="en-US" sz="1100">
              <a:solidFill>
                <a:schemeClr val="accent5"/>
              </a:solidFill>
              <a:cs typeface="Arial"/>
            </a:endParaRPr>
          </a:p>
        </p:txBody>
      </p:sp>
      <p:graphicFrame>
        <p:nvGraphicFramePr>
          <p:cNvPr id="12" name="Table 11">
            <a:extLst>
              <a:ext uri="{FF2B5EF4-FFF2-40B4-BE49-F238E27FC236}">
                <a16:creationId xmlns:a16="http://schemas.microsoft.com/office/drawing/2014/main" id="{9FC9109B-83EE-DAEA-247A-E53D2EA1AECC}"/>
              </a:ext>
            </a:extLst>
          </p:cNvPr>
          <p:cNvGraphicFramePr>
            <a:graphicFrameLocks noGrp="1"/>
          </p:cNvGraphicFramePr>
          <p:nvPr>
            <p:extLst>
              <p:ext uri="{D42A27DB-BD31-4B8C-83A1-F6EECF244321}">
                <p14:modId xmlns:p14="http://schemas.microsoft.com/office/powerpoint/2010/main" val="3851467223"/>
              </p:ext>
            </p:extLst>
          </p:nvPr>
        </p:nvGraphicFramePr>
        <p:xfrm>
          <a:off x="1967346" y="1179576"/>
          <a:ext cx="5417070" cy="3771900"/>
        </p:xfrm>
        <a:graphic>
          <a:graphicData uri="http://schemas.openxmlformats.org/drawingml/2006/table">
            <a:tbl>
              <a:tblPr firstRow="1" bandRow="1">
                <a:tableStyleId>{5C22544A-7EE6-4342-B048-85BDC9FD1C3A}</a:tableStyleId>
              </a:tblPr>
              <a:tblGrid>
                <a:gridCol w="5417070">
                  <a:extLst>
                    <a:ext uri="{9D8B030D-6E8A-4147-A177-3AD203B41FA5}">
                      <a16:colId xmlns:a16="http://schemas.microsoft.com/office/drawing/2014/main" val="2826925946"/>
                    </a:ext>
                  </a:extLst>
                </a:gridCol>
              </a:tblGrid>
              <a:tr h="198561">
                <a:tc>
                  <a:txBody>
                    <a:bodyPr/>
                    <a:lstStyle/>
                    <a:p>
                      <a:r>
                        <a:rPr lang="pl-PL" sz="1050" b="1">
                          <a:solidFill>
                            <a:schemeClr val="tx1"/>
                          </a:solidFill>
                        </a:rPr>
                        <a:t>Chapter 1: </a:t>
                      </a:r>
                      <a:r>
                        <a:rPr lang="pl-PL" sz="1050" b="1">
                          <a:solidFill>
                            <a:schemeClr val="tx1"/>
                          </a:solidFill>
                          <a:hlinkClick r:id="rId3" action="ppaction://hlinksldjump"/>
                        </a:rPr>
                        <a:t>Introduction to GEO</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422767855"/>
                  </a:ext>
                </a:extLst>
              </a:tr>
              <a:tr h="198561">
                <a:tc>
                  <a:txBody>
                    <a:bodyPr/>
                    <a:lstStyle/>
                    <a:p>
                      <a:r>
                        <a:rPr lang="pl-PL" sz="1050" b="1">
                          <a:solidFill>
                            <a:schemeClr val="tx1"/>
                          </a:solidFill>
                        </a:rPr>
                        <a:t>Chapter 2: </a:t>
                      </a:r>
                      <a:r>
                        <a:rPr lang="pl-PL" sz="1050" b="1">
                          <a:solidFill>
                            <a:schemeClr val="tx1"/>
                          </a:solidFill>
                          <a:hlinkClick r:id="rId4" action="ppaction://hlinksldjump"/>
                        </a:rPr>
                        <a:t>Prompt Research</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3841228"/>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3: </a:t>
                      </a:r>
                      <a:r>
                        <a:rPr lang="en-US" sz="1050" b="1">
                          <a:solidFill>
                            <a:schemeClr val="tx1"/>
                          </a:solidFill>
                          <a:hlinkClick r:id="rId5" action="ppaction://hlinksldjump"/>
                        </a:rPr>
                        <a:t>Universal GEO Content Writing Rules</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56679"/>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kern="1200">
                          <a:solidFill>
                            <a:schemeClr val="tx1"/>
                          </a:solidFill>
                          <a:latin typeface="+mn-lt"/>
                          <a:ea typeface="+mn-ea"/>
                          <a:cs typeface="+mn-cs"/>
                        </a:rPr>
                        <a:t>Chapter 4: </a:t>
                      </a:r>
                      <a:r>
                        <a:rPr lang="pl-PL" sz="1050" b="1" kern="1200">
                          <a:solidFill>
                            <a:schemeClr val="tx1"/>
                          </a:solidFill>
                          <a:latin typeface="+mn-lt"/>
                          <a:ea typeface="+mn-ea"/>
                          <a:cs typeface="+mn-cs"/>
                          <a:hlinkClick r:id="rId6" action="ppaction://hlinksldjump"/>
                        </a:rPr>
                        <a:t>GEO Optimized Images</a:t>
                      </a:r>
                      <a:endParaRPr lang="pl-PL" sz="1050" b="1"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1108135"/>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5: </a:t>
                      </a:r>
                      <a:r>
                        <a:rPr lang="pl-PL" sz="1050" b="1">
                          <a:solidFill>
                            <a:schemeClr val="tx1"/>
                          </a:solidFill>
                          <a:hlinkClick r:id="rId7" action="ppaction://hlinksldjump"/>
                        </a:rPr>
                        <a:t>GEO Optimized Videos</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01798136"/>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kern="1200">
                          <a:solidFill>
                            <a:schemeClr val="tx1"/>
                          </a:solidFill>
                          <a:latin typeface="+mn-lt"/>
                          <a:ea typeface="+mn-ea"/>
                          <a:cs typeface="+mn-cs"/>
                        </a:rPr>
                        <a:t>Chapter 6: </a:t>
                      </a:r>
                      <a:r>
                        <a:rPr lang="pl-PL" sz="1050" b="1" kern="1200">
                          <a:solidFill>
                            <a:schemeClr val="tx1"/>
                          </a:solidFill>
                          <a:latin typeface="+mn-lt"/>
                          <a:ea typeface="+mn-ea"/>
                          <a:cs typeface="+mn-cs"/>
                          <a:hlinkClick r:id="rId8" action="ppaction://hlinksldjump"/>
                        </a:rPr>
                        <a:t>GEO </a:t>
                      </a:r>
                      <a:r>
                        <a:rPr lang="en-AU" sz="1050" b="1" kern="1200">
                          <a:solidFill>
                            <a:schemeClr val="tx1"/>
                          </a:solidFill>
                          <a:latin typeface="+mn-lt"/>
                          <a:ea typeface="+mn-ea"/>
                          <a:cs typeface="+mn-cs"/>
                          <a:hlinkClick r:id="rId8" action="ppaction://hlinksldjump"/>
                        </a:rPr>
                        <a:t>O</a:t>
                      </a:r>
                      <a:r>
                        <a:rPr lang="pl-PL" sz="1050" b="1" kern="1200">
                          <a:solidFill>
                            <a:schemeClr val="tx1"/>
                          </a:solidFill>
                          <a:latin typeface="+mn-lt"/>
                          <a:ea typeface="+mn-ea"/>
                          <a:cs typeface="+mn-cs"/>
                          <a:hlinkClick r:id="rId8" action="ppaction://hlinksldjump"/>
                        </a:rPr>
                        <a:t>ptimized FAQ</a:t>
                      </a:r>
                      <a:endParaRPr lang="pl-PL" sz="1050" b="1"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0915930"/>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7: </a:t>
                      </a:r>
                      <a:r>
                        <a:rPr lang="pl-PL" sz="1050" b="1">
                          <a:solidFill>
                            <a:schemeClr val="tx1"/>
                          </a:solidFill>
                          <a:hlinkClick r:id="rId9" action="ppaction://hlinksldjump"/>
                        </a:rPr>
                        <a:t>GEO Optimized Documents</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28709910"/>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8: </a:t>
                      </a:r>
                      <a:r>
                        <a:rPr lang="pl-PL" sz="1050" b="1">
                          <a:solidFill>
                            <a:schemeClr val="tx1"/>
                          </a:solidFill>
                          <a:hlinkClick r:id="rId10" action="ppaction://hlinksldjump"/>
                        </a:rPr>
                        <a:t>GEO Optimization on Blogs</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7027660"/>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kern="1200">
                          <a:solidFill>
                            <a:schemeClr val="tx1"/>
                          </a:solidFill>
                          <a:latin typeface="+mn-lt"/>
                          <a:ea typeface="+mn-ea"/>
                          <a:cs typeface="+mn-cs"/>
                        </a:rPr>
                        <a:t>Chapter 9: </a:t>
                      </a:r>
                      <a:r>
                        <a:rPr lang="en-US" sz="1050" b="1" kern="1200">
                          <a:solidFill>
                            <a:schemeClr val="tx1"/>
                          </a:solidFill>
                          <a:latin typeface="+mn-lt"/>
                          <a:ea typeface="+mn-ea"/>
                          <a:cs typeface="+mn-cs"/>
                          <a:hlinkClick r:id="rId11" action="ppaction://hlinksldjump"/>
                        </a:rPr>
                        <a:t>Prompt into Content –</a:t>
                      </a:r>
                      <a:r>
                        <a:rPr lang="pl-PL" sz="1050" b="1" kern="1200">
                          <a:solidFill>
                            <a:schemeClr val="tx1"/>
                          </a:solidFill>
                          <a:latin typeface="+mn-lt"/>
                          <a:ea typeface="+mn-ea"/>
                          <a:cs typeface="+mn-cs"/>
                          <a:hlinkClick r:id="rId11" action="ppaction://hlinksldjump"/>
                        </a:rPr>
                        <a:t> </a:t>
                      </a:r>
                      <a:r>
                        <a:rPr lang="en-US" sz="1050" b="1" kern="1200">
                          <a:solidFill>
                            <a:schemeClr val="tx1"/>
                          </a:solidFill>
                          <a:latin typeface="+mn-lt"/>
                          <a:ea typeface="+mn-ea"/>
                          <a:cs typeface="+mn-cs"/>
                          <a:hlinkClick r:id="rId11" action="ppaction://hlinksldjump"/>
                        </a:rPr>
                        <a:t>Reverse Engineering</a:t>
                      </a:r>
                      <a:endParaRPr lang="pl-PL" sz="1050" b="1"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836138897"/>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10: </a:t>
                      </a:r>
                      <a:r>
                        <a:rPr lang="en-US" sz="1050" b="1">
                          <a:solidFill>
                            <a:schemeClr val="tx1"/>
                          </a:solidFill>
                          <a:hlinkClick r:id="rId12" action="ppaction://hlinksldjump"/>
                        </a:rPr>
                        <a:t>GEO Optimization </a:t>
                      </a:r>
                      <a:r>
                        <a:rPr lang="pl-PL" sz="1050" b="1">
                          <a:solidFill>
                            <a:schemeClr val="tx1"/>
                          </a:solidFill>
                          <a:hlinkClick r:id="rId12" action="ppaction://hlinksldjump"/>
                        </a:rPr>
                        <a:t>and</a:t>
                      </a:r>
                      <a:r>
                        <a:rPr lang="en-US" sz="1050" b="1">
                          <a:solidFill>
                            <a:schemeClr val="tx1"/>
                          </a:solidFill>
                          <a:hlinkClick r:id="rId12" action="ppaction://hlinksldjump"/>
                        </a:rPr>
                        <a:t> Social Media</a:t>
                      </a:r>
                      <a:r>
                        <a:rPr lang="pl-PL" sz="1050" b="1">
                          <a:solidFill>
                            <a:schemeClr val="tx1"/>
                          </a:solidFill>
                          <a:hlinkClick r:id="rId12" action="ppaction://hlinksldjump"/>
                        </a:rPr>
                        <a:t>/Onlines Communities</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9631374"/>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kern="1200">
                          <a:solidFill>
                            <a:schemeClr val="tx1"/>
                          </a:solidFill>
                          <a:latin typeface="+mn-lt"/>
                          <a:ea typeface="+mn-ea"/>
                          <a:cs typeface="+mn-cs"/>
                        </a:rPr>
                        <a:t>Chapter 11: </a:t>
                      </a:r>
                      <a:r>
                        <a:rPr lang="en-US" sz="1050" b="1" kern="1200">
                          <a:solidFill>
                            <a:schemeClr val="tx1"/>
                          </a:solidFill>
                          <a:latin typeface="+mn-lt"/>
                          <a:ea typeface="+mn-ea"/>
                          <a:cs typeface="+mn-cs"/>
                          <a:hlinkClick r:id="rId13" action="ppaction://hlinksldjump"/>
                        </a:rPr>
                        <a:t>Linking Structure to Enhance GEO – Internal and External</a:t>
                      </a:r>
                      <a:endParaRPr lang="pl-PL" sz="1050" b="1"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85942725"/>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12: </a:t>
                      </a:r>
                      <a:r>
                        <a:rPr lang="en-US" sz="1050" b="1">
                          <a:solidFill>
                            <a:schemeClr val="tx1"/>
                          </a:solidFill>
                          <a:hlinkClick r:id="rId14" action="ppaction://hlinksldjump"/>
                        </a:rPr>
                        <a:t>Editorial and Product UX design</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6239246"/>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kern="1200">
                          <a:solidFill>
                            <a:schemeClr val="tx1"/>
                          </a:solidFill>
                          <a:latin typeface="+mn-lt"/>
                          <a:ea typeface="+mn-ea"/>
                          <a:cs typeface="+mn-cs"/>
                        </a:rPr>
                        <a:t>Chapter 13: </a:t>
                      </a:r>
                      <a:r>
                        <a:rPr lang="pl-PL" sz="1050" b="1" kern="1200">
                          <a:solidFill>
                            <a:schemeClr val="tx1"/>
                          </a:solidFill>
                          <a:latin typeface="+mn-lt"/>
                          <a:ea typeface="+mn-ea"/>
                          <a:cs typeface="+mn-cs"/>
                          <a:hlinkClick r:id="rId15" action="ppaction://hlinksldjump"/>
                        </a:rPr>
                        <a:t>GEO Analytics</a:t>
                      </a:r>
                      <a:endParaRPr lang="pl-PL" sz="1050" b="1"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2402440"/>
                  </a:ext>
                </a:extLst>
              </a:tr>
              <a:tr h="198561">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chemeClr val="tx1"/>
                          </a:solidFill>
                        </a:rPr>
                        <a:t>Chapter 14: </a:t>
                      </a:r>
                      <a:r>
                        <a:rPr lang="pl-PL" sz="1050" b="1">
                          <a:solidFill>
                            <a:schemeClr val="tx1"/>
                          </a:solidFill>
                          <a:hlinkClick r:id="rId16" action="ppaction://hlinksldjump"/>
                        </a:rPr>
                        <a:t>Technical GEO</a:t>
                      </a:r>
                      <a:endParaRPr lang="pl-PL" sz="105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3687635"/>
                  </a:ext>
                </a:extLst>
              </a:tr>
              <a:tr h="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kern="1200">
                          <a:solidFill>
                            <a:schemeClr val="tx1"/>
                          </a:solidFill>
                          <a:latin typeface="+mn-lt"/>
                          <a:ea typeface="+mn-ea"/>
                          <a:cs typeface="+mn-cs"/>
                          <a:hlinkClick r:id="rId17" action="ppaction://hlinksldjump"/>
                        </a:rPr>
                        <a:t>Glossary and Main Contacts</a:t>
                      </a:r>
                      <a:endParaRPr lang="pl-PL" sz="1050" b="1"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0307345"/>
                  </a:ext>
                </a:extLst>
              </a:tr>
            </a:tbl>
          </a:graphicData>
        </a:graphic>
      </p:graphicFrame>
    </p:spTree>
    <p:extLst>
      <p:ext uri="{BB962C8B-B14F-4D97-AF65-F5344CB8AC3E}">
        <p14:creationId xmlns:p14="http://schemas.microsoft.com/office/powerpoint/2010/main" val="1436909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B6E7-3EB9-5623-F7E1-7FDEA1C7F29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A407145-F2E0-A190-B195-3472C97FA276}"/>
              </a:ext>
            </a:extLst>
          </p:cNvPr>
          <p:cNvSpPr/>
          <p:nvPr/>
        </p:nvSpPr>
        <p:spPr>
          <a:xfrm>
            <a:off x="742951" y="1820791"/>
            <a:ext cx="7943852" cy="553998"/>
          </a:xfrm>
          <a:prstGeom prst="rect">
            <a:avLst/>
          </a:prstGeom>
          <a:noFill/>
          <a:ln/>
        </p:spPr>
        <p:txBody>
          <a:bodyPr wrap="square" lIns="0" tIns="0" rIns="0" bIns="0" rtlCol="0" anchor="t">
            <a:spAutoFit/>
          </a:bodyPr>
          <a:lstStyle/>
          <a:p>
            <a:r>
              <a:rPr lang="pl-PL" sz="3600">
                <a:solidFill>
                  <a:schemeClr val="accent5"/>
                </a:solidFill>
              </a:rPr>
              <a:t>Chapter 1: Introduction to GEO</a:t>
            </a:r>
            <a:endParaRPr lang="en-US" sz="3600">
              <a:solidFill>
                <a:schemeClr val="accent5"/>
              </a:solidFill>
            </a:endParaRPr>
          </a:p>
        </p:txBody>
      </p:sp>
      <p:sp>
        <p:nvSpPr>
          <p:cNvPr id="4" name="Text 1">
            <a:extLst>
              <a:ext uri="{FF2B5EF4-FFF2-40B4-BE49-F238E27FC236}">
                <a16:creationId xmlns:a16="http://schemas.microsoft.com/office/drawing/2014/main" id="{A206332C-DEC9-41E3-D6B1-DEC57FEE4E7E}"/>
              </a:ext>
            </a:extLst>
          </p:cNvPr>
          <p:cNvSpPr/>
          <p:nvPr/>
        </p:nvSpPr>
        <p:spPr>
          <a:xfrm>
            <a:off x="742950" y="2412467"/>
            <a:ext cx="5715000" cy="246221"/>
          </a:xfrm>
          <a:prstGeom prst="rect">
            <a:avLst/>
          </a:prstGeom>
          <a:noFill/>
          <a:ln/>
        </p:spPr>
        <p:txBody>
          <a:bodyPr wrap="square" lIns="0" tIns="0" rIns="0" bIns="0" rtlCol="0" anchor="t">
            <a:spAutoFit/>
          </a:bodyPr>
          <a:lstStyle/>
          <a:p>
            <a:endParaRPr lang="en-US" sz="1600">
              <a:solidFill>
                <a:schemeClr val="bg1"/>
              </a:solidFill>
            </a:endParaRPr>
          </a:p>
        </p:txBody>
      </p:sp>
      <p:sp>
        <p:nvSpPr>
          <p:cNvPr id="5" name="Text 2">
            <a:extLst>
              <a:ext uri="{FF2B5EF4-FFF2-40B4-BE49-F238E27FC236}">
                <a16:creationId xmlns:a16="http://schemas.microsoft.com/office/drawing/2014/main" id="{ABE99322-E281-1CD8-61D6-BE1C3D289282}"/>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362AB4F9-5505-DBC3-A7CB-FFF8E337FB8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14" name="Text Placeholder 13">
            <a:extLst>
              <a:ext uri="{FF2B5EF4-FFF2-40B4-BE49-F238E27FC236}">
                <a16:creationId xmlns:a16="http://schemas.microsoft.com/office/drawing/2014/main" id="{963EC31D-6A69-A1D5-4E5C-9EBA78A3B7A8}"/>
              </a:ext>
            </a:extLst>
          </p:cNvPr>
          <p:cNvSpPr>
            <a:spLocks noGrp="1"/>
          </p:cNvSpPr>
          <p:nvPr>
            <p:ph type="body" sz="quarter" idx="4294967295"/>
          </p:nvPr>
        </p:nvSpPr>
        <p:spPr>
          <a:xfrm>
            <a:off x="742950" y="4108450"/>
            <a:ext cx="4114800" cy="215900"/>
          </a:xfrm>
        </p:spPr>
        <p:txBody>
          <a:bodyPr/>
          <a:lstStyle/>
          <a:p>
            <a:r>
              <a:rPr lang="pl-PL"/>
              <a:t>Jakub Falkowski</a:t>
            </a:r>
          </a:p>
        </p:txBody>
      </p:sp>
    </p:spTree>
    <p:extLst>
      <p:ext uri="{BB962C8B-B14F-4D97-AF65-F5344CB8AC3E}">
        <p14:creationId xmlns:p14="http://schemas.microsoft.com/office/powerpoint/2010/main" val="33573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9143771" cy="1028700"/>
          </a:xfrm>
          <a:prstGeom prst="rect">
            <a:avLst/>
          </a:prstGeom>
          <a:solidFill>
            <a:schemeClr val="tx1"/>
          </a:solidFill>
          <a:ln/>
        </p:spPr>
        <p:txBody>
          <a:bodyPr/>
          <a:lstStyle/>
          <a:p>
            <a:endParaRPr lang="pl-PL"/>
          </a:p>
        </p:txBody>
      </p:sp>
      <p:sp>
        <p:nvSpPr>
          <p:cNvPr id="3" name="Text 1"/>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latin typeface="+mj-lt"/>
                <a:ea typeface="+mj-ea"/>
                <a:cs typeface="Arial"/>
              </a:rPr>
              <a:t>GEO — Generative Engine Optimization</a:t>
            </a:r>
          </a:p>
        </p:txBody>
      </p:sp>
      <p:sp>
        <p:nvSpPr>
          <p:cNvPr id="4" name="Text 2"/>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A new discipline for earning visibility inside AI-generated answers.</a:t>
            </a:r>
          </a:p>
        </p:txBody>
      </p:sp>
      <p:sp>
        <p:nvSpPr>
          <p:cNvPr id="6" name="Text 3"/>
          <p:cNvSpPr/>
          <p:nvPr/>
        </p:nvSpPr>
        <p:spPr>
          <a:xfrm>
            <a:off x="822960" y="1351026"/>
            <a:ext cx="3600450" cy="342900"/>
          </a:xfrm>
          <a:prstGeom prst="rect">
            <a:avLst/>
          </a:prstGeom>
          <a:noFill/>
          <a:ln/>
        </p:spPr>
        <p:txBody>
          <a:bodyPr wrap="square" lIns="0" tIns="0" rIns="0" bIns="0" rtlCol="0" anchor="ctr"/>
          <a:lstStyle/>
          <a:p>
            <a:r>
              <a:rPr lang="en-US" sz="1600" b="1">
                <a:cs typeface="Arial"/>
              </a:rPr>
              <a:t>What Is GEO?</a:t>
            </a:r>
          </a:p>
        </p:txBody>
      </p:sp>
      <p:sp>
        <p:nvSpPr>
          <p:cNvPr id="7" name="Shape 4"/>
          <p:cNvSpPr/>
          <p:nvPr/>
        </p:nvSpPr>
        <p:spPr>
          <a:xfrm>
            <a:off x="400051" y="1737360"/>
            <a:ext cx="4046220" cy="2575179"/>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lIns="91440" tIns="45720" rIns="91440" bIns="45720" anchor="ctr"/>
          <a:lstStyle/>
          <a:p>
            <a:pPr marL="0" marR="0" lvl="0" indent="0" defTabSz="457184" rtl="0" eaLnBrk="1" fontAlgn="auto" latinLnBrk="0" hangingPunct="1">
              <a:lnSpc>
                <a:spcPct val="120000"/>
              </a:lnSpc>
              <a:spcBef>
                <a:spcPts val="0"/>
              </a:spcBef>
              <a:spcAft>
                <a:spcPts val="1050"/>
              </a:spcAft>
              <a:buClrTx/>
              <a:buSzTx/>
              <a:buFontTx/>
              <a:buNone/>
              <a:tabLst/>
              <a:defRPr/>
            </a:pPr>
            <a:r>
              <a:rPr kumimoji="0" lang="en-US" sz="1100" b="1" i="0" u="none" strike="noStrike" kern="1200" cap="none" spc="0" normalizeH="0" baseline="0" noProof="0">
                <a:ln>
                  <a:noFill/>
                </a:ln>
                <a:solidFill>
                  <a:srgbClr val="0A2F24"/>
                </a:solidFill>
                <a:effectLst/>
                <a:uLnTx/>
                <a:uFillTx/>
                <a:latin typeface="Poppins"/>
                <a:ea typeface="+mn-ea"/>
                <a:cs typeface="Arial"/>
              </a:rPr>
              <a:t>Generative Engine Optimization (GEO) is the practice of structuring, writing, and distributing content so that generative AI systems</a:t>
            </a:r>
            <a:r>
              <a:rPr kumimoji="0" lang="en-US" sz="1100" b="0" i="0" u="none" strike="noStrike" kern="1200" cap="none" spc="0" normalizeH="0" baseline="0" noProof="0">
                <a:ln>
                  <a:noFill/>
                </a:ln>
                <a:solidFill>
                  <a:srgbClr val="0A2F24"/>
                </a:solidFill>
                <a:effectLst/>
                <a:uLnTx/>
                <a:uFillTx/>
                <a:latin typeface="Poppins"/>
                <a:ea typeface="+mn-ea"/>
                <a:cs typeface="Arial"/>
              </a:rPr>
              <a:t> </a:t>
            </a:r>
            <a:r>
              <a:rPr kumimoji="0" lang="en-US" sz="1100" b="1" i="0" u="none" strike="noStrike" kern="1200" cap="none" spc="0" normalizeH="0" baseline="0" noProof="0">
                <a:ln>
                  <a:noFill/>
                </a:ln>
                <a:solidFill>
                  <a:srgbClr val="0A2F24"/>
                </a:solidFill>
                <a:effectLst/>
                <a:uLnTx/>
                <a:uFillTx/>
                <a:latin typeface="Poppins"/>
                <a:ea typeface="+mn-ea"/>
                <a:cs typeface="Arial"/>
              </a:rPr>
              <a:t>— ChatGPT, </a:t>
            </a:r>
            <a:r>
              <a:rPr lang="en-US" sz="1100" b="1">
                <a:solidFill>
                  <a:srgbClr val="0A2F24"/>
                </a:solidFill>
                <a:latin typeface="Poppins"/>
                <a:cs typeface="Arial"/>
              </a:rPr>
              <a:t>Perplexity</a:t>
            </a:r>
            <a:r>
              <a:rPr kumimoji="0" lang="en-US" sz="1100" b="1" i="0" u="none" strike="noStrike" kern="1200" cap="none" spc="0" normalizeH="0" baseline="0" noProof="0">
                <a:ln>
                  <a:noFill/>
                </a:ln>
                <a:solidFill>
                  <a:srgbClr val="0A2F24"/>
                </a:solidFill>
                <a:effectLst/>
                <a:uLnTx/>
                <a:uFillTx/>
                <a:latin typeface="Poppins"/>
                <a:ea typeface="+mn-ea"/>
                <a:cs typeface="Arial"/>
              </a:rPr>
              <a:t>, Gemini, Copilot, and Google AI Overviews — can understand, trust, and directly reference your brand when they generate answers to a user's question.</a:t>
            </a:r>
          </a:p>
          <a:p>
            <a:pPr marL="0" marR="0" lvl="0" indent="0" defTabSz="457184"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A2F24"/>
                </a:solidFill>
                <a:effectLst/>
                <a:uLnTx/>
                <a:uFillTx/>
                <a:latin typeface="Poppins"/>
                <a:ea typeface="+mn-ea"/>
                <a:cs typeface="Arial"/>
              </a:rPr>
              <a:t>Where SEO earns a ranked position on a results page, GEO earns a mention or citation inside the answer itself. It sits alongside SEO as a parallel discipline, focused on becoming a source that AI models choose to draw from and quote.</a:t>
            </a:r>
          </a:p>
        </p:txBody>
      </p:sp>
      <p:sp>
        <p:nvSpPr>
          <p:cNvPr id="9" name="Text 6"/>
          <p:cNvSpPr/>
          <p:nvPr/>
        </p:nvSpPr>
        <p:spPr>
          <a:xfrm>
            <a:off x="4697730" y="1337310"/>
            <a:ext cx="4080510" cy="342900"/>
          </a:xfrm>
          <a:prstGeom prst="rect">
            <a:avLst/>
          </a:prstGeom>
          <a:noFill/>
          <a:ln/>
        </p:spPr>
        <p:txBody>
          <a:bodyPr wrap="square" lIns="0" tIns="0" rIns="0" bIns="0" rtlCol="0" anchor="ctr"/>
          <a:lstStyle/>
          <a:p>
            <a:r>
              <a:rPr lang="en-US" sz="1600" b="1">
                <a:cs typeface="Arial"/>
              </a:rPr>
              <a:t>Why It Matters</a:t>
            </a:r>
            <a:r>
              <a:rPr lang="pl-PL" sz="1600" b="1">
                <a:cs typeface="Arial"/>
              </a:rPr>
              <a:t>?</a:t>
            </a:r>
            <a:endParaRPr lang="en-US" sz="1600" b="1">
              <a:cs typeface="Arial"/>
            </a:endParaRPr>
          </a:p>
        </p:txBody>
      </p:sp>
      <p:sp>
        <p:nvSpPr>
          <p:cNvPr id="10" name="Shape 7"/>
          <p:cNvSpPr/>
          <p:nvPr/>
        </p:nvSpPr>
        <p:spPr>
          <a:xfrm>
            <a:off x="4697730" y="1737360"/>
            <a:ext cx="4080510" cy="774954"/>
          </a:xfrm>
          <a:prstGeom prst="roundRect">
            <a:avLst>
              <a:gd name="adj" fmla="val 7080"/>
            </a:avLst>
          </a:prstGeom>
          <a:solidFill>
            <a:srgbClr val="FFFFFF"/>
          </a:solidFill>
          <a:ln w="12700">
            <a:solidFill>
              <a:schemeClr val="tx1"/>
            </a:solidFill>
            <a:prstDash val="solid"/>
          </a:ln>
          <a:effectLst>
            <a:outerShdw blurRad="63500" dist="25400" dir="2700000" algn="bl" rotWithShape="0">
              <a:srgbClr val="000000">
                <a:alpha val="7000"/>
              </a:srgbClr>
            </a:outerShdw>
          </a:effectLst>
        </p:spPr>
        <p:txBody>
          <a:bodyPr/>
          <a:lstStyle/>
          <a:p>
            <a:endParaRPr lang="pl-PL"/>
          </a:p>
        </p:txBody>
      </p:sp>
      <p:sp>
        <p:nvSpPr>
          <p:cNvPr id="12" name="Text 8"/>
          <p:cNvSpPr/>
          <p:nvPr/>
        </p:nvSpPr>
        <p:spPr>
          <a:xfrm>
            <a:off x="5260086" y="1819656"/>
            <a:ext cx="3360420" cy="219456"/>
          </a:xfrm>
          <a:prstGeom prst="rect">
            <a:avLst/>
          </a:prstGeom>
          <a:noFill/>
          <a:ln/>
        </p:spPr>
        <p:txBody>
          <a:bodyPr wrap="square" lIns="0" tIns="0" rIns="0" bIns="0" rtlCol="0" anchor="ctr"/>
          <a:lstStyle/>
          <a:p>
            <a:r>
              <a:rPr lang="en-US" sz="1100" b="1">
                <a:cs typeface="Arial"/>
              </a:rPr>
              <a:t>Answers Are Replacing Links</a:t>
            </a:r>
          </a:p>
        </p:txBody>
      </p:sp>
      <p:sp>
        <p:nvSpPr>
          <p:cNvPr id="13" name="Text 9"/>
          <p:cNvSpPr/>
          <p:nvPr/>
        </p:nvSpPr>
        <p:spPr>
          <a:xfrm>
            <a:off x="5260086" y="2052828"/>
            <a:ext cx="3360420" cy="411480"/>
          </a:xfrm>
          <a:prstGeom prst="rect">
            <a:avLst/>
          </a:prstGeom>
          <a:noFill/>
          <a:ln/>
        </p:spPr>
        <p:txBody>
          <a:bodyPr wrap="square" lIns="0" tIns="0" rIns="0" bIns="0" rtlCol="0" anchor="t"/>
          <a:lstStyle/>
          <a:p>
            <a:pPr>
              <a:lnSpc>
                <a:spcPct val="105000"/>
              </a:lnSpc>
            </a:pPr>
            <a:r>
              <a:rPr lang="en-US" sz="800">
                <a:cs typeface="Arial"/>
              </a:rPr>
              <a:t>Many questions are now resolved directly inside an AI chat, with no visit to any website at all.</a:t>
            </a:r>
          </a:p>
        </p:txBody>
      </p:sp>
      <p:sp>
        <p:nvSpPr>
          <p:cNvPr id="14" name="Shape 10"/>
          <p:cNvSpPr/>
          <p:nvPr/>
        </p:nvSpPr>
        <p:spPr>
          <a:xfrm>
            <a:off x="4697730" y="2580894"/>
            <a:ext cx="4080510" cy="774954"/>
          </a:xfrm>
          <a:prstGeom prst="roundRect">
            <a:avLst>
              <a:gd name="adj" fmla="val 7080"/>
            </a:avLst>
          </a:prstGeom>
          <a:solidFill>
            <a:srgbClr val="FFFFFF"/>
          </a:solidFill>
          <a:ln w="12700">
            <a:solidFill>
              <a:schemeClr val="tx1"/>
            </a:solidFill>
            <a:prstDash val="solid"/>
          </a:ln>
          <a:effectLst>
            <a:outerShdw blurRad="63500" dist="25400" dir="2700000" algn="bl" rotWithShape="0">
              <a:srgbClr val="000000">
                <a:alpha val="7000"/>
              </a:srgbClr>
            </a:outerShdw>
          </a:effectLst>
        </p:spPr>
        <p:txBody>
          <a:bodyPr/>
          <a:lstStyle/>
          <a:p>
            <a:endParaRPr lang="pl-PL"/>
          </a:p>
        </p:txBody>
      </p:sp>
      <p:sp>
        <p:nvSpPr>
          <p:cNvPr id="16" name="Text 11"/>
          <p:cNvSpPr/>
          <p:nvPr/>
        </p:nvSpPr>
        <p:spPr>
          <a:xfrm>
            <a:off x="5260086" y="2663190"/>
            <a:ext cx="3360420" cy="219456"/>
          </a:xfrm>
          <a:prstGeom prst="rect">
            <a:avLst/>
          </a:prstGeom>
          <a:noFill/>
          <a:ln/>
        </p:spPr>
        <p:txBody>
          <a:bodyPr wrap="square" lIns="0" tIns="0" rIns="0" bIns="0" rtlCol="0" anchor="ctr"/>
          <a:lstStyle/>
          <a:p>
            <a:r>
              <a:rPr lang="en-US" sz="1100" b="1">
                <a:cs typeface="Arial"/>
              </a:rPr>
              <a:t>Traditional SEO Doesn't Transfer</a:t>
            </a:r>
          </a:p>
        </p:txBody>
      </p:sp>
      <p:sp>
        <p:nvSpPr>
          <p:cNvPr id="17" name="Text 12"/>
          <p:cNvSpPr/>
          <p:nvPr/>
        </p:nvSpPr>
        <p:spPr>
          <a:xfrm>
            <a:off x="5260086" y="2896362"/>
            <a:ext cx="3360420" cy="411480"/>
          </a:xfrm>
          <a:prstGeom prst="rect">
            <a:avLst/>
          </a:prstGeom>
          <a:noFill/>
          <a:ln/>
        </p:spPr>
        <p:txBody>
          <a:bodyPr wrap="square" lIns="0" tIns="0" rIns="0" bIns="0" rtlCol="0" anchor="t"/>
          <a:lstStyle/>
          <a:p>
            <a:pPr>
              <a:lnSpc>
                <a:spcPct val="105000"/>
              </a:lnSpc>
            </a:pPr>
            <a:r>
              <a:rPr lang="en-US" sz="800">
                <a:cs typeface="Arial"/>
              </a:rPr>
              <a:t>Ranking well in classic search results doesn't guarantee being surfaced or cited by an AI model's answer.</a:t>
            </a:r>
          </a:p>
        </p:txBody>
      </p:sp>
      <p:sp>
        <p:nvSpPr>
          <p:cNvPr id="18" name="Shape 13"/>
          <p:cNvSpPr/>
          <p:nvPr/>
        </p:nvSpPr>
        <p:spPr>
          <a:xfrm>
            <a:off x="4697730" y="3424428"/>
            <a:ext cx="4080510" cy="774954"/>
          </a:xfrm>
          <a:prstGeom prst="roundRect">
            <a:avLst>
              <a:gd name="adj" fmla="val 7080"/>
            </a:avLst>
          </a:prstGeom>
          <a:solidFill>
            <a:srgbClr val="FFFFFF"/>
          </a:solidFill>
          <a:ln w="12700">
            <a:solidFill>
              <a:schemeClr val="tx1"/>
            </a:solidFill>
            <a:prstDash val="solid"/>
          </a:ln>
          <a:effectLst>
            <a:outerShdw blurRad="63500" dist="25400" dir="2700000" algn="bl" rotWithShape="0">
              <a:srgbClr val="000000">
                <a:alpha val="7000"/>
              </a:srgbClr>
            </a:outerShdw>
          </a:effectLst>
        </p:spPr>
        <p:txBody>
          <a:bodyPr/>
          <a:lstStyle/>
          <a:p>
            <a:endParaRPr lang="pl-PL"/>
          </a:p>
        </p:txBody>
      </p:sp>
      <p:sp>
        <p:nvSpPr>
          <p:cNvPr id="20" name="Text 14"/>
          <p:cNvSpPr/>
          <p:nvPr/>
        </p:nvSpPr>
        <p:spPr>
          <a:xfrm>
            <a:off x="5260086" y="3506724"/>
            <a:ext cx="3360420" cy="219456"/>
          </a:xfrm>
          <a:prstGeom prst="rect">
            <a:avLst/>
          </a:prstGeom>
          <a:noFill/>
          <a:ln/>
        </p:spPr>
        <p:txBody>
          <a:bodyPr wrap="square" lIns="0" tIns="0" rIns="0" bIns="0" rtlCol="0" anchor="ctr"/>
          <a:lstStyle/>
          <a:p>
            <a:r>
              <a:rPr lang="en-US" sz="1100" b="1">
                <a:cs typeface="Arial"/>
              </a:rPr>
              <a:t>Visibility Is Becoming Curated</a:t>
            </a:r>
          </a:p>
        </p:txBody>
      </p:sp>
      <p:sp>
        <p:nvSpPr>
          <p:cNvPr id="21" name="Text 15"/>
          <p:cNvSpPr/>
          <p:nvPr/>
        </p:nvSpPr>
        <p:spPr>
          <a:xfrm>
            <a:off x="5260086" y="3739896"/>
            <a:ext cx="3360420" cy="411480"/>
          </a:xfrm>
          <a:prstGeom prst="rect">
            <a:avLst/>
          </a:prstGeom>
          <a:noFill/>
          <a:ln/>
        </p:spPr>
        <p:txBody>
          <a:bodyPr wrap="square" lIns="0" tIns="0" rIns="0" bIns="0" rtlCol="0" anchor="t"/>
          <a:lstStyle/>
          <a:p>
            <a:pPr>
              <a:lnSpc>
                <a:spcPct val="105000"/>
              </a:lnSpc>
            </a:pPr>
            <a:r>
              <a:rPr lang="en-US" sz="800">
                <a:cs typeface="Arial"/>
              </a:rPr>
              <a:t>AI systems draw on a small number of sources per answer, making inclusion a competitive, winner-take-few game.</a:t>
            </a:r>
          </a:p>
        </p:txBody>
      </p:sp>
      <p:sp>
        <p:nvSpPr>
          <p:cNvPr id="22" name="Shape 16"/>
          <p:cNvSpPr/>
          <p:nvPr/>
        </p:nvSpPr>
        <p:spPr>
          <a:xfrm>
            <a:off x="4697730" y="4267962"/>
            <a:ext cx="4080510" cy="774954"/>
          </a:xfrm>
          <a:prstGeom prst="roundRect">
            <a:avLst>
              <a:gd name="adj" fmla="val 7080"/>
            </a:avLst>
          </a:prstGeom>
          <a:solidFill>
            <a:srgbClr val="FFFFFF"/>
          </a:solidFill>
          <a:ln w="12700">
            <a:solidFill>
              <a:schemeClr val="tx1"/>
            </a:solidFill>
            <a:prstDash val="solid"/>
          </a:ln>
          <a:effectLst>
            <a:outerShdw blurRad="63500" dist="25400" dir="2700000" algn="bl" rotWithShape="0">
              <a:srgbClr val="000000">
                <a:alpha val="7000"/>
              </a:srgbClr>
            </a:outerShdw>
          </a:effectLst>
        </p:spPr>
        <p:txBody>
          <a:bodyPr/>
          <a:lstStyle/>
          <a:p>
            <a:endParaRPr lang="pl-PL"/>
          </a:p>
        </p:txBody>
      </p:sp>
      <p:sp>
        <p:nvSpPr>
          <p:cNvPr id="24" name="Text 17"/>
          <p:cNvSpPr/>
          <p:nvPr/>
        </p:nvSpPr>
        <p:spPr>
          <a:xfrm>
            <a:off x="5260086" y="4350258"/>
            <a:ext cx="3360420" cy="219456"/>
          </a:xfrm>
          <a:prstGeom prst="rect">
            <a:avLst/>
          </a:prstGeom>
          <a:noFill/>
          <a:ln/>
        </p:spPr>
        <p:txBody>
          <a:bodyPr wrap="square" lIns="0" tIns="0" rIns="0" bIns="0" rtlCol="0" anchor="ctr"/>
          <a:lstStyle/>
          <a:p>
            <a:r>
              <a:rPr lang="en-US" sz="1100" b="1">
                <a:cs typeface="Arial"/>
              </a:rPr>
              <a:t>Early Movers Shape the Narrative</a:t>
            </a:r>
          </a:p>
        </p:txBody>
      </p:sp>
      <p:sp>
        <p:nvSpPr>
          <p:cNvPr id="25" name="Text 18"/>
          <p:cNvSpPr/>
          <p:nvPr/>
        </p:nvSpPr>
        <p:spPr>
          <a:xfrm>
            <a:off x="5260086" y="4583430"/>
            <a:ext cx="3360420" cy="411480"/>
          </a:xfrm>
          <a:prstGeom prst="rect">
            <a:avLst/>
          </a:prstGeom>
          <a:noFill/>
          <a:ln/>
        </p:spPr>
        <p:txBody>
          <a:bodyPr wrap="square" lIns="0" tIns="0" rIns="0" bIns="0" rtlCol="0" anchor="t"/>
          <a:lstStyle/>
          <a:p>
            <a:pPr>
              <a:lnSpc>
                <a:spcPct val="105000"/>
              </a:lnSpc>
            </a:pPr>
            <a:r>
              <a:rPr lang="en-US" sz="800">
                <a:cs typeface="Arial"/>
              </a:rPr>
              <a:t>Brands optimized for AI citation now influence how their category and products get described going forward.</a:t>
            </a:r>
          </a:p>
        </p:txBody>
      </p:sp>
      <p:pic>
        <p:nvPicPr>
          <p:cNvPr id="27" name="Graphic 26" descr="Robot with solid fill">
            <a:extLst>
              <a:ext uri="{FF2B5EF4-FFF2-40B4-BE49-F238E27FC236}">
                <a16:creationId xmlns:a16="http://schemas.microsoft.com/office/drawing/2014/main" id="{2C3E59B0-BEDF-76FF-9167-107448411B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274" y="1280160"/>
            <a:ext cx="457200" cy="457200"/>
          </a:xfrm>
          <a:prstGeom prst="rect">
            <a:avLst/>
          </a:prstGeom>
        </p:spPr>
      </p:pic>
      <p:pic>
        <p:nvPicPr>
          <p:cNvPr id="29" name="Graphic 28" descr="Speech with solid fill">
            <a:extLst>
              <a:ext uri="{FF2B5EF4-FFF2-40B4-BE49-F238E27FC236}">
                <a16:creationId xmlns:a16="http://schemas.microsoft.com/office/drawing/2014/main" id="{8A474838-1847-F07E-2EAD-0A9E814CE1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0308" y="1896237"/>
            <a:ext cx="457200" cy="457200"/>
          </a:xfrm>
          <a:prstGeom prst="rect">
            <a:avLst/>
          </a:prstGeom>
        </p:spPr>
      </p:pic>
      <p:pic>
        <p:nvPicPr>
          <p:cNvPr id="31" name="Graphic 30" descr="Zoom in with solid fill">
            <a:extLst>
              <a:ext uri="{FF2B5EF4-FFF2-40B4-BE49-F238E27FC236}">
                <a16:creationId xmlns:a16="http://schemas.microsoft.com/office/drawing/2014/main" id="{338AFBDB-15C7-011F-4B73-1D5B4B7179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50308" y="3547872"/>
            <a:ext cx="457200" cy="457200"/>
          </a:xfrm>
          <a:prstGeom prst="rect">
            <a:avLst/>
          </a:prstGeom>
        </p:spPr>
      </p:pic>
      <p:pic>
        <p:nvPicPr>
          <p:cNvPr id="35" name="Graphic 34" descr="Transfer with solid fill">
            <a:extLst>
              <a:ext uri="{FF2B5EF4-FFF2-40B4-BE49-F238E27FC236}">
                <a16:creationId xmlns:a16="http://schemas.microsoft.com/office/drawing/2014/main" id="{50D8762F-9019-A366-45C2-A34D2B1E4B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0308" y="2704338"/>
            <a:ext cx="457200" cy="457200"/>
          </a:xfrm>
          <a:prstGeom prst="rect">
            <a:avLst/>
          </a:prstGeom>
        </p:spPr>
      </p:pic>
      <p:pic>
        <p:nvPicPr>
          <p:cNvPr id="37" name="Graphic 36" descr="Race Car with solid fill">
            <a:extLst>
              <a:ext uri="{FF2B5EF4-FFF2-40B4-BE49-F238E27FC236}">
                <a16:creationId xmlns:a16="http://schemas.microsoft.com/office/drawing/2014/main" id="{F3003C88-2601-CD8B-FBC8-6C7D47CE5E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50308" y="4426839"/>
            <a:ext cx="457200" cy="457200"/>
          </a:xfrm>
          <a:prstGeom prst="rect">
            <a:avLst/>
          </a:prstGeom>
        </p:spPr>
      </p:pic>
      <p:sp>
        <p:nvSpPr>
          <p:cNvPr id="19" name="Footer Placeholder 4">
            <a:extLst>
              <a:ext uri="{FF2B5EF4-FFF2-40B4-BE49-F238E27FC236}">
                <a16:creationId xmlns:a16="http://schemas.microsoft.com/office/drawing/2014/main" id="{0C462C8B-BD58-AE70-ED8E-97D3E51DC4A2}"/>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23" name="Slide Number Placeholder 5">
            <a:extLst>
              <a:ext uri="{FF2B5EF4-FFF2-40B4-BE49-F238E27FC236}">
                <a16:creationId xmlns:a16="http://schemas.microsoft.com/office/drawing/2014/main" id="{2B5E696E-2DC1-7F28-F279-2B9085EE18CC}"/>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90995D-6DA1-5ECB-A7BA-9606BCD5CD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0FD3F9-A42E-9D02-8EA0-3CD6EFCCE0A8}"/>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5C2C252B-A0BE-AD4D-0EAB-C4CFBFBB16C2}"/>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How is GEO Different from SEO?</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D708001F-CAA3-44DB-CCA4-284182C05033}"/>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GEO is not SEO with a new name</a:t>
            </a:r>
            <a:r>
              <a:rPr lang="pl-PL" sz="1100">
                <a:solidFill>
                  <a:schemeClr val="accent5"/>
                </a:solidFill>
                <a:cs typeface="Arial"/>
              </a:rPr>
              <a:t> – short comparison.</a:t>
            </a:r>
            <a:endParaRPr lang="en-US" sz="1100">
              <a:solidFill>
                <a:schemeClr val="accent5"/>
              </a:solidFill>
              <a:cs typeface="Arial"/>
            </a:endParaRPr>
          </a:p>
        </p:txBody>
      </p:sp>
      <p:graphicFrame>
        <p:nvGraphicFramePr>
          <p:cNvPr id="5" name="Table 0">
            <a:extLst>
              <a:ext uri="{FF2B5EF4-FFF2-40B4-BE49-F238E27FC236}">
                <a16:creationId xmlns:a16="http://schemas.microsoft.com/office/drawing/2014/main" id="{2E7A8537-C3CF-96EF-B9DE-B3F49B459FF4}"/>
              </a:ext>
            </a:extLst>
          </p:cNvPr>
          <p:cNvGraphicFramePr>
            <a:graphicFrameLocks noGrp="1"/>
          </p:cNvGraphicFramePr>
          <p:nvPr>
            <p:extLst>
              <p:ext uri="{D42A27DB-BD31-4B8C-83A1-F6EECF244321}">
                <p14:modId xmlns:p14="http://schemas.microsoft.com/office/powerpoint/2010/main" val="404542420"/>
              </p:ext>
            </p:extLst>
          </p:nvPr>
        </p:nvGraphicFramePr>
        <p:xfrm>
          <a:off x="342900" y="1482993"/>
          <a:ext cx="8404151" cy="2740023"/>
        </p:xfrm>
        <a:graphic>
          <a:graphicData uri="http://schemas.openxmlformats.org/drawingml/2006/table">
            <a:tbl>
              <a:tblPr/>
              <a:tblGrid>
                <a:gridCol w="1805851">
                  <a:extLst>
                    <a:ext uri="{9D8B030D-6E8A-4147-A177-3AD203B41FA5}">
                      <a16:colId xmlns:a16="http://schemas.microsoft.com/office/drawing/2014/main" val="20000"/>
                    </a:ext>
                  </a:extLst>
                </a:gridCol>
                <a:gridCol w="3194966">
                  <a:extLst>
                    <a:ext uri="{9D8B030D-6E8A-4147-A177-3AD203B41FA5}">
                      <a16:colId xmlns:a16="http://schemas.microsoft.com/office/drawing/2014/main" val="20001"/>
                    </a:ext>
                  </a:extLst>
                </a:gridCol>
                <a:gridCol w="3403334">
                  <a:extLst>
                    <a:ext uri="{9D8B030D-6E8A-4147-A177-3AD203B41FA5}">
                      <a16:colId xmlns:a16="http://schemas.microsoft.com/office/drawing/2014/main" val="20002"/>
                    </a:ext>
                  </a:extLst>
                </a:gridCol>
              </a:tblGrid>
              <a:tr h="389133">
                <a:tc>
                  <a:txBody>
                    <a:bodyPr/>
                    <a:lstStyle/>
                    <a:p>
                      <a:pPr marL="0" indent="0">
                        <a:buNone/>
                      </a:pPr>
                      <a:r>
                        <a:rPr lang="pl-PL" sz="1300" b="1">
                          <a:latin typeface="Calibri" charset="0"/>
                          <a:ea typeface="Calibri" charset="0"/>
                          <a:cs typeface="Calibri" charset="0"/>
                        </a:rPr>
                        <a:t>Dimensions</a:t>
                      </a:r>
                      <a:endParaRPr lang="en-US" sz="1300" b="1">
                        <a:latin typeface="Calibri" charset="0"/>
                        <a:ea typeface="Calibri" charset="0"/>
                        <a:cs typeface="Calibri" charset="0"/>
                      </a:endParaRPr>
                    </a:p>
                  </a:txBody>
                  <a:tcPr anchor="ctr">
                    <a:lnL w="9525" cap="flat" cmpd="sng" algn="ctr">
                      <a:solidFill>
                        <a:srgbClr val="CFE8D8"/>
                      </a:solidFill>
                      <a:prstDash val="solid"/>
                      <a:round/>
                      <a:headEnd type="none" w="med" len="med"/>
                      <a:tailEnd type="none" w="med" len="med"/>
                    </a:lnL>
                    <a:lnR w="9525" cap="flat" cmpd="sng" algn="ctr">
                      <a:solidFill>
                        <a:srgbClr val="CFE8D8"/>
                      </a:solidFill>
                      <a:prstDash val="solid"/>
                      <a:round/>
                      <a:headEnd type="none" w="med" len="med"/>
                      <a:tailEnd type="none" w="med" len="med"/>
                    </a:lnR>
                    <a:lnT w="9525" cap="flat" cmpd="sng" algn="ctr">
                      <a:solidFill>
                        <a:srgbClr val="CFE8D8"/>
                      </a:solidFill>
                      <a:prstDash val="solid"/>
                      <a:round/>
                      <a:headEnd type="none" w="med" len="med"/>
                      <a:tailEnd type="none" w="med" len="med"/>
                    </a:lnT>
                    <a:lnB w="9525" cap="flat" cmpd="sng" algn="ctr">
                      <a:solidFill>
                        <a:srgbClr val="CFE8D8"/>
                      </a:solidFill>
                      <a:prstDash val="solid"/>
                      <a:round/>
                      <a:headEnd type="none" w="med" len="med"/>
                      <a:tailEnd type="none" w="med" len="med"/>
                    </a:lnB>
                    <a:solidFill>
                      <a:schemeClr val="bg1"/>
                    </a:solidFill>
                  </a:tcPr>
                </a:tc>
                <a:tc>
                  <a:txBody>
                    <a:bodyPr/>
                    <a:lstStyle/>
                    <a:p>
                      <a:pPr marL="0" indent="0" algn="ctr">
                        <a:buNone/>
                      </a:pPr>
                      <a:r>
                        <a:rPr lang="en-US" sz="1500" b="1">
                          <a:solidFill>
                            <a:schemeClr val="accent5"/>
                          </a:solidFill>
                          <a:latin typeface="+mj-lt"/>
                          <a:ea typeface="Cambria" pitchFamily="34" charset="-122"/>
                          <a:cs typeface="Cambria" pitchFamily="34" charset="-120"/>
                        </a:rPr>
                        <a:t>SEO</a:t>
                      </a:r>
                      <a:endParaRPr lang="en-US" sz="1500">
                        <a:solidFill>
                          <a:schemeClr val="accent5"/>
                        </a:solidFill>
                        <a:latin typeface="+mj-lt"/>
                        <a:ea typeface="Cambria" charset="0"/>
                        <a:cs typeface="Cambria" charset="0"/>
                      </a:endParaRPr>
                    </a:p>
                  </a:txBody>
                  <a:tcPr anchor="ctr">
                    <a:lnL w="9525" cap="flat" cmpd="sng" algn="ctr">
                      <a:solidFill>
                        <a:srgbClr val="CFE8D8"/>
                      </a:solidFill>
                      <a:prstDash val="solid"/>
                      <a:round/>
                      <a:headEnd type="none" w="med" len="med"/>
                      <a:tailEnd type="none" w="med" len="med"/>
                    </a:lnL>
                    <a:lnR w="9525" cap="flat" cmpd="sng" algn="ctr">
                      <a:solidFill>
                        <a:srgbClr val="CFE8D8"/>
                      </a:solidFill>
                      <a:prstDash val="solid"/>
                      <a:round/>
                      <a:headEnd type="none" w="med" len="med"/>
                      <a:tailEnd type="none" w="med" len="med"/>
                    </a:lnR>
                    <a:lnT w="9525" cap="flat" cmpd="sng" algn="ctr">
                      <a:solidFill>
                        <a:srgbClr val="CFE8D8"/>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3D2E"/>
                    </a:solidFill>
                  </a:tcPr>
                </a:tc>
                <a:tc>
                  <a:txBody>
                    <a:bodyPr/>
                    <a:lstStyle/>
                    <a:p>
                      <a:pPr marL="0" indent="0" algn="ctr">
                        <a:buNone/>
                      </a:pPr>
                      <a:r>
                        <a:rPr lang="en-US" sz="1500" b="1">
                          <a:solidFill>
                            <a:schemeClr val="accent5"/>
                          </a:solidFill>
                          <a:latin typeface="+mj-lt"/>
                          <a:ea typeface="Cambria" pitchFamily="34" charset="-122"/>
                          <a:cs typeface="Cambria" pitchFamily="34" charset="-120"/>
                        </a:rPr>
                        <a:t>GEO</a:t>
                      </a:r>
                      <a:endParaRPr lang="en-US" sz="1500">
                        <a:solidFill>
                          <a:schemeClr val="accent5"/>
                        </a:solidFill>
                        <a:latin typeface="+mj-lt"/>
                        <a:ea typeface="Cambria" charset="0"/>
                        <a:cs typeface="Cambria" charset="0"/>
                      </a:endParaRPr>
                    </a:p>
                  </a:txBody>
                  <a:tcPr anchor="ctr">
                    <a:lnL w="9525" cap="flat" cmpd="sng" algn="ctr">
                      <a:solidFill>
                        <a:srgbClr val="CFE8D8"/>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FE8D8"/>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592964">
                <a:tc>
                  <a:txBody>
                    <a:bodyPr/>
                    <a:lstStyle/>
                    <a:p>
                      <a:pPr marL="0" indent="0">
                        <a:buNone/>
                      </a:pPr>
                      <a:r>
                        <a:rPr lang="en-US" sz="1300" b="1">
                          <a:solidFill>
                            <a:schemeClr val="accent5"/>
                          </a:solidFill>
                          <a:latin typeface="+mj-lt"/>
                          <a:ea typeface="Calibri" pitchFamily="34" charset="-122"/>
                          <a:cs typeface="Calibri" pitchFamily="34" charset="-120"/>
                        </a:rPr>
                        <a:t>Goal</a:t>
                      </a:r>
                      <a:endParaRPr lang="en-US" sz="1300">
                        <a:solidFill>
                          <a:schemeClr val="accent5"/>
                        </a:solidFill>
                        <a:latin typeface="+mj-lt"/>
                        <a:ea typeface="Calibri" charset="0"/>
                        <a:cs typeface="Calibri" charset="0"/>
                      </a:endParaRPr>
                    </a:p>
                  </a:txBody>
                  <a:tcPr anchor="ctr">
                    <a:lnL w="9525" cap="flat" cmpd="sng" algn="ctr">
                      <a:solidFill>
                        <a:srgbClr val="CFE8D8"/>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FE8D8"/>
                      </a:solidFill>
                      <a:prstDash val="solid"/>
                      <a:round/>
                      <a:headEnd type="none" w="med" len="med"/>
                      <a:tailEnd type="none" w="med" len="med"/>
                    </a:lnT>
                    <a:lnB w="9525" cap="flat" cmpd="sng" algn="ctr">
                      <a:solidFill>
                        <a:srgbClr val="CFE8D8"/>
                      </a:solidFill>
                      <a:prstDash val="solid"/>
                      <a:round/>
                      <a:headEnd type="none" w="med" len="med"/>
                      <a:tailEnd type="none" w="med" len="med"/>
                    </a:lnB>
                    <a:solidFill>
                      <a:schemeClr val="tx1"/>
                    </a:solidFill>
                  </a:tcPr>
                </a:tc>
                <a:tc>
                  <a:txBody>
                    <a:bodyPr/>
                    <a:lstStyle/>
                    <a:p>
                      <a:pPr marL="0" indent="0" algn="ctr">
                        <a:buNone/>
                      </a:pPr>
                      <a:r>
                        <a:rPr lang="en-US" sz="1300">
                          <a:solidFill>
                            <a:srgbClr val="17251F"/>
                          </a:solidFill>
                          <a:latin typeface="+mj-lt"/>
                          <a:ea typeface="Calibri" pitchFamily="34" charset="-122"/>
                          <a:cs typeface="Calibri" pitchFamily="34" charset="-120"/>
                        </a:rPr>
                        <a:t>Rank in a list of links</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ctr">
                        <a:buNone/>
                      </a:pPr>
                      <a:r>
                        <a:rPr lang="pl-PL" sz="1300">
                          <a:solidFill>
                            <a:srgbClr val="17251F"/>
                          </a:solidFill>
                          <a:latin typeface="+mj-lt"/>
                          <a:ea typeface="Calibri" pitchFamily="34" charset="-122"/>
                          <a:cs typeface="Calibri" pitchFamily="34" charset="-120"/>
                        </a:rPr>
                        <a:t>B</a:t>
                      </a:r>
                      <a:r>
                        <a:rPr lang="en-US" sz="1300">
                          <a:solidFill>
                            <a:srgbClr val="17251F"/>
                          </a:solidFill>
                          <a:latin typeface="+mj-lt"/>
                          <a:ea typeface="Calibri" pitchFamily="34" charset="-122"/>
                          <a:cs typeface="Calibri" pitchFamily="34" charset="-120"/>
                        </a:rPr>
                        <a:t>e mentioned and cited in the answer an AI synthesizes. </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571998">
                <a:tc>
                  <a:txBody>
                    <a:bodyPr/>
                    <a:lstStyle/>
                    <a:p>
                      <a:pPr marL="0" indent="0">
                        <a:buNone/>
                      </a:pPr>
                      <a:r>
                        <a:rPr lang="en-US" sz="1300" b="1">
                          <a:solidFill>
                            <a:schemeClr val="accent5"/>
                          </a:solidFill>
                          <a:latin typeface="+mj-lt"/>
                          <a:ea typeface="Calibri" pitchFamily="34" charset="-122"/>
                          <a:cs typeface="Calibri" pitchFamily="34" charset="-120"/>
                        </a:rPr>
                        <a:t>Success metric</a:t>
                      </a:r>
                      <a:endParaRPr lang="en-US" sz="1300">
                        <a:solidFill>
                          <a:schemeClr val="accent5"/>
                        </a:solidFill>
                        <a:latin typeface="+mj-lt"/>
                        <a:ea typeface="Calibri" charset="0"/>
                        <a:cs typeface="Calibri" charset="0"/>
                      </a:endParaRPr>
                    </a:p>
                  </a:txBody>
                  <a:tcPr anchor="ctr">
                    <a:lnL w="9525" cap="flat" cmpd="sng" algn="ctr">
                      <a:solidFill>
                        <a:srgbClr val="CFE8D8"/>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FE8D8"/>
                      </a:solidFill>
                      <a:prstDash val="solid"/>
                      <a:round/>
                      <a:headEnd type="none" w="med" len="med"/>
                      <a:tailEnd type="none" w="med" len="med"/>
                    </a:lnT>
                    <a:lnB w="9525" cap="flat" cmpd="sng" algn="ctr">
                      <a:solidFill>
                        <a:srgbClr val="CFE8D8"/>
                      </a:solidFill>
                      <a:prstDash val="solid"/>
                      <a:round/>
                      <a:headEnd type="none" w="med" len="med"/>
                      <a:tailEnd type="none" w="med" len="med"/>
                    </a:lnB>
                    <a:solidFill>
                      <a:schemeClr val="tx1"/>
                    </a:solidFill>
                  </a:tcPr>
                </a:tc>
                <a:tc>
                  <a:txBody>
                    <a:bodyPr/>
                    <a:lstStyle/>
                    <a:p>
                      <a:pPr marL="0" indent="0" algn="ctr">
                        <a:buNone/>
                      </a:pPr>
                      <a:r>
                        <a:rPr lang="en-US" sz="1300">
                          <a:solidFill>
                            <a:srgbClr val="17251F"/>
                          </a:solidFill>
                          <a:latin typeface="+mj-lt"/>
                          <a:ea typeface="Calibri" pitchFamily="34" charset="-122"/>
                          <a:cs typeface="Calibri" pitchFamily="34" charset="-120"/>
                        </a:rPr>
                        <a:t>Position, clicks</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ctr">
                        <a:buNone/>
                      </a:pPr>
                      <a:r>
                        <a:rPr lang="en-US" sz="1300">
                          <a:solidFill>
                            <a:srgbClr val="17251F"/>
                          </a:solidFill>
                          <a:latin typeface="+mj-lt"/>
                          <a:ea typeface="Calibri" pitchFamily="34" charset="-122"/>
                          <a:cs typeface="Calibri" pitchFamily="34" charset="-120"/>
                        </a:rPr>
                        <a:t>Citation share, brand </a:t>
                      </a:r>
                      <a:r>
                        <a:rPr lang="pl-PL" sz="1300">
                          <a:solidFill>
                            <a:srgbClr val="17251F"/>
                          </a:solidFill>
                          <a:latin typeface="+mj-lt"/>
                          <a:ea typeface="Calibri" pitchFamily="34" charset="-122"/>
                          <a:cs typeface="Calibri" pitchFamily="34" charset="-120"/>
                        </a:rPr>
                        <a:t>mentions</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2"/>
                  </a:ext>
                </a:extLst>
              </a:tr>
              <a:tr h="592964">
                <a:tc>
                  <a:txBody>
                    <a:bodyPr/>
                    <a:lstStyle/>
                    <a:p>
                      <a:pPr marL="0" indent="0">
                        <a:buNone/>
                      </a:pPr>
                      <a:r>
                        <a:rPr lang="en-US" sz="1300" b="1">
                          <a:solidFill>
                            <a:schemeClr val="accent5"/>
                          </a:solidFill>
                          <a:latin typeface="+mj-lt"/>
                          <a:ea typeface="Calibri" pitchFamily="34" charset="-122"/>
                          <a:cs typeface="Calibri" pitchFamily="34" charset="-120"/>
                        </a:rPr>
                        <a:t>What matters</a:t>
                      </a:r>
                      <a:endParaRPr lang="en-US" sz="1300">
                        <a:solidFill>
                          <a:schemeClr val="accent5"/>
                        </a:solidFill>
                        <a:latin typeface="+mj-lt"/>
                        <a:ea typeface="Calibri" charset="0"/>
                        <a:cs typeface="Calibri" charset="0"/>
                      </a:endParaRPr>
                    </a:p>
                  </a:txBody>
                  <a:tcPr anchor="ctr">
                    <a:lnL w="9525" cap="flat" cmpd="sng" algn="ctr">
                      <a:solidFill>
                        <a:srgbClr val="CFE8D8"/>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FE8D8"/>
                      </a:solidFill>
                      <a:prstDash val="solid"/>
                      <a:round/>
                      <a:headEnd type="none" w="med" len="med"/>
                      <a:tailEnd type="none" w="med" len="med"/>
                    </a:lnT>
                    <a:lnB w="9525" cap="flat" cmpd="sng" algn="ctr">
                      <a:solidFill>
                        <a:srgbClr val="CFE8D8"/>
                      </a:solidFill>
                      <a:prstDash val="solid"/>
                      <a:round/>
                      <a:headEnd type="none" w="med" len="med"/>
                      <a:tailEnd type="none" w="med" len="med"/>
                    </a:lnB>
                    <a:solidFill>
                      <a:schemeClr val="tx1"/>
                    </a:solidFill>
                  </a:tcPr>
                </a:tc>
                <a:tc>
                  <a:txBody>
                    <a:bodyPr/>
                    <a:lstStyle/>
                    <a:p>
                      <a:pPr marL="0" indent="0" algn="ctr">
                        <a:buNone/>
                      </a:pPr>
                      <a:r>
                        <a:rPr lang="en-US" sz="1300">
                          <a:solidFill>
                            <a:srgbClr val="17251F"/>
                          </a:solidFill>
                          <a:latin typeface="+mj-lt"/>
                          <a:ea typeface="Calibri" pitchFamily="34" charset="-122"/>
                          <a:cs typeface="Calibri" pitchFamily="34" charset="-120"/>
                        </a:rPr>
                        <a:t>Keywords, backlinks, on-page UX</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ctr">
                        <a:buNone/>
                      </a:pPr>
                      <a:r>
                        <a:rPr lang="en-US" sz="1300">
                          <a:solidFill>
                            <a:srgbClr val="17251F"/>
                          </a:solidFill>
                          <a:latin typeface="+mj-lt"/>
                          <a:ea typeface="Calibri" pitchFamily="34" charset="-122"/>
                          <a:cs typeface="Calibri" pitchFamily="34" charset="-120"/>
                        </a:rPr>
                        <a:t>Fact density, structure, third-party validation</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3"/>
                  </a:ext>
                </a:extLst>
              </a:tr>
              <a:tr h="592964">
                <a:tc>
                  <a:txBody>
                    <a:bodyPr/>
                    <a:lstStyle/>
                    <a:p>
                      <a:pPr marL="0" indent="0">
                        <a:buNone/>
                      </a:pPr>
                      <a:r>
                        <a:rPr lang="en-US" sz="1300" b="1">
                          <a:solidFill>
                            <a:schemeClr val="accent5"/>
                          </a:solidFill>
                          <a:latin typeface="+mj-lt"/>
                          <a:ea typeface="Calibri" pitchFamily="34" charset="-122"/>
                          <a:cs typeface="Calibri" pitchFamily="34" charset="-120"/>
                        </a:rPr>
                        <a:t>Content shape</a:t>
                      </a:r>
                      <a:endParaRPr lang="en-US" sz="1300">
                        <a:solidFill>
                          <a:schemeClr val="accent5"/>
                        </a:solidFill>
                        <a:latin typeface="+mj-lt"/>
                        <a:ea typeface="Calibri" charset="0"/>
                        <a:cs typeface="Calibri" charset="0"/>
                      </a:endParaRPr>
                    </a:p>
                  </a:txBody>
                  <a:tcPr anchor="ctr">
                    <a:lnL w="9525" cap="flat" cmpd="sng" algn="ctr">
                      <a:solidFill>
                        <a:srgbClr val="CFE8D8"/>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FE8D8"/>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indent="0" algn="ctr">
                        <a:buNone/>
                      </a:pPr>
                      <a:r>
                        <a:rPr lang="en-US" sz="1300">
                          <a:solidFill>
                            <a:srgbClr val="17251F"/>
                          </a:solidFill>
                          <a:latin typeface="+mj-lt"/>
                          <a:ea typeface="Calibri" pitchFamily="34" charset="-122"/>
                          <a:cs typeface="Calibri" pitchFamily="34" charset="-120"/>
                        </a:rPr>
                        <a:t>Long intros, keyword density</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ctr">
                        <a:buNone/>
                      </a:pPr>
                      <a:r>
                        <a:rPr lang="en-US" sz="1300">
                          <a:solidFill>
                            <a:srgbClr val="17251F"/>
                          </a:solidFill>
                          <a:latin typeface="+mj-lt"/>
                          <a:ea typeface="Calibri" pitchFamily="34" charset="-122"/>
                          <a:cs typeface="Calibri" pitchFamily="34" charset="-120"/>
                        </a:rPr>
                        <a:t>Answer-first, self-contained, quotable </a:t>
                      </a:r>
                      <a:r>
                        <a:rPr lang="pl-PL" sz="1300">
                          <a:solidFill>
                            <a:srgbClr val="17251F"/>
                          </a:solidFill>
                          <a:latin typeface="+mj-lt"/>
                          <a:ea typeface="Calibri" pitchFamily="34" charset="-122"/>
                          <a:cs typeface="Calibri" pitchFamily="34" charset="-120"/>
                        </a:rPr>
                        <a:t>statements</a:t>
                      </a:r>
                      <a:endParaRPr lang="en-US" sz="1300">
                        <a:latin typeface="+mj-lt"/>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5"/>
                  </a:ext>
                </a:extLst>
              </a:tr>
            </a:tbl>
          </a:graphicData>
        </a:graphic>
      </p:graphicFrame>
      <p:sp>
        <p:nvSpPr>
          <p:cNvPr id="8" name="Footer Placeholder 4">
            <a:extLst>
              <a:ext uri="{FF2B5EF4-FFF2-40B4-BE49-F238E27FC236}">
                <a16:creationId xmlns:a16="http://schemas.microsoft.com/office/drawing/2014/main" id="{C644E286-1410-03A3-6B8E-2F838B4ACE6D}"/>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9" name="Slide Number Placeholder 5">
            <a:extLst>
              <a:ext uri="{FF2B5EF4-FFF2-40B4-BE49-F238E27FC236}">
                <a16:creationId xmlns:a16="http://schemas.microsoft.com/office/drawing/2014/main" id="{2B24222F-59E3-61C1-28D1-5FB527AFFE8F}"/>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6</a:t>
            </a:fld>
            <a:endParaRPr lang="en-US"/>
          </a:p>
        </p:txBody>
      </p:sp>
    </p:spTree>
    <p:extLst>
      <p:ext uri="{BB962C8B-B14F-4D97-AF65-F5344CB8AC3E}">
        <p14:creationId xmlns:p14="http://schemas.microsoft.com/office/powerpoint/2010/main" val="1860697882"/>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4579C-7486-A360-E510-E01F3B0441E0}"/>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2EA5014B-1FAF-80F9-C9FC-1477B6F5DBF3}"/>
              </a:ext>
            </a:extLst>
          </p:cNvPr>
          <p:cNvSpPr/>
          <p:nvPr/>
        </p:nvSpPr>
        <p:spPr>
          <a:xfrm>
            <a:off x="1" y="0"/>
            <a:ext cx="9143771" cy="1028700"/>
          </a:xfrm>
          <a:prstGeom prst="rect">
            <a:avLst/>
          </a:prstGeom>
          <a:solidFill>
            <a:schemeClr val="tx1"/>
          </a:solidFill>
          <a:ln/>
        </p:spPr>
        <p:txBody>
          <a:bodyPr/>
          <a:lstStyle/>
          <a:p>
            <a:endParaRPr lang="pl-PL"/>
          </a:p>
        </p:txBody>
      </p:sp>
      <p:sp>
        <p:nvSpPr>
          <p:cNvPr id="4" name="Text 1">
            <a:extLst>
              <a:ext uri="{FF2B5EF4-FFF2-40B4-BE49-F238E27FC236}">
                <a16:creationId xmlns:a16="http://schemas.microsoft.com/office/drawing/2014/main" id="{235DD545-FF88-8DDF-8ECF-C814D9DFD823}"/>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GEO Lifecycle</a:t>
            </a:r>
            <a:endParaRPr lang="en-US" sz="2200">
              <a:solidFill>
                <a:schemeClr val="accent5"/>
              </a:solidFill>
              <a:latin typeface="+mj-lt"/>
              <a:ea typeface="+mj-ea"/>
              <a:cs typeface="Arial"/>
            </a:endParaRPr>
          </a:p>
        </p:txBody>
      </p:sp>
      <p:sp>
        <p:nvSpPr>
          <p:cNvPr id="9" name="Text 2">
            <a:extLst>
              <a:ext uri="{FF2B5EF4-FFF2-40B4-BE49-F238E27FC236}">
                <a16:creationId xmlns:a16="http://schemas.microsoft.com/office/drawing/2014/main" id="{FAFC5BCC-CC3D-976A-D806-5A49E0BBD173}"/>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graphicFrame>
        <p:nvGraphicFramePr>
          <p:cNvPr id="8" name="Diagram 7">
            <a:extLst>
              <a:ext uri="{FF2B5EF4-FFF2-40B4-BE49-F238E27FC236}">
                <a16:creationId xmlns:a16="http://schemas.microsoft.com/office/drawing/2014/main" id="{9D2EC443-07BE-4CF3-3AED-D2127BDC6547}"/>
              </a:ext>
            </a:extLst>
          </p:cNvPr>
          <p:cNvGraphicFramePr/>
          <p:nvPr>
            <p:extLst>
              <p:ext uri="{D42A27DB-BD31-4B8C-83A1-F6EECF244321}">
                <p14:modId xmlns:p14="http://schemas.microsoft.com/office/powerpoint/2010/main" val="2412396634"/>
              </p:ext>
            </p:extLst>
          </p:nvPr>
        </p:nvGraphicFramePr>
        <p:xfrm>
          <a:off x="2585670" y="1914970"/>
          <a:ext cx="3972432" cy="2598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a:extLst>
              <a:ext uri="{FF2B5EF4-FFF2-40B4-BE49-F238E27FC236}">
                <a16:creationId xmlns:a16="http://schemas.microsoft.com/office/drawing/2014/main" id="{1FF9AF79-D339-7E67-3D2C-10CE19EA8A45}"/>
              </a:ext>
            </a:extLst>
          </p:cNvPr>
          <p:cNvSpPr>
            <a:spLocks noGrp="1"/>
          </p:cNvSpPr>
          <p:nvPr>
            <p:ph type="ftr" sz="quarter" idx="3"/>
          </p:nvPr>
        </p:nvSpPr>
        <p:spPr/>
        <p:txBody>
          <a:bodyPr vert="horz" wrap="square" lIns="0" tIns="0" rIns="0" bIns="0" rtlCol="0" anchor="ctr">
            <a:spAutoFit/>
          </a:bodyPr>
          <a:lstStyle/>
          <a:p>
            <a:pPr defTabSz="685800"/>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5D67E1E0-381C-0523-DBD8-9BC72D7A4E4E}"/>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a:t>
            </a:fld>
            <a:endParaRPr lang="en-US">
              <a:solidFill>
                <a:srgbClr val="3DCD58"/>
              </a:solidFill>
            </a:endParaRPr>
          </a:p>
        </p:txBody>
      </p:sp>
      <p:sp>
        <p:nvSpPr>
          <p:cNvPr id="7" name="TextBox 6">
            <a:extLst>
              <a:ext uri="{FF2B5EF4-FFF2-40B4-BE49-F238E27FC236}">
                <a16:creationId xmlns:a16="http://schemas.microsoft.com/office/drawing/2014/main" id="{2BA8BF05-AAEB-E71C-BF34-5D419D85F4F1}"/>
              </a:ext>
            </a:extLst>
          </p:cNvPr>
          <p:cNvSpPr txBox="1"/>
          <p:nvPr/>
        </p:nvSpPr>
        <p:spPr>
          <a:xfrm>
            <a:off x="4972913" y="4331399"/>
            <a:ext cx="4091657" cy="738664"/>
          </a:xfrm>
          <a:prstGeom prst="rect">
            <a:avLst/>
          </a:prstGeom>
          <a:solidFill>
            <a:schemeClr val="tx1"/>
          </a:solidFill>
        </p:spPr>
        <p:txBody>
          <a:bodyPr wrap="square">
            <a:spAutoFit/>
          </a:bodyPr>
          <a:lstStyle/>
          <a:p>
            <a:pPr algn="ctr"/>
            <a:r>
              <a:rPr lang="pl-PL" sz="1050" b="1">
                <a:solidFill>
                  <a:schemeClr val="accent5"/>
                </a:solidFill>
              </a:rPr>
              <a:t>Important:</a:t>
            </a:r>
            <a:endParaRPr lang="en-US" sz="1050" b="1">
              <a:solidFill>
                <a:schemeClr val="accent5"/>
              </a:solidFill>
            </a:endParaRPr>
          </a:p>
          <a:p>
            <a:pPr algn="ctr"/>
            <a:r>
              <a:rPr lang="en-US" sz="1000" b="1">
                <a:solidFill>
                  <a:schemeClr val="accent5"/>
                </a:solidFill>
              </a:rPr>
              <a:t>GEO</a:t>
            </a:r>
            <a:r>
              <a:rPr lang="pl-PL" sz="1000" b="1">
                <a:solidFill>
                  <a:schemeClr val="accent5"/>
                </a:solidFill>
              </a:rPr>
              <a:t>, exacly like SEO, is ongoing organic effort.</a:t>
            </a:r>
          </a:p>
          <a:p>
            <a:pPr algn="ctr"/>
            <a:r>
              <a:rPr lang="pl-PL" sz="1000">
                <a:solidFill>
                  <a:schemeClr val="accent5"/>
                </a:solidFill>
              </a:rPr>
              <a:t>It</a:t>
            </a:r>
            <a:r>
              <a:rPr lang="en-AU" sz="1000">
                <a:solidFill>
                  <a:schemeClr val="accent5"/>
                </a:solidFill>
              </a:rPr>
              <a:t>’</a:t>
            </a:r>
            <a:r>
              <a:rPr lang="pl-PL" sz="1000">
                <a:solidFill>
                  <a:schemeClr val="accent5"/>
                </a:solidFill>
              </a:rPr>
              <a:t>s</a:t>
            </a:r>
            <a:r>
              <a:rPr lang="en-AU" sz="1000">
                <a:solidFill>
                  <a:schemeClr val="accent5"/>
                </a:solidFill>
              </a:rPr>
              <a:t> an</a:t>
            </a:r>
            <a:r>
              <a:rPr lang="pl-PL" sz="1000">
                <a:solidFill>
                  <a:schemeClr val="accent5"/>
                </a:solidFill>
              </a:rPr>
              <a:t> endless cycle of data-driven improvem</a:t>
            </a:r>
            <a:r>
              <a:rPr lang="en-US" sz="1000" err="1">
                <a:solidFill>
                  <a:schemeClr val="accent5"/>
                </a:solidFill>
              </a:rPr>
              <a:t>en</a:t>
            </a:r>
            <a:r>
              <a:rPr lang="pl-PL" sz="1000">
                <a:solidFill>
                  <a:schemeClr val="accent5"/>
                </a:solidFill>
              </a:rPr>
              <a:t>ts to </a:t>
            </a:r>
            <a:r>
              <a:rPr lang="en-US" sz="1000">
                <a:solidFill>
                  <a:schemeClr val="accent5"/>
                </a:solidFill>
              </a:rPr>
              <a:t>to improve our exposure and follow latest trends.</a:t>
            </a:r>
            <a:r>
              <a:rPr lang="pl-PL" sz="1000">
                <a:solidFill>
                  <a:schemeClr val="accent5"/>
                </a:solidFill>
              </a:rPr>
              <a:t>.</a:t>
            </a:r>
          </a:p>
        </p:txBody>
      </p:sp>
      <p:sp>
        <p:nvSpPr>
          <p:cNvPr id="12" name="TextBox 11">
            <a:extLst>
              <a:ext uri="{FF2B5EF4-FFF2-40B4-BE49-F238E27FC236}">
                <a16:creationId xmlns:a16="http://schemas.microsoft.com/office/drawing/2014/main" id="{FFC006B8-1BB4-5DB5-7478-BFE29E467983}"/>
              </a:ext>
            </a:extLst>
          </p:cNvPr>
          <p:cNvSpPr txBox="1"/>
          <p:nvPr/>
        </p:nvSpPr>
        <p:spPr>
          <a:xfrm>
            <a:off x="3022662" y="1117892"/>
            <a:ext cx="3098447" cy="707886"/>
          </a:xfrm>
          <a:prstGeom prst="rect">
            <a:avLst/>
          </a:prstGeom>
          <a:solidFill>
            <a:schemeClr val="accent5"/>
          </a:solidFill>
          <a:ln>
            <a:solidFill>
              <a:schemeClr val="tx1"/>
            </a:solidFill>
          </a:ln>
        </p:spPr>
        <p:txBody>
          <a:bodyPr wrap="square" lIns="91440" tIns="45720" rIns="91440" bIns="45720" anchor="t">
            <a:spAutoFit/>
          </a:bodyPr>
          <a:lstStyle/>
          <a:p>
            <a:pPr algn="ctr" defTabSz="685800" eaLnBrk="0" fontAlgn="base" hangingPunct="0">
              <a:spcBef>
                <a:spcPct val="0"/>
              </a:spcBef>
              <a:spcAft>
                <a:spcPct val="0"/>
              </a:spcAft>
              <a:defRPr/>
            </a:pPr>
            <a:r>
              <a:rPr lang="pl-PL" altLang="en-US" sz="1000" b="1">
                <a:solidFill>
                  <a:schemeClr val="tx2">
                    <a:lumMod val="50000"/>
                  </a:schemeClr>
                </a:solidFill>
              </a:rPr>
              <a:t>1. Analytics</a:t>
            </a:r>
            <a:endParaRPr lang="en-US" altLang="en-US" sz="1000" b="1">
              <a:solidFill>
                <a:schemeClr val="tx2">
                  <a:lumMod val="50000"/>
                </a:schemeClr>
              </a:solidFill>
            </a:endParaRPr>
          </a:p>
          <a:p>
            <a:pPr algn="ctr" defTabSz="685800" eaLnBrk="0" fontAlgn="base" hangingPunct="0">
              <a:spcBef>
                <a:spcPct val="0"/>
              </a:spcBef>
              <a:spcAft>
                <a:spcPct val="0"/>
              </a:spcAft>
              <a:defRPr/>
            </a:pPr>
            <a:r>
              <a:rPr lang="en-US" altLang="en-US" sz="1000"/>
              <a:t>We analyze where we are in the GEO journey and what we should improve</a:t>
            </a:r>
            <a:r>
              <a:rPr lang="pl-PL" altLang="en-US" sz="1000"/>
              <a:t> to answer the user needs for information.</a:t>
            </a:r>
            <a:endParaRPr lang="en-US" altLang="en-US" sz="1000"/>
          </a:p>
        </p:txBody>
      </p:sp>
      <p:sp>
        <p:nvSpPr>
          <p:cNvPr id="17" name="Text 2">
            <a:extLst>
              <a:ext uri="{FF2B5EF4-FFF2-40B4-BE49-F238E27FC236}">
                <a16:creationId xmlns:a16="http://schemas.microsoft.com/office/drawing/2014/main" id="{C786A11A-D2BB-5D92-1E59-2DAC20C11C38}"/>
              </a:ext>
            </a:extLst>
          </p:cNvPr>
          <p:cNvSpPr/>
          <p:nvPr/>
        </p:nvSpPr>
        <p:spPr>
          <a:xfrm>
            <a:off x="342900" y="534924"/>
            <a:ext cx="7543800" cy="274320"/>
          </a:xfrm>
          <a:prstGeom prst="rect">
            <a:avLst/>
          </a:prstGeom>
          <a:noFill/>
          <a:ln/>
        </p:spPr>
        <p:txBody>
          <a:bodyPr wrap="square" lIns="0" tIns="0" rIns="0" bIns="0" rtlCol="0" anchor="ctr"/>
          <a:lstStyle/>
          <a:p>
            <a:r>
              <a:rPr lang="pl-PL" sz="1100">
                <a:solidFill>
                  <a:schemeClr val="accent5"/>
                </a:solidFill>
                <a:cs typeface="Arial"/>
              </a:rPr>
              <a:t>Ongoing effort to answer the needs of the users.</a:t>
            </a:r>
            <a:endParaRPr lang="en-US" sz="1100">
              <a:solidFill>
                <a:schemeClr val="accent5"/>
              </a:solidFill>
              <a:cs typeface="Arial"/>
            </a:endParaRPr>
          </a:p>
        </p:txBody>
      </p:sp>
      <p:sp>
        <p:nvSpPr>
          <p:cNvPr id="2" name="TextBox 1">
            <a:extLst>
              <a:ext uri="{FF2B5EF4-FFF2-40B4-BE49-F238E27FC236}">
                <a16:creationId xmlns:a16="http://schemas.microsoft.com/office/drawing/2014/main" id="{7EC4A013-F527-A21D-683E-B82D25242119}"/>
              </a:ext>
            </a:extLst>
          </p:cNvPr>
          <p:cNvSpPr txBox="1"/>
          <p:nvPr/>
        </p:nvSpPr>
        <p:spPr>
          <a:xfrm>
            <a:off x="5764550" y="2358235"/>
            <a:ext cx="2008928" cy="707886"/>
          </a:xfrm>
          <a:prstGeom prst="rect">
            <a:avLst/>
          </a:prstGeom>
          <a:solidFill>
            <a:schemeClr val="accent5"/>
          </a:solidFill>
          <a:ln>
            <a:solidFill>
              <a:schemeClr val="tx1"/>
            </a:solidFill>
          </a:ln>
        </p:spPr>
        <p:txBody>
          <a:bodyPr wrap="square">
            <a:spAutoFit/>
          </a:bodyPr>
          <a:lstStyle/>
          <a:p>
            <a:pPr algn="ctr" defTabSz="685800" eaLnBrk="0" fontAlgn="base" hangingPunct="0">
              <a:spcBef>
                <a:spcPct val="0"/>
              </a:spcBef>
              <a:spcAft>
                <a:spcPct val="0"/>
              </a:spcAft>
              <a:defRPr/>
            </a:pPr>
            <a:r>
              <a:rPr lang="pl-PL" altLang="en-US" sz="1000" b="1">
                <a:solidFill>
                  <a:schemeClr val="tx2">
                    <a:lumMod val="75000"/>
                  </a:schemeClr>
                </a:solidFill>
              </a:rPr>
              <a:t>2. Prompt research</a:t>
            </a:r>
            <a:endParaRPr lang="en-US" altLang="en-US" sz="1000" b="1">
              <a:solidFill>
                <a:schemeClr val="tx2">
                  <a:lumMod val="75000"/>
                </a:schemeClr>
              </a:solidFill>
            </a:endParaRPr>
          </a:p>
          <a:p>
            <a:pPr algn="ctr" defTabSz="685800" eaLnBrk="0" fontAlgn="base" hangingPunct="0">
              <a:spcBef>
                <a:spcPct val="0"/>
              </a:spcBef>
              <a:spcAft>
                <a:spcPct val="0"/>
              </a:spcAft>
              <a:defRPr/>
            </a:pPr>
            <a:r>
              <a:rPr lang="en-US" altLang="en-US" sz="1000"/>
              <a:t>We</a:t>
            </a:r>
            <a:r>
              <a:rPr lang="en-US" altLang="en-US" sz="1000">
                <a:solidFill>
                  <a:srgbClr val="000000"/>
                </a:solidFill>
              </a:rPr>
              <a:t> </a:t>
            </a:r>
            <a:r>
              <a:rPr lang="en-US" altLang="en-US" sz="1000"/>
              <a:t>check the prompts to understand what users are asking AI.</a:t>
            </a:r>
          </a:p>
        </p:txBody>
      </p:sp>
      <p:sp>
        <p:nvSpPr>
          <p:cNvPr id="10" name="TextBox 9">
            <a:extLst>
              <a:ext uri="{FF2B5EF4-FFF2-40B4-BE49-F238E27FC236}">
                <a16:creationId xmlns:a16="http://schemas.microsoft.com/office/drawing/2014/main" id="{D442B3AF-693E-B430-76A1-4301D3C39075}"/>
              </a:ext>
            </a:extLst>
          </p:cNvPr>
          <p:cNvSpPr txBox="1"/>
          <p:nvPr/>
        </p:nvSpPr>
        <p:spPr>
          <a:xfrm>
            <a:off x="5767434" y="3321520"/>
            <a:ext cx="2008928" cy="707886"/>
          </a:xfrm>
          <a:prstGeom prst="rect">
            <a:avLst/>
          </a:prstGeom>
          <a:solidFill>
            <a:schemeClr val="accent5"/>
          </a:solidFill>
          <a:ln>
            <a:solidFill>
              <a:schemeClr val="tx1"/>
            </a:solidFill>
          </a:ln>
        </p:spPr>
        <p:txBody>
          <a:bodyPr wrap="square">
            <a:spAutoFit/>
          </a:bodyPr>
          <a:lstStyle/>
          <a:p>
            <a:pPr algn="ctr" defTabSz="685800" eaLnBrk="0" fontAlgn="base" hangingPunct="0">
              <a:spcBef>
                <a:spcPct val="0"/>
              </a:spcBef>
              <a:spcAft>
                <a:spcPct val="0"/>
              </a:spcAft>
              <a:defRPr/>
            </a:pPr>
            <a:r>
              <a:rPr lang="pl-PL" altLang="en-US" sz="1000" b="1">
                <a:solidFill>
                  <a:srgbClr val="36C746"/>
                </a:solidFill>
              </a:rPr>
              <a:t>3. Content optimization</a:t>
            </a:r>
            <a:endParaRPr lang="en-US" altLang="en-US" sz="1000" b="1">
              <a:solidFill>
                <a:srgbClr val="36C746"/>
              </a:solidFill>
            </a:endParaRPr>
          </a:p>
          <a:p>
            <a:pPr algn="ctr" defTabSz="685800" eaLnBrk="0" fontAlgn="base" hangingPunct="0">
              <a:spcBef>
                <a:spcPct val="0"/>
              </a:spcBef>
              <a:spcAft>
                <a:spcPct val="0"/>
              </a:spcAft>
              <a:defRPr/>
            </a:pPr>
            <a:r>
              <a:rPr lang="en-US" altLang="en-US" sz="1000"/>
              <a:t>We create tailor-made content based on prompt research</a:t>
            </a:r>
            <a:r>
              <a:rPr lang="en-US" altLang="en-US" sz="1000">
                <a:solidFill>
                  <a:srgbClr val="000000"/>
                </a:solidFill>
              </a:rPr>
              <a:t>.</a:t>
            </a:r>
            <a:endParaRPr lang="pl-PL" altLang="en-US" sz="1000">
              <a:solidFill>
                <a:srgbClr val="000000"/>
              </a:solidFill>
            </a:endParaRPr>
          </a:p>
        </p:txBody>
      </p:sp>
      <p:sp>
        <p:nvSpPr>
          <p:cNvPr id="11" name="TextBox 10">
            <a:extLst>
              <a:ext uri="{FF2B5EF4-FFF2-40B4-BE49-F238E27FC236}">
                <a16:creationId xmlns:a16="http://schemas.microsoft.com/office/drawing/2014/main" id="{0ABDE6D7-7441-5062-6B98-C55B1532837C}"/>
              </a:ext>
            </a:extLst>
          </p:cNvPr>
          <p:cNvSpPr txBox="1"/>
          <p:nvPr/>
        </p:nvSpPr>
        <p:spPr>
          <a:xfrm>
            <a:off x="2149752" y="4208289"/>
            <a:ext cx="2050108" cy="861774"/>
          </a:xfrm>
          <a:prstGeom prst="rect">
            <a:avLst/>
          </a:prstGeom>
          <a:solidFill>
            <a:schemeClr val="accent5"/>
          </a:solidFill>
          <a:ln>
            <a:solidFill>
              <a:schemeClr val="tx1"/>
            </a:solidFill>
          </a:ln>
        </p:spPr>
        <p:txBody>
          <a:bodyPr wrap="square">
            <a:spAutoFit/>
          </a:bodyPr>
          <a:lstStyle/>
          <a:p>
            <a:pPr algn="ctr" defTabSz="685800" eaLnBrk="0" fontAlgn="base" hangingPunct="0">
              <a:spcBef>
                <a:spcPct val="0"/>
              </a:spcBef>
              <a:spcAft>
                <a:spcPct val="0"/>
              </a:spcAft>
              <a:defRPr/>
            </a:pPr>
            <a:r>
              <a:rPr lang="pl-PL" altLang="en-US" sz="1000" b="1">
                <a:solidFill>
                  <a:schemeClr val="tx2">
                    <a:lumMod val="75000"/>
                  </a:schemeClr>
                </a:solidFill>
              </a:rPr>
              <a:t>4. UX/UI check</a:t>
            </a:r>
            <a:endParaRPr lang="en-US" altLang="en-US" sz="1000" b="1">
              <a:solidFill>
                <a:schemeClr val="tx2">
                  <a:lumMod val="75000"/>
                </a:schemeClr>
              </a:solidFill>
            </a:endParaRPr>
          </a:p>
          <a:p>
            <a:pPr algn="ctr" defTabSz="685800" eaLnBrk="0" fontAlgn="base" hangingPunct="0">
              <a:spcBef>
                <a:spcPct val="0"/>
              </a:spcBef>
              <a:spcAft>
                <a:spcPct val="0"/>
              </a:spcAft>
              <a:defRPr/>
            </a:pPr>
            <a:r>
              <a:rPr lang="en-US" altLang="en-US" sz="1000"/>
              <a:t>We ensure </a:t>
            </a:r>
            <a:r>
              <a:rPr lang="pl-PL" altLang="en-US" sz="1000"/>
              <a:t>that </a:t>
            </a:r>
            <a:r>
              <a:rPr lang="en-US" altLang="en-US" sz="1000"/>
              <a:t>the page </a:t>
            </a:r>
            <a:r>
              <a:rPr lang="pl-PL" altLang="en-US" sz="1000"/>
              <a:t>provides good user experience </a:t>
            </a:r>
            <a:r>
              <a:rPr lang="en-US" altLang="en-US" sz="1000"/>
              <a:t>and have high quality assets visible to AI.</a:t>
            </a:r>
          </a:p>
        </p:txBody>
      </p:sp>
      <p:sp>
        <p:nvSpPr>
          <p:cNvPr id="13" name="TextBox 12">
            <a:extLst>
              <a:ext uri="{FF2B5EF4-FFF2-40B4-BE49-F238E27FC236}">
                <a16:creationId xmlns:a16="http://schemas.microsoft.com/office/drawing/2014/main" id="{B07C369B-124D-F48C-C3D0-04ADC78BC977}"/>
              </a:ext>
            </a:extLst>
          </p:cNvPr>
          <p:cNvSpPr txBox="1"/>
          <p:nvPr/>
        </p:nvSpPr>
        <p:spPr>
          <a:xfrm>
            <a:off x="1346599" y="3321520"/>
            <a:ext cx="2029968" cy="704088"/>
          </a:xfrm>
          <a:prstGeom prst="rect">
            <a:avLst/>
          </a:prstGeom>
          <a:solidFill>
            <a:schemeClr val="accent5"/>
          </a:solidFill>
          <a:ln>
            <a:solidFill>
              <a:schemeClr val="tx1"/>
            </a:solidFill>
          </a:ln>
        </p:spPr>
        <p:txBody>
          <a:bodyPr wrap="square">
            <a:spAutoFit/>
          </a:bodyPr>
          <a:lstStyle/>
          <a:p>
            <a:pPr algn="ctr" defTabSz="685800" eaLnBrk="0" fontAlgn="base" hangingPunct="0">
              <a:spcBef>
                <a:spcPct val="0"/>
              </a:spcBef>
              <a:spcAft>
                <a:spcPct val="0"/>
              </a:spcAft>
              <a:defRPr/>
            </a:pPr>
            <a:r>
              <a:rPr lang="pl-PL" altLang="en-US" sz="1000" b="1">
                <a:solidFill>
                  <a:schemeClr val="tx2">
                    <a:lumMod val="50000"/>
                  </a:schemeClr>
                </a:solidFill>
              </a:rPr>
              <a:t>5. Page update</a:t>
            </a:r>
            <a:endParaRPr lang="en-US" altLang="en-US" sz="1000" b="1">
              <a:solidFill>
                <a:schemeClr val="tx2">
                  <a:lumMod val="50000"/>
                </a:schemeClr>
              </a:solidFill>
            </a:endParaRPr>
          </a:p>
          <a:p>
            <a:pPr algn="ctr" defTabSz="685800" eaLnBrk="0" fontAlgn="base" hangingPunct="0">
              <a:spcBef>
                <a:spcPct val="0"/>
              </a:spcBef>
              <a:spcAft>
                <a:spcPct val="0"/>
              </a:spcAft>
              <a:defRPr/>
            </a:pPr>
            <a:r>
              <a:rPr lang="en-US" altLang="en-US" sz="1000"/>
              <a:t>We update the page with new content</a:t>
            </a:r>
            <a:r>
              <a:rPr lang="pl-PL" altLang="en-US" sz="1000"/>
              <a:t> and/or layout.</a:t>
            </a:r>
          </a:p>
        </p:txBody>
      </p:sp>
      <p:sp>
        <p:nvSpPr>
          <p:cNvPr id="14" name="TextBox 13">
            <a:extLst>
              <a:ext uri="{FF2B5EF4-FFF2-40B4-BE49-F238E27FC236}">
                <a16:creationId xmlns:a16="http://schemas.microsoft.com/office/drawing/2014/main" id="{249626BD-3810-65DC-CC67-3E84BCEDC1B4}"/>
              </a:ext>
            </a:extLst>
          </p:cNvPr>
          <p:cNvSpPr txBox="1"/>
          <p:nvPr/>
        </p:nvSpPr>
        <p:spPr>
          <a:xfrm>
            <a:off x="1367410" y="2358235"/>
            <a:ext cx="2009157" cy="704088"/>
          </a:xfrm>
          <a:prstGeom prst="rect">
            <a:avLst/>
          </a:prstGeom>
          <a:solidFill>
            <a:schemeClr val="accent5"/>
          </a:solidFill>
          <a:ln>
            <a:solidFill>
              <a:schemeClr val="tx1"/>
            </a:solidFill>
          </a:ln>
        </p:spPr>
        <p:txBody>
          <a:bodyPr wrap="square">
            <a:spAutoFit/>
          </a:bodyPr>
          <a:lstStyle/>
          <a:p>
            <a:pPr algn="ctr" defTabSz="685800" eaLnBrk="0" fontAlgn="base" hangingPunct="0">
              <a:spcBef>
                <a:spcPct val="0"/>
              </a:spcBef>
              <a:spcAft>
                <a:spcPct val="0"/>
              </a:spcAft>
              <a:defRPr/>
            </a:pPr>
            <a:r>
              <a:rPr lang="pl-PL" altLang="en-US" sz="1000" b="1">
                <a:solidFill>
                  <a:schemeClr val="bg2">
                    <a:lumMod val="50000"/>
                  </a:schemeClr>
                </a:solidFill>
              </a:rPr>
              <a:t>6. Page deployment</a:t>
            </a:r>
            <a:endParaRPr lang="en-US" altLang="en-US" sz="1000" b="1">
              <a:solidFill>
                <a:schemeClr val="bg2">
                  <a:lumMod val="50000"/>
                </a:schemeClr>
              </a:solidFill>
            </a:endParaRPr>
          </a:p>
          <a:p>
            <a:pPr algn="ctr" defTabSz="685800" eaLnBrk="0" fontAlgn="base" hangingPunct="0">
              <a:spcBef>
                <a:spcPct val="0"/>
              </a:spcBef>
              <a:spcAft>
                <a:spcPct val="0"/>
              </a:spcAft>
              <a:defRPr/>
            </a:pPr>
            <a:r>
              <a:rPr lang="en-US" altLang="en-US" sz="1000"/>
              <a:t>We </a:t>
            </a:r>
            <a:r>
              <a:rPr lang="pl-PL" altLang="en-US" sz="1000"/>
              <a:t>ensure</a:t>
            </a:r>
            <a:r>
              <a:rPr lang="en-US" altLang="en-US" sz="1000"/>
              <a:t> the page is live in all relevant markets</a:t>
            </a:r>
            <a:r>
              <a:rPr lang="en-US" altLang="en-US" sz="1000">
                <a:solidFill>
                  <a:srgbClr val="000000"/>
                </a:solidFill>
              </a:rPr>
              <a:t>.</a:t>
            </a:r>
            <a:endParaRPr lang="pl-PL" altLang="en-US" sz="1000">
              <a:solidFill>
                <a:srgbClr val="000000"/>
              </a:solidFill>
            </a:endParaRPr>
          </a:p>
        </p:txBody>
      </p:sp>
    </p:spTree>
    <p:extLst>
      <p:ext uri="{BB962C8B-B14F-4D97-AF65-F5344CB8AC3E}">
        <p14:creationId xmlns:p14="http://schemas.microsoft.com/office/powerpoint/2010/main" val="3807335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D72F9-C911-E9D5-940D-D0E0F8EA860B}"/>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2DE08201-1BC3-E9E1-DBC3-E37F68C6C2DB}"/>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2F35009F-DB74-E9F0-45F1-41BFCEB83728}"/>
              </a:ext>
            </a:extLst>
          </p:cNvPr>
          <p:cNvSpPr/>
          <p:nvPr/>
        </p:nvSpPr>
        <p:spPr>
          <a:xfrm>
            <a:off x="342899" y="192024"/>
            <a:ext cx="8357755"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GEO Strategy Implementation Step by Step</a:t>
            </a:r>
          </a:p>
        </p:txBody>
      </p:sp>
      <p:sp>
        <p:nvSpPr>
          <p:cNvPr id="12" name="Text 2">
            <a:extLst>
              <a:ext uri="{FF2B5EF4-FFF2-40B4-BE49-F238E27FC236}">
                <a16:creationId xmlns:a16="http://schemas.microsoft.com/office/drawing/2014/main" id="{33D8B633-A6A0-246F-62A6-495FDC161A40}"/>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Where to start and next steps.</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2E4FD5DE-F17C-1231-B687-AEDBEDA8F8F6}"/>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3B46E4BA-E2EC-50C5-55F2-C9EA05936324}"/>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8</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TextBox 1">
            <a:extLst>
              <a:ext uri="{FF2B5EF4-FFF2-40B4-BE49-F238E27FC236}">
                <a16:creationId xmlns:a16="http://schemas.microsoft.com/office/drawing/2014/main" id="{209D93E6-7E5D-425B-4B6C-86287FFFCAA8}"/>
              </a:ext>
            </a:extLst>
          </p:cNvPr>
          <p:cNvSpPr txBox="1"/>
          <p:nvPr/>
        </p:nvSpPr>
        <p:spPr>
          <a:xfrm>
            <a:off x="342899" y="1772688"/>
            <a:ext cx="1573117" cy="2192908"/>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lang="pl-PL" sz="1050">
                <a:solidFill>
                  <a:srgbClr val="0A2F24"/>
                </a:solidFill>
                <a:latin typeface="Poppins"/>
              </a:rPr>
              <a:t>First, we need to define the prompts we want to optimize for by doing the prompt research.</a:t>
            </a: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050" i="0" u="none" strike="noStrike" kern="1200" cap="none" spc="0" normalizeH="0" baseline="0" noProof="0">
              <a:ln>
                <a:noFill/>
              </a:ln>
              <a:solidFill>
                <a:srgbClr val="0A2F24"/>
              </a:solidFill>
              <a:effectLst/>
              <a:uLnTx/>
              <a:uFillTx/>
              <a:latin typeface="Poppins"/>
              <a:ea typeface="+mn-ea"/>
              <a:cs typeface="+mn-cs"/>
            </a:endParaRPr>
          </a:p>
        </p:txBody>
      </p:sp>
      <p:pic>
        <p:nvPicPr>
          <p:cNvPr id="18" name="Graphic 17" descr="Microscope with solid fill">
            <a:extLst>
              <a:ext uri="{FF2B5EF4-FFF2-40B4-BE49-F238E27FC236}">
                <a16:creationId xmlns:a16="http://schemas.microsoft.com/office/drawing/2014/main" id="{BE9EA960-EAFB-DD16-E1FC-BB7D57BA80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332" y="1789918"/>
            <a:ext cx="914400" cy="914400"/>
          </a:xfrm>
          <a:prstGeom prst="rect">
            <a:avLst/>
          </a:prstGeom>
        </p:spPr>
      </p:pic>
      <p:sp>
        <p:nvSpPr>
          <p:cNvPr id="19" name="TextBox 18">
            <a:extLst>
              <a:ext uri="{FF2B5EF4-FFF2-40B4-BE49-F238E27FC236}">
                <a16:creationId xmlns:a16="http://schemas.microsoft.com/office/drawing/2014/main" id="{173F6F1D-DD25-C11F-6997-33C91C3CC2B8}"/>
              </a:ext>
            </a:extLst>
          </p:cNvPr>
          <p:cNvSpPr txBox="1"/>
          <p:nvPr/>
        </p:nvSpPr>
        <p:spPr>
          <a:xfrm>
            <a:off x="2440542" y="1772689"/>
            <a:ext cx="1573117" cy="2192908"/>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lang="pl-PL" sz="1050">
                <a:solidFill>
                  <a:srgbClr val="0A2F24"/>
                </a:solidFill>
                <a:latin typeface="Poppins"/>
              </a:rPr>
              <a:t>Next, we optimize the content fixing content gaps by optimizing it to answer the selected </a:t>
            </a:r>
          </a:p>
          <a:p>
            <a:pPr marL="0" marR="0" lvl="0" indent="0" algn="l" defTabSz="457184" rtl="0" eaLnBrk="1" fontAlgn="auto" latinLnBrk="0" hangingPunct="1">
              <a:lnSpc>
                <a:spcPct val="100000"/>
              </a:lnSpc>
              <a:spcBef>
                <a:spcPts val="0"/>
              </a:spcBef>
              <a:spcAft>
                <a:spcPts val="0"/>
              </a:spcAft>
              <a:buClrTx/>
              <a:buSzTx/>
              <a:buFontTx/>
              <a:buNone/>
              <a:tabLst/>
              <a:defRPr/>
            </a:pPr>
            <a:r>
              <a:rPr lang="pl-PL" sz="1050">
                <a:solidFill>
                  <a:srgbClr val="0A2F24"/>
                </a:solidFill>
                <a:latin typeface="Poppins"/>
              </a:rPr>
              <a:t>prompts.</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050" i="0" u="none" strike="noStrike" kern="1200" cap="none" spc="0" normalizeH="0" baseline="0" noProof="0">
              <a:ln>
                <a:noFill/>
              </a:ln>
              <a:solidFill>
                <a:srgbClr val="0A2F24"/>
              </a:solidFill>
              <a:effectLst/>
              <a:uLnTx/>
              <a:uFillTx/>
              <a:latin typeface="Poppins"/>
              <a:ea typeface="+mn-ea"/>
              <a:cs typeface="+mn-cs"/>
            </a:endParaRPr>
          </a:p>
        </p:txBody>
      </p:sp>
      <p:sp>
        <p:nvSpPr>
          <p:cNvPr id="21" name="TextBox 20">
            <a:extLst>
              <a:ext uri="{FF2B5EF4-FFF2-40B4-BE49-F238E27FC236}">
                <a16:creationId xmlns:a16="http://schemas.microsoft.com/office/drawing/2014/main" id="{08FB7EC4-B624-CF59-277E-8AB9360FBE6B}"/>
              </a:ext>
            </a:extLst>
          </p:cNvPr>
          <p:cNvSpPr txBox="1"/>
          <p:nvPr/>
        </p:nvSpPr>
        <p:spPr>
          <a:xfrm>
            <a:off x="4538185" y="1772688"/>
            <a:ext cx="1573117" cy="2192908"/>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lang="pl-PL" sz="1050">
                <a:solidFill>
                  <a:srgbClr val="0A2F24"/>
                </a:solidFill>
                <a:latin typeface="Poppins"/>
              </a:rPr>
              <a:t>Once the content is optimized and published on the page, we monitor the AI models results for the selected prompts.</a:t>
            </a:r>
            <a:endParaRPr kumimoji="0" lang="pl-PL" sz="1050" i="0" u="none" strike="noStrike" kern="1200" cap="none" spc="0" normalizeH="0" baseline="0" noProof="0">
              <a:ln>
                <a:noFill/>
              </a:ln>
              <a:solidFill>
                <a:srgbClr val="0A2F24"/>
              </a:solidFill>
              <a:effectLst/>
              <a:uLnTx/>
              <a:uFillTx/>
              <a:latin typeface="Poppins"/>
              <a:ea typeface="+mn-ea"/>
              <a:cs typeface="+mn-cs"/>
            </a:endParaRPr>
          </a:p>
        </p:txBody>
      </p:sp>
      <p:sp>
        <p:nvSpPr>
          <p:cNvPr id="22" name="TextBox 21">
            <a:extLst>
              <a:ext uri="{FF2B5EF4-FFF2-40B4-BE49-F238E27FC236}">
                <a16:creationId xmlns:a16="http://schemas.microsoft.com/office/drawing/2014/main" id="{AC4D84FC-B35E-B0AF-4B26-B33E1A35C6EA}"/>
              </a:ext>
            </a:extLst>
          </p:cNvPr>
          <p:cNvSpPr txBox="1"/>
          <p:nvPr/>
        </p:nvSpPr>
        <p:spPr>
          <a:xfrm>
            <a:off x="6612158" y="1160982"/>
            <a:ext cx="2121311" cy="1869743"/>
          </a:xfrm>
          <a:prstGeom prst="rect">
            <a:avLst/>
          </a:prstGeom>
          <a:solidFill>
            <a:schemeClr val="tx2"/>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a:solidFill>
                  <a:srgbClr val="0A2F24"/>
                </a:solidFill>
                <a:latin typeface="Poppins"/>
              </a:rPr>
              <a:t>If our enhancements works, our brand will be mentioned and our page will be cited (not always the two are connected. We can be mentioned but not always cited. But beeing mentioned is a win.). We should keep observing the results to ensure that we remain mentioned and cited.</a:t>
            </a:r>
            <a:endParaRPr kumimoji="0" lang="pl-PL" sz="1050" i="0" u="none" strike="noStrike" kern="1200" cap="none" spc="0" normalizeH="0" baseline="0" noProof="0">
              <a:ln>
                <a:noFill/>
              </a:ln>
              <a:solidFill>
                <a:srgbClr val="0A2F24"/>
              </a:solidFill>
              <a:effectLst/>
              <a:uLnTx/>
              <a:uFillTx/>
              <a:latin typeface="Poppins"/>
              <a:ea typeface="+mn-ea"/>
              <a:cs typeface="+mn-cs"/>
            </a:endParaRPr>
          </a:p>
        </p:txBody>
      </p:sp>
      <p:cxnSp>
        <p:nvCxnSpPr>
          <p:cNvPr id="23" name="Straight Arrow Connector 22">
            <a:extLst>
              <a:ext uri="{FF2B5EF4-FFF2-40B4-BE49-F238E27FC236}">
                <a16:creationId xmlns:a16="http://schemas.microsoft.com/office/drawing/2014/main" id="{7F36C3B7-DFEF-088F-8CD9-0371AFCAB98F}"/>
              </a:ext>
            </a:extLst>
          </p:cNvPr>
          <p:cNvCxnSpPr>
            <a:cxnSpLocks/>
            <a:stCxn id="2" idx="3"/>
            <a:endCxn id="19" idx="1"/>
          </p:cNvCxnSpPr>
          <p:nvPr/>
        </p:nvCxnSpPr>
        <p:spPr>
          <a:xfrm>
            <a:off x="1916016" y="2869142"/>
            <a:ext cx="524526" cy="1"/>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6" name="Straight Arrow Connector 25">
            <a:extLst>
              <a:ext uri="{FF2B5EF4-FFF2-40B4-BE49-F238E27FC236}">
                <a16:creationId xmlns:a16="http://schemas.microsoft.com/office/drawing/2014/main" id="{F924D70F-AAA7-F0D4-AB53-828A41BE196F}"/>
              </a:ext>
            </a:extLst>
          </p:cNvPr>
          <p:cNvCxnSpPr>
            <a:cxnSpLocks/>
            <a:stCxn id="19" idx="3"/>
            <a:endCxn id="21" idx="1"/>
          </p:cNvCxnSpPr>
          <p:nvPr/>
        </p:nvCxnSpPr>
        <p:spPr>
          <a:xfrm flipV="1">
            <a:off x="4013659" y="2869142"/>
            <a:ext cx="524526" cy="1"/>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608E02E4-406E-C06A-7324-2E44A74E2FA7}"/>
              </a:ext>
            </a:extLst>
          </p:cNvPr>
          <p:cNvSpPr txBox="1"/>
          <p:nvPr/>
        </p:nvSpPr>
        <p:spPr>
          <a:xfrm>
            <a:off x="6612159" y="3231000"/>
            <a:ext cx="2121311" cy="1223412"/>
          </a:xfrm>
          <a:prstGeom prst="rect">
            <a:avLst/>
          </a:prstGeom>
          <a:solidFill>
            <a:schemeClr val="accent2"/>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a:solidFill>
                  <a:srgbClr val="0A2F24"/>
                </a:solidFill>
                <a:latin typeface="Poppins"/>
              </a:rPr>
              <a:t>If our enhancements didn’t work, we should continue working on content optimization, trying to understand what the winning content has, that we do not.</a:t>
            </a:r>
            <a:endParaRPr kumimoji="0" lang="pl-PL" sz="1050" i="0" u="none" strike="noStrike" kern="1200" cap="none" spc="0" normalizeH="0" baseline="0" noProof="0">
              <a:ln>
                <a:noFill/>
              </a:ln>
              <a:solidFill>
                <a:srgbClr val="0A2F24"/>
              </a:solidFill>
              <a:effectLst/>
              <a:uLnTx/>
              <a:uFillTx/>
              <a:latin typeface="Poppins"/>
              <a:ea typeface="+mn-ea"/>
              <a:cs typeface="+mn-cs"/>
            </a:endParaRPr>
          </a:p>
        </p:txBody>
      </p:sp>
      <p:pic>
        <p:nvPicPr>
          <p:cNvPr id="15" name="Graphic 14" descr="Internet with solid fill">
            <a:extLst>
              <a:ext uri="{FF2B5EF4-FFF2-40B4-BE49-F238E27FC236}">
                <a16:creationId xmlns:a16="http://schemas.microsoft.com/office/drawing/2014/main" id="{8CE8866C-B48B-CD85-901F-830A21C876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15068" y="1789919"/>
            <a:ext cx="914400" cy="914400"/>
          </a:xfrm>
          <a:prstGeom prst="rect">
            <a:avLst/>
          </a:prstGeom>
        </p:spPr>
      </p:pic>
      <p:cxnSp>
        <p:nvCxnSpPr>
          <p:cNvPr id="48" name="Connector: Elbow 47">
            <a:extLst>
              <a:ext uri="{FF2B5EF4-FFF2-40B4-BE49-F238E27FC236}">
                <a16:creationId xmlns:a16="http://schemas.microsoft.com/office/drawing/2014/main" id="{2221EAA4-EBE0-BA3D-D903-47F9AABD1ECD}"/>
              </a:ext>
            </a:extLst>
          </p:cNvPr>
          <p:cNvCxnSpPr>
            <a:cxnSpLocks/>
            <a:stCxn id="29" idx="2"/>
            <a:endCxn id="19" idx="2"/>
          </p:cNvCxnSpPr>
          <p:nvPr/>
        </p:nvCxnSpPr>
        <p:spPr>
          <a:xfrm rot="5400000" flipH="1">
            <a:off x="5205550" y="1987148"/>
            <a:ext cx="488815" cy="4445714"/>
          </a:xfrm>
          <a:prstGeom prst="bentConnector3">
            <a:avLst>
              <a:gd name="adj1" fmla="val -46766"/>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0" name="Straight Arrow Connector 49">
            <a:extLst>
              <a:ext uri="{FF2B5EF4-FFF2-40B4-BE49-F238E27FC236}">
                <a16:creationId xmlns:a16="http://schemas.microsoft.com/office/drawing/2014/main" id="{73523BAC-34AE-4F51-7897-FD646718D3B7}"/>
              </a:ext>
            </a:extLst>
          </p:cNvPr>
          <p:cNvCxnSpPr>
            <a:cxnSpLocks/>
            <a:stCxn id="21" idx="3"/>
            <a:endCxn id="22" idx="1"/>
          </p:cNvCxnSpPr>
          <p:nvPr/>
        </p:nvCxnSpPr>
        <p:spPr>
          <a:xfrm flipV="1">
            <a:off x="6111302" y="2095854"/>
            <a:ext cx="500856" cy="77328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3" name="Straight Arrow Connector 52">
            <a:extLst>
              <a:ext uri="{FF2B5EF4-FFF2-40B4-BE49-F238E27FC236}">
                <a16:creationId xmlns:a16="http://schemas.microsoft.com/office/drawing/2014/main" id="{5ACDC83C-4A31-3643-2B3A-250D1CA48BA6}"/>
              </a:ext>
            </a:extLst>
          </p:cNvPr>
          <p:cNvCxnSpPr>
            <a:cxnSpLocks/>
            <a:stCxn id="21" idx="3"/>
            <a:endCxn id="29" idx="1"/>
          </p:cNvCxnSpPr>
          <p:nvPr/>
        </p:nvCxnSpPr>
        <p:spPr>
          <a:xfrm>
            <a:off x="6111302" y="2869142"/>
            <a:ext cx="500857" cy="973564"/>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56" name="Arrow: Right 55">
            <a:extLst>
              <a:ext uri="{FF2B5EF4-FFF2-40B4-BE49-F238E27FC236}">
                <a16:creationId xmlns:a16="http://schemas.microsoft.com/office/drawing/2014/main" id="{D57EAF7C-A967-B5FE-2EC4-B6417B9E8E82}"/>
              </a:ext>
            </a:extLst>
          </p:cNvPr>
          <p:cNvSpPr/>
          <p:nvPr/>
        </p:nvSpPr>
        <p:spPr>
          <a:xfrm>
            <a:off x="8609891" y="1789918"/>
            <a:ext cx="500857" cy="472012"/>
          </a:xfrm>
          <a:prstGeom prst="rightArrow">
            <a:avLst>
              <a:gd name="adj1" fmla="val 50000"/>
              <a:gd name="adj2"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pic>
        <p:nvPicPr>
          <p:cNvPr id="65" name="Graphic 64" descr="Gears with solid fill">
            <a:extLst>
              <a:ext uri="{FF2B5EF4-FFF2-40B4-BE49-F238E27FC236}">
                <a16:creationId xmlns:a16="http://schemas.microsoft.com/office/drawing/2014/main" id="{399BF2C6-6FDC-ABCD-CBF6-A3D7EBEF0D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69900" y="1789918"/>
            <a:ext cx="914400" cy="914400"/>
          </a:xfrm>
          <a:prstGeom prst="rect">
            <a:avLst/>
          </a:prstGeom>
        </p:spPr>
      </p:pic>
    </p:spTree>
    <p:extLst>
      <p:ext uri="{BB962C8B-B14F-4D97-AF65-F5344CB8AC3E}">
        <p14:creationId xmlns:p14="http://schemas.microsoft.com/office/powerpoint/2010/main" val="1045307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FA231-4DF5-9DFB-10B9-33E78F939F8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405F450-445B-6B52-CB6C-6156418A9F9A}"/>
              </a:ext>
            </a:extLst>
          </p:cNvPr>
          <p:cNvPicPr>
            <a:picLocks noChangeAspect="1"/>
          </p:cNvPicPr>
          <p:nvPr/>
        </p:nvPicPr>
        <p:blipFill>
          <a:blip r:embed="rId3"/>
          <a:stretch>
            <a:fillRect/>
          </a:stretch>
        </p:blipFill>
        <p:spPr>
          <a:xfrm>
            <a:off x="3965207" y="1571736"/>
            <a:ext cx="1829954" cy="1160318"/>
          </a:xfrm>
          <a:prstGeom prst="rect">
            <a:avLst/>
          </a:prstGeom>
          <a:ln>
            <a:solidFill>
              <a:schemeClr val="tx1"/>
            </a:solidFill>
          </a:ln>
        </p:spPr>
      </p:pic>
      <p:sp>
        <p:nvSpPr>
          <p:cNvPr id="8" name="Shape 0">
            <a:extLst>
              <a:ext uri="{FF2B5EF4-FFF2-40B4-BE49-F238E27FC236}">
                <a16:creationId xmlns:a16="http://schemas.microsoft.com/office/drawing/2014/main" id="{D3D40CCF-AA41-BAEA-B8BA-74A6201A78B5}"/>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D7586F5F-7826-41A3-3BBE-1DE917F3307B}"/>
              </a:ext>
            </a:extLst>
          </p:cNvPr>
          <p:cNvSpPr/>
          <p:nvPr/>
        </p:nvSpPr>
        <p:spPr>
          <a:xfrm>
            <a:off x="342899" y="192024"/>
            <a:ext cx="8357755"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2200">
                <a:solidFill>
                  <a:srgbClr val="E7FFD9"/>
                </a:solidFill>
                <a:latin typeface="Poppins"/>
                <a:cs typeface="Arial"/>
              </a:rPr>
              <a:t>Anathomy of GEO Ready Page</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79E75B75-86AC-097E-6E2B-FCF086123105}"/>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How the optimized page look like.</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DA9EC321-E019-59A0-DE69-680884B0D4E3}"/>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A44066EE-2010-A41C-CCFB-022A7824A38F}"/>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9</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19" name="TextBox 18">
            <a:extLst>
              <a:ext uri="{FF2B5EF4-FFF2-40B4-BE49-F238E27FC236}">
                <a16:creationId xmlns:a16="http://schemas.microsoft.com/office/drawing/2014/main" id="{B964E879-ECAB-6C24-1435-0D37EFEDFDE8}"/>
              </a:ext>
            </a:extLst>
          </p:cNvPr>
          <p:cNvSpPr txBox="1"/>
          <p:nvPr/>
        </p:nvSpPr>
        <p:spPr>
          <a:xfrm>
            <a:off x="518706" y="2871956"/>
            <a:ext cx="1573117" cy="577081"/>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rgbClr val="0A2F24"/>
                </a:solidFill>
                <a:latin typeface="Poppins"/>
              </a:rPr>
              <a:t>Content and assets optimized</a:t>
            </a:r>
            <a:r>
              <a:rPr lang="pl-PL" sz="1050">
                <a:solidFill>
                  <a:srgbClr val="0A2F24"/>
                </a:solidFill>
                <a:latin typeface="Poppins"/>
              </a:rPr>
              <a:t> for the selected prompts</a:t>
            </a:r>
          </a:p>
        </p:txBody>
      </p:sp>
      <p:pic>
        <p:nvPicPr>
          <p:cNvPr id="4" name="Picture 3">
            <a:extLst>
              <a:ext uri="{FF2B5EF4-FFF2-40B4-BE49-F238E27FC236}">
                <a16:creationId xmlns:a16="http://schemas.microsoft.com/office/drawing/2014/main" id="{810C9256-B138-E8A6-FE0B-B952D30792AC}"/>
              </a:ext>
            </a:extLst>
          </p:cNvPr>
          <p:cNvPicPr>
            <a:picLocks noChangeAspect="1"/>
          </p:cNvPicPr>
          <p:nvPr/>
        </p:nvPicPr>
        <p:blipFill>
          <a:blip r:embed="rId4"/>
          <a:stretch>
            <a:fillRect/>
          </a:stretch>
        </p:blipFill>
        <p:spPr>
          <a:xfrm>
            <a:off x="2720415" y="1128391"/>
            <a:ext cx="1620870" cy="3922776"/>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5C67306B-71B0-89E9-F8B5-0D6CA1FC147A}"/>
              </a:ext>
            </a:extLst>
          </p:cNvPr>
          <p:cNvCxnSpPr>
            <a:cxnSpLocks/>
            <a:stCxn id="19" idx="3"/>
          </p:cNvCxnSpPr>
          <p:nvPr/>
        </p:nvCxnSpPr>
        <p:spPr>
          <a:xfrm>
            <a:off x="2091823" y="3160497"/>
            <a:ext cx="628592" cy="447007"/>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DA2098EF-F50B-DD75-09B4-AD67CDA62CF0}"/>
              </a:ext>
            </a:extLst>
          </p:cNvPr>
          <p:cNvCxnSpPr>
            <a:cxnSpLocks/>
            <a:stCxn id="19" idx="3"/>
          </p:cNvCxnSpPr>
          <p:nvPr/>
        </p:nvCxnSpPr>
        <p:spPr>
          <a:xfrm flipV="1">
            <a:off x="2091823" y="2859639"/>
            <a:ext cx="703092" cy="30085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EC7D9677-67D5-7130-C670-6D4A286484EF}"/>
              </a:ext>
            </a:extLst>
          </p:cNvPr>
          <p:cNvCxnSpPr>
            <a:cxnSpLocks/>
            <a:stCxn id="19" idx="3"/>
          </p:cNvCxnSpPr>
          <p:nvPr/>
        </p:nvCxnSpPr>
        <p:spPr>
          <a:xfrm flipV="1">
            <a:off x="2091823" y="2424949"/>
            <a:ext cx="703092" cy="73554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8" name="TextBox 27">
            <a:extLst>
              <a:ext uri="{FF2B5EF4-FFF2-40B4-BE49-F238E27FC236}">
                <a16:creationId xmlns:a16="http://schemas.microsoft.com/office/drawing/2014/main" id="{515B9F98-0A45-4F5C-6A5D-25715D8D0A40}"/>
              </a:ext>
            </a:extLst>
          </p:cNvPr>
          <p:cNvSpPr txBox="1"/>
          <p:nvPr/>
        </p:nvSpPr>
        <p:spPr>
          <a:xfrm>
            <a:off x="517842" y="1189220"/>
            <a:ext cx="1573117" cy="1223412"/>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rgbClr val="0A2F24"/>
                </a:solidFill>
                <a:latin typeface="Poppins"/>
              </a:rPr>
              <a:t>Front-loaded, quotable answers </a:t>
            </a:r>
            <a:r>
              <a:rPr lang="pl-PL" sz="1050">
                <a:solidFill>
                  <a:srgbClr val="0A2F24"/>
                </a:solidFill>
                <a:latin typeface="Poppins"/>
              </a:rPr>
              <a:t>- most important message is placed in top 2-3 components on the page.</a:t>
            </a:r>
          </a:p>
        </p:txBody>
      </p:sp>
      <p:cxnSp>
        <p:nvCxnSpPr>
          <p:cNvPr id="30" name="Straight Arrow Connector 29">
            <a:extLst>
              <a:ext uri="{FF2B5EF4-FFF2-40B4-BE49-F238E27FC236}">
                <a16:creationId xmlns:a16="http://schemas.microsoft.com/office/drawing/2014/main" id="{CB4D72E8-836D-AE7A-34E5-3946D499E313}"/>
              </a:ext>
            </a:extLst>
          </p:cNvPr>
          <p:cNvCxnSpPr>
            <a:cxnSpLocks/>
            <a:stCxn id="28" idx="3"/>
          </p:cNvCxnSpPr>
          <p:nvPr/>
        </p:nvCxnSpPr>
        <p:spPr>
          <a:xfrm>
            <a:off x="2090959" y="1800926"/>
            <a:ext cx="629456"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4360B50C-C1C5-A2AC-886C-B65FA60BE8FC}"/>
              </a:ext>
            </a:extLst>
          </p:cNvPr>
          <p:cNvSpPr txBox="1"/>
          <p:nvPr/>
        </p:nvSpPr>
        <p:spPr>
          <a:xfrm>
            <a:off x="5664221" y="569214"/>
            <a:ext cx="1573117" cy="900246"/>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rgbClr val="0A2F24"/>
                </a:solidFill>
                <a:latin typeface="Poppins"/>
              </a:rPr>
              <a:t>Technical GEO </a:t>
            </a:r>
            <a:r>
              <a:rPr lang="pl-PL" sz="1050">
                <a:solidFill>
                  <a:srgbClr val="0A2F24"/>
                </a:solidFill>
                <a:latin typeface="Poppins"/>
              </a:rPr>
              <a:t>in place. Not visible to human, very much visible to the machine.</a:t>
            </a:r>
          </a:p>
        </p:txBody>
      </p:sp>
      <p:cxnSp>
        <p:nvCxnSpPr>
          <p:cNvPr id="35" name="Straight Arrow Connector 34">
            <a:extLst>
              <a:ext uri="{FF2B5EF4-FFF2-40B4-BE49-F238E27FC236}">
                <a16:creationId xmlns:a16="http://schemas.microsoft.com/office/drawing/2014/main" id="{9D759766-2811-B07A-D08B-32D0A112DD86}"/>
              </a:ext>
            </a:extLst>
          </p:cNvPr>
          <p:cNvCxnSpPr>
            <a:cxnSpLocks/>
            <a:stCxn id="34" idx="2"/>
          </p:cNvCxnSpPr>
          <p:nvPr/>
        </p:nvCxnSpPr>
        <p:spPr>
          <a:xfrm flipH="1">
            <a:off x="5039711" y="1469460"/>
            <a:ext cx="1411069" cy="331466"/>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40" name="TextBox 39">
            <a:extLst>
              <a:ext uri="{FF2B5EF4-FFF2-40B4-BE49-F238E27FC236}">
                <a16:creationId xmlns:a16="http://schemas.microsoft.com/office/drawing/2014/main" id="{76722735-D392-8271-8D1B-61C95B41A71B}"/>
              </a:ext>
            </a:extLst>
          </p:cNvPr>
          <p:cNvSpPr txBox="1"/>
          <p:nvPr/>
        </p:nvSpPr>
        <p:spPr>
          <a:xfrm>
            <a:off x="517842" y="3743663"/>
            <a:ext cx="1573117" cy="900246"/>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rgbClr val="0A2F24"/>
                </a:solidFill>
                <a:latin typeface="Poppins"/>
              </a:rPr>
              <a:t>Scannable bullet summaries </a:t>
            </a:r>
            <a:r>
              <a:rPr lang="pl-PL" sz="1050">
                <a:solidFill>
                  <a:srgbClr val="0A2F24"/>
                </a:solidFill>
                <a:latin typeface="Poppins"/>
              </a:rPr>
              <a:t>– content easy to understand and use by AI.</a:t>
            </a:r>
          </a:p>
        </p:txBody>
      </p:sp>
      <p:cxnSp>
        <p:nvCxnSpPr>
          <p:cNvPr id="44" name="Straight Arrow Connector 43">
            <a:extLst>
              <a:ext uri="{FF2B5EF4-FFF2-40B4-BE49-F238E27FC236}">
                <a16:creationId xmlns:a16="http://schemas.microsoft.com/office/drawing/2014/main" id="{CCA56CCB-0575-2EA9-E443-DE97E0DD9030}"/>
              </a:ext>
            </a:extLst>
          </p:cNvPr>
          <p:cNvCxnSpPr>
            <a:cxnSpLocks/>
            <a:stCxn id="40" idx="3"/>
          </p:cNvCxnSpPr>
          <p:nvPr/>
        </p:nvCxnSpPr>
        <p:spPr>
          <a:xfrm>
            <a:off x="2090959" y="4193786"/>
            <a:ext cx="617855" cy="359926"/>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49" name="TextBox 48">
            <a:extLst>
              <a:ext uri="{FF2B5EF4-FFF2-40B4-BE49-F238E27FC236}">
                <a16:creationId xmlns:a16="http://schemas.microsoft.com/office/drawing/2014/main" id="{897C222A-7E94-C6B9-0BF2-CF9ACCFE2DF1}"/>
              </a:ext>
            </a:extLst>
          </p:cNvPr>
          <p:cNvSpPr txBox="1"/>
          <p:nvPr/>
        </p:nvSpPr>
        <p:spPr>
          <a:xfrm>
            <a:off x="4745489" y="3889361"/>
            <a:ext cx="1573117" cy="1223412"/>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en-US" sz="1050" b="1">
                <a:solidFill>
                  <a:srgbClr val="0A2F24"/>
                </a:solidFill>
                <a:latin typeface="Poppins"/>
              </a:rPr>
              <a:t>Authoritative citations and sourcing</a:t>
            </a:r>
            <a:r>
              <a:rPr lang="pl-PL" sz="1050" b="1">
                <a:solidFill>
                  <a:srgbClr val="0A2F24"/>
                </a:solidFill>
                <a:latin typeface="Poppins"/>
              </a:rPr>
              <a:t> -</a:t>
            </a:r>
            <a:r>
              <a:rPr lang="en-US" sz="1050" b="1">
                <a:solidFill>
                  <a:srgbClr val="0A2F24"/>
                </a:solidFill>
                <a:latin typeface="Poppins"/>
              </a:rPr>
              <a:t> </a:t>
            </a:r>
            <a:r>
              <a:rPr lang="pl-PL" sz="1050">
                <a:solidFill>
                  <a:srgbClr val="0A2F24"/>
                </a:solidFill>
                <a:latin typeface="Poppins"/>
              </a:rPr>
              <a:t>l</a:t>
            </a:r>
            <a:r>
              <a:rPr lang="en-US" sz="1050">
                <a:solidFill>
                  <a:srgbClr val="0A2F24"/>
                </a:solidFill>
                <a:latin typeface="Poppins"/>
              </a:rPr>
              <a:t>ink</a:t>
            </a:r>
            <a:r>
              <a:rPr lang="pl-PL" sz="1050">
                <a:solidFill>
                  <a:srgbClr val="0A2F24"/>
                </a:solidFill>
                <a:latin typeface="Poppins"/>
              </a:rPr>
              <a:t>ing</a:t>
            </a:r>
            <a:r>
              <a:rPr lang="en-US" sz="1050">
                <a:solidFill>
                  <a:srgbClr val="0A2F24"/>
                </a:solidFill>
                <a:latin typeface="Poppins"/>
              </a:rPr>
              <a:t> out to credible external sources and </a:t>
            </a:r>
            <a:r>
              <a:rPr lang="en-US" sz="1050" err="1">
                <a:solidFill>
                  <a:srgbClr val="0A2F24"/>
                </a:solidFill>
                <a:latin typeface="Poppins"/>
              </a:rPr>
              <a:t>cit</a:t>
            </a:r>
            <a:r>
              <a:rPr lang="pl-PL" sz="1050">
                <a:solidFill>
                  <a:srgbClr val="0A2F24"/>
                </a:solidFill>
                <a:latin typeface="Poppins"/>
              </a:rPr>
              <a:t>ing</a:t>
            </a:r>
            <a:r>
              <a:rPr lang="en-US" sz="1050">
                <a:solidFill>
                  <a:srgbClr val="0A2F24"/>
                </a:solidFill>
                <a:latin typeface="Poppins"/>
              </a:rPr>
              <a:t> data</a:t>
            </a:r>
            <a:r>
              <a:rPr lang="pl-PL" sz="1050">
                <a:solidFill>
                  <a:srgbClr val="0A2F24"/>
                </a:solidFill>
                <a:latin typeface="Poppins"/>
              </a:rPr>
              <a:t> </a:t>
            </a:r>
            <a:r>
              <a:rPr lang="en-US" sz="1050">
                <a:solidFill>
                  <a:srgbClr val="0A2F24"/>
                </a:solidFill>
                <a:latin typeface="Poppins"/>
              </a:rPr>
              <a:t>to determine trust.</a:t>
            </a:r>
            <a:endParaRPr lang="pl-PL" sz="1050">
              <a:solidFill>
                <a:srgbClr val="0A2F24"/>
              </a:solidFill>
              <a:latin typeface="Poppins"/>
            </a:endParaRPr>
          </a:p>
        </p:txBody>
      </p:sp>
      <p:cxnSp>
        <p:nvCxnSpPr>
          <p:cNvPr id="51" name="Straight Arrow Connector 50">
            <a:extLst>
              <a:ext uri="{FF2B5EF4-FFF2-40B4-BE49-F238E27FC236}">
                <a16:creationId xmlns:a16="http://schemas.microsoft.com/office/drawing/2014/main" id="{C0CE0D62-412A-64DA-9EAE-EC7BC9EA9E45}"/>
              </a:ext>
            </a:extLst>
          </p:cNvPr>
          <p:cNvCxnSpPr>
            <a:cxnSpLocks/>
            <a:stCxn id="49" idx="1"/>
          </p:cNvCxnSpPr>
          <p:nvPr/>
        </p:nvCxnSpPr>
        <p:spPr>
          <a:xfrm flipH="1">
            <a:off x="4352886" y="4501067"/>
            <a:ext cx="392603" cy="195624"/>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6065FD12-FF75-B6C5-BAC2-D9C76D8BFEE5}"/>
              </a:ext>
            </a:extLst>
          </p:cNvPr>
          <p:cNvSpPr txBox="1"/>
          <p:nvPr/>
        </p:nvSpPr>
        <p:spPr>
          <a:xfrm>
            <a:off x="5966424" y="1645729"/>
            <a:ext cx="1573117" cy="1384995"/>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rgbClr val="0A2F24"/>
                </a:solidFill>
                <a:latin typeface="Poppins"/>
              </a:rPr>
              <a:t>Conversational human tone - </a:t>
            </a:r>
            <a:r>
              <a:rPr lang="en-US" sz="1050">
                <a:solidFill>
                  <a:srgbClr val="0A2F24"/>
                </a:solidFill>
                <a:latin typeface="Poppins"/>
              </a:rPr>
              <a:t>matching search intent and the conversational, context-rich language that performs best</a:t>
            </a:r>
            <a:endParaRPr lang="pl-PL" sz="1050">
              <a:solidFill>
                <a:srgbClr val="0A2F24"/>
              </a:solidFill>
              <a:latin typeface="Poppins"/>
            </a:endParaRPr>
          </a:p>
        </p:txBody>
      </p:sp>
      <p:cxnSp>
        <p:nvCxnSpPr>
          <p:cNvPr id="58" name="Straight Arrow Connector 57">
            <a:extLst>
              <a:ext uri="{FF2B5EF4-FFF2-40B4-BE49-F238E27FC236}">
                <a16:creationId xmlns:a16="http://schemas.microsoft.com/office/drawing/2014/main" id="{52030C43-9440-8AA6-6365-D692FC5706F7}"/>
              </a:ext>
            </a:extLst>
          </p:cNvPr>
          <p:cNvCxnSpPr>
            <a:cxnSpLocks/>
            <a:stCxn id="57" idx="1"/>
          </p:cNvCxnSpPr>
          <p:nvPr/>
        </p:nvCxnSpPr>
        <p:spPr>
          <a:xfrm flipH="1">
            <a:off x="4083728" y="2338227"/>
            <a:ext cx="1882696" cy="79218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62" name="TextBox 61">
            <a:extLst>
              <a:ext uri="{FF2B5EF4-FFF2-40B4-BE49-F238E27FC236}">
                <a16:creationId xmlns:a16="http://schemas.microsoft.com/office/drawing/2014/main" id="{5A50F107-7195-902C-78E5-77EDC3A3F70D}"/>
              </a:ext>
            </a:extLst>
          </p:cNvPr>
          <p:cNvSpPr txBox="1"/>
          <p:nvPr/>
        </p:nvSpPr>
        <p:spPr>
          <a:xfrm>
            <a:off x="6506583" y="3131957"/>
            <a:ext cx="2065915" cy="1223412"/>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050" b="1">
                <a:solidFill>
                  <a:srgbClr val="0A2F24"/>
                </a:solidFill>
                <a:latin typeface="Poppins"/>
              </a:rPr>
              <a:t>Entity and credibility signals - </a:t>
            </a:r>
            <a:r>
              <a:rPr lang="en-US" sz="1050">
                <a:solidFill>
                  <a:srgbClr val="0A2F24"/>
                </a:solidFill>
                <a:latin typeface="Poppins"/>
              </a:rPr>
              <a:t>expertise markers, and internal cross-links reinforce authority and trust, which enhances the credibility recognized by AI platforms.</a:t>
            </a:r>
            <a:endParaRPr lang="pl-PL" sz="1050">
              <a:solidFill>
                <a:srgbClr val="0A2F24"/>
              </a:solidFill>
              <a:latin typeface="Poppins"/>
            </a:endParaRPr>
          </a:p>
        </p:txBody>
      </p:sp>
      <p:cxnSp>
        <p:nvCxnSpPr>
          <p:cNvPr id="70" name="Straight Arrow Connector 69">
            <a:extLst>
              <a:ext uri="{FF2B5EF4-FFF2-40B4-BE49-F238E27FC236}">
                <a16:creationId xmlns:a16="http://schemas.microsoft.com/office/drawing/2014/main" id="{60F1F555-A992-1029-19F4-E75BF23CD9A8}"/>
              </a:ext>
            </a:extLst>
          </p:cNvPr>
          <p:cNvCxnSpPr>
            <a:cxnSpLocks/>
            <a:stCxn id="62" idx="1"/>
          </p:cNvCxnSpPr>
          <p:nvPr/>
        </p:nvCxnSpPr>
        <p:spPr>
          <a:xfrm flipH="1" flipV="1">
            <a:off x="4341285" y="3667716"/>
            <a:ext cx="2165298" cy="75947"/>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74" name="TextBox 73">
            <a:extLst>
              <a:ext uri="{FF2B5EF4-FFF2-40B4-BE49-F238E27FC236}">
                <a16:creationId xmlns:a16="http://schemas.microsoft.com/office/drawing/2014/main" id="{A2E5858D-2775-0E8B-4CDE-63E1E8446B4A}"/>
              </a:ext>
            </a:extLst>
          </p:cNvPr>
          <p:cNvSpPr txBox="1"/>
          <p:nvPr/>
        </p:nvSpPr>
        <p:spPr>
          <a:xfrm>
            <a:off x="6657631" y="4404836"/>
            <a:ext cx="2486141" cy="738664"/>
          </a:xfrm>
          <a:prstGeom prst="rect">
            <a:avLst/>
          </a:prstGeom>
          <a:solidFill>
            <a:schemeClr val="tx1"/>
          </a:solidFill>
        </p:spPr>
        <p:txBody>
          <a:bodyPr wrap="square">
            <a:spAutoFit/>
          </a:bodyPr>
          <a:lstStyle/>
          <a:p>
            <a:pPr algn="ctr"/>
            <a:r>
              <a:rPr lang="pl-PL" sz="1050" b="1">
                <a:solidFill>
                  <a:schemeClr val="accent5"/>
                </a:solidFill>
              </a:rPr>
              <a:t>Important: </a:t>
            </a:r>
            <a:r>
              <a:rPr lang="pl-PL" sz="1050">
                <a:solidFill>
                  <a:schemeClr val="accent5"/>
                </a:solidFill>
              </a:rPr>
              <a:t>Page on screenshot is our se.com home page – used only to ilustrate the example, not actaully optimized page.</a:t>
            </a:r>
            <a:endParaRPr lang="en-US" sz="1050">
              <a:solidFill>
                <a:schemeClr val="accent5"/>
              </a:solidFill>
            </a:endParaRPr>
          </a:p>
        </p:txBody>
      </p:sp>
    </p:spTree>
    <p:extLst>
      <p:ext uri="{BB962C8B-B14F-4D97-AF65-F5344CB8AC3E}">
        <p14:creationId xmlns:p14="http://schemas.microsoft.com/office/powerpoint/2010/main" val="2090667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5FCE8-6A6C-17FC-0BB1-F5F450347ED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63F1DFA-12A1-6001-0101-0FFB52E99453}"/>
              </a:ext>
            </a:extLst>
          </p:cNvPr>
          <p:cNvSpPr/>
          <p:nvPr/>
        </p:nvSpPr>
        <p:spPr>
          <a:xfrm>
            <a:off x="742951" y="1820791"/>
            <a:ext cx="7943852" cy="553998"/>
          </a:xfrm>
          <a:prstGeom prst="rect">
            <a:avLst/>
          </a:prstGeom>
          <a:noFill/>
          <a:ln/>
        </p:spPr>
        <p:txBody>
          <a:bodyPr wrap="square" lIns="0" tIns="0" rIns="0" bIns="0" rtlCol="0" anchor="t">
            <a:spAutoFit/>
          </a:bodyPr>
          <a:lstStyle/>
          <a:p>
            <a:r>
              <a:rPr lang="pl-PL" sz="3600">
                <a:solidFill>
                  <a:schemeClr val="accent5"/>
                </a:solidFill>
              </a:rPr>
              <a:t>Chapter 2: Prompt Research</a:t>
            </a:r>
            <a:endParaRPr lang="en-US" sz="3600">
              <a:solidFill>
                <a:schemeClr val="accent5"/>
              </a:solidFill>
            </a:endParaRPr>
          </a:p>
        </p:txBody>
      </p:sp>
      <p:sp>
        <p:nvSpPr>
          <p:cNvPr id="4" name="Text 1">
            <a:extLst>
              <a:ext uri="{FF2B5EF4-FFF2-40B4-BE49-F238E27FC236}">
                <a16:creationId xmlns:a16="http://schemas.microsoft.com/office/drawing/2014/main" id="{A5EAD968-CB97-B205-81CB-80F284E5479A}"/>
              </a:ext>
            </a:extLst>
          </p:cNvPr>
          <p:cNvSpPr/>
          <p:nvPr/>
        </p:nvSpPr>
        <p:spPr>
          <a:xfrm>
            <a:off x="742950" y="2412467"/>
            <a:ext cx="5715000" cy="246221"/>
          </a:xfrm>
          <a:prstGeom prst="rect">
            <a:avLst/>
          </a:prstGeom>
          <a:noFill/>
          <a:ln/>
        </p:spPr>
        <p:txBody>
          <a:bodyPr wrap="square" lIns="0" tIns="0" rIns="0" bIns="0" rtlCol="0" anchor="t">
            <a:spAutoFit/>
          </a:bodyPr>
          <a:lstStyle/>
          <a:p>
            <a:endParaRPr lang="en-US" sz="1600">
              <a:solidFill>
                <a:schemeClr val="bg1"/>
              </a:solidFill>
            </a:endParaRPr>
          </a:p>
        </p:txBody>
      </p:sp>
      <p:sp>
        <p:nvSpPr>
          <p:cNvPr id="5" name="Text 2">
            <a:extLst>
              <a:ext uri="{FF2B5EF4-FFF2-40B4-BE49-F238E27FC236}">
                <a16:creationId xmlns:a16="http://schemas.microsoft.com/office/drawing/2014/main" id="{16271A33-48B4-D47F-F000-930FF4BEEC46}"/>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FE8CDC7A-AF06-56D1-CEEF-7B4029B2454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10" name="Text Placeholder 9">
            <a:extLst>
              <a:ext uri="{FF2B5EF4-FFF2-40B4-BE49-F238E27FC236}">
                <a16:creationId xmlns:a16="http://schemas.microsoft.com/office/drawing/2014/main" id="{F6582211-1754-0608-F99B-6D1179490403}"/>
              </a:ext>
            </a:extLst>
          </p:cNvPr>
          <p:cNvSpPr>
            <a:spLocks noGrp="1"/>
          </p:cNvSpPr>
          <p:nvPr>
            <p:ph type="body" sz="quarter" idx="4294967295"/>
          </p:nvPr>
        </p:nvSpPr>
        <p:spPr>
          <a:xfrm>
            <a:off x="742950" y="4108450"/>
            <a:ext cx="6240463" cy="215900"/>
          </a:xfrm>
        </p:spPr>
        <p:txBody>
          <a:bodyPr/>
          <a:lstStyle/>
          <a:p>
            <a:r>
              <a:rPr lang="pl-PL"/>
              <a:t>Jakub Falkowski</a:t>
            </a:r>
          </a:p>
        </p:txBody>
      </p:sp>
    </p:spTree>
    <p:extLst>
      <p:ext uri="{BB962C8B-B14F-4D97-AF65-F5344CB8AC3E}">
        <p14:creationId xmlns:p14="http://schemas.microsoft.com/office/powerpoint/2010/main" val="87337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00A93-D062-478F-341C-C559E01EC79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6DBAE16B-B365-69E9-E823-C30C154D1A09}"/>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6830698C-FF85-24AF-2C55-9FD772262EBB}"/>
              </a:ext>
            </a:extLst>
          </p:cNvPr>
          <p:cNvSpPr/>
          <p:nvPr/>
        </p:nvSpPr>
        <p:spPr>
          <a:xfrm>
            <a:off x="342899" y="192024"/>
            <a:ext cx="8357755"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2200" b="0" i="0" u="none" strike="noStrike" kern="1200" cap="none" spc="0" normalizeH="0" baseline="0" noProof="0">
                <a:ln>
                  <a:noFill/>
                </a:ln>
                <a:solidFill>
                  <a:srgbClr val="E7FFD9"/>
                </a:solidFill>
                <a:effectLst/>
                <a:uLnTx/>
                <a:uFillTx/>
                <a:latin typeface="Poppins"/>
                <a:ea typeface="+mn-ea"/>
                <a:cs typeface="Arial"/>
              </a:rPr>
              <a:t>Everything Starts with the Prompt</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8B315676-095C-48D6-4192-4135468BB29A}"/>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Keywords now becoming topics for prompt research</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4B003508-EC7C-0040-3CAF-1BA1A63CC28D}"/>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F8599C72-DC11-C885-FD40-992887CF4604}"/>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TextBox 1">
            <a:extLst>
              <a:ext uri="{FF2B5EF4-FFF2-40B4-BE49-F238E27FC236}">
                <a16:creationId xmlns:a16="http://schemas.microsoft.com/office/drawing/2014/main" id="{35807B2D-5314-77E7-B09A-7251CF628C95}"/>
              </a:ext>
            </a:extLst>
          </p:cNvPr>
          <p:cNvSpPr txBox="1"/>
          <p:nvPr/>
        </p:nvSpPr>
        <p:spPr>
          <a:xfrm>
            <a:off x="398463" y="1288246"/>
            <a:ext cx="3714750" cy="3323987"/>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050" b="1" i="0" u="none" strike="noStrike" kern="1200" cap="none" spc="0" normalizeH="0" baseline="0" noProof="0">
                <a:ln>
                  <a:noFill/>
                </a:ln>
                <a:solidFill>
                  <a:srgbClr val="0A2F24"/>
                </a:solidFill>
                <a:effectLst/>
                <a:uLnTx/>
                <a:uFillTx/>
                <a:latin typeface="Poppins"/>
                <a:ea typeface="+mn-ea"/>
                <a:cs typeface="+mn-cs"/>
              </a:rPr>
              <a:t>What is prompt research?</a:t>
            </a: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b="1">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Prompt research is the GEO-era counterpart to keyword research. Instead of estimating search volume for keywords, we identify the recurring, natural-language questions and follow-up prompts real buyers put to AI assistants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existing or new pages, creating content that matches each prompt our brand needs to own.</a:t>
            </a: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050" b="1" i="0" u="none" strike="noStrike" kern="1200" cap="none" spc="0" normalizeH="0" baseline="0" noProof="0">
                <a:ln>
                  <a:noFill/>
                </a:ln>
                <a:solidFill>
                  <a:srgbClr val="0A2F24"/>
                </a:solidFill>
                <a:effectLst/>
                <a:uLnTx/>
                <a:uFillTx/>
                <a:latin typeface="Poppins"/>
                <a:ea typeface="+mn-ea"/>
                <a:cs typeface="+mn-cs"/>
              </a:rPr>
              <a:t>Prompts instead of keywords – new opportunities</a:t>
            </a: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050" i="0" u="none" strike="noStrike" kern="1200" cap="none" spc="0" normalizeH="0" baseline="0" noProof="0">
                <a:ln>
                  <a:noFill/>
                </a:ln>
                <a:solidFill>
                  <a:srgbClr val="0A2F24"/>
                </a:solidFill>
                <a:effectLst/>
                <a:uLnTx/>
                <a:uFillTx/>
                <a:latin typeface="Poppins"/>
                <a:ea typeface="+mn-ea"/>
                <a:cs typeface="+mn-cs"/>
              </a:rPr>
              <a:t>Prompt era gives companies </a:t>
            </a:r>
            <a:r>
              <a:rPr kumimoji="0" lang="en-AU" sz="1050" i="0" u="none" strike="noStrike" kern="1200" cap="none" spc="0" normalizeH="0" baseline="0" noProof="0">
                <a:ln>
                  <a:noFill/>
                </a:ln>
                <a:solidFill>
                  <a:srgbClr val="0A2F24"/>
                </a:solidFill>
                <a:effectLst/>
                <a:uLnTx/>
                <a:uFillTx/>
                <a:latin typeface="Poppins"/>
                <a:ea typeface="+mn-ea"/>
                <a:cs typeface="+mn-cs"/>
              </a:rPr>
              <a:t>like</a:t>
            </a:r>
            <a:r>
              <a:rPr kumimoji="0" lang="pl-PL" sz="1050" i="0" u="none" strike="noStrike" kern="1200" cap="none" spc="0" normalizeH="0" baseline="0" noProof="0">
                <a:ln>
                  <a:noFill/>
                </a:ln>
                <a:solidFill>
                  <a:srgbClr val="0A2F24"/>
                </a:solidFill>
                <a:effectLst/>
                <a:uLnTx/>
                <a:uFillTx/>
                <a:latin typeface="Poppins"/>
                <a:ea typeface="+mn-ea"/>
                <a:cs typeface="+mn-cs"/>
              </a:rPr>
              <a:t> Schneider Electric new opportunities to now claim leadership where it was impossible with keywords. During prompt research, it is very important to identify the prompts we can win, even if the topic is broad. For example keyword </a:t>
            </a:r>
            <a:r>
              <a:rPr kumimoji="0" lang="en-AU" sz="1050" i="0" u="none" strike="noStrike" kern="1200" cap="none" spc="0" normalizeH="0" baseline="0" noProof="0">
                <a:ln>
                  <a:noFill/>
                </a:ln>
                <a:solidFill>
                  <a:srgbClr val="0A2F24"/>
                </a:solidFill>
                <a:effectLst/>
                <a:uLnTx/>
                <a:uFillTx/>
                <a:latin typeface="Poppins"/>
                <a:ea typeface="+mn-ea"/>
                <a:cs typeface="+mn-cs"/>
              </a:rPr>
              <a:t>“</a:t>
            </a:r>
            <a:r>
              <a:rPr kumimoji="0" lang="pl-PL" sz="1050" i="0" u="none" strike="noStrike" kern="1200" cap="none" spc="0" normalizeH="0" baseline="0" noProof="0">
                <a:ln>
                  <a:noFill/>
                </a:ln>
                <a:solidFill>
                  <a:srgbClr val="0A2F24"/>
                </a:solidFill>
                <a:effectLst/>
                <a:uLnTx/>
                <a:uFillTx/>
                <a:latin typeface="Poppins"/>
                <a:ea typeface="+mn-ea"/>
                <a:cs typeface="+mn-cs"/>
              </a:rPr>
              <a:t>water industrial solutions” was beyond our reach, but now, targeting the right prompt, we can claim </a:t>
            </a:r>
            <a:r>
              <a:rPr kumimoji="0" lang="en-AU" sz="1050" i="0" u="none" strike="noStrike" kern="1200" cap="none" spc="0" normalizeH="0" baseline="0" noProof="0">
                <a:ln>
                  <a:noFill/>
                </a:ln>
                <a:solidFill>
                  <a:srgbClr val="0A2F24"/>
                </a:solidFill>
                <a:effectLst/>
                <a:uLnTx/>
                <a:uFillTx/>
                <a:latin typeface="Poppins"/>
                <a:ea typeface="+mn-ea"/>
                <a:cs typeface="+mn-cs"/>
              </a:rPr>
              <a:t>a</a:t>
            </a:r>
            <a:r>
              <a:rPr kumimoji="0" lang="pl-PL" sz="1050" i="0" u="none" strike="noStrike" kern="1200" cap="none" spc="0" normalizeH="0" baseline="0" noProof="0">
                <a:ln>
                  <a:noFill/>
                </a:ln>
                <a:solidFill>
                  <a:srgbClr val="0A2F24"/>
                </a:solidFill>
                <a:effectLst/>
                <a:uLnTx/>
                <a:uFillTx/>
                <a:latin typeface="Poppins"/>
                <a:ea typeface="+mn-ea"/>
                <a:cs typeface="+mn-cs"/>
              </a:rPr>
              <a:t> piece of this topic.</a:t>
            </a:r>
          </a:p>
        </p:txBody>
      </p:sp>
      <p:sp>
        <p:nvSpPr>
          <p:cNvPr id="3" name="TextBox 2">
            <a:extLst>
              <a:ext uri="{FF2B5EF4-FFF2-40B4-BE49-F238E27FC236}">
                <a16:creationId xmlns:a16="http://schemas.microsoft.com/office/drawing/2014/main" id="{A32B5783-675D-1C79-E876-B8DB94437603}"/>
              </a:ext>
            </a:extLst>
          </p:cNvPr>
          <p:cNvSpPr txBox="1"/>
          <p:nvPr/>
        </p:nvSpPr>
        <p:spPr>
          <a:xfrm>
            <a:off x="4985904" y="1853786"/>
            <a:ext cx="3714750" cy="2192908"/>
          </a:xfrm>
          <a:prstGeom prst="rect">
            <a:avLst/>
          </a:prstGeom>
          <a:solidFill>
            <a:schemeClr val="tx1"/>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050" b="1" i="0" u="none" strike="noStrike" kern="1200" cap="none" spc="0" normalizeH="0" baseline="0" noProof="0">
                <a:ln>
                  <a:noFill/>
                </a:ln>
                <a:solidFill>
                  <a:schemeClr val="accent5"/>
                </a:solidFill>
                <a:effectLst/>
                <a:uLnTx/>
                <a:uFillTx/>
                <a:latin typeface="Poppins"/>
                <a:ea typeface="+mn-ea"/>
                <a:cs typeface="+mn-cs"/>
              </a:rPr>
              <a:t>Keyword (topic) -&gt; Prompt</a:t>
            </a: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b="1">
              <a:solidFill>
                <a:schemeClr val="accent5"/>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50" b="1" i="1" strike="noStrike" kern="1200" cap="none" spc="0" normalizeH="0" baseline="0" noProof="0">
                <a:ln>
                  <a:noFill/>
                </a:ln>
                <a:solidFill>
                  <a:schemeClr val="accent5"/>
                </a:solidFill>
                <a:effectLst/>
                <a:uLnTx/>
                <a:uFillTx/>
                <a:latin typeface="Poppins"/>
                <a:ea typeface="+mn-ea"/>
                <a:cs typeface="+mn-cs"/>
              </a:rPr>
              <a:t>“best UPS data center”</a:t>
            </a:r>
          </a:p>
          <a:p>
            <a:pPr marL="0" marR="0" lvl="0" indent="0" algn="l" defTabSz="457184" rtl="0" eaLnBrk="1" fontAlgn="auto" latinLnBrk="0" hangingPunct="1">
              <a:lnSpc>
                <a:spcPct val="100000"/>
              </a:lnSpc>
              <a:spcBef>
                <a:spcPts val="0"/>
              </a:spcBef>
              <a:spcAft>
                <a:spcPts val="0"/>
              </a:spcAft>
              <a:buClrTx/>
              <a:buSzTx/>
              <a:buFontTx/>
              <a:buNone/>
              <a:tabLst/>
              <a:defRPr/>
            </a:pPr>
            <a:r>
              <a:rPr lang="en-US" sz="1050" i="1">
                <a:solidFill>
                  <a:schemeClr val="accent5"/>
                </a:solidFill>
                <a:latin typeface="Poppins"/>
              </a:rPr>
              <a:t>“What's the most reliable UPS setup for a mid-size data center in a humid climate?”</a:t>
            </a:r>
            <a:endParaRPr lang="pl-PL" sz="1050" i="1">
              <a:solidFill>
                <a:schemeClr val="accent5"/>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en-US" sz="1050" i="1">
              <a:solidFill>
                <a:schemeClr val="accent5"/>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lang="en-AU" sz="1050" b="1" i="1">
                <a:solidFill>
                  <a:schemeClr val="accent5"/>
                </a:solidFill>
                <a:latin typeface="Poppins"/>
              </a:rPr>
              <a:t>“</a:t>
            </a:r>
            <a:r>
              <a:rPr lang="pl-PL" sz="1050" b="1" i="1">
                <a:solidFill>
                  <a:schemeClr val="accent5"/>
                </a:solidFill>
                <a:latin typeface="Poppins"/>
              </a:rPr>
              <a:t>EcoStruxure vs Desigo”</a:t>
            </a:r>
          </a:p>
          <a:p>
            <a:pPr marL="0" marR="0" lvl="0" indent="0" algn="l" defTabSz="457184" rtl="0" eaLnBrk="1" fontAlgn="auto" latinLnBrk="0" hangingPunct="1">
              <a:lnSpc>
                <a:spcPct val="100000"/>
              </a:lnSpc>
              <a:spcBef>
                <a:spcPts val="0"/>
              </a:spcBef>
              <a:spcAft>
                <a:spcPts val="0"/>
              </a:spcAft>
              <a:buClrTx/>
              <a:buSzTx/>
              <a:buFontTx/>
              <a:buNone/>
              <a:tabLst/>
              <a:defRPr/>
            </a:pPr>
            <a:r>
              <a:rPr lang="en-AU" sz="1050" i="1">
                <a:solidFill>
                  <a:schemeClr val="accent5"/>
                </a:solidFill>
                <a:latin typeface="Poppins"/>
              </a:rPr>
              <a:t>“</a:t>
            </a:r>
            <a:r>
              <a:rPr lang="pl-PL" sz="1050" i="1">
                <a:solidFill>
                  <a:schemeClr val="accent5"/>
                </a:solidFill>
                <a:latin typeface="Poppins"/>
              </a:rPr>
              <a:t>How does EcoStruxure compare to Siemens Desigo for a multi-site retail portfolio?”</a:t>
            </a: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i="1">
              <a:solidFill>
                <a:schemeClr val="accent5"/>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lang="en-AU" sz="1050" b="1" i="1">
                <a:solidFill>
                  <a:schemeClr val="accent5"/>
                </a:solidFill>
                <a:latin typeface="Poppins"/>
              </a:rPr>
              <a:t>“</a:t>
            </a:r>
            <a:r>
              <a:rPr lang="pl-PL" sz="1050" b="1" i="1">
                <a:solidFill>
                  <a:schemeClr val="accent5"/>
                </a:solidFill>
                <a:latin typeface="Poppins"/>
              </a:rPr>
              <a:t>industrial automation ROI”</a:t>
            </a:r>
          </a:p>
          <a:p>
            <a:pPr marL="0" marR="0" lvl="0" indent="0" algn="l" defTabSz="457184" rtl="0" eaLnBrk="1" fontAlgn="auto" latinLnBrk="0" hangingPunct="1">
              <a:lnSpc>
                <a:spcPct val="100000"/>
              </a:lnSpc>
              <a:spcBef>
                <a:spcPts val="0"/>
              </a:spcBef>
              <a:spcAft>
                <a:spcPts val="0"/>
              </a:spcAft>
              <a:buClrTx/>
              <a:buSzTx/>
              <a:buFontTx/>
              <a:buNone/>
              <a:tabLst/>
              <a:defRPr/>
            </a:pPr>
            <a:r>
              <a:rPr lang="en-US" sz="1050" i="1">
                <a:solidFill>
                  <a:schemeClr val="accent5"/>
                </a:solidFill>
                <a:latin typeface="Poppins"/>
              </a:rPr>
              <a:t>“What payback period should I expect from automating a mid-size manufacturing line?”</a:t>
            </a:r>
          </a:p>
        </p:txBody>
      </p:sp>
      <p:cxnSp>
        <p:nvCxnSpPr>
          <p:cNvPr id="9" name="Straight Arrow Connector 8">
            <a:extLst>
              <a:ext uri="{FF2B5EF4-FFF2-40B4-BE49-F238E27FC236}">
                <a16:creationId xmlns:a16="http://schemas.microsoft.com/office/drawing/2014/main" id="{C1F6C8F2-03B6-022A-5F1B-7F8742A4CDA1}"/>
              </a:ext>
            </a:extLst>
          </p:cNvPr>
          <p:cNvCxnSpPr>
            <a:cxnSpLocks/>
            <a:stCxn id="2" idx="3"/>
            <a:endCxn id="3" idx="1"/>
          </p:cNvCxnSpPr>
          <p:nvPr/>
        </p:nvCxnSpPr>
        <p:spPr>
          <a:xfrm>
            <a:off x="4113213" y="2950240"/>
            <a:ext cx="872691"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7994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8B279-1A28-2651-F4B8-60166AD7B6E8}"/>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7B6A1277-EB7D-1F30-5AEA-528FA13B4897}"/>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FA01300E-89D4-F1C6-D711-CD24865349EF}"/>
              </a:ext>
            </a:extLst>
          </p:cNvPr>
          <p:cNvSpPr/>
          <p:nvPr/>
        </p:nvSpPr>
        <p:spPr>
          <a:xfrm>
            <a:off x="342899" y="192024"/>
            <a:ext cx="8357755"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Enhanced Prompt Research: AI Architecture</a:t>
            </a:r>
          </a:p>
        </p:txBody>
      </p:sp>
      <p:sp>
        <p:nvSpPr>
          <p:cNvPr id="12" name="Text 2">
            <a:extLst>
              <a:ext uri="{FF2B5EF4-FFF2-40B4-BE49-F238E27FC236}">
                <a16:creationId xmlns:a16="http://schemas.microsoft.com/office/drawing/2014/main" id="{88D7D6C3-476A-7112-A3F2-086977B95E1E}"/>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FFD9"/>
                </a:solidFill>
                <a:effectLst/>
                <a:uLnTx/>
                <a:uFillTx/>
                <a:latin typeface="Poppins"/>
                <a:ea typeface="+mn-ea"/>
                <a:cs typeface="Arial"/>
              </a:rPr>
              <a:t>Move from what the AI knows to what the AI cites</a:t>
            </a:r>
            <a:r>
              <a:rPr kumimoji="0" lang="pl-PL" sz="1100" b="0" i="0" u="none" strike="noStrike" kern="1200" cap="none" spc="0" normalizeH="0" baseline="0" noProof="0">
                <a:ln>
                  <a:noFill/>
                </a:ln>
                <a:solidFill>
                  <a:srgbClr val="E7FFD9"/>
                </a:solidFill>
                <a:effectLst/>
                <a:uLnTx/>
                <a:uFillTx/>
                <a:latin typeface="Poppins"/>
                <a:ea typeface="+mn-ea"/>
                <a:cs typeface="Arial"/>
              </a:rPr>
              <a: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64A2EBF2-92CF-24C8-A352-77812D1DB49C}"/>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ED92F98C-7680-AAEE-558E-A9B1B501CB0D}"/>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12</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TextBox 1">
            <a:extLst>
              <a:ext uri="{FF2B5EF4-FFF2-40B4-BE49-F238E27FC236}">
                <a16:creationId xmlns:a16="http://schemas.microsoft.com/office/drawing/2014/main" id="{758FA3B4-F8F4-5AA2-6444-639974B12202}"/>
              </a:ext>
            </a:extLst>
          </p:cNvPr>
          <p:cNvSpPr txBox="1"/>
          <p:nvPr/>
        </p:nvSpPr>
        <p:spPr>
          <a:xfrm>
            <a:off x="341032" y="3009768"/>
            <a:ext cx="4586288" cy="1061829"/>
          </a:xfrm>
          <a:prstGeom prst="rect">
            <a:avLst/>
          </a:prstGeom>
          <a:solidFill>
            <a:schemeClr val="accent5"/>
          </a:solidFill>
          <a:ln w="12700">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Retrieval Layer (RAG)</a:t>
            </a:r>
            <a:r>
              <a:rPr kumimoji="0" lang="pl-PL" sz="1050" b="1" i="0" u="none" strike="noStrike" kern="1200" cap="none" spc="0" normalizeH="0" baseline="0" noProof="0">
                <a:ln>
                  <a:noFill/>
                </a:ln>
                <a:solidFill>
                  <a:srgbClr val="0A2F24"/>
                </a:solidFill>
                <a:effectLst/>
                <a:uLnTx/>
                <a:uFillTx/>
                <a:latin typeface="Poppins"/>
                <a:ea typeface="+mn-ea"/>
                <a:cs typeface="+mn-cs"/>
              </a:rPr>
              <a:t> – what AI cites</a:t>
            </a: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The model actively searches the web and databases for real-time, grounded, citable facts.</a:t>
            </a:r>
            <a:endParaRPr kumimoji="0" lang="pl-PL" sz="1050" i="0" u="none" strike="noStrike" kern="1200" cap="none" spc="0" normalizeH="0" baseline="0" noProof="0">
              <a:ln>
                <a:noFill/>
              </a:ln>
              <a:solidFill>
                <a:srgbClr val="0A2F24"/>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lang="pl-PL" sz="1050">
              <a:solidFill>
                <a:srgbClr val="0A2F24"/>
              </a:solidFill>
              <a:latin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The shift: </a:t>
            </a:r>
            <a:r>
              <a:rPr kumimoji="0" lang="en-US" sz="1050" i="0" u="none" strike="noStrike" kern="1200" cap="none" spc="0" normalizeH="0" baseline="0" noProof="0">
                <a:ln>
                  <a:noFill/>
                </a:ln>
                <a:solidFill>
                  <a:srgbClr val="0A2F24"/>
                </a:solidFill>
                <a:effectLst/>
                <a:uLnTx/>
                <a:uFillTx/>
                <a:latin typeface="Poppins"/>
                <a:ea typeface="+mn-ea"/>
                <a:cs typeface="+mn-cs"/>
              </a:rPr>
              <a:t>optimize for the Retrieval Layer — we don't just want AI to know us, we want it to cite our specific grounded content.</a:t>
            </a:r>
          </a:p>
        </p:txBody>
      </p:sp>
      <p:sp>
        <p:nvSpPr>
          <p:cNvPr id="3" name="TextBox 2">
            <a:extLst>
              <a:ext uri="{FF2B5EF4-FFF2-40B4-BE49-F238E27FC236}">
                <a16:creationId xmlns:a16="http://schemas.microsoft.com/office/drawing/2014/main" id="{E520D208-719E-D02C-5DD5-24337871DAED}"/>
              </a:ext>
            </a:extLst>
          </p:cNvPr>
          <p:cNvSpPr txBox="1"/>
          <p:nvPr/>
        </p:nvSpPr>
        <p:spPr>
          <a:xfrm>
            <a:off x="1884810" y="4263676"/>
            <a:ext cx="5273932" cy="415498"/>
          </a:xfrm>
          <a:prstGeom prst="rect">
            <a:avLst/>
          </a:prstGeom>
          <a:solidFill>
            <a:schemeClr val="tx1"/>
          </a:solidFill>
          <a:ln>
            <a:solidFill>
              <a:schemeClr val="tx1"/>
            </a:solidFill>
          </a:ln>
        </p:spPr>
        <p:txBody>
          <a:bodyPr wrap="square" lIns="91440" tIns="45720" rIns="91440" bIns="45720" anchor="t">
            <a:spAutoFit/>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100" b="1" i="0" u="none" strike="noStrike" kern="1200" cap="none" spc="0" normalizeH="0" baseline="0" noProof="0">
                <a:ln>
                  <a:noFill/>
                </a:ln>
                <a:solidFill>
                  <a:schemeClr val="accent5"/>
                </a:solidFill>
                <a:effectLst/>
                <a:uLnTx/>
                <a:uFillTx/>
                <a:latin typeface="Poppins"/>
                <a:ea typeface="+mn-ea"/>
                <a:cs typeface="+mn-cs"/>
              </a:rPr>
              <a:t>Important: </a:t>
            </a:r>
            <a:r>
              <a:rPr kumimoji="0" lang="en-US" sz="1000" i="0" u="none" strike="noStrike" kern="1200" cap="none" spc="0" normalizeH="0" baseline="0" noProof="0">
                <a:ln>
                  <a:noFill/>
                </a:ln>
                <a:solidFill>
                  <a:schemeClr val="accent5"/>
                </a:solidFill>
                <a:effectLst/>
                <a:uLnTx/>
                <a:uFillTx/>
                <a:latin typeface="Poppins"/>
                <a:ea typeface="+mn-ea"/>
                <a:cs typeface="+mn-cs"/>
              </a:rPr>
              <a:t>Optimizing for the retrieval layer makes Schneider the cited authority for complex technical </a:t>
            </a:r>
            <a:r>
              <a:rPr kumimoji="0" lang="pl-PL" sz="1000" i="0" u="none" strike="noStrike" kern="1200" cap="none" spc="0" normalizeH="0" baseline="0" noProof="0">
                <a:ln>
                  <a:noFill/>
                </a:ln>
                <a:solidFill>
                  <a:schemeClr val="accent5"/>
                </a:solidFill>
                <a:effectLst/>
                <a:uLnTx/>
                <a:uFillTx/>
                <a:latin typeface="Poppins"/>
                <a:ea typeface="+mn-ea"/>
                <a:cs typeface="+mn-cs"/>
              </a:rPr>
              <a:t>queries</a:t>
            </a:r>
            <a:r>
              <a:rPr kumimoji="0" lang="en-US" sz="1000" i="0" u="none" strike="noStrike" kern="1200" cap="none" spc="0" normalizeH="0" baseline="0" noProof="0">
                <a:ln>
                  <a:noFill/>
                </a:ln>
                <a:solidFill>
                  <a:schemeClr val="accent5"/>
                </a:solidFill>
                <a:effectLst/>
                <a:uLnTx/>
                <a:uFillTx/>
                <a:latin typeface="Poppins"/>
                <a:ea typeface="+mn-ea"/>
                <a:cs typeface="+mn-cs"/>
              </a:rPr>
              <a:t> — not just a recognized brand name.</a:t>
            </a:r>
            <a:endParaRPr kumimoji="0" lang="en-US" sz="1050" i="0" u="none" strike="noStrike" kern="1200" cap="none" spc="0" normalizeH="0" baseline="0" noProof="0">
              <a:ln>
                <a:noFill/>
              </a:ln>
              <a:solidFill>
                <a:schemeClr val="accent5"/>
              </a:solidFill>
              <a:effectLst/>
              <a:uLnTx/>
              <a:uFillTx/>
              <a:latin typeface="Poppins"/>
              <a:ea typeface="+mn-ea"/>
              <a:cs typeface="+mn-cs"/>
            </a:endParaRPr>
          </a:p>
        </p:txBody>
      </p:sp>
      <p:cxnSp>
        <p:nvCxnSpPr>
          <p:cNvPr id="9" name="Straight Arrow Connector 8">
            <a:extLst>
              <a:ext uri="{FF2B5EF4-FFF2-40B4-BE49-F238E27FC236}">
                <a16:creationId xmlns:a16="http://schemas.microsoft.com/office/drawing/2014/main" id="{A6E8C246-995E-EBEE-AC58-92CA4AE187D6}"/>
              </a:ext>
            </a:extLst>
          </p:cNvPr>
          <p:cNvCxnSpPr>
            <a:cxnSpLocks/>
            <a:stCxn id="4" idx="2"/>
            <a:endCxn id="2" idx="0"/>
          </p:cNvCxnSpPr>
          <p:nvPr/>
        </p:nvCxnSpPr>
        <p:spPr>
          <a:xfrm flipH="1">
            <a:off x="2634176" y="2331424"/>
            <a:ext cx="1866" cy="678344"/>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4" name="Table 3">
            <a:extLst>
              <a:ext uri="{FF2B5EF4-FFF2-40B4-BE49-F238E27FC236}">
                <a16:creationId xmlns:a16="http://schemas.microsoft.com/office/drawing/2014/main" id="{1E2B48EF-CA4D-55ED-9D66-6C7D71AE07F0}"/>
              </a:ext>
            </a:extLst>
          </p:cNvPr>
          <p:cNvGraphicFramePr>
            <a:graphicFrameLocks noGrp="1"/>
          </p:cNvGraphicFramePr>
          <p:nvPr>
            <p:extLst>
              <p:ext uri="{D42A27DB-BD31-4B8C-83A1-F6EECF244321}">
                <p14:modId xmlns:p14="http://schemas.microsoft.com/office/powerpoint/2010/main" val="345622594"/>
              </p:ext>
            </p:extLst>
          </p:nvPr>
        </p:nvGraphicFramePr>
        <p:xfrm>
          <a:off x="342898" y="1321148"/>
          <a:ext cx="4586289" cy="1010276"/>
        </p:xfrm>
        <a:graphic>
          <a:graphicData uri="http://schemas.openxmlformats.org/drawingml/2006/table">
            <a:tbl>
              <a:tblPr firstRow="1" bandRow="1">
                <a:tableStyleId>{5C22544A-7EE6-4342-B048-85BDC9FD1C3A}</a:tableStyleId>
              </a:tblPr>
              <a:tblGrid>
                <a:gridCol w="4586289">
                  <a:extLst>
                    <a:ext uri="{9D8B030D-6E8A-4147-A177-3AD203B41FA5}">
                      <a16:colId xmlns:a16="http://schemas.microsoft.com/office/drawing/2014/main" val="3037676781"/>
                    </a:ext>
                  </a:extLst>
                </a:gridCol>
              </a:tblGrid>
              <a:tr h="238737">
                <a:tc>
                  <a:txBody>
                    <a:bodyPr/>
                    <a:lstStyle/>
                    <a:p>
                      <a:pPr algn="ctr"/>
                      <a:r>
                        <a:rPr lang="en-US" sz="1200" b="1">
                          <a:solidFill>
                            <a:schemeClr val="accent5"/>
                          </a:solidFill>
                        </a:rPr>
                        <a:t>How </a:t>
                      </a:r>
                      <a:r>
                        <a:rPr lang="pl-PL" sz="1200" b="1">
                          <a:solidFill>
                            <a:schemeClr val="accent5"/>
                          </a:solidFill>
                        </a:rPr>
                        <a:t>Large Language Models (</a:t>
                      </a:r>
                      <a:r>
                        <a:rPr lang="en-US" sz="1200" b="1">
                          <a:solidFill>
                            <a:schemeClr val="accent5"/>
                          </a:solidFill>
                        </a:rPr>
                        <a:t>LLMs</a:t>
                      </a:r>
                      <a:r>
                        <a:rPr lang="pl-PL" sz="1200" b="1">
                          <a:solidFill>
                            <a:schemeClr val="accent5"/>
                          </a:solidFill>
                        </a:rPr>
                        <a:t>)</a:t>
                      </a:r>
                      <a:r>
                        <a:rPr lang="en-US" sz="1200" b="1">
                          <a:solidFill>
                            <a:schemeClr val="accent5"/>
                          </a:solidFill>
                        </a:rPr>
                        <a:t> answer — two layers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735956">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Parametric Memory</a:t>
                      </a:r>
                      <a:r>
                        <a:rPr lang="pl-PL" sz="1000" b="1">
                          <a:solidFill>
                            <a:schemeClr val="tx1"/>
                          </a:solidFill>
                        </a:rPr>
                        <a:t> – what AI knows</a:t>
                      </a:r>
                    </a:p>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The model's internal, pre-trained knowledge. Static, generic, and prone to hallucination.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graphicFrame>
        <p:nvGraphicFramePr>
          <p:cNvPr id="20" name="Table 19">
            <a:extLst>
              <a:ext uri="{FF2B5EF4-FFF2-40B4-BE49-F238E27FC236}">
                <a16:creationId xmlns:a16="http://schemas.microsoft.com/office/drawing/2014/main" id="{7AC68859-DDA5-8358-048C-D898BFB4D4AF}"/>
              </a:ext>
            </a:extLst>
          </p:cNvPr>
          <p:cNvGraphicFramePr>
            <a:graphicFrameLocks noGrp="1"/>
          </p:cNvGraphicFramePr>
          <p:nvPr>
            <p:extLst>
              <p:ext uri="{D42A27DB-BD31-4B8C-83A1-F6EECF244321}">
                <p14:modId xmlns:p14="http://schemas.microsoft.com/office/powerpoint/2010/main" val="2003622443"/>
              </p:ext>
            </p:extLst>
          </p:nvPr>
        </p:nvGraphicFramePr>
        <p:xfrm>
          <a:off x="5086353" y="1321148"/>
          <a:ext cx="3588791" cy="2750449"/>
        </p:xfrm>
        <a:graphic>
          <a:graphicData uri="http://schemas.openxmlformats.org/drawingml/2006/table">
            <a:tbl>
              <a:tblPr firstRow="1" bandRow="1">
                <a:tableStyleId>{5C22544A-7EE6-4342-B048-85BDC9FD1C3A}</a:tableStyleId>
              </a:tblPr>
              <a:tblGrid>
                <a:gridCol w="3588791">
                  <a:extLst>
                    <a:ext uri="{9D8B030D-6E8A-4147-A177-3AD203B41FA5}">
                      <a16:colId xmlns:a16="http://schemas.microsoft.com/office/drawing/2014/main" val="3037676781"/>
                    </a:ext>
                  </a:extLst>
                </a:gridCol>
              </a:tblGrid>
              <a:tr h="273792">
                <a:tc>
                  <a:txBody>
                    <a:bodyPr/>
                    <a:lstStyle/>
                    <a:p>
                      <a:pPr algn="ctr"/>
                      <a:r>
                        <a:rPr lang="pl-PL" sz="1200" b="1">
                          <a:solidFill>
                            <a:schemeClr val="accent5"/>
                          </a:solidFill>
                        </a:rPr>
                        <a:t>Optimization strategy: grounded signals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2476129">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Action</a:t>
                      </a:r>
                      <a:r>
                        <a:rPr lang="pl-PL" sz="1000" b="1">
                          <a:solidFill>
                            <a:schemeClr val="tx1"/>
                          </a:solidFill>
                        </a:rPr>
                        <a:t>:</a:t>
                      </a:r>
                      <a:r>
                        <a:rPr lang="en-US" sz="1000" b="0">
                          <a:solidFill>
                            <a:schemeClr val="tx1"/>
                          </a:solidFill>
                        </a:rPr>
                        <a:t> Move beyond keyword volume to the real technical friction points and questions practitioners actually ask.</a:t>
                      </a: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Sources</a:t>
                      </a:r>
                      <a:r>
                        <a:rPr lang="pl-PL" sz="1000" b="1">
                          <a:solidFill>
                            <a:schemeClr val="tx1"/>
                          </a:solidFill>
                        </a:rPr>
                        <a:t>:</a:t>
                      </a:r>
                      <a:r>
                        <a:rPr lang="en-US" sz="1000" b="1">
                          <a:solidFill>
                            <a:schemeClr val="tx1"/>
                          </a:solidFill>
                        </a:rPr>
                        <a:t> </a:t>
                      </a:r>
                      <a:r>
                        <a:rPr lang="en-US" sz="1000" b="0">
                          <a:solidFill>
                            <a:schemeClr val="tx1"/>
                          </a:solidFill>
                        </a:rPr>
                        <a:t>High-authority technical communities where real-world problems get solved:</a:t>
                      </a: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27" name="Shape 16">
            <a:extLst>
              <a:ext uri="{FF2B5EF4-FFF2-40B4-BE49-F238E27FC236}">
                <a16:creationId xmlns:a16="http://schemas.microsoft.com/office/drawing/2014/main" id="{BDF5D9E5-D3FE-E624-73B0-4B3545BBFB8D}"/>
              </a:ext>
            </a:extLst>
          </p:cNvPr>
          <p:cNvSpPr/>
          <p:nvPr/>
        </p:nvSpPr>
        <p:spPr>
          <a:xfrm>
            <a:off x="5169790" y="2960952"/>
            <a:ext cx="1104138" cy="288036"/>
          </a:xfrm>
          <a:prstGeom prst="roundRect">
            <a:avLst>
              <a:gd name="adj" fmla="val 23810"/>
            </a:avLst>
          </a:prstGeom>
          <a:solidFill>
            <a:srgbClr val="0C3B2E"/>
          </a:solidFill>
          <a:ln/>
        </p:spPr>
        <p:txBody>
          <a:bodyPr anchor="ctr"/>
          <a:lstStyle/>
          <a:p>
            <a:pPr algn="ctr" defTabSz="685800"/>
            <a:r>
              <a:rPr lang="pl-PL" sz="1000">
                <a:solidFill>
                  <a:schemeClr val="accent5"/>
                </a:solidFill>
              </a:rPr>
              <a:t>r/*electrical</a:t>
            </a:r>
          </a:p>
        </p:txBody>
      </p:sp>
      <p:sp>
        <p:nvSpPr>
          <p:cNvPr id="28" name="Shape 18">
            <a:extLst>
              <a:ext uri="{FF2B5EF4-FFF2-40B4-BE49-F238E27FC236}">
                <a16:creationId xmlns:a16="http://schemas.microsoft.com/office/drawing/2014/main" id="{C24BD824-3738-D448-10F7-C0C11D9EDFBC}"/>
              </a:ext>
            </a:extLst>
          </p:cNvPr>
          <p:cNvSpPr/>
          <p:nvPr/>
        </p:nvSpPr>
        <p:spPr>
          <a:xfrm>
            <a:off x="6397371" y="2960952"/>
            <a:ext cx="761371" cy="288036"/>
          </a:xfrm>
          <a:prstGeom prst="roundRect">
            <a:avLst>
              <a:gd name="adj" fmla="val 23810"/>
            </a:avLst>
          </a:prstGeom>
          <a:solidFill>
            <a:srgbClr val="0C3B2E"/>
          </a:solidFill>
          <a:ln/>
        </p:spPr>
        <p:txBody>
          <a:bodyPr/>
          <a:lstStyle/>
          <a:p>
            <a:pPr algn="ctr" defTabSz="685800"/>
            <a:r>
              <a:rPr lang="pl-PL" sz="1000">
                <a:solidFill>
                  <a:schemeClr val="accent5"/>
                </a:solidFill>
              </a:rPr>
              <a:t>r/*HVAC</a:t>
            </a:r>
          </a:p>
        </p:txBody>
      </p:sp>
      <p:sp>
        <p:nvSpPr>
          <p:cNvPr id="29" name="Shape 20">
            <a:extLst>
              <a:ext uri="{FF2B5EF4-FFF2-40B4-BE49-F238E27FC236}">
                <a16:creationId xmlns:a16="http://schemas.microsoft.com/office/drawing/2014/main" id="{E5FC721E-B66F-88EA-E215-F174F82843ED}"/>
              </a:ext>
            </a:extLst>
          </p:cNvPr>
          <p:cNvSpPr/>
          <p:nvPr/>
        </p:nvSpPr>
        <p:spPr>
          <a:xfrm>
            <a:off x="7282185" y="2960952"/>
            <a:ext cx="696087" cy="288036"/>
          </a:xfrm>
          <a:prstGeom prst="roundRect">
            <a:avLst>
              <a:gd name="adj" fmla="val 23810"/>
            </a:avLst>
          </a:prstGeom>
          <a:solidFill>
            <a:srgbClr val="0C3B2E"/>
          </a:solidFill>
          <a:ln/>
        </p:spPr>
        <p:txBody>
          <a:bodyPr/>
          <a:lstStyle/>
          <a:p>
            <a:pPr defTabSz="685800"/>
            <a:r>
              <a:rPr lang="pl-PL" sz="1000">
                <a:solidFill>
                  <a:schemeClr val="accent5"/>
                </a:solidFill>
              </a:rPr>
              <a:t>r/*PLC</a:t>
            </a:r>
          </a:p>
        </p:txBody>
      </p:sp>
      <p:sp>
        <p:nvSpPr>
          <p:cNvPr id="30" name="Shape 22">
            <a:extLst>
              <a:ext uri="{FF2B5EF4-FFF2-40B4-BE49-F238E27FC236}">
                <a16:creationId xmlns:a16="http://schemas.microsoft.com/office/drawing/2014/main" id="{5453D502-A6FB-0607-5097-4E9771BDB650}"/>
              </a:ext>
            </a:extLst>
          </p:cNvPr>
          <p:cNvSpPr/>
          <p:nvPr/>
        </p:nvSpPr>
        <p:spPr>
          <a:xfrm>
            <a:off x="5169791" y="3338142"/>
            <a:ext cx="1352454" cy="288036"/>
          </a:xfrm>
          <a:prstGeom prst="roundRect">
            <a:avLst>
              <a:gd name="adj" fmla="val 23810"/>
            </a:avLst>
          </a:prstGeom>
          <a:solidFill>
            <a:srgbClr val="0C3B2E"/>
          </a:solidFill>
          <a:ln/>
        </p:spPr>
        <p:txBody>
          <a:bodyPr/>
          <a:lstStyle/>
          <a:p>
            <a:pPr defTabSz="685800"/>
            <a:r>
              <a:rPr lang="pl-PL" sz="1000">
                <a:solidFill>
                  <a:schemeClr val="accent5"/>
                </a:solidFill>
              </a:rPr>
              <a:t>r/*manufacturing</a:t>
            </a:r>
          </a:p>
        </p:txBody>
      </p:sp>
      <p:sp>
        <p:nvSpPr>
          <p:cNvPr id="31" name="Shape 24">
            <a:extLst>
              <a:ext uri="{FF2B5EF4-FFF2-40B4-BE49-F238E27FC236}">
                <a16:creationId xmlns:a16="http://schemas.microsoft.com/office/drawing/2014/main" id="{A5FB2255-91C8-C672-6033-809B66D14B0C}"/>
              </a:ext>
            </a:extLst>
          </p:cNvPr>
          <p:cNvSpPr/>
          <p:nvPr/>
        </p:nvSpPr>
        <p:spPr>
          <a:xfrm>
            <a:off x="6636391" y="3338142"/>
            <a:ext cx="1044701" cy="288036"/>
          </a:xfrm>
          <a:prstGeom prst="roundRect">
            <a:avLst>
              <a:gd name="adj" fmla="val 23810"/>
            </a:avLst>
          </a:prstGeom>
          <a:solidFill>
            <a:srgbClr val="0C3B2E"/>
          </a:solidFill>
          <a:ln/>
        </p:spPr>
        <p:txBody>
          <a:bodyPr/>
          <a:lstStyle/>
          <a:p>
            <a:pPr defTabSz="685800"/>
            <a:r>
              <a:rPr lang="pl-PL" sz="1000">
                <a:solidFill>
                  <a:schemeClr val="accent5"/>
                </a:solidFill>
              </a:rPr>
              <a:t>r/*sysadmin</a:t>
            </a:r>
          </a:p>
        </p:txBody>
      </p:sp>
      <p:sp>
        <p:nvSpPr>
          <p:cNvPr id="32" name="Shape 26">
            <a:extLst>
              <a:ext uri="{FF2B5EF4-FFF2-40B4-BE49-F238E27FC236}">
                <a16:creationId xmlns:a16="http://schemas.microsoft.com/office/drawing/2014/main" id="{89A3A82F-67DE-6106-3F3F-BED4F0AFA285}"/>
              </a:ext>
            </a:extLst>
          </p:cNvPr>
          <p:cNvSpPr/>
          <p:nvPr/>
        </p:nvSpPr>
        <p:spPr>
          <a:xfrm>
            <a:off x="5169789" y="3715332"/>
            <a:ext cx="1227581" cy="288036"/>
          </a:xfrm>
          <a:prstGeom prst="roundRect">
            <a:avLst>
              <a:gd name="adj" fmla="val 23810"/>
            </a:avLst>
          </a:prstGeom>
          <a:solidFill>
            <a:srgbClr val="0C3B2E"/>
          </a:solidFill>
          <a:ln/>
        </p:spPr>
        <p:txBody>
          <a:bodyPr/>
          <a:lstStyle/>
          <a:p>
            <a:pPr defTabSz="685800"/>
            <a:r>
              <a:rPr lang="pl-PL" sz="1000">
                <a:solidFill>
                  <a:schemeClr val="accent5"/>
                </a:solidFill>
              </a:rPr>
              <a:t>ServeTheHome</a:t>
            </a:r>
          </a:p>
        </p:txBody>
      </p:sp>
      <p:sp>
        <p:nvSpPr>
          <p:cNvPr id="7" name="TextBox 6">
            <a:extLst>
              <a:ext uri="{FF2B5EF4-FFF2-40B4-BE49-F238E27FC236}">
                <a16:creationId xmlns:a16="http://schemas.microsoft.com/office/drawing/2014/main" id="{D74C8081-63E9-A2DF-EEB9-B569CFA1355A}"/>
              </a:ext>
            </a:extLst>
          </p:cNvPr>
          <p:cNvSpPr txBox="1"/>
          <p:nvPr/>
        </p:nvSpPr>
        <p:spPr>
          <a:xfrm>
            <a:off x="398463" y="4727830"/>
            <a:ext cx="2072640" cy="107722"/>
          </a:xfrm>
          <a:prstGeom prst="rect">
            <a:avLst/>
          </a:prstGeom>
        </p:spPr>
        <p:txBody>
          <a:bodyPr vert="horz" wrap="square" lIns="0" tIns="0" rIns="0" bIns="0" rtlCol="0">
            <a:spAutoFit/>
          </a:bodyPr>
          <a:lstStyle/>
          <a:p>
            <a:pPr algn="l"/>
            <a:r>
              <a:rPr lang="pl-PL" sz="700"/>
              <a:t>*r/ means Redit</a:t>
            </a:r>
          </a:p>
        </p:txBody>
      </p:sp>
    </p:spTree>
    <p:extLst>
      <p:ext uri="{BB962C8B-B14F-4D97-AF65-F5344CB8AC3E}">
        <p14:creationId xmlns:p14="http://schemas.microsoft.com/office/powerpoint/2010/main" val="4102238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2EB9D-E3CF-A87D-1F2C-6371575074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49058B-8DCE-B71E-0695-B10C5B366577}"/>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3F5BAF74-E12B-A024-25C4-2D5B211E2C50}"/>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Sources of the Prompts</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1CAA2216-7514-9026-A049-5A33B6237924}"/>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Places where we can harvest the prompts</a:t>
            </a:r>
            <a:endParaRPr lang="en-US" sz="1100">
              <a:solidFill>
                <a:schemeClr val="accent5"/>
              </a:solidFill>
              <a:cs typeface="Arial"/>
            </a:endParaRPr>
          </a:p>
        </p:txBody>
      </p:sp>
      <p:pic>
        <p:nvPicPr>
          <p:cNvPr id="6" name="Graphic 5" descr="Thought with solid fill">
            <a:extLst>
              <a:ext uri="{FF2B5EF4-FFF2-40B4-BE49-F238E27FC236}">
                <a16:creationId xmlns:a16="http://schemas.microsoft.com/office/drawing/2014/main" id="{23047D79-8D50-69BF-EBBA-1BADF8E3F9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64992" y="2478575"/>
            <a:ext cx="1064043" cy="1064043"/>
          </a:xfrm>
          <a:prstGeom prst="rect">
            <a:avLst/>
          </a:prstGeom>
        </p:spPr>
      </p:pic>
      <p:graphicFrame>
        <p:nvGraphicFramePr>
          <p:cNvPr id="7" name="Table 6">
            <a:extLst>
              <a:ext uri="{FF2B5EF4-FFF2-40B4-BE49-F238E27FC236}">
                <a16:creationId xmlns:a16="http://schemas.microsoft.com/office/drawing/2014/main" id="{A9E63D27-78F6-AA4C-8187-C2D16D6DFAC9}"/>
              </a:ext>
            </a:extLst>
          </p:cNvPr>
          <p:cNvGraphicFramePr>
            <a:graphicFrameLocks noGrp="1"/>
          </p:cNvGraphicFramePr>
          <p:nvPr>
            <p:extLst>
              <p:ext uri="{D42A27DB-BD31-4B8C-83A1-F6EECF244321}">
                <p14:modId xmlns:p14="http://schemas.microsoft.com/office/powerpoint/2010/main" val="2020702292"/>
              </p:ext>
            </p:extLst>
          </p:nvPr>
        </p:nvGraphicFramePr>
        <p:xfrm>
          <a:off x="5948918" y="2995357"/>
          <a:ext cx="2518524" cy="1158240"/>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452799">
                <a:tc>
                  <a:txBody>
                    <a:bodyPr/>
                    <a:lstStyle/>
                    <a:p>
                      <a:pPr algn="ctr"/>
                      <a:r>
                        <a:rPr lang="pl-PL" sz="1200" b="1">
                          <a:solidFill>
                            <a:schemeClr val="tx1"/>
                          </a:solidFill>
                        </a:rPr>
                        <a:t>Available Paid Tools (not covered in this toolkit)</a:t>
                      </a:r>
                      <a:endParaRPr lang="en-US"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92716372"/>
                  </a:ext>
                </a:extLst>
              </a:tr>
              <a:tr h="663444">
                <a:tc>
                  <a:txBody>
                    <a:bodyPr/>
                    <a:lstStyle/>
                    <a:p>
                      <a:pPr marL="0" indent="0">
                        <a:spcBef>
                          <a:spcPts val="0"/>
                        </a:spcBef>
                        <a:spcAft>
                          <a:spcPts val="0"/>
                        </a:spcAft>
                        <a:buClr>
                          <a:srgbClr val="3DCD58"/>
                        </a:buClr>
                        <a:buFont typeface="Wingdings" panose="05000000000000000000" pitchFamily="2" charset="2"/>
                        <a:buNone/>
                        <a:defRPr/>
                      </a:pPr>
                      <a:r>
                        <a:rPr lang="pl-PL" sz="1000" b="0">
                          <a:solidFill>
                            <a:schemeClr val="tx1"/>
                          </a:solidFill>
                        </a:rPr>
                        <a:t>There are multiple tools available in the market to harvest prompts. They use different methodologhy to do the prompt research.</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graphicFrame>
        <p:nvGraphicFramePr>
          <p:cNvPr id="9" name="Table 8">
            <a:extLst>
              <a:ext uri="{FF2B5EF4-FFF2-40B4-BE49-F238E27FC236}">
                <a16:creationId xmlns:a16="http://schemas.microsoft.com/office/drawing/2014/main" id="{80734B26-0211-65D3-DCD2-64CBB222E13E}"/>
              </a:ext>
            </a:extLst>
          </p:cNvPr>
          <p:cNvGraphicFramePr>
            <a:graphicFrameLocks noGrp="1"/>
          </p:cNvGraphicFramePr>
          <p:nvPr>
            <p:extLst>
              <p:ext uri="{D42A27DB-BD31-4B8C-83A1-F6EECF244321}">
                <p14:modId xmlns:p14="http://schemas.microsoft.com/office/powerpoint/2010/main" val="892141404"/>
              </p:ext>
            </p:extLst>
          </p:nvPr>
        </p:nvGraphicFramePr>
        <p:xfrm>
          <a:off x="706560" y="3010597"/>
          <a:ext cx="2518524" cy="1127760"/>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AI Agents</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pl-PL" sz="1000" b="0">
                          <a:solidFill>
                            <a:schemeClr val="tx1"/>
                          </a:solidFill>
                        </a:rPr>
                        <a:t>AI agents can be helpful to provide us the information about the topics users are talking about. We can train AI agents to provide us specific set of prompts.</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cxnSp>
        <p:nvCxnSpPr>
          <p:cNvPr id="13" name="Straight Arrow Connector 12">
            <a:extLst>
              <a:ext uri="{FF2B5EF4-FFF2-40B4-BE49-F238E27FC236}">
                <a16:creationId xmlns:a16="http://schemas.microsoft.com/office/drawing/2014/main" id="{6864F5EE-E9E0-0296-AF61-A0055EA8C621}"/>
              </a:ext>
            </a:extLst>
          </p:cNvPr>
          <p:cNvCxnSpPr>
            <a:cxnSpLocks/>
            <a:stCxn id="18" idx="3"/>
          </p:cNvCxnSpPr>
          <p:nvPr/>
        </p:nvCxnSpPr>
        <p:spPr>
          <a:xfrm>
            <a:off x="3225084" y="2132902"/>
            <a:ext cx="1061166" cy="52848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16" name="TextBox 15">
            <a:extLst>
              <a:ext uri="{FF2B5EF4-FFF2-40B4-BE49-F238E27FC236}">
                <a16:creationId xmlns:a16="http://schemas.microsoft.com/office/drawing/2014/main" id="{CC618402-2A7F-5654-F04F-314EB6FEB81D}"/>
              </a:ext>
            </a:extLst>
          </p:cNvPr>
          <p:cNvSpPr txBox="1"/>
          <p:nvPr/>
        </p:nvSpPr>
        <p:spPr>
          <a:xfrm>
            <a:off x="1932710" y="4318189"/>
            <a:ext cx="5257800" cy="723275"/>
          </a:xfrm>
          <a:prstGeom prst="rect">
            <a:avLst/>
          </a:prstGeom>
          <a:solidFill>
            <a:schemeClr val="tx1"/>
          </a:solidFill>
        </p:spPr>
        <p:txBody>
          <a:bodyPr wrap="square">
            <a:spAutoFit/>
          </a:bodyPr>
          <a:lstStyle/>
          <a:p>
            <a:pPr algn="ctr"/>
            <a:r>
              <a:rPr lang="pl-PL" sz="1100" b="1">
                <a:solidFill>
                  <a:schemeClr val="accent5"/>
                </a:solidFill>
              </a:rPr>
              <a:t>Important: </a:t>
            </a:r>
            <a:r>
              <a:rPr lang="pl-PL" sz="1000">
                <a:solidFill>
                  <a:schemeClr val="accent5"/>
                </a:solidFill>
              </a:rPr>
              <a:t>there are multiple tools in the market that can support in the harvesting the prompts. They use different methodologhy and interface hence we </a:t>
            </a:r>
            <a:r>
              <a:rPr lang="pl-PL" sz="1000" u="sng">
                <a:solidFill>
                  <a:schemeClr val="accent5"/>
                </a:solidFill>
              </a:rPr>
              <a:t>will focus in this toolkit on harvesting the prompts without access to the dedicated tools – using only web and public AI agents. </a:t>
            </a:r>
            <a:endParaRPr lang="en-US" sz="1100" u="sng">
              <a:solidFill>
                <a:schemeClr val="accent5"/>
              </a:solidFill>
            </a:endParaRPr>
          </a:p>
        </p:txBody>
      </p:sp>
      <p:graphicFrame>
        <p:nvGraphicFramePr>
          <p:cNvPr id="18" name="Table 17">
            <a:extLst>
              <a:ext uri="{FF2B5EF4-FFF2-40B4-BE49-F238E27FC236}">
                <a16:creationId xmlns:a16="http://schemas.microsoft.com/office/drawing/2014/main" id="{7525C2DA-A11B-BE8D-116B-0544D1E9E3E6}"/>
              </a:ext>
            </a:extLst>
          </p:cNvPr>
          <p:cNvGraphicFramePr>
            <a:graphicFrameLocks noGrp="1"/>
          </p:cNvGraphicFramePr>
          <p:nvPr>
            <p:extLst>
              <p:ext uri="{D42A27DB-BD31-4B8C-83A1-F6EECF244321}">
                <p14:modId xmlns:p14="http://schemas.microsoft.com/office/powerpoint/2010/main" val="3847092307"/>
              </p:ext>
            </p:extLst>
          </p:nvPr>
        </p:nvGraphicFramePr>
        <p:xfrm>
          <a:off x="706560" y="1536236"/>
          <a:ext cx="2518524" cy="1193333"/>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92290">
                <a:tc>
                  <a:txBody>
                    <a:bodyPr/>
                    <a:lstStyle/>
                    <a:p>
                      <a:pPr algn="ctr"/>
                      <a:r>
                        <a:rPr lang="pl-PL" sz="1200" b="1">
                          <a:solidFill>
                            <a:schemeClr val="accent5"/>
                          </a:solidFill>
                        </a:rPr>
                        <a:t>Public Web</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901043">
                <a:tc>
                  <a:txBody>
                    <a:bodyPr/>
                    <a:lstStyle/>
                    <a:p>
                      <a:pPr marL="0" indent="0">
                        <a:spcBef>
                          <a:spcPts val="0"/>
                        </a:spcBef>
                        <a:spcAft>
                          <a:spcPts val="0"/>
                        </a:spcAft>
                        <a:buClr>
                          <a:srgbClr val="3DCD58"/>
                        </a:buClr>
                        <a:buFont typeface="Wingdings" panose="05000000000000000000" pitchFamily="2" charset="2"/>
                        <a:buNone/>
                      </a:pPr>
                      <a:r>
                        <a:rPr lang="pl-PL" sz="1000" b="0">
                          <a:solidFill>
                            <a:schemeClr val="tx1"/>
                          </a:solidFill>
                        </a:rPr>
                        <a:t>This is very good source of prompts: communities, People Also Ask feature, social media, and FAQs are solid source that provides real live querries users have.</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cxnSp>
        <p:nvCxnSpPr>
          <p:cNvPr id="23" name="Straight Arrow Connector 22">
            <a:extLst>
              <a:ext uri="{FF2B5EF4-FFF2-40B4-BE49-F238E27FC236}">
                <a16:creationId xmlns:a16="http://schemas.microsoft.com/office/drawing/2014/main" id="{B3F4DA93-CD44-5F45-3625-97B062191235}"/>
              </a:ext>
            </a:extLst>
          </p:cNvPr>
          <p:cNvCxnSpPr>
            <a:cxnSpLocks/>
          </p:cNvCxnSpPr>
          <p:nvPr/>
        </p:nvCxnSpPr>
        <p:spPr>
          <a:xfrm flipV="1">
            <a:off x="3230279" y="2925917"/>
            <a:ext cx="1055971" cy="64856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448D705A-4452-270D-6428-F8309CC945B0}"/>
              </a:ext>
            </a:extLst>
          </p:cNvPr>
          <p:cNvCxnSpPr>
            <a:cxnSpLocks/>
            <a:stCxn id="7" idx="1"/>
          </p:cNvCxnSpPr>
          <p:nvPr/>
        </p:nvCxnSpPr>
        <p:spPr>
          <a:xfrm flipH="1" flipV="1">
            <a:off x="4980709" y="2936491"/>
            <a:ext cx="968209" cy="637986"/>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21" name="Table 20">
            <a:extLst>
              <a:ext uri="{FF2B5EF4-FFF2-40B4-BE49-F238E27FC236}">
                <a16:creationId xmlns:a16="http://schemas.microsoft.com/office/drawing/2014/main" id="{238DBA85-9D7F-71FF-7718-374F2CC9C619}"/>
              </a:ext>
            </a:extLst>
          </p:cNvPr>
          <p:cNvGraphicFramePr>
            <a:graphicFrameLocks noGrp="1"/>
          </p:cNvGraphicFramePr>
          <p:nvPr>
            <p:extLst>
              <p:ext uri="{D42A27DB-BD31-4B8C-83A1-F6EECF244321}">
                <p14:modId xmlns:p14="http://schemas.microsoft.com/office/powerpoint/2010/main" val="986436696"/>
              </p:ext>
            </p:extLst>
          </p:nvPr>
        </p:nvGraphicFramePr>
        <p:xfrm>
          <a:off x="5948919" y="1536094"/>
          <a:ext cx="2518524" cy="1193475"/>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398068">
                <a:tc>
                  <a:txBody>
                    <a:bodyPr/>
                    <a:lstStyle/>
                    <a:p>
                      <a:pPr marL="0" algn="ctr" defTabSz="457184" rtl="0" eaLnBrk="1" latinLnBrk="0" hangingPunct="1"/>
                      <a:r>
                        <a:rPr lang="pl-PL" sz="1200" b="1" kern="1200">
                          <a:solidFill>
                            <a:schemeClr val="tx1"/>
                          </a:solidFill>
                          <a:latin typeface="+mn-lt"/>
                          <a:ea typeface="+mn-ea"/>
                          <a:cs typeface="+mn-cs"/>
                        </a:rPr>
                        <a:t>Support Teams </a:t>
                      </a:r>
                      <a:r>
                        <a:rPr lang="en-US" sz="1200" b="1" kern="1200">
                          <a:solidFill>
                            <a:schemeClr val="tx1"/>
                          </a:solidFill>
                          <a:latin typeface="+mn-lt"/>
                          <a:ea typeface="+mn-ea"/>
                          <a:cs typeface="+mn-cs"/>
                        </a:rPr>
                        <a:t>(not covered in this toolkit)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92716372"/>
                  </a:ext>
                </a:extLst>
              </a:tr>
              <a:tr h="736275">
                <a:tc>
                  <a:txBody>
                    <a:bodyPr/>
                    <a:lstStyle/>
                    <a:p>
                      <a:pPr marL="0" indent="0" algn="l" defTabSz="457184" rtl="0" eaLnBrk="1" latinLnBrk="0" hangingPunct="1">
                        <a:spcBef>
                          <a:spcPts val="0"/>
                        </a:spcBef>
                        <a:spcAft>
                          <a:spcPts val="0"/>
                        </a:spcAft>
                        <a:buClr>
                          <a:srgbClr val="3DCD58"/>
                        </a:buClr>
                        <a:buFont typeface="Wingdings" panose="05000000000000000000" pitchFamily="2" charset="2"/>
                        <a:buNone/>
                        <a:defRPr/>
                      </a:pPr>
                      <a:r>
                        <a:rPr lang="pl-PL" sz="1000" b="0" kern="1200">
                          <a:solidFill>
                            <a:schemeClr val="tx1"/>
                          </a:solidFill>
                          <a:latin typeface="+mn-lt"/>
                          <a:ea typeface="+mn-ea"/>
                          <a:cs typeface="+mn-cs"/>
                        </a:rPr>
                        <a:t>Excelent source of prompts: support teams and FAQ teams can support providing real-life questions from our customers.</a:t>
                      </a:r>
                      <a:endParaRPr lang="en-US" sz="1000" b="0" kern="120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cxnSp>
        <p:nvCxnSpPr>
          <p:cNvPr id="29" name="Straight Arrow Connector 28">
            <a:extLst>
              <a:ext uri="{FF2B5EF4-FFF2-40B4-BE49-F238E27FC236}">
                <a16:creationId xmlns:a16="http://schemas.microsoft.com/office/drawing/2014/main" id="{8DA2B00B-7153-B66F-0838-E837CFE9BBEA}"/>
              </a:ext>
            </a:extLst>
          </p:cNvPr>
          <p:cNvCxnSpPr>
            <a:cxnSpLocks/>
            <a:stCxn id="21" idx="1"/>
          </p:cNvCxnSpPr>
          <p:nvPr/>
        </p:nvCxnSpPr>
        <p:spPr>
          <a:xfrm flipH="1">
            <a:off x="4980709" y="2132831"/>
            <a:ext cx="968210" cy="51236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40" name="Footer Placeholder 4">
            <a:extLst>
              <a:ext uri="{FF2B5EF4-FFF2-40B4-BE49-F238E27FC236}">
                <a16:creationId xmlns:a16="http://schemas.microsoft.com/office/drawing/2014/main" id="{B7B9EDBA-E7FF-472D-E80A-3B0CC042135F}"/>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41" name="Slide Number Placeholder 5">
            <a:extLst>
              <a:ext uri="{FF2B5EF4-FFF2-40B4-BE49-F238E27FC236}">
                <a16:creationId xmlns:a16="http://schemas.microsoft.com/office/drawing/2014/main" id="{0D1AB909-3D9B-6B06-D8E3-E1CFEEB65ED5}"/>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marR="0" lvl="0" indent="0" defTabSz="685800" fontAlgn="auto">
              <a:lnSpc>
                <a:spcPct val="100000"/>
              </a:lnSpc>
              <a:spcBef>
                <a:spcPts val="0"/>
              </a:spcBef>
              <a:spcAft>
                <a:spcPts val="0"/>
              </a:spcAft>
              <a:buClrTx/>
              <a:buSzTx/>
              <a:buFontTx/>
              <a:buNone/>
              <a:tabLst/>
              <a:defRPr kumimoji="0" sz="600" b="0" i="0" u="none" strike="noStrike" cap="none" spc="0" normalizeH="0" baseline="0">
                <a:ln>
                  <a:noFill/>
                </a:ln>
                <a:solidFill>
                  <a:srgbClr val="3DCD58"/>
                </a:solidFill>
                <a:effectLst/>
                <a:uLnTx/>
                <a:uFillTx/>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13</a:t>
            </a:fld>
            <a:endParaRPr lang="en-US"/>
          </a:p>
        </p:txBody>
      </p:sp>
    </p:spTree>
    <p:extLst>
      <p:ext uri="{BB962C8B-B14F-4D97-AF65-F5344CB8AC3E}">
        <p14:creationId xmlns:p14="http://schemas.microsoft.com/office/powerpoint/2010/main" val="1166805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7A0F4-0A36-6935-E04B-9BB79DDB2E7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A80BCB8-3AEE-A43E-D024-310AD3427E86}"/>
              </a:ext>
            </a:extLst>
          </p:cNvPr>
          <p:cNvGraphicFramePr>
            <a:graphicFrameLocks noGrp="1"/>
          </p:cNvGraphicFramePr>
          <p:nvPr>
            <p:extLst>
              <p:ext uri="{D42A27DB-BD31-4B8C-83A1-F6EECF244321}">
                <p14:modId xmlns:p14="http://schemas.microsoft.com/office/powerpoint/2010/main" val="3410709118"/>
              </p:ext>
            </p:extLst>
          </p:nvPr>
        </p:nvGraphicFramePr>
        <p:xfrm>
          <a:off x="5324056" y="2965877"/>
          <a:ext cx="3376598" cy="1370185"/>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Risk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171450" indent="-171450" algn="l" defTabSz="457184" rtl="0" eaLnBrk="1" fontAlgn="t" latinLnBrk="0" hangingPunct="1">
                        <a:lnSpc>
                          <a:spcPct val="100000"/>
                        </a:lnSpc>
                        <a:buClr>
                          <a:srgbClr val="FF0000"/>
                        </a:buClr>
                        <a:buFont typeface="Arial" panose="020B0604020202020204" pitchFamily="34" charset="0"/>
                        <a:buChar char="•"/>
                      </a:pPr>
                      <a:r>
                        <a:rPr lang="en-US" sz="1000" b="0" i="0" kern="1200">
                          <a:solidFill>
                            <a:schemeClr val="dk1"/>
                          </a:solidFill>
                          <a:effectLst/>
                          <a:latin typeface="+mn-lt"/>
                          <a:ea typeface="+mn-ea"/>
                          <a:cs typeface="+mn-cs"/>
                        </a:rPr>
                        <a:t>Noisy and unstructured — needs manual filtering</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Clr>
                          <a:srgbClr val="FF0000"/>
                        </a:buClr>
                        <a:buFont typeface="Arial" panose="020B0604020202020204" pitchFamily="34" charset="0"/>
                        <a:buChar char="•"/>
                      </a:pPr>
                      <a:r>
                        <a:rPr lang="pl-PL" sz="1000" b="0" i="0" kern="1200">
                          <a:solidFill>
                            <a:schemeClr val="dk1"/>
                          </a:solidFill>
                          <a:effectLst/>
                          <a:latin typeface="+mn-lt"/>
                          <a:ea typeface="+mn-ea"/>
                          <a:cs typeface="+mn-cs"/>
                        </a:rPr>
                        <a:t>S</a:t>
                      </a:r>
                      <a:r>
                        <a:rPr lang="en-US" sz="1000" b="0" i="0" kern="1200" err="1">
                          <a:solidFill>
                            <a:schemeClr val="dk1"/>
                          </a:solidFill>
                          <a:effectLst/>
                          <a:latin typeface="+mn-lt"/>
                          <a:ea typeface="+mn-ea"/>
                          <a:cs typeface="+mn-cs"/>
                        </a:rPr>
                        <a:t>kews</a:t>
                      </a:r>
                      <a:r>
                        <a:rPr lang="en-US" sz="1000" b="0" i="0" kern="1200">
                          <a:solidFill>
                            <a:schemeClr val="dk1"/>
                          </a:solidFill>
                          <a:effectLst/>
                          <a:latin typeface="+mn-lt"/>
                          <a:ea typeface="+mn-ea"/>
                          <a:cs typeface="+mn-cs"/>
                        </a:rPr>
                        <a:t> to a </a:t>
                      </a:r>
                      <a:r>
                        <a:rPr lang="pl-PL" sz="1000" b="0" i="0" kern="1200">
                          <a:solidFill>
                            <a:schemeClr val="dk1"/>
                          </a:solidFill>
                          <a:effectLst/>
                          <a:latin typeface="+mn-lt"/>
                          <a:ea typeface="+mn-ea"/>
                          <a:cs typeface="+mn-cs"/>
                        </a:rPr>
                        <a:t>most </a:t>
                      </a:r>
                      <a:r>
                        <a:rPr lang="en-US" sz="1000" b="0" i="0" kern="1200">
                          <a:solidFill>
                            <a:schemeClr val="dk1"/>
                          </a:solidFill>
                          <a:effectLst/>
                          <a:latin typeface="+mn-lt"/>
                          <a:ea typeface="+mn-ea"/>
                          <a:cs typeface="+mn-cs"/>
                        </a:rPr>
                        <a:t>vocal, not </a:t>
                      </a:r>
                      <a:r>
                        <a:rPr lang="pl-PL" sz="1000" b="0" i="0" kern="1200">
                          <a:solidFill>
                            <a:schemeClr val="dk1"/>
                          </a:solidFill>
                          <a:effectLst/>
                          <a:latin typeface="+mn-lt"/>
                          <a:ea typeface="+mn-ea"/>
                          <a:cs typeface="+mn-cs"/>
                        </a:rPr>
                        <a:t>always </a:t>
                      </a:r>
                      <a:r>
                        <a:rPr lang="en-US" sz="1000" b="0" i="0" kern="1200">
                          <a:solidFill>
                            <a:schemeClr val="dk1"/>
                          </a:solidFill>
                          <a:effectLst/>
                          <a:latin typeface="+mn-lt"/>
                          <a:ea typeface="+mn-ea"/>
                          <a:cs typeface="+mn-cs"/>
                        </a:rPr>
                        <a:t>fully representative, audience</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Clr>
                          <a:srgbClr val="FF0000"/>
                        </a:buClr>
                        <a:buFont typeface="Arial" panose="020B0604020202020204" pitchFamily="34" charset="0"/>
                        <a:buChar char="•"/>
                      </a:pPr>
                      <a:r>
                        <a:rPr lang="pl-PL" sz="1000" b="0" i="0" kern="1200">
                          <a:solidFill>
                            <a:schemeClr val="dk1"/>
                          </a:solidFill>
                          <a:effectLst/>
                          <a:latin typeface="+mn-lt"/>
                          <a:ea typeface="+mn-ea"/>
                          <a:cs typeface="+mn-cs"/>
                        </a:rPr>
                        <a:t>Potential </a:t>
                      </a:r>
                      <a:r>
                        <a:rPr lang="en-US" sz="1000" b="0" i="0" kern="1200">
                          <a:solidFill>
                            <a:schemeClr val="dk1"/>
                          </a:solidFill>
                          <a:effectLst/>
                          <a:latin typeface="+mn-lt"/>
                          <a:ea typeface="+mn-ea"/>
                          <a:cs typeface="+mn-cs"/>
                        </a:rPr>
                        <a:t>manual effort to keep current</a:t>
                      </a:r>
                      <a:r>
                        <a:rPr lang="pl-PL" sz="1000" b="0" i="0" kern="1200">
                          <a:solidFill>
                            <a:schemeClr val="dk1"/>
                          </a:solidFill>
                          <a:effectLst/>
                          <a:latin typeface="+mn-lt"/>
                          <a:ea typeface="+mn-ea"/>
                          <a:cs typeface="+mn-cs"/>
                        </a:rPr>
                        <a:t> (can be solved using the specific tools)</a:t>
                      </a:r>
                      <a:endParaRPr lang="en-US" sz="1000" b="0" i="0"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7" name="Table 6">
            <a:extLst>
              <a:ext uri="{FF2B5EF4-FFF2-40B4-BE49-F238E27FC236}">
                <a16:creationId xmlns:a16="http://schemas.microsoft.com/office/drawing/2014/main" id="{4EBAB148-DCF7-804E-7458-CFB9DECA8FB5}"/>
              </a:ext>
            </a:extLst>
          </p:cNvPr>
          <p:cNvGraphicFramePr>
            <a:graphicFrameLocks noGrp="1"/>
          </p:cNvGraphicFramePr>
          <p:nvPr>
            <p:extLst>
              <p:ext uri="{D42A27DB-BD31-4B8C-83A1-F6EECF244321}">
                <p14:modId xmlns:p14="http://schemas.microsoft.com/office/powerpoint/2010/main" val="3816362621"/>
              </p:ext>
            </p:extLst>
          </p:nvPr>
        </p:nvGraphicFramePr>
        <p:xfrm>
          <a:off x="5324056" y="1444133"/>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pl-PL" sz="1200" b="1">
                          <a:solidFill>
                            <a:schemeClr val="accent5"/>
                          </a:solidFill>
                          <a:latin typeface="+mn-lt"/>
                        </a:rPr>
                        <a:t>Advantage</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A</a:t>
                      </a:r>
                      <a:r>
                        <a:rPr lang="en-US" sz="1000" b="0" i="0" kern="1200" err="1">
                          <a:solidFill>
                            <a:schemeClr val="dk1"/>
                          </a:solidFill>
                          <a:effectLst/>
                          <a:latin typeface="+mn-lt"/>
                          <a:ea typeface="+mn-ea"/>
                          <a:cs typeface="+mn-cs"/>
                        </a:rPr>
                        <a:t>uthentic</a:t>
                      </a:r>
                      <a:r>
                        <a:rPr lang="en-US" sz="1000" b="0" i="0" kern="1200">
                          <a:solidFill>
                            <a:schemeClr val="dk1"/>
                          </a:solidFill>
                          <a:effectLst/>
                          <a:latin typeface="+mn-lt"/>
                          <a:ea typeface="+mn-ea"/>
                          <a:cs typeface="+mn-cs"/>
                        </a:rPr>
                        <a:t>, unfiltered buyer language</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S</a:t>
                      </a:r>
                      <a:r>
                        <a:rPr lang="en-US" sz="1000" b="0" i="0" kern="1200" err="1">
                          <a:solidFill>
                            <a:schemeClr val="dk1"/>
                          </a:solidFill>
                          <a:effectLst/>
                          <a:latin typeface="+mn-lt"/>
                          <a:ea typeface="+mn-ea"/>
                          <a:cs typeface="+mn-cs"/>
                        </a:rPr>
                        <a:t>urfaces</a:t>
                      </a:r>
                      <a:r>
                        <a:rPr lang="en-US" sz="1000" b="0" i="0" kern="1200">
                          <a:solidFill>
                            <a:schemeClr val="dk1"/>
                          </a:solidFill>
                          <a:effectLst/>
                          <a:latin typeface="+mn-lt"/>
                          <a:ea typeface="+mn-ea"/>
                          <a:cs typeface="+mn-cs"/>
                        </a:rPr>
                        <a:t> emerging questions early</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Hi</a:t>
                      </a:r>
                      <a:r>
                        <a:rPr lang="en-US" sz="1000" b="0" i="0" kern="1200" err="1">
                          <a:solidFill>
                            <a:schemeClr val="dk1"/>
                          </a:solidFill>
                          <a:effectLst/>
                          <a:latin typeface="+mn-lt"/>
                          <a:ea typeface="+mn-ea"/>
                          <a:cs typeface="+mn-cs"/>
                        </a:rPr>
                        <a:t>gh</a:t>
                      </a:r>
                      <a:r>
                        <a:rPr lang="en-US" sz="1000" b="0" i="0" kern="1200">
                          <a:solidFill>
                            <a:schemeClr val="dk1"/>
                          </a:solidFill>
                          <a:effectLst/>
                          <a:latin typeface="+mn-lt"/>
                          <a:ea typeface="+mn-ea"/>
                          <a:cs typeface="+mn-cs"/>
                        </a:rPr>
                        <a:t> volume of raw material</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N</a:t>
                      </a:r>
                      <a:r>
                        <a:rPr lang="en-US" sz="1000" b="0" i="0" kern="1200">
                          <a:solidFill>
                            <a:schemeClr val="dk1"/>
                          </a:solidFill>
                          <a:effectLst/>
                          <a:latin typeface="+mn-lt"/>
                          <a:ea typeface="+mn-ea"/>
                          <a:cs typeface="+mn-cs"/>
                        </a:rPr>
                        <a:t>o proprietary data access needed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8" name="Shape 0">
            <a:extLst>
              <a:ext uri="{FF2B5EF4-FFF2-40B4-BE49-F238E27FC236}">
                <a16:creationId xmlns:a16="http://schemas.microsoft.com/office/drawing/2014/main" id="{58EB5900-DA75-BA84-FD39-2D7E5883CC2C}"/>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B507D684-0B52-21FB-2C22-773F909DB81B}"/>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Prompt research in web</a:t>
            </a:r>
            <a:endParaRPr lang="en-US" sz="2200">
              <a:solidFill>
                <a:schemeClr val="accent5"/>
              </a:solidFill>
              <a:cs typeface="Arial"/>
            </a:endParaRPr>
          </a:p>
        </p:txBody>
      </p:sp>
      <p:sp>
        <p:nvSpPr>
          <p:cNvPr id="12" name="Text 2">
            <a:extLst>
              <a:ext uri="{FF2B5EF4-FFF2-40B4-BE49-F238E27FC236}">
                <a16:creationId xmlns:a16="http://schemas.microsoft.com/office/drawing/2014/main" id="{221B39A2-CEC8-4A7C-B659-30DBF014DABD}"/>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Searching trough c</a:t>
            </a:r>
            <a:r>
              <a:rPr lang="en-US" sz="1100" err="1">
                <a:solidFill>
                  <a:schemeClr val="accent5"/>
                </a:solidFill>
                <a:cs typeface="Arial"/>
              </a:rPr>
              <a:t>ommunities</a:t>
            </a:r>
            <a:r>
              <a:rPr lang="en-US" sz="1100">
                <a:solidFill>
                  <a:schemeClr val="accent5"/>
                </a:solidFill>
                <a:cs typeface="Arial"/>
              </a:rPr>
              <a:t>, social media, and FAQs</a:t>
            </a:r>
            <a:r>
              <a:rPr lang="pl-PL" sz="1100">
                <a:solidFill>
                  <a:schemeClr val="accent5"/>
                </a:solidFill>
                <a:cs typeface="Arial"/>
              </a:rPr>
              <a:t> - </a:t>
            </a:r>
            <a:r>
              <a:rPr lang="en-US" sz="1100">
                <a:solidFill>
                  <a:schemeClr val="accent5"/>
                </a:solidFill>
                <a:cs typeface="Arial"/>
              </a:rPr>
              <a:t>way to hear buyers ask questions in their own words</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0ADC0A15-48CB-FFDE-6F2B-12E0614C7BF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051A6FDD-C3A1-B144-1C06-7FEF77188A2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14</a:t>
            </a:fld>
            <a:endParaRPr lang="en-US">
              <a:solidFill>
                <a:srgbClr val="3DCD58"/>
              </a:solidFill>
            </a:endParaRPr>
          </a:p>
        </p:txBody>
      </p:sp>
      <p:sp>
        <p:nvSpPr>
          <p:cNvPr id="2" name="TextBox 1">
            <a:extLst>
              <a:ext uri="{FF2B5EF4-FFF2-40B4-BE49-F238E27FC236}">
                <a16:creationId xmlns:a16="http://schemas.microsoft.com/office/drawing/2014/main" id="{356A7EB8-5D5F-65FC-12EE-1381489CAB38}"/>
              </a:ext>
            </a:extLst>
          </p:cNvPr>
          <p:cNvSpPr txBox="1"/>
          <p:nvPr/>
        </p:nvSpPr>
        <p:spPr>
          <a:xfrm>
            <a:off x="443346" y="1280216"/>
            <a:ext cx="4606636" cy="3193182"/>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Communities </a:t>
            </a:r>
            <a:r>
              <a:rPr lang="pl-PL" sz="1050" b="1"/>
              <a:t>and</a:t>
            </a:r>
            <a:r>
              <a:rPr lang="en-US" sz="1050" b="1"/>
              <a:t> forums</a:t>
            </a:r>
            <a:endParaRPr lang="pl-PL" sz="1050" b="1"/>
          </a:p>
          <a:p>
            <a:pPr lvl="0">
              <a:defRPr/>
            </a:pPr>
            <a:endParaRPr kumimoji="0" lang="en-US" sz="1000" b="0" i="0" u="none" strike="noStrike" kern="1200" cap="none" spc="0" normalizeH="0" baseline="0" noProof="0">
              <a:ln>
                <a:noFill/>
              </a:ln>
              <a:effectLst/>
              <a:uLnTx/>
              <a:uFillTx/>
              <a:latin typeface="Poppins"/>
              <a:ea typeface="+mn-ea"/>
              <a:cs typeface="+mn-cs"/>
            </a:endParaRPr>
          </a:p>
          <a:p>
            <a:pPr marL="171450" lvl="0" indent="-171450">
              <a:buClr>
                <a:schemeClr val="tx1"/>
              </a:buClr>
              <a:buFont typeface="Arial" panose="020B0604020202020204" pitchFamily="34" charset="0"/>
              <a:buChar char="•"/>
              <a:defRPr/>
            </a:pPr>
            <a:r>
              <a:rPr lang="en-US" sz="1000"/>
              <a:t>Search Reddit/industry forums for your category </a:t>
            </a:r>
            <a:r>
              <a:rPr lang="pl-PL" sz="1000"/>
              <a:t>and</a:t>
            </a:r>
            <a:r>
              <a:rPr lang="en-US" sz="1000"/>
              <a:t> “</a:t>
            </a:r>
            <a:r>
              <a:rPr lang="en-US" sz="1000" i="1"/>
              <a:t>vs</a:t>
            </a:r>
            <a:r>
              <a:rPr lang="en-US" sz="1000"/>
              <a:t>”, “</a:t>
            </a:r>
            <a:r>
              <a:rPr lang="en-US" sz="1000" i="1"/>
              <a:t>worth it</a:t>
            </a:r>
            <a:r>
              <a:rPr lang="en-US" sz="1000"/>
              <a:t>”, “</a:t>
            </a:r>
            <a:r>
              <a:rPr lang="en-US" sz="1000" i="1"/>
              <a:t>how to</a:t>
            </a:r>
            <a:r>
              <a:rPr lang="en-US" sz="1000"/>
              <a:t>”</a:t>
            </a:r>
            <a:endParaRPr lang="pl-PL" sz="1000"/>
          </a:p>
          <a:p>
            <a:pPr marL="171450" lvl="0" indent="-171450">
              <a:buClr>
                <a:schemeClr val="tx1"/>
              </a:buClr>
              <a:buFont typeface="Arial" panose="020B0604020202020204" pitchFamily="34" charset="0"/>
              <a:buChar char="•"/>
              <a:defRPr/>
            </a:pPr>
            <a:r>
              <a:rPr lang="en-US" sz="1000"/>
              <a:t>Sort by top/recent in relevant subreddits &amp; LinkedIn groups</a:t>
            </a:r>
          </a:p>
          <a:p>
            <a:pPr marL="171450" lvl="0" indent="-171450">
              <a:buClr>
                <a:schemeClr val="tx1"/>
              </a:buClr>
              <a:buFont typeface="Arial" panose="020B0604020202020204" pitchFamily="34" charset="0"/>
              <a:buChar char="•"/>
              <a:defRPr/>
            </a:pPr>
            <a:r>
              <a:rPr lang="en-US" sz="1000"/>
              <a:t>Log the exact question wording, not just the topic</a:t>
            </a:r>
          </a:p>
          <a:p>
            <a:pPr lvl="0">
              <a:buClr>
                <a:srgbClr val="C00000"/>
              </a:buClr>
              <a:defRPr/>
            </a:pPr>
            <a:endParaRPr lang="pl-PL" sz="1000"/>
          </a:p>
          <a:p>
            <a:pPr lvl="0">
              <a:buClr>
                <a:schemeClr val="accent5"/>
              </a:buClr>
              <a:defRPr/>
            </a:pPr>
            <a:r>
              <a:rPr lang="pl-PL" sz="1050" b="1"/>
              <a:t>Social media and video</a:t>
            </a:r>
          </a:p>
          <a:p>
            <a:pPr lvl="0">
              <a:buClr>
                <a:srgbClr val="C00000"/>
              </a:buClr>
              <a:defRPr/>
            </a:pPr>
            <a:endParaRPr lang="pl-PL" sz="1000"/>
          </a:p>
          <a:p>
            <a:pPr marL="171450" lvl="0" indent="-171450">
              <a:buClr>
                <a:schemeClr val="tx1"/>
              </a:buClr>
              <a:buFont typeface="Arial" panose="020B0604020202020204" pitchFamily="34" charset="0"/>
              <a:buChar char="•"/>
              <a:defRPr/>
            </a:pPr>
            <a:r>
              <a:rPr lang="en-US" sz="1000"/>
              <a:t>Scan comments on competitor </a:t>
            </a:r>
            <a:r>
              <a:rPr lang="pl-PL" sz="1000"/>
              <a:t>and</a:t>
            </a:r>
            <a:r>
              <a:rPr lang="en-US" sz="1000"/>
              <a:t> industry YouTube/LinkedIn posts</a:t>
            </a:r>
            <a:endParaRPr lang="pl-PL" sz="1000"/>
          </a:p>
          <a:p>
            <a:pPr marL="171450" lvl="0" indent="-171450">
              <a:buClr>
                <a:schemeClr val="tx1"/>
              </a:buClr>
              <a:buFont typeface="Arial" panose="020B0604020202020204" pitchFamily="34" charset="0"/>
              <a:buChar char="•"/>
              <a:defRPr/>
            </a:pPr>
            <a:r>
              <a:rPr lang="en-US" sz="1000"/>
              <a:t>Use social-listening tools to track category hashtags and mentions</a:t>
            </a:r>
          </a:p>
          <a:p>
            <a:pPr marL="171450" lvl="0" indent="-171450">
              <a:buClr>
                <a:schemeClr val="tx1"/>
              </a:buClr>
              <a:buFont typeface="Arial" panose="020B0604020202020204" pitchFamily="34" charset="0"/>
              <a:buChar char="•"/>
              <a:defRPr/>
            </a:pPr>
            <a:r>
              <a:rPr lang="en-US" sz="1000"/>
              <a:t>Note recurring objections and follow-up questions in threads</a:t>
            </a:r>
          </a:p>
          <a:p>
            <a:pPr lvl="0">
              <a:buClr>
                <a:srgbClr val="C00000"/>
              </a:buClr>
              <a:defRPr/>
            </a:pPr>
            <a:endParaRPr lang="pl-PL" sz="1000"/>
          </a:p>
          <a:p>
            <a:pPr lvl="0">
              <a:buClr>
                <a:schemeClr val="accent5"/>
              </a:buClr>
              <a:defRPr/>
            </a:pPr>
            <a:r>
              <a:rPr lang="en-US" sz="1050" b="1"/>
              <a:t>FAQs </a:t>
            </a:r>
            <a:r>
              <a:rPr lang="pl-PL" sz="1050" b="1"/>
              <a:t>and</a:t>
            </a:r>
            <a:r>
              <a:rPr lang="en-US" sz="1050" b="1"/>
              <a:t> Q&amp;A sites</a:t>
            </a:r>
          </a:p>
          <a:p>
            <a:pPr lvl="0">
              <a:buClr>
                <a:srgbClr val="C00000"/>
              </a:buClr>
              <a:defRPr/>
            </a:pPr>
            <a:endParaRPr lang="pl-PL" sz="1000"/>
          </a:p>
          <a:p>
            <a:pPr marL="171450" lvl="0" indent="-171450">
              <a:buClr>
                <a:schemeClr val="tx1"/>
              </a:buClr>
              <a:buFont typeface="Arial" panose="020B0604020202020204" pitchFamily="34" charset="0"/>
              <a:buChar char="•"/>
              <a:defRPr/>
            </a:pPr>
            <a:r>
              <a:rPr lang="en-US" sz="1000"/>
              <a:t>Collect FAQ sections from your site, competitors', and review sites</a:t>
            </a:r>
            <a:endParaRPr lang="pl-PL" sz="1000"/>
          </a:p>
          <a:p>
            <a:pPr marL="171450" lvl="0" indent="-171450">
              <a:buClr>
                <a:schemeClr val="tx1"/>
              </a:buClr>
              <a:buFont typeface="Arial" panose="020B0604020202020204" pitchFamily="34" charset="0"/>
              <a:buChar char="•"/>
              <a:defRPr/>
            </a:pPr>
            <a:r>
              <a:rPr lang="en-US" sz="1000"/>
              <a:t>Pull Google “People Also Ask” boxes for core category terms</a:t>
            </a:r>
          </a:p>
          <a:p>
            <a:pPr marL="171450" lvl="0" indent="-171450">
              <a:buClr>
                <a:schemeClr val="tx1"/>
              </a:buClr>
              <a:buFont typeface="Arial" panose="020B0604020202020204" pitchFamily="34" charset="0"/>
              <a:buChar char="•"/>
              <a:defRPr/>
            </a:pPr>
            <a:r>
              <a:rPr lang="en-US" sz="1000"/>
              <a:t>Check Quora/trade-association Q&amp;A pages for buyer phrasing</a:t>
            </a:r>
          </a:p>
        </p:txBody>
      </p:sp>
    </p:spTree>
    <p:extLst>
      <p:ext uri="{BB962C8B-B14F-4D97-AF65-F5344CB8AC3E}">
        <p14:creationId xmlns:p14="http://schemas.microsoft.com/office/powerpoint/2010/main" val="463576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F6A9-2E17-90A5-4292-8508D8FE9B1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97D7DAF-74A7-9EAE-FF2F-FE4D94B4860B}"/>
              </a:ext>
            </a:extLst>
          </p:cNvPr>
          <p:cNvGraphicFramePr>
            <a:graphicFrameLocks noGrp="1"/>
          </p:cNvGraphicFramePr>
          <p:nvPr>
            <p:extLst>
              <p:ext uri="{D42A27DB-BD31-4B8C-83A1-F6EECF244321}">
                <p14:modId xmlns:p14="http://schemas.microsoft.com/office/powerpoint/2010/main" val="1914622772"/>
              </p:ext>
            </p:extLst>
          </p:nvPr>
        </p:nvGraphicFramePr>
        <p:xfrm>
          <a:off x="5531658" y="2867214"/>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Risk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171450" indent="-171450" algn="l" defTabSz="457184" rtl="0" eaLnBrk="1" fontAlgn="t" latinLnBrk="0" hangingPunct="1">
                        <a:lnSpc>
                          <a:spcPct val="100000"/>
                        </a:lnSpc>
                        <a:buClr>
                          <a:srgbClr val="FF0000"/>
                        </a:buClr>
                        <a:buFont typeface="Arial" panose="020B0604020202020204" pitchFamily="34" charset="0"/>
                        <a:buChar char="•"/>
                      </a:pPr>
                      <a:r>
                        <a:rPr lang="en-US" sz="1000" b="0" i="0" kern="1200">
                          <a:solidFill>
                            <a:schemeClr val="dk1"/>
                          </a:solidFill>
                          <a:effectLst/>
                          <a:latin typeface="+mn-lt"/>
                          <a:ea typeface="+mn-ea"/>
                          <a:cs typeface="+mn-cs"/>
                        </a:rPr>
                        <a:t>LLM-generated prompts can feel synthetic vs. real buyer phrasing </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Clr>
                          <a:srgbClr val="FF0000"/>
                        </a:buClr>
                        <a:buFont typeface="Arial" panose="020B0604020202020204" pitchFamily="34" charset="0"/>
                        <a:buChar char="•"/>
                      </a:pPr>
                      <a:r>
                        <a:rPr lang="pl-PL" sz="1000" b="0" i="0" kern="1200">
                          <a:solidFill>
                            <a:schemeClr val="dk1"/>
                          </a:solidFill>
                          <a:effectLst/>
                          <a:latin typeface="+mn-lt"/>
                          <a:ea typeface="+mn-ea"/>
                          <a:cs typeface="+mn-cs"/>
                        </a:rPr>
                        <a:t>Q</a:t>
                      </a:r>
                      <a:r>
                        <a:rPr lang="en-US" sz="1000" b="0" i="0" kern="1200" err="1">
                          <a:solidFill>
                            <a:schemeClr val="dk1"/>
                          </a:solidFill>
                          <a:effectLst/>
                          <a:latin typeface="+mn-lt"/>
                          <a:ea typeface="+mn-ea"/>
                          <a:cs typeface="+mn-cs"/>
                        </a:rPr>
                        <a:t>uality</a:t>
                      </a:r>
                      <a:r>
                        <a:rPr lang="en-US" sz="1000" b="0" i="0" kern="1200">
                          <a:solidFill>
                            <a:schemeClr val="dk1"/>
                          </a:solidFill>
                          <a:effectLst/>
                          <a:latin typeface="+mn-lt"/>
                          <a:ea typeface="+mn-ea"/>
                          <a:cs typeface="+mn-cs"/>
                        </a:rPr>
                        <a:t> depends on the underlying mode</a:t>
                      </a:r>
                      <a:r>
                        <a:rPr lang="pl-PL" sz="1000" b="0" i="0" kern="1200">
                          <a:solidFill>
                            <a:schemeClr val="dk1"/>
                          </a:solidFill>
                          <a:effectLst/>
                          <a:latin typeface="+mn-lt"/>
                          <a:ea typeface="+mn-ea"/>
                          <a:cs typeface="+mn-cs"/>
                        </a:rPr>
                        <a:t>l and the right information provided to LLM</a:t>
                      </a:r>
                    </a:p>
                    <a:p>
                      <a:pPr marL="171450" indent="-171450" algn="l" defTabSz="457184" rtl="0" eaLnBrk="1" fontAlgn="t" latinLnBrk="0" hangingPunct="1">
                        <a:lnSpc>
                          <a:spcPct val="100000"/>
                        </a:lnSpc>
                        <a:buClr>
                          <a:srgbClr val="FF0000"/>
                        </a:buClr>
                        <a:buFont typeface="Arial" panose="020B0604020202020204" pitchFamily="34" charset="0"/>
                        <a:buChar char="•"/>
                      </a:pPr>
                      <a:r>
                        <a:rPr lang="pl-PL" sz="1000" b="0" i="0" kern="1200">
                          <a:solidFill>
                            <a:schemeClr val="dk1"/>
                          </a:solidFill>
                          <a:effectLst/>
                          <a:latin typeface="+mn-lt"/>
                          <a:ea typeface="+mn-ea"/>
                          <a:cs typeface="+mn-cs"/>
                        </a:rPr>
                        <a:t>O</a:t>
                      </a:r>
                      <a:r>
                        <a:rPr lang="en-US" sz="1000" b="0" i="0" kern="1200" err="1">
                          <a:solidFill>
                            <a:schemeClr val="dk1"/>
                          </a:solidFill>
                          <a:effectLst/>
                          <a:latin typeface="+mn-lt"/>
                          <a:ea typeface="+mn-ea"/>
                          <a:cs typeface="+mn-cs"/>
                        </a:rPr>
                        <a:t>utputs</a:t>
                      </a:r>
                      <a:r>
                        <a:rPr lang="en-US" sz="1000" b="0" i="0" kern="1200">
                          <a:solidFill>
                            <a:schemeClr val="dk1"/>
                          </a:solidFill>
                          <a:effectLst/>
                          <a:latin typeface="+mn-lt"/>
                          <a:ea typeface="+mn-ea"/>
                          <a:cs typeface="+mn-cs"/>
                        </a:rPr>
                        <a:t> still need human validation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7" name="Table 6">
            <a:extLst>
              <a:ext uri="{FF2B5EF4-FFF2-40B4-BE49-F238E27FC236}">
                <a16:creationId xmlns:a16="http://schemas.microsoft.com/office/drawing/2014/main" id="{0A1740F9-FEE3-7A03-AD70-15A926D941D6}"/>
              </a:ext>
            </a:extLst>
          </p:cNvPr>
          <p:cNvGraphicFramePr>
            <a:graphicFrameLocks noGrp="1"/>
          </p:cNvGraphicFramePr>
          <p:nvPr>
            <p:extLst>
              <p:ext uri="{D42A27DB-BD31-4B8C-83A1-F6EECF244321}">
                <p14:modId xmlns:p14="http://schemas.microsoft.com/office/powerpoint/2010/main" val="3631121412"/>
              </p:ext>
            </p:extLst>
          </p:nvPr>
        </p:nvGraphicFramePr>
        <p:xfrm>
          <a:off x="5531658" y="1340593"/>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pl-PL" sz="1200" b="1">
                          <a:solidFill>
                            <a:schemeClr val="accent5"/>
                          </a:solidFill>
                          <a:latin typeface="+mn-lt"/>
                        </a:rPr>
                        <a:t>Advantage</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Scales to hundreds of prompts in minutes</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S</a:t>
                      </a:r>
                      <a:r>
                        <a:rPr lang="en-US" sz="1000" b="0" i="0" kern="1200" err="1">
                          <a:solidFill>
                            <a:schemeClr val="dk1"/>
                          </a:solidFill>
                          <a:effectLst/>
                          <a:latin typeface="+mn-lt"/>
                          <a:ea typeface="+mn-ea"/>
                          <a:cs typeface="+mn-cs"/>
                        </a:rPr>
                        <a:t>urfaces</a:t>
                      </a:r>
                      <a:r>
                        <a:rPr lang="en-US" sz="1000" b="0" i="0" kern="1200">
                          <a:solidFill>
                            <a:schemeClr val="dk1"/>
                          </a:solidFill>
                          <a:effectLst/>
                          <a:latin typeface="+mn-lt"/>
                          <a:ea typeface="+mn-ea"/>
                          <a:cs typeface="+mn-cs"/>
                        </a:rPr>
                        <a:t> long-tail phrasing humans miss</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A</a:t>
                      </a:r>
                      <a:r>
                        <a:rPr lang="en-US" sz="1000" b="0" i="0" kern="1200" err="1">
                          <a:solidFill>
                            <a:schemeClr val="dk1"/>
                          </a:solidFill>
                          <a:effectLst/>
                          <a:latin typeface="+mn-lt"/>
                          <a:ea typeface="+mn-ea"/>
                          <a:cs typeface="+mn-cs"/>
                        </a:rPr>
                        <a:t>uto</a:t>
                      </a:r>
                      <a:r>
                        <a:rPr lang="en-US" sz="1000" b="0" i="0" kern="1200">
                          <a:solidFill>
                            <a:schemeClr val="dk1"/>
                          </a:solidFill>
                          <a:effectLst/>
                          <a:latin typeface="+mn-lt"/>
                          <a:ea typeface="+mn-ea"/>
                          <a:cs typeface="+mn-cs"/>
                        </a:rPr>
                        <a:t>-scores by difficulty </a:t>
                      </a:r>
                      <a:r>
                        <a:rPr lang="pl-PL" sz="1000" b="0" i="0" kern="1200">
                          <a:solidFill>
                            <a:schemeClr val="dk1"/>
                          </a:solidFill>
                          <a:effectLst/>
                          <a:latin typeface="+mn-lt"/>
                          <a:ea typeface="+mn-ea"/>
                          <a:cs typeface="+mn-cs"/>
                        </a:rPr>
                        <a:t>and</a:t>
                      </a:r>
                      <a:r>
                        <a:rPr lang="en-US" sz="1000" b="0" i="0" kern="1200">
                          <a:solidFill>
                            <a:schemeClr val="dk1"/>
                          </a:solidFill>
                          <a:effectLst/>
                          <a:latin typeface="+mn-lt"/>
                          <a:ea typeface="+mn-ea"/>
                          <a:cs typeface="+mn-cs"/>
                        </a:rPr>
                        <a:t> opportunity </a:t>
                      </a:r>
                      <a:endParaRPr lang="pl-PL"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pl-PL" sz="1000" b="0" i="0" kern="1200">
                          <a:solidFill>
                            <a:schemeClr val="dk1"/>
                          </a:solidFill>
                          <a:effectLst/>
                          <a:latin typeface="+mn-lt"/>
                          <a:ea typeface="+mn-ea"/>
                          <a:cs typeface="+mn-cs"/>
                        </a:rPr>
                        <a:t>T</a:t>
                      </a:r>
                      <a:r>
                        <a:rPr lang="en-US" sz="1000" b="0" i="0" kern="1200" err="1">
                          <a:solidFill>
                            <a:schemeClr val="dk1"/>
                          </a:solidFill>
                          <a:effectLst/>
                          <a:latin typeface="+mn-lt"/>
                          <a:ea typeface="+mn-ea"/>
                          <a:cs typeface="+mn-cs"/>
                        </a:rPr>
                        <a:t>ests</a:t>
                      </a:r>
                      <a:r>
                        <a:rPr lang="en-US" sz="1000" b="0" i="0" kern="1200">
                          <a:solidFill>
                            <a:schemeClr val="dk1"/>
                          </a:solidFill>
                          <a:effectLst/>
                          <a:latin typeface="+mn-lt"/>
                          <a:ea typeface="+mn-ea"/>
                          <a:cs typeface="+mn-cs"/>
                        </a:rPr>
                        <a:t> real AI-engine behavior directly, not a proxy for 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8" name="Shape 0">
            <a:extLst>
              <a:ext uri="{FF2B5EF4-FFF2-40B4-BE49-F238E27FC236}">
                <a16:creationId xmlns:a16="http://schemas.microsoft.com/office/drawing/2014/main" id="{54647E2E-FDF5-90EE-7273-DE6DC9DCE196}"/>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8495C653-D4AB-33D7-B337-74498E058C1C}"/>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Prompt research with AI Model Support</a:t>
            </a:r>
            <a:endParaRPr lang="en-US" sz="2200">
              <a:solidFill>
                <a:schemeClr val="accent5"/>
              </a:solidFill>
              <a:cs typeface="Arial"/>
            </a:endParaRPr>
          </a:p>
        </p:txBody>
      </p:sp>
      <p:sp>
        <p:nvSpPr>
          <p:cNvPr id="12" name="Text 2">
            <a:extLst>
              <a:ext uri="{FF2B5EF4-FFF2-40B4-BE49-F238E27FC236}">
                <a16:creationId xmlns:a16="http://schemas.microsoft.com/office/drawing/2014/main" id="{092E1E14-F09E-1629-A3E1-889931D5385A}"/>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AI engine can support by quickly analyzing the web for the topics that people are talking about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1B3582CC-881C-EBED-437C-AD863203EF62}"/>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63CFAE5D-6BEE-A759-3D2D-4A00DD88938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15</a:t>
            </a:fld>
            <a:endParaRPr lang="en-US">
              <a:solidFill>
                <a:srgbClr val="3DCD58"/>
              </a:solidFill>
            </a:endParaRPr>
          </a:p>
        </p:txBody>
      </p:sp>
      <p:sp>
        <p:nvSpPr>
          <p:cNvPr id="2" name="TextBox 1">
            <a:extLst>
              <a:ext uri="{FF2B5EF4-FFF2-40B4-BE49-F238E27FC236}">
                <a16:creationId xmlns:a16="http://schemas.microsoft.com/office/drawing/2014/main" id="{A0AD78BF-0DE5-BE66-90A8-7C11ED99B697}"/>
              </a:ext>
            </a:extLst>
          </p:cNvPr>
          <p:cNvSpPr txBox="1"/>
          <p:nvPr/>
        </p:nvSpPr>
        <p:spPr>
          <a:xfrm>
            <a:off x="235744" y="1162570"/>
            <a:ext cx="5029200" cy="3331681"/>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LLM prompt extrapolation</a:t>
            </a:r>
          </a:p>
          <a:p>
            <a:pPr lvl="0">
              <a:defRPr/>
            </a:pPr>
            <a:endParaRPr kumimoji="0" lang="en-US" sz="1000" b="0" i="0" u="none" strike="noStrike" kern="1200" cap="none" spc="0" normalizeH="0" baseline="0" noProof="0">
              <a:ln>
                <a:noFill/>
              </a:ln>
              <a:effectLst/>
              <a:uLnTx/>
              <a:uFillTx/>
              <a:latin typeface="Poppins"/>
              <a:ea typeface="+mn-ea"/>
              <a:cs typeface="+mn-cs"/>
            </a:endParaRPr>
          </a:p>
          <a:p>
            <a:pPr marL="171450" lvl="0" indent="-171450">
              <a:buClr>
                <a:schemeClr val="tx1"/>
              </a:buClr>
              <a:buFont typeface="Arial" panose="020B0604020202020204" pitchFamily="34" charset="0"/>
              <a:buChar char="•"/>
              <a:defRPr/>
            </a:pPr>
            <a:r>
              <a:rPr lang="en-US" sz="1000"/>
              <a:t>Feed an LLM your audience, offer, and funnel stage as context</a:t>
            </a:r>
            <a:endParaRPr lang="pl-PL" sz="1000"/>
          </a:p>
          <a:p>
            <a:pPr marL="171450" lvl="0" indent="-171450">
              <a:buClr>
                <a:schemeClr val="tx1"/>
              </a:buClr>
              <a:buFont typeface="Arial" panose="020B0604020202020204" pitchFamily="34" charset="0"/>
              <a:buChar char="•"/>
              <a:defRPr/>
            </a:pPr>
            <a:r>
              <a:rPr lang="pl-PL" sz="1000"/>
              <a:t>Always do the prompt extrapolation on multiple </a:t>
            </a:r>
            <a:r>
              <a:rPr lang="en-US" sz="1000"/>
              <a:t>AI agents (ChatGPT, Perplexity, Gemini, Copilot and Claude)</a:t>
            </a:r>
            <a:r>
              <a:rPr lang="pl-PL" sz="1000"/>
              <a:t> – this is how you will avoid AI hallucinations and if prompts overlaps among the AI engines, it is very likely those are the hot topics</a:t>
            </a:r>
            <a:endParaRPr lang="en-US" sz="1000"/>
          </a:p>
          <a:p>
            <a:pPr marL="171450" lvl="0" indent="-171450">
              <a:buClr>
                <a:schemeClr val="tx1"/>
              </a:buClr>
              <a:buFont typeface="Arial" panose="020B0604020202020204" pitchFamily="34" charset="0"/>
              <a:buChar char="•"/>
              <a:defRPr/>
            </a:pPr>
            <a:r>
              <a:rPr lang="en-US" sz="1000"/>
              <a:t>Ask it to generate realistic prompts and natural follow-up questions</a:t>
            </a:r>
          </a:p>
          <a:p>
            <a:pPr marL="171450" lvl="0" indent="-171450">
              <a:buClr>
                <a:schemeClr val="tx1"/>
              </a:buClr>
              <a:buFont typeface="Arial" panose="020B0604020202020204" pitchFamily="34" charset="0"/>
              <a:buChar char="•"/>
              <a:defRPr/>
            </a:pPr>
            <a:r>
              <a:rPr lang="en-US" sz="1000"/>
              <a:t>Repeat per product line and buyer persona to widen coverage</a:t>
            </a:r>
            <a:endParaRPr lang="pl-PL" sz="1000"/>
          </a:p>
          <a:p>
            <a:pPr marL="171450" lvl="0" indent="-171450">
              <a:buClr>
                <a:schemeClr val="tx1"/>
              </a:buClr>
              <a:buFont typeface="Arial" panose="020B0604020202020204" pitchFamily="34" charset="0"/>
              <a:buChar char="•"/>
              <a:defRPr/>
            </a:pPr>
            <a:r>
              <a:rPr lang="pl-PL" sz="1000"/>
              <a:t>More information you will feed LLM – more accurate will be the prompts generated by it</a:t>
            </a:r>
          </a:p>
          <a:p>
            <a:pPr marL="171450" lvl="0" indent="-171450">
              <a:buClr>
                <a:schemeClr val="tx1"/>
              </a:buClr>
              <a:buFont typeface="Arial" panose="020B0604020202020204" pitchFamily="34" charset="0"/>
              <a:buChar char="•"/>
              <a:defRPr/>
            </a:pPr>
            <a:endParaRPr lang="pl-PL" sz="1000"/>
          </a:p>
          <a:p>
            <a:pPr lvl="0">
              <a:buClr>
                <a:schemeClr val="tx1"/>
              </a:buClr>
              <a:defRPr/>
            </a:pPr>
            <a:r>
              <a:rPr lang="en-US" sz="1000" b="1"/>
              <a:t>Direct AI engine testing</a:t>
            </a:r>
          </a:p>
          <a:p>
            <a:pPr lvl="0">
              <a:buClr>
                <a:schemeClr val="tx1"/>
              </a:buClr>
              <a:defRPr/>
            </a:pPr>
            <a:endParaRPr lang="en-US" sz="1000"/>
          </a:p>
          <a:p>
            <a:pPr marL="171450" lvl="0" indent="-171450">
              <a:buClr>
                <a:schemeClr val="tx1"/>
              </a:buClr>
              <a:buFont typeface="Arial" panose="020B0604020202020204" pitchFamily="34" charset="0"/>
              <a:buChar char="•"/>
              <a:defRPr/>
            </a:pPr>
            <a:r>
              <a:rPr lang="en-US" sz="1000"/>
              <a:t>Run seed prompts through </a:t>
            </a:r>
            <a:r>
              <a:rPr lang="pl-PL" sz="1000"/>
              <a:t>multiple AI agents (</a:t>
            </a:r>
            <a:r>
              <a:rPr lang="en-US" sz="1000"/>
              <a:t>ChatGPT, Perplexity, Gemini</a:t>
            </a:r>
            <a:r>
              <a:rPr lang="pl-PL" sz="1000"/>
              <a:t>, </a:t>
            </a:r>
            <a:r>
              <a:rPr lang="en-US" sz="1000"/>
              <a:t>Copilot</a:t>
            </a:r>
            <a:r>
              <a:rPr lang="pl-PL" sz="1000"/>
              <a:t> and Claude)</a:t>
            </a:r>
          </a:p>
          <a:p>
            <a:pPr marL="171450" lvl="0" indent="-171450">
              <a:buClr>
                <a:schemeClr val="tx1"/>
              </a:buClr>
              <a:buFont typeface="Arial" panose="020B0604020202020204" pitchFamily="34" charset="0"/>
              <a:buChar char="•"/>
              <a:defRPr/>
            </a:pPr>
            <a:r>
              <a:rPr lang="pl-PL" sz="1000"/>
              <a:t>Use incognito mode (not logged-in experience) and close and re-open the search for each query (avoid history of searching influence your research)</a:t>
            </a:r>
            <a:endParaRPr lang="en-US" sz="1000"/>
          </a:p>
          <a:p>
            <a:pPr marL="171450" lvl="0" indent="-171450">
              <a:buClr>
                <a:schemeClr val="tx1"/>
              </a:buClr>
              <a:buFont typeface="Arial" panose="020B0604020202020204" pitchFamily="34" charset="0"/>
              <a:buChar char="•"/>
              <a:defRPr/>
            </a:pPr>
            <a:r>
              <a:rPr lang="en-US" sz="1000"/>
              <a:t>Capture the follow-up questions each engine itself suggests</a:t>
            </a:r>
          </a:p>
          <a:p>
            <a:pPr marL="171450" lvl="0" indent="-171450">
              <a:buClr>
                <a:schemeClr val="tx1"/>
              </a:buClr>
              <a:buFont typeface="Arial" panose="020B0604020202020204" pitchFamily="34" charset="0"/>
              <a:buChar char="•"/>
              <a:defRPr/>
            </a:pPr>
            <a:r>
              <a:rPr lang="en-US" sz="1000"/>
              <a:t>Use a clean/logged-out session to avoid personalization bias</a:t>
            </a:r>
          </a:p>
        </p:txBody>
      </p:sp>
      <p:sp>
        <p:nvSpPr>
          <p:cNvPr id="3" name="TextBox 2">
            <a:extLst>
              <a:ext uri="{FF2B5EF4-FFF2-40B4-BE49-F238E27FC236}">
                <a16:creationId xmlns:a16="http://schemas.microsoft.com/office/drawing/2014/main" id="{4611F6D5-AAD4-2CAC-405E-D80F8682DDE2}"/>
              </a:ext>
            </a:extLst>
          </p:cNvPr>
          <p:cNvSpPr txBox="1"/>
          <p:nvPr/>
        </p:nvSpPr>
        <p:spPr>
          <a:xfrm>
            <a:off x="1892876" y="4537601"/>
            <a:ext cx="5257800" cy="569387"/>
          </a:xfrm>
          <a:prstGeom prst="rect">
            <a:avLst/>
          </a:prstGeom>
          <a:solidFill>
            <a:schemeClr val="tx1"/>
          </a:solidFill>
        </p:spPr>
        <p:txBody>
          <a:bodyPr wrap="square">
            <a:spAutoFit/>
          </a:bodyPr>
          <a:lstStyle/>
          <a:p>
            <a:pPr algn="ctr"/>
            <a:r>
              <a:rPr lang="pl-PL" sz="1100" b="1">
                <a:solidFill>
                  <a:schemeClr val="accent5"/>
                </a:solidFill>
              </a:rPr>
              <a:t>Important: </a:t>
            </a:r>
            <a:r>
              <a:rPr lang="pl-PL" sz="1000">
                <a:solidFill>
                  <a:schemeClr val="accent5"/>
                </a:solidFill>
              </a:rPr>
              <a:t>when feeding LLMs with information for the prompt research, remember </a:t>
            </a:r>
            <a:r>
              <a:rPr lang="pl-PL" sz="1000" b="1">
                <a:solidFill>
                  <a:schemeClr val="accent5"/>
                </a:solidFill>
              </a:rPr>
              <a:t>NOT TO </a:t>
            </a:r>
            <a:r>
              <a:rPr lang="pl-PL" sz="1000">
                <a:solidFill>
                  <a:schemeClr val="accent5"/>
                </a:solidFill>
              </a:rPr>
              <a:t>insert any confidential and/or sensitive data to the AI model. Always follow cybersecurity training and principles.</a:t>
            </a:r>
            <a:endParaRPr lang="en-US" sz="1100" u="sng">
              <a:solidFill>
                <a:schemeClr val="accent5"/>
              </a:solidFill>
            </a:endParaRPr>
          </a:p>
        </p:txBody>
      </p:sp>
    </p:spTree>
    <p:extLst>
      <p:ext uri="{BB962C8B-B14F-4D97-AF65-F5344CB8AC3E}">
        <p14:creationId xmlns:p14="http://schemas.microsoft.com/office/powerpoint/2010/main" val="313202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8725B-74CD-59C6-69B1-C3EE7F6C039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6E30EDC0-4680-0800-227E-142C7C89D407}"/>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1A30050F-3CED-DD94-BF0E-B21EE6C5A425}"/>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The Grounding &amp; Topical Mapping Methodology</a:t>
            </a:r>
          </a:p>
        </p:txBody>
      </p:sp>
      <p:sp>
        <p:nvSpPr>
          <p:cNvPr id="12" name="Text 2">
            <a:extLst>
              <a:ext uri="{FF2B5EF4-FFF2-40B4-BE49-F238E27FC236}">
                <a16:creationId xmlns:a16="http://schemas.microsoft.com/office/drawing/2014/main" id="{DFB2FFE4-D194-96A0-AB5A-A2E0E5F78356}"/>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A systematic approach to building AI-citation-ready content</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736EEE3A-BEBD-3ADC-D4C3-7A95BE33C4DA}"/>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B8641527-4372-18C1-1B47-D1DBDEF39073}"/>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16</a:t>
            </a:fld>
            <a:endParaRPr lang="en-US">
              <a:solidFill>
                <a:srgbClr val="3DCD58"/>
              </a:solidFill>
            </a:endParaRPr>
          </a:p>
        </p:txBody>
      </p:sp>
      <p:sp>
        <p:nvSpPr>
          <p:cNvPr id="2" name="Shape 6">
            <a:extLst>
              <a:ext uri="{FF2B5EF4-FFF2-40B4-BE49-F238E27FC236}">
                <a16:creationId xmlns:a16="http://schemas.microsoft.com/office/drawing/2014/main" id="{E1F4AAA1-3E10-D7A7-F4C5-6E4162DC1609}"/>
              </a:ext>
            </a:extLst>
          </p:cNvPr>
          <p:cNvSpPr/>
          <p:nvPr/>
        </p:nvSpPr>
        <p:spPr>
          <a:xfrm>
            <a:off x="342900" y="1303020"/>
            <a:ext cx="2071116" cy="2846070"/>
          </a:xfrm>
          <a:prstGeom prst="roundRect">
            <a:avLst>
              <a:gd name="adj" fmla="val 2649"/>
            </a:avLst>
          </a:prstGeom>
          <a:solidFill>
            <a:schemeClr val="accent5"/>
          </a:solidFill>
          <a:ln w="12700">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9" name="Shape 7">
            <a:extLst>
              <a:ext uri="{FF2B5EF4-FFF2-40B4-BE49-F238E27FC236}">
                <a16:creationId xmlns:a16="http://schemas.microsoft.com/office/drawing/2014/main" id="{E697156B-593E-A515-1B57-295FD1D35B26}"/>
              </a:ext>
            </a:extLst>
          </p:cNvPr>
          <p:cNvSpPr/>
          <p:nvPr/>
        </p:nvSpPr>
        <p:spPr>
          <a:xfrm>
            <a:off x="534924" y="1474470"/>
            <a:ext cx="425196" cy="425196"/>
          </a:xfrm>
          <a:prstGeom prst="ellipse">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14" name="Text 8">
            <a:extLst>
              <a:ext uri="{FF2B5EF4-FFF2-40B4-BE49-F238E27FC236}">
                <a16:creationId xmlns:a16="http://schemas.microsoft.com/office/drawing/2014/main" id="{A0A25451-EAB1-14FB-B714-E732950CA78C}"/>
              </a:ext>
            </a:extLst>
          </p:cNvPr>
          <p:cNvSpPr/>
          <p:nvPr/>
        </p:nvSpPr>
        <p:spPr>
          <a:xfrm>
            <a:off x="534924" y="1474470"/>
            <a:ext cx="425196" cy="425196"/>
          </a:xfrm>
          <a:prstGeom prst="rect">
            <a:avLst/>
          </a:prstGeom>
          <a:noFill/>
          <a:ln/>
        </p:spPr>
        <p:txBody>
          <a:bodyPr wrap="square" lIns="0" tIns="0" rIns="0" bIns="0" rtlCol="0" anchor="ctr"/>
          <a:lstStyle/>
          <a:p>
            <a:pPr algn="ctr" defTabSz="685800"/>
            <a:r>
              <a:rPr lang="en-US" sz="1650" b="1">
                <a:solidFill>
                  <a:schemeClr val="accent5"/>
                </a:solidFill>
                <a:ea typeface="Arial" pitchFamily="34" charset="-122"/>
                <a:cs typeface="Arial" pitchFamily="34" charset="-120"/>
              </a:rPr>
              <a:t>1</a:t>
            </a:r>
            <a:endParaRPr lang="en-US" sz="1650">
              <a:solidFill>
                <a:schemeClr val="accent5"/>
              </a:solidFill>
            </a:endParaRPr>
          </a:p>
        </p:txBody>
      </p:sp>
      <p:sp>
        <p:nvSpPr>
          <p:cNvPr id="17" name="Text 9">
            <a:extLst>
              <a:ext uri="{FF2B5EF4-FFF2-40B4-BE49-F238E27FC236}">
                <a16:creationId xmlns:a16="http://schemas.microsoft.com/office/drawing/2014/main" id="{A6C74A68-9993-B4F0-6E5A-CCD39CB395AE}"/>
              </a:ext>
            </a:extLst>
          </p:cNvPr>
          <p:cNvSpPr/>
          <p:nvPr/>
        </p:nvSpPr>
        <p:spPr>
          <a:xfrm>
            <a:off x="493776" y="2023110"/>
            <a:ext cx="1769364" cy="480060"/>
          </a:xfrm>
          <a:prstGeom prst="rect">
            <a:avLst/>
          </a:prstGeom>
          <a:noFill/>
          <a:ln/>
        </p:spPr>
        <p:txBody>
          <a:bodyPr wrap="square" lIns="0" tIns="0" rIns="0" bIns="0" rtlCol="0" anchor="t"/>
          <a:lstStyle/>
          <a:p>
            <a:pPr algn="ctr" defTabSz="685800">
              <a:lnSpc>
                <a:spcPct val="102000"/>
              </a:lnSpc>
            </a:pPr>
            <a:r>
              <a:rPr lang="en-US" sz="1000" b="1"/>
              <a:t>PAA</a:t>
            </a:r>
            <a:r>
              <a:rPr lang="pl-PL" sz="1000" b="1"/>
              <a:t> (People Also Ask)</a:t>
            </a:r>
            <a:r>
              <a:rPr lang="en-US" sz="1000" b="1"/>
              <a:t> &amp; Intent Extraction</a:t>
            </a:r>
          </a:p>
        </p:txBody>
      </p:sp>
      <p:sp>
        <p:nvSpPr>
          <p:cNvPr id="18" name="Text 10">
            <a:extLst>
              <a:ext uri="{FF2B5EF4-FFF2-40B4-BE49-F238E27FC236}">
                <a16:creationId xmlns:a16="http://schemas.microsoft.com/office/drawing/2014/main" id="{CC696FAC-6325-4A79-EA0F-C9EAE8405528}"/>
              </a:ext>
            </a:extLst>
          </p:cNvPr>
          <p:cNvSpPr/>
          <p:nvPr/>
        </p:nvSpPr>
        <p:spPr>
          <a:xfrm>
            <a:off x="493776" y="2551176"/>
            <a:ext cx="1769364" cy="1062990"/>
          </a:xfrm>
          <a:prstGeom prst="rect">
            <a:avLst/>
          </a:prstGeom>
          <a:noFill/>
          <a:ln/>
        </p:spPr>
        <p:txBody>
          <a:bodyPr wrap="square" lIns="0" tIns="0" rIns="0" bIns="0" rtlCol="0" anchor="t"/>
          <a:lstStyle/>
          <a:p>
            <a:pPr defTabSz="685800">
              <a:lnSpc>
                <a:spcPct val="102000"/>
              </a:lnSpc>
            </a:pPr>
            <a:r>
              <a:rPr lang="en-US" sz="1000"/>
              <a:t>Scrape Google 'People Also Ask' and related queries to capture the exact phrasing of user intent.</a:t>
            </a:r>
          </a:p>
        </p:txBody>
      </p:sp>
      <p:sp>
        <p:nvSpPr>
          <p:cNvPr id="20" name="Text 11">
            <a:extLst>
              <a:ext uri="{FF2B5EF4-FFF2-40B4-BE49-F238E27FC236}">
                <a16:creationId xmlns:a16="http://schemas.microsoft.com/office/drawing/2014/main" id="{504FF413-2117-5DE6-8EE7-34BF83F828A0}"/>
              </a:ext>
            </a:extLst>
          </p:cNvPr>
          <p:cNvSpPr/>
          <p:nvPr/>
        </p:nvSpPr>
        <p:spPr>
          <a:xfrm>
            <a:off x="493776" y="3648456"/>
            <a:ext cx="1769364" cy="445770"/>
          </a:xfrm>
          <a:prstGeom prst="rect">
            <a:avLst/>
          </a:prstGeom>
          <a:noFill/>
          <a:ln/>
        </p:spPr>
        <p:txBody>
          <a:bodyPr wrap="square" lIns="0" tIns="0" rIns="0" bIns="0" rtlCol="0" anchor="t"/>
          <a:lstStyle/>
          <a:p>
            <a:pPr defTabSz="685800"/>
            <a:r>
              <a:rPr lang="en-US" sz="800" i="1"/>
              <a:t>Goal: understand how the persona asks the question.</a:t>
            </a:r>
          </a:p>
        </p:txBody>
      </p:sp>
      <p:sp>
        <p:nvSpPr>
          <p:cNvPr id="21" name="Shape 12">
            <a:extLst>
              <a:ext uri="{FF2B5EF4-FFF2-40B4-BE49-F238E27FC236}">
                <a16:creationId xmlns:a16="http://schemas.microsoft.com/office/drawing/2014/main" id="{43D5A63C-EFED-440D-1C11-83516A5DF581}"/>
              </a:ext>
            </a:extLst>
          </p:cNvPr>
          <p:cNvSpPr/>
          <p:nvPr/>
        </p:nvSpPr>
        <p:spPr>
          <a:xfrm>
            <a:off x="2420874" y="1577340"/>
            <a:ext cx="123444" cy="192024"/>
          </a:xfrm>
          <a:prstGeom prst="rightArrow">
            <a:avLst/>
          </a:prstGeom>
          <a:solidFill>
            <a:schemeClr val="tx1"/>
          </a:solidFill>
          <a:ln/>
        </p:spPr>
        <p:txBody>
          <a:bodyPr/>
          <a:lstStyle/>
          <a:p>
            <a:pPr defTabSz="685800"/>
            <a:endParaRPr lang="pl-PL" sz="1350">
              <a:solidFill>
                <a:prstClr val="black"/>
              </a:solidFill>
              <a:latin typeface="Calibri" panose="020F0502020204030204"/>
            </a:endParaRPr>
          </a:p>
        </p:txBody>
      </p:sp>
      <p:sp>
        <p:nvSpPr>
          <p:cNvPr id="23" name="Shape 13">
            <a:extLst>
              <a:ext uri="{FF2B5EF4-FFF2-40B4-BE49-F238E27FC236}">
                <a16:creationId xmlns:a16="http://schemas.microsoft.com/office/drawing/2014/main" id="{5260109C-0A7B-B688-D0CB-575A0052B348}"/>
              </a:ext>
            </a:extLst>
          </p:cNvPr>
          <p:cNvSpPr/>
          <p:nvPr/>
        </p:nvSpPr>
        <p:spPr>
          <a:xfrm>
            <a:off x="2551176" y="1303020"/>
            <a:ext cx="2071116" cy="2846070"/>
          </a:xfrm>
          <a:prstGeom prst="roundRect">
            <a:avLst>
              <a:gd name="adj" fmla="val 2649"/>
            </a:avLst>
          </a:prstGeom>
          <a:solidFill>
            <a:schemeClr val="accent5"/>
          </a:solidFill>
          <a:ln w="12700">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24" name="Shape 14">
            <a:extLst>
              <a:ext uri="{FF2B5EF4-FFF2-40B4-BE49-F238E27FC236}">
                <a16:creationId xmlns:a16="http://schemas.microsoft.com/office/drawing/2014/main" id="{67CF97D2-5587-B8E1-70A3-EFCD39DF7866}"/>
              </a:ext>
            </a:extLst>
          </p:cNvPr>
          <p:cNvSpPr/>
          <p:nvPr/>
        </p:nvSpPr>
        <p:spPr>
          <a:xfrm>
            <a:off x="2743200" y="1474470"/>
            <a:ext cx="425196" cy="425196"/>
          </a:xfrm>
          <a:prstGeom prst="ellipse">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25" name="Text 15">
            <a:extLst>
              <a:ext uri="{FF2B5EF4-FFF2-40B4-BE49-F238E27FC236}">
                <a16:creationId xmlns:a16="http://schemas.microsoft.com/office/drawing/2014/main" id="{EE31E031-22DE-A3DF-B7E5-18E810CFA0E9}"/>
              </a:ext>
            </a:extLst>
          </p:cNvPr>
          <p:cNvSpPr/>
          <p:nvPr/>
        </p:nvSpPr>
        <p:spPr>
          <a:xfrm>
            <a:off x="2743200" y="1474470"/>
            <a:ext cx="425196" cy="425196"/>
          </a:xfrm>
          <a:prstGeom prst="rect">
            <a:avLst/>
          </a:prstGeom>
          <a:noFill/>
          <a:ln/>
        </p:spPr>
        <p:txBody>
          <a:bodyPr wrap="square" lIns="0" tIns="0" rIns="0" bIns="0" rtlCol="0" anchor="ctr"/>
          <a:lstStyle/>
          <a:p>
            <a:pPr algn="ctr" defTabSz="685800"/>
            <a:r>
              <a:rPr lang="en-US" sz="1650" b="1">
                <a:solidFill>
                  <a:schemeClr val="accent5"/>
                </a:solidFill>
                <a:cs typeface="Arial" pitchFamily="34" charset="-120"/>
              </a:rPr>
              <a:t>2</a:t>
            </a:r>
          </a:p>
        </p:txBody>
      </p:sp>
      <p:sp>
        <p:nvSpPr>
          <p:cNvPr id="26" name="Text 16">
            <a:extLst>
              <a:ext uri="{FF2B5EF4-FFF2-40B4-BE49-F238E27FC236}">
                <a16:creationId xmlns:a16="http://schemas.microsoft.com/office/drawing/2014/main" id="{CA51B593-D4CA-43A7-34D6-CA99046D41FB}"/>
              </a:ext>
            </a:extLst>
          </p:cNvPr>
          <p:cNvSpPr/>
          <p:nvPr/>
        </p:nvSpPr>
        <p:spPr>
          <a:xfrm>
            <a:off x="2702052" y="2023110"/>
            <a:ext cx="1769364" cy="480060"/>
          </a:xfrm>
          <a:prstGeom prst="rect">
            <a:avLst/>
          </a:prstGeom>
          <a:noFill/>
          <a:ln/>
        </p:spPr>
        <p:txBody>
          <a:bodyPr wrap="square" lIns="0" tIns="0" rIns="0" bIns="0" rtlCol="0" anchor="t"/>
          <a:lstStyle/>
          <a:p>
            <a:pPr algn="ctr" defTabSz="685800">
              <a:lnSpc>
                <a:spcPct val="102000"/>
              </a:lnSpc>
            </a:pPr>
            <a:r>
              <a:rPr lang="en-US" sz="1000" b="1"/>
              <a:t>Community Signal Grounding</a:t>
            </a:r>
          </a:p>
        </p:txBody>
      </p:sp>
      <p:sp>
        <p:nvSpPr>
          <p:cNvPr id="28" name="Text 17">
            <a:extLst>
              <a:ext uri="{FF2B5EF4-FFF2-40B4-BE49-F238E27FC236}">
                <a16:creationId xmlns:a16="http://schemas.microsoft.com/office/drawing/2014/main" id="{7E506FDA-E4D4-D291-F414-D5E947654486}"/>
              </a:ext>
            </a:extLst>
          </p:cNvPr>
          <p:cNvSpPr/>
          <p:nvPr/>
        </p:nvSpPr>
        <p:spPr>
          <a:xfrm>
            <a:off x="2702052" y="2551176"/>
            <a:ext cx="1769364" cy="1062990"/>
          </a:xfrm>
          <a:prstGeom prst="rect">
            <a:avLst/>
          </a:prstGeom>
          <a:noFill/>
          <a:ln/>
        </p:spPr>
        <p:txBody>
          <a:bodyPr wrap="square" lIns="0" tIns="0" rIns="0" bIns="0" rtlCol="0" anchor="t"/>
          <a:lstStyle/>
          <a:p>
            <a:pPr defTabSz="685800">
              <a:lnSpc>
                <a:spcPct val="102000"/>
              </a:lnSpc>
            </a:pPr>
            <a:r>
              <a:rPr lang="en-US" sz="1000"/>
              <a:t>Cross-reference P</a:t>
            </a:r>
            <a:r>
              <a:rPr lang="pl-PL" sz="1000"/>
              <a:t>A</a:t>
            </a:r>
            <a:r>
              <a:rPr lang="en-US" sz="1000"/>
              <a:t>A with Reddit and technical forums to extract the 'ground truth' — the real friction points and consensus.</a:t>
            </a:r>
          </a:p>
        </p:txBody>
      </p:sp>
      <p:sp>
        <p:nvSpPr>
          <p:cNvPr id="29" name="Text 18">
            <a:extLst>
              <a:ext uri="{FF2B5EF4-FFF2-40B4-BE49-F238E27FC236}">
                <a16:creationId xmlns:a16="http://schemas.microsoft.com/office/drawing/2014/main" id="{196D8989-D2A1-A08A-A3CA-D3B6ED51B279}"/>
              </a:ext>
            </a:extLst>
          </p:cNvPr>
          <p:cNvSpPr/>
          <p:nvPr/>
        </p:nvSpPr>
        <p:spPr>
          <a:xfrm>
            <a:off x="2702052" y="3648456"/>
            <a:ext cx="1769364" cy="445770"/>
          </a:xfrm>
          <a:prstGeom prst="rect">
            <a:avLst/>
          </a:prstGeom>
          <a:noFill/>
          <a:ln/>
        </p:spPr>
        <p:txBody>
          <a:bodyPr wrap="square" lIns="0" tIns="0" rIns="0" bIns="0" rtlCol="0" anchor="t"/>
          <a:lstStyle/>
          <a:p>
            <a:pPr defTabSz="685800"/>
            <a:r>
              <a:rPr lang="en-US" sz="800" i="1"/>
              <a:t>Goal: validate intent and find the technical detail an authoritative answer needs.</a:t>
            </a:r>
          </a:p>
        </p:txBody>
      </p:sp>
      <p:sp>
        <p:nvSpPr>
          <p:cNvPr id="30" name="Shape 19">
            <a:extLst>
              <a:ext uri="{FF2B5EF4-FFF2-40B4-BE49-F238E27FC236}">
                <a16:creationId xmlns:a16="http://schemas.microsoft.com/office/drawing/2014/main" id="{A30A0394-F8FC-9BF0-31FD-703B1987A4D7}"/>
              </a:ext>
            </a:extLst>
          </p:cNvPr>
          <p:cNvSpPr/>
          <p:nvPr/>
        </p:nvSpPr>
        <p:spPr>
          <a:xfrm>
            <a:off x="4629150" y="1577340"/>
            <a:ext cx="123444" cy="192024"/>
          </a:xfrm>
          <a:prstGeom prst="rightArrow">
            <a:avLst/>
          </a:prstGeom>
          <a:solidFill>
            <a:schemeClr val="tx1"/>
          </a:solidFill>
          <a:ln/>
        </p:spPr>
        <p:txBody>
          <a:bodyPr/>
          <a:lstStyle/>
          <a:p>
            <a:pPr defTabSz="685800"/>
            <a:endParaRPr lang="pl-PL" sz="1350">
              <a:solidFill>
                <a:prstClr val="black"/>
              </a:solidFill>
              <a:latin typeface="Calibri" panose="020F0502020204030204"/>
            </a:endParaRPr>
          </a:p>
        </p:txBody>
      </p:sp>
      <p:sp>
        <p:nvSpPr>
          <p:cNvPr id="31" name="Shape 20">
            <a:extLst>
              <a:ext uri="{FF2B5EF4-FFF2-40B4-BE49-F238E27FC236}">
                <a16:creationId xmlns:a16="http://schemas.microsoft.com/office/drawing/2014/main" id="{679A53DF-AA89-1BE0-22E0-8467BE9E6AFE}"/>
              </a:ext>
            </a:extLst>
          </p:cNvPr>
          <p:cNvSpPr/>
          <p:nvPr/>
        </p:nvSpPr>
        <p:spPr>
          <a:xfrm>
            <a:off x="4759452" y="1303020"/>
            <a:ext cx="2071116" cy="2846070"/>
          </a:xfrm>
          <a:prstGeom prst="roundRect">
            <a:avLst>
              <a:gd name="adj" fmla="val 2649"/>
            </a:avLst>
          </a:prstGeom>
          <a:solidFill>
            <a:schemeClr val="accent5"/>
          </a:solidFill>
          <a:ln w="12700">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32" name="Shape 21">
            <a:extLst>
              <a:ext uri="{FF2B5EF4-FFF2-40B4-BE49-F238E27FC236}">
                <a16:creationId xmlns:a16="http://schemas.microsoft.com/office/drawing/2014/main" id="{236251F8-3B9B-1FA1-C214-9D5EC97F0B37}"/>
              </a:ext>
            </a:extLst>
          </p:cNvPr>
          <p:cNvSpPr/>
          <p:nvPr/>
        </p:nvSpPr>
        <p:spPr>
          <a:xfrm>
            <a:off x="4951476" y="1474470"/>
            <a:ext cx="425196" cy="425196"/>
          </a:xfrm>
          <a:prstGeom prst="ellipse">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33" name="Text 22">
            <a:extLst>
              <a:ext uri="{FF2B5EF4-FFF2-40B4-BE49-F238E27FC236}">
                <a16:creationId xmlns:a16="http://schemas.microsoft.com/office/drawing/2014/main" id="{3194B0BD-39BD-7111-F3A7-3424E93A6435}"/>
              </a:ext>
            </a:extLst>
          </p:cNvPr>
          <p:cNvSpPr/>
          <p:nvPr/>
        </p:nvSpPr>
        <p:spPr>
          <a:xfrm>
            <a:off x="4951476" y="1474470"/>
            <a:ext cx="425196" cy="425196"/>
          </a:xfrm>
          <a:prstGeom prst="rect">
            <a:avLst/>
          </a:prstGeom>
          <a:noFill/>
          <a:ln/>
        </p:spPr>
        <p:txBody>
          <a:bodyPr wrap="square" lIns="0" tIns="0" rIns="0" bIns="0" rtlCol="0" anchor="ctr"/>
          <a:lstStyle/>
          <a:p>
            <a:pPr algn="ctr" defTabSz="685800"/>
            <a:r>
              <a:rPr lang="en-US" sz="1650" b="1">
                <a:solidFill>
                  <a:schemeClr val="accent5"/>
                </a:solidFill>
                <a:cs typeface="Arial" pitchFamily="34" charset="-120"/>
              </a:rPr>
              <a:t>3</a:t>
            </a:r>
          </a:p>
        </p:txBody>
      </p:sp>
      <p:sp>
        <p:nvSpPr>
          <p:cNvPr id="34" name="Text 23">
            <a:extLst>
              <a:ext uri="{FF2B5EF4-FFF2-40B4-BE49-F238E27FC236}">
                <a16:creationId xmlns:a16="http://schemas.microsoft.com/office/drawing/2014/main" id="{8BEED092-8F52-430E-B0A7-21DFE8FA9F3E}"/>
              </a:ext>
            </a:extLst>
          </p:cNvPr>
          <p:cNvSpPr/>
          <p:nvPr/>
        </p:nvSpPr>
        <p:spPr>
          <a:xfrm>
            <a:off x="4910328" y="2023110"/>
            <a:ext cx="1769364" cy="480060"/>
          </a:xfrm>
          <a:prstGeom prst="rect">
            <a:avLst/>
          </a:prstGeom>
          <a:noFill/>
          <a:ln/>
        </p:spPr>
        <p:txBody>
          <a:bodyPr wrap="square" lIns="0" tIns="0" rIns="0" bIns="0" rtlCol="0" anchor="t"/>
          <a:lstStyle/>
          <a:p>
            <a:pPr algn="ctr" defTabSz="685800">
              <a:lnSpc>
                <a:spcPct val="102000"/>
              </a:lnSpc>
            </a:pPr>
            <a:r>
              <a:rPr lang="en-US" sz="1000" b="1"/>
              <a:t>Topical Map Construction</a:t>
            </a:r>
          </a:p>
        </p:txBody>
      </p:sp>
      <p:sp>
        <p:nvSpPr>
          <p:cNvPr id="35" name="Text 24">
            <a:extLst>
              <a:ext uri="{FF2B5EF4-FFF2-40B4-BE49-F238E27FC236}">
                <a16:creationId xmlns:a16="http://schemas.microsoft.com/office/drawing/2014/main" id="{FD709ED7-C746-7BCF-593C-3A2D97DEEE93}"/>
              </a:ext>
            </a:extLst>
          </p:cNvPr>
          <p:cNvSpPr/>
          <p:nvPr/>
        </p:nvSpPr>
        <p:spPr>
          <a:xfrm>
            <a:off x="4910328" y="2551176"/>
            <a:ext cx="1769364" cy="1062990"/>
          </a:xfrm>
          <a:prstGeom prst="rect">
            <a:avLst/>
          </a:prstGeom>
          <a:noFill/>
          <a:ln/>
        </p:spPr>
        <p:txBody>
          <a:bodyPr wrap="square" lIns="0" tIns="0" rIns="0" bIns="0" rtlCol="0" anchor="t"/>
          <a:lstStyle/>
          <a:p>
            <a:pPr defTabSz="685800">
              <a:lnSpc>
                <a:spcPct val="102000"/>
              </a:lnSpc>
            </a:pPr>
            <a:r>
              <a:rPr lang="en-US" sz="1000"/>
              <a:t>Group grounded intents into a structured topical map: core category </a:t>
            </a:r>
            <a:r>
              <a:rPr lang="pl-PL" sz="1000"/>
              <a:t>-</a:t>
            </a:r>
            <a:r>
              <a:rPr lang="en-US" sz="1000"/>
              <a:t> subtopics </a:t>
            </a:r>
            <a:r>
              <a:rPr lang="pl-PL" sz="1000"/>
              <a:t>-</a:t>
            </a:r>
            <a:r>
              <a:rPr lang="en-US" sz="1000"/>
              <a:t> specific prompts.</a:t>
            </a:r>
          </a:p>
        </p:txBody>
      </p:sp>
      <p:sp>
        <p:nvSpPr>
          <p:cNvPr id="36" name="Text 25">
            <a:extLst>
              <a:ext uri="{FF2B5EF4-FFF2-40B4-BE49-F238E27FC236}">
                <a16:creationId xmlns:a16="http://schemas.microsoft.com/office/drawing/2014/main" id="{3EF6AEF5-40A2-07EB-EB66-DE77AE0FF3F4}"/>
              </a:ext>
            </a:extLst>
          </p:cNvPr>
          <p:cNvSpPr/>
          <p:nvPr/>
        </p:nvSpPr>
        <p:spPr>
          <a:xfrm>
            <a:off x="4910328" y="3648456"/>
            <a:ext cx="1769364" cy="445770"/>
          </a:xfrm>
          <a:prstGeom prst="rect">
            <a:avLst/>
          </a:prstGeom>
          <a:noFill/>
          <a:ln/>
        </p:spPr>
        <p:txBody>
          <a:bodyPr wrap="square" lIns="0" tIns="0" rIns="0" bIns="0" rtlCol="0" anchor="t"/>
          <a:lstStyle/>
          <a:p>
            <a:pPr defTabSz="685800"/>
            <a:r>
              <a:rPr lang="en-US" sz="800" i="1"/>
              <a:t>Goal: signal comprehensive, deep expertise to the LLM.</a:t>
            </a:r>
          </a:p>
        </p:txBody>
      </p:sp>
      <p:sp>
        <p:nvSpPr>
          <p:cNvPr id="37" name="Shape 26">
            <a:extLst>
              <a:ext uri="{FF2B5EF4-FFF2-40B4-BE49-F238E27FC236}">
                <a16:creationId xmlns:a16="http://schemas.microsoft.com/office/drawing/2014/main" id="{91BBFAEA-EC0C-CD6F-4E38-09F2589563B9}"/>
              </a:ext>
            </a:extLst>
          </p:cNvPr>
          <p:cNvSpPr/>
          <p:nvPr/>
        </p:nvSpPr>
        <p:spPr>
          <a:xfrm>
            <a:off x="6837426" y="1577340"/>
            <a:ext cx="123444" cy="192024"/>
          </a:xfrm>
          <a:prstGeom prst="rightArrow">
            <a:avLst/>
          </a:prstGeom>
          <a:solidFill>
            <a:schemeClr val="tx1"/>
          </a:solidFill>
          <a:ln/>
        </p:spPr>
        <p:txBody>
          <a:bodyPr/>
          <a:lstStyle/>
          <a:p>
            <a:pPr defTabSz="685800"/>
            <a:endParaRPr lang="pl-PL" sz="1350">
              <a:solidFill>
                <a:prstClr val="black"/>
              </a:solidFill>
              <a:latin typeface="Calibri" panose="020F0502020204030204"/>
            </a:endParaRPr>
          </a:p>
        </p:txBody>
      </p:sp>
      <p:sp>
        <p:nvSpPr>
          <p:cNvPr id="38" name="Shape 27">
            <a:extLst>
              <a:ext uri="{FF2B5EF4-FFF2-40B4-BE49-F238E27FC236}">
                <a16:creationId xmlns:a16="http://schemas.microsoft.com/office/drawing/2014/main" id="{9714DDE7-068A-D332-C912-A2A32E3CCB88}"/>
              </a:ext>
            </a:extLst>
          </p:cNvPr>
          <p:cNvSpPr/>
          <p:nvPr/>
        </p:nvSpPr>
        <p:spPr>
          <a:xfrm>
            <a:off x="6967728" y="1303020"/>
            <a:ext cx="2071116" cy="2846070"/>
          </a:xfrm>
          <a:prstGeom prst="roundRect">
            <a:avLst>
              <a:gd name="adj" fmla="val 2649"/>
            </a:avLst>
          </a:prstGeom>
          <a:solidFill>
            <a:schemeClr val="accent5"/>
          </a:solidFill>
          <a:ln w="12700">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39" name="Shape 28">
            <a:extLst>
              <a:ext uri="{FF2B5EF4-FFF2-40B4-BE49-F238E27FC236}">
                <a16:creationId xmlns:a16="http://schemas.microsoft.com/office/drawing/2014/main" id="{317B1190-8E57-27F7-BD95-46218FCCDB5C}"/>
              </a:ext>
            </a:extLst>
          </p:cNvPr>
          <p:cNvSpPr/>
          <p:nvPr/>
        </p:nvSpPr>
        <p:spPr>
          <a:xfrm>
            <a:off x="7159752" y="1474470"/>
            <a:ext cx="425196" cy="425196"/>
          </a:xfrm>
          <a:prstGeom prst="ellipse">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40" name="Text 29">
            <a:extLst>
              <a:ext uri="{FF2B5EF4-FFF2-40B4-BE49-F238E27FC236}">
                <a16:creationId xmlns:a16="http://schemas.microsoft.com/office/drawing/2014/main" id="{B33D64C8-603B-56CB-0087-72F8245A87CC}"/>
              </a:ext>
            </a:extLst>
          </p:cNvPr>
          <p:cNvSpPr/>
          <p:nvPr/>
        </p:nvSpPr>
        <p:spPr>
          <a:xfrm>
            <a:off x="7159752" y="1474470"/>
            <a:ext cx="425196" cy="425196"/>
          </a:xfrm>
          <a:prstGeom prst="rect">
            <a:avLst/>
          </a:prstGeom>
          <a:noFill/>
          <a:ln/>
        </p:spPr>
        <p:txBody>
          <a:bodyPr wrap="square" lIns="0" tIns="0" rIns="0" bIns="0" rtlCol="0" anchor="ctr"/>
          <a:lstStyle/>
          <a:p>
            <a:pPr algn="ctr" defTabSz="685800"/>
            <a:r>
              <a:rPr lang="en-US" sz="1650" b="1">
                <a:solidFill>
                  <a:schemeClr val="accent5"/>
                </a:solidFill>
                <a:cs typeface="Arial" pitchFamily="34" charset="-120"/>
              </a:rPr>
              <a:t>4</a:t>
            </a:r>
          </a:p>
        </p:txBody>
      </p:sp>
      <p:sp>
        <p:nvSpPr>
          <p:cNvPr id="41" name="Text 30">
            <a:extLst>
              <a:ext uri="{FF2B5EF4-FFF2-40B4-BE49-F238E27FC236}">
                <a16:creationId xmlns:a16="http://schemas.microsoft.com/office/drawing/2014/main" id="{20BEFE09-322F-A3BB-9D6E-EAC2D40995E8}"/>
              </a:ext>
            </a:extLst>
          </p:cNvPr>
          <p:cNvSpPr/>
          <p:nvPr/>
        </p:nvSpPr>
        <p:spPr>
          <a:xfrm>
            <a:off x="7118604" y="2023110"/>
            <a:ext cx="1769364" cy="480060"/>
          </a:xfrm>
          <a:prstGeom prst="rect">
            <a:avLst/>
          </a:prstGeom>
          <a:noFill/>
          <a:ln/>
        </p:spPr>
        <p:txBody>
          <a:bodyPr wrap="square" lIns="0" tIns="0" rIns="0" bIns="0" rtlCol="0" anchor="t"/>
          <a:lstStyle/>
          <a:p>
            <a:pPr algn="ctr" defTabSz="685800">
              <a:lnSpc>
                <a:spcPct val="102000"/>
              </a:lnSpc>
            </a:pPr>
            <a:r>
              <a:rPr lang="en-US" sz="1000" b="1"/>
              <a:t>Prompt Sequencing &amp; Chains</a:t>
            </a:r>
          </a:p>
        </p:txBody>
      </p:sp>
      <p:sp>
        <p:nvSpPr>
          <p:cNvPr id="42" name="Text 31">
            <a:extLst>
              <a:ext uri="{FF2B5EF4-FFF2-40B4-BE49-F238E27FC236}">
                <a16:creationId xmlns:a16="http://schemas.microsoft.com/office/drawing/2014/main" id="{A859206F-AD3C-2A93-E229-B61077A4F8C0}"/>
              </a:ext>
            </a:extLst>
          </p:cNvPr>
          <p:cNvSpPr/>
          <p:nvPr/>
        </p:nvSpPr>
        <p:spPr>
          <a:xfrm>
            <a:off x="7118604" y="2551176"/>
            <a:ext cx="1769364" cy="1062990"/>
          </a:xfrm>
          <a:prstGeom prst="rect">
            <a:avLst/>
          </a:prstGeom>
          <a:noFill/>
          <a:ln/>
        </p:spPr>
        <p:txBody>
          <a:bodyPr wrap="square" lIns="0" tIns="0" rIns="0" bIns="0" rtlCol="0" anchor="t"/>
          <a:lstStyle/>
          <a:p>
            <a:pPr defTabSz="685800">
              <a:lnSpc>
                <a:spcPct val="102000"/>
              </a:lnSpc>
            </a:pPr>
            <a:r>
              <a:rPr lang="en-US" sz="1000"/>
              <a:t>Identify the Pivot Prompt, the Lead-up context before it, and the Follow-on we guide the user to next.</a:t>
            </a:r>
          </a:p>
        </p:txBody>
      </p:sp>
      <p:sp>
        <p:nvSpPr>
          <p:cNvPr id="43" name="Text 32">
            <a:extLst>
              <a:ext uri="{FF2B5EF4-FFF2-40B4-BE49-F238E27FC236}">
                <a16:creationId xmlns:a16="http://schemas.microsoft.com/office/drawing/2014/main" id="{1E6AF97D-6ABD-B7F9-CF53-5AFB372C3919}"/>
              </a:ext>
            </a:extLst>
          </p:cNvPr>
          <p:cNvSpPr/>
          <p:nvPr/>
        </p:nvSpPr>
        <p:spPr>
          <a:xfrm>
            <a:off x="7118604" y="3648456"/>
            <a:ext cx="1769364" cy="445770"/>
          </a:xfrm>
          <a:prstGeom prst="rect">
            <a:avLst/>
          </a:prstGeom>
          <a:noFill/>
          <a:ln/>
        </p:spPr>
        <p:txBody>
          <a:bodyPr wrap="square" lIns="0" tIns="0" rIns="0" bIns="0" rtlCol="0" anchor="t"/>
          <a:lstStyle/>
          <a:p>
            <a:pPr defTabSz="685800"/>
            <a:r>
              <a:rPr lang="en-US" sz="800" i="1"/>
              <a:t>Goal: control the conversational narrative around Schneider's value.</a:t>
            </a:r>
          </a:p>
        </p:txBody>
      </p:sp>
    </p:spTree>
    <p:extLst>
      <p:ext uri="{BB962C8B-B14F-4D97-AF65-F5344CB8AC3E}">
        <p14:creationId xmlns:p14="http://schemas.microsoft.com/office/powerpoint/2010/main" val="2235195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6C1E-C5F3-0998-DFB3-88DB12EE28E2}"/>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5D1A6544-F2DE-F8B1-6D22-3DAE584A15B3}"/>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647CE50A-BB7F-5939-9EDA-FAD8C57B5CBE}"/>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Prompt Research with AI Model – Simulation</a:t>
            </a:r>
            <a:endParaRPr lang="en-US" sz="2200">
              <a:solidFill>
                <a:schemeClr val="accent5"/>
              </a:solidFill>
              <a:cs typeface="Arial"/>
            </a:endParaRPr>
          </a:p>
        </p:txBody>
      </p:sp>
      <p:sp>
        <p:nvSpPr>
          <p:cNvPr id="12" name="Text 2">
            <a:extLst>
              <a:ext uri="{FF2B5EF4-FFF2-40B4-BE49-F238E27FC236}">
                <a16:creationId xmlns:a16="http://schemas.microsoft.com/office/drawing/2014/main" id="{2430C1D5-8083-72C5-A490-68E48B1AE2B7}"/>
              </a:ext>
            </a:extLst>
          </p:cNvPr>
          <p:cNvSpPr/>
          <p:nvPr/>
        </p:nvSpPr>
        <p:spPr>
          <a:xfrm>
            <a:off x="342900" y="589788"/>
            <a:ext cx="7886700" cy="274320"/>
          </a:xfrm>
          <a:prstGeom prst="rect">
            <a:avLst/>
          </a:prstGeom>
          <a:noFill/>
          <a:ln/>
        </p:spPr>
        <p:txBody>
          <a:bodyPr wrap="square" lIns="0" tIns="0" rIns="0" bIns="0" rtlCol="0" anchor="ctr"/>
          <a:lstStyle/>
          <a:p>
            <a:r>
              <a:rPr lang="en-US" sz="1100" b="1">
                <a:solidFill>
                  <a:schemeClr val="accent5"/>
                </a:solidFill>
                <a:cs typeface="Arial"/>
              </a:rPr>
              <a:t>Always do the prompt extrapolation on multiple AI agents</a:t>
            </a:r>
            <a:r>
              <a:rPr lang="pl-PL" sz="1100" b="1">
                <a:solidFill>
                  <a:schemeClr val="accent5"/>
                </a:solidFill>
                <a:cs typeface="Arial"/>
              </a:rPr>
              <a:t>.</a:t>
            </a:r>
          </a:p>
          <a:p>
            <a:r>
              <a:rPr lang="pl-PL" sz="1100">
                <a:solidFill>
                  <a:schemeClr val="accent5"/>
                </a:solidFill>
                <a:cs typeface="Arial"/>
              </a:rPr>
              <a:t>AI models suggested for the research: </a:t>
            </a:r>
            <a:r>
              <a:rPr lang="en-US" sz="1100">
                <a:solidFill>
                  <a:schemeClr val="accent5"/>
                </a:solidFill>
                <a:cs typeface="Arial"/>
              </a:rPr>
              <a:t>ChatGPT, Perplexity, Gemini, Copilot and Claude</a:t>
            </a:r>
          </a:p>
        </p:txBody>
      </p:sp>
      <p:sp>
        <p:nvSpPr>
          <p:cNvPr id="5" name="Footer Placeholder 4">
            <a:extLst>
              <a:ext uri="{FF2B5EF4-FFF2-40B4-BE49-F238E27FC236}">
                <a16:creationId xmlns:a16="http://schemas.microsoft.com/office/drawing/2014/main" id="{DAAA49C9-3D56-A0B7-CCB9-69EF6DC8F2C5}"/>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17E181AF-47ED-8CB9-AB26-C5BB3252E062}"/>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17</a:t>
            </a:fld>
            <a:endParaRPr lang="en-US">
              <a:solidFill>
                <a:srgbClr val="3DCD58"/>
              </a:solidFill>
            </a:endParaRPr>
          </a:p>
        </p:txBody>
      </p:sp>
      <p:sp>
        <p:nvSpPr>
          <p:cNvPr id="2" name="TextBox 1">
            <a:extLst>
              <a:ext uri="{FF2B5EF4-FFF2-40B4-BE49-F238E27FC236}">
                <a16:creationId xmlns:a16="http://schemas.microsoft.com/office/drawing/2014/main" id="{7CE0C393-D32D-DD6D-D7F0-70FCE42C7393}"/>
              </a:ext>
            </a:extLst>
          </p:cNvPr>
          <p:cNvSpPr txBox="1"/>
          <p:nvPr/>
        </p:nvSpPr>
        <p:spPr>
          <a:xfrm>
            <a:off x="398463" y="1874871"/>
            <a:ext cx="4017818" cy="577081"/>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Topic oriented prompt: </a:t>
            </a:r>
            <a:r>
              <a:rPr lang="pl-PL" sz="1050" i="1"/>
              <a:t>top 10 topics people are asking about machine builders industrial solutions in Google Gemini?</a:t>
            </a:r>
            <a:endParaRPr lang="en-US" sz="1000" i="1"/>
          </a:p>
        </p:txBody>
      </p:sp>
      <p:pic>
        <p:nvPicPr>
          <p:cNvPr id="9" name="Picture 8">
            <a:extLst>
              <a:ext uri="{FF2B5EF4-FFF2-40B4-BE49-F238E27FC236}">
                <a16:creationId xmlns:a16="http://schemas.microsoft.com/office/drawing/2014/main" id="{DF6B30DE-B464-33C7-52D0-417DD7139FDD}"/>
              </a:ext>
            </a:extLst>
          </p:cNvPr>
          <p:cNvPicPr>
            <a:picLocks noChangeAspect="1"/>
          </p:cNvPicPr>
          <p:nvPr/>
        </p:nvPicPr>
        <p:blipFill>
          <a:blip r:embed="rId2"/>
          <a:stretch>
            <a:fillRect/>
          </a:stretch>
        </p:blipFill>
        <p:spPr>
          <a:xfrm>
            <a:off x="4727719" y="2521136"/>
            <a:ext cx="4017818" cy="2442977"/>
          </a:xfrm>
          <a:prstGeom prst="rect">
            <a:avLst/>
          </a:prstGeom>
          <a:ln>
            <a:solidFill>
              <a:schemeClr val="tx1"/>
            </a:solidFill>
          </a:ln>
        </p:spPr>
      </p:pic>
      <p:sp>
        <p:nvSpPr>
          <p:cNvPr id="10" name="TextBox 9">
            <a:extLst>
              <a:ext uri="{FF2B5EF4-FFF2-40B4-BE49-F238E27FC236}">
                <a16:creationId xmlns:a16="http://schemas.microsoft.com/office/drawing/2014/main" id="{798CC735-8E7B-9E07-6EAC-66E4507C3736}"/>
              </a:ext>
            </a:extLst>
          </p:cNvPr>
          <p:cNvSpPr txBox="1"/>
          <p:nvPr/>
        </p:nvSpPr>
        <p:spPr>
          <a:xfrm>
            <a:off x="4727719" y="1874870"/>
            <a:ext cx="4017818" cy="577081"/>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Prompt oriented prompt: </a:t>
            </a:r>
            <a:r>
              <a:rPr lang="pl-PL" sz="1050" i="1"/>
              <a:t>top 10 prompts people are asking about machine builders industrial solutions in Google Gemini?</a:t>
            </a:r>
            <a:endParaRPr lang="en-US" sz="1000" i="1"/>
          </a:p>
        </p:txBody>
      </p:sp>
      <p:sp>
        <p:nvSpPr>
          <p:cNvPr id="15" name="TextBox 14">
            <a:extLst>
              <a:ext uri="{FF2B5EF4-FFF2-40B4-BE49-F238E27FC236}">
                <a16:creationId xmlns:a16="http://schemas.microsoft.com/office/drawing/2014/main" id="{166795B2-371F-217C-95A6-59E2B7B3C87C}"/>
              </a:ext>
            </a:extLst>
          </p:cNvPr>
          <p:cNvSpPr txBox="1"/>
          <p:nvPr/>
        </p:nvSpPr>
        <p:spPr>
          <a:xfrm>
            <a:off x="398463" y="1074897"/>
            <a:ext cx="8347074" cy="577081"/>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Simulation context: </a:t>
            </a:r>
            <a:r>
              <a:rPr lang="pl-PL" sz="1050" i="1"/>
              <a:t>Sarah is a maketer in one of the divisions. </a:t>
            </a:r>
            <a:r>
              <a:rPr lang="en-US" sz="1050" i="1"/>
              <a:t>She wants to discover what people are talking about in relation to machine builder industrial solutions</a:t>
            </a:r>
            <a:r>
              <a:rPr lang="pl-PL" sz="1050" i="1"/>
              <a:t> to ensure that Schneider Electric content is mentioned and cited. </a:t>
            </a:r>
            <a:r>
              <a:rPr lang="en-US" sz="1050" i="1"/>
              <a:t>She doesn’t have any knowledge on the topic, so she needs to start her research from the beginning.</a:t>
            </a:r>
            <a:endParaRPr lang="en-US" sz="1000" i="1"/>
          </a:p>
        </p:txBody>
      </p:sp>
      <p:cxnSp>
        <p:nvCxnSpPr>
          <p:cNvPr id="16" name="Straight Arrow Connector 15">
            <a:extLst>
              <a:ext uri="{FF2B5EF4-FFF2-40B4-BE49-F238E27FC236}">
                <a16:creationId xmlns:a16="http://schemas.microsoft.com/office/drawing/2014/main" id="{1DB53AEB-E2C6-C1E9-14B0-A9F681329B79}"/>
              </a:ext>
            </a:extLst>
          </p:cNvPr>
          <p:cNvCxnSpPr>
            <a:cxnSpLocks/>
            <a:endCxn id="2" idx="0"/>
          </p:cNvCxnSpPr>
          <p:nvPr/>
        </p:nvCxnSpPr>
        <p:spPr>
          <a:xfrm>
            <a:off x="2407372" y="1651978"/>
            <a:ext cx="0" cy="222893"/>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55D5C920-C491-2F15-AB66-301AE9AB9B30}"/>
              </a:ext>
            </a:extLst>
          </p:cNvPr>
          <p:cNvCxnSpPr>
            <a:cxnSpLocks/>
            <a:endCxn id="10" idx="0"/>
          </p:cNvCxnSpPr>
          <p:nvPr/>
        </p:nvCxnSpPr>
        <p:spPr>
          <a:xfrm>
            <a:off x="6736628" y="1651978"/>
            <a:ext cx="0" cy="222892"/>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pic>
        <p:nvPicPr>
          <p:cNvPr id="14" name="Picture 13">
            <a:extLst>
              <a:ext uri="{FF2B5EF4-FFF2-40B4-BE49-F238E27FC236}">
                <a16:creationId xmlns:a16="http://schemas.microsoft.com/office/drawing/2014/main" id="{5589B63C-3D7E-701C-F6C0-A403D12F8D8A}"/>
              </a:ext>
            </a:extLst>
          </p:cNvPr>
          <p:cNvPicPr>
            <a:picLocks noChangeAspect="1"/>
          </p:cNvPicPr>
          <p:nvPr/>
        </p:nvPicPr>
        <p:blipFill>
          <a:blip r:embed="rId3"/>
          <a:stretch>
            <a:fillRect/>
          </a:stretch>
        </p:blipFill>
        <p:spPr>
          <a:xfrm>
            <a:off x="398463" y="2521136"/>
            <a:ext cx="4017818" cy="2442977"/>
          </a:xfrm>
          <a:prstGeom prst="rect">
            <a:avLst/>
          </a:prstGeom>
          <a:ln>
            <a:solidFill>
              <a:schemeClr val="tx1"/>
            </a:solidFill>
          </a:ln>
        </p:spPr>
      </p:pic>
    </p:spTree>
    <p:extLst>
      <p:ext uri="{BB962C8B-B14F-4D97-AF65-F5344CB8AC3E}">
        <p14:creationId xmlns:p14="http://schemas.microsoft.com/office/powerpoint/2010/main" val="1941271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A738-36CB-5C8B-1484-160648A0421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104B3BB4-3163-FABF-7808-EFCBED49DB14}"/>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1A2BCB5F-927B-0AF4-82A1-0DB58A486228}"/>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Prompt Research with AI Model - Simulation</a:t>
            </a:r>
            <a:endParaRPr lang="en-US" sz="2200">
              <a:solidFill>
                <a:schemeClr val="accent5"/>
              </a:solidFill>
              <a:cs typeface="Arial"/>
            </a:endParaRPr>
          </a:p>
        </p:txBody>
      </p:sp>
      <p:sp>
        <p:nvSpPr>
          <p:cNvPr id="12" name="Text 2">
            <a:extLst>
              <a:ext uri="{FF2B5EF4-FFF2-40B4-BE49-F238E27FC236}">
                <a16:creationId xmlns:a16="http://schemas.microsoft.com/office/drawing/2014/main" id="{2710DF59-218B-8E36-6015-AFD265E0F464}"/>
              </a:ext>
            </a:extLst>
          </p:cNvPr>
          <p:cNvSpPr/>
          <p:nvPr/>
        </p:nvSpPr>
        <p:spPr>
          <a:xfrm>
            <a:off x="342900" y="589788"/>
            <a:ext cx="7886700" cy="274320"/>
          </a:xfrm>
          <a:prstGeom prst="rect">
            <a:avLst/>
          </a:prstGeom>
          <a:noFill/>
          <a:ln/>
        </p:spPr>
        <p:txBody>
          <a:bodyPr wrap="square" lIns="0" tIns="0" rIns="0" bIns="0" rtlCol="0" anchor="ctr"/>
          <a:lstStyle/>
          <a:p>
            <a:r>
              <a:rPr lang="en-US" sz="1100" b="1">
                <a:solidFill>
                  <a:schemeClr val="accent5"/>
                </a:solidFill>
                <a:cs typeface="Arial"/>
              </a:rPr>
              <a:t>Always do the prompt extrapolation on multiple AI agents</a:t>
            </a:r>
            <a:r>
              <a:rPr lang="pl-PL" sz="1100" b="1">
                <a:solidFill>
                  <a:schemeClr val="accent5"/>
                </a:solidFill>
                <a:cs typeface="Arial"/>
              </a:rPr>
              <a:t>.</a:t>
            </a:r>
          </a:p>
          <a:p>
            <a:r>
              <a:rPr lang="pl-PL" sz="1100">
                <a:solidFill>
                  <a:schemeClr val="accent5"/>
                </a:solidFill>
                <a:cs typeface="Arial"/>
              </a:rPr>
              <a:t>AI models suggested for the research: </a:t>
            </a:r>
            <a:r>
              <a:rPr lang="en-US" sz="1100">
                <a:solidFill>
                  <a:schemeClr val="accent5"/>
                </a:solidFill>
                <a:cs typeface="Arial"/>
              </a:rPr>
              <a:t>ChatGPT, Perplexity, Gemini, Copilot and Claude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68D40CFD-C0D8-DC9C-6ECD-F74E0993691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FED57E13-939A-C69F-5785-83203161F43F}"/>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18</a:t>
            </a:fld>
            <a:endParaRPr lang="en-US">
              <a:solidFill>
                <a:srgbClr val="3DCD58"/>
              </a:solidFill>
            </a:endParaRPr>
          </a:p>
        </p:txBody>
      </p:sp>
      <p:sp>
        <p:nvSpPr>
          <p:cNvPr id="10" name="TextBox 9">
            <a:extLst>
              <a:ext uri="{FF2B5EF4-FFF2-40B4-BE49-F238E27FC236}">
                <a16:creationId xmlns:a16="http://schemas.microsoft.com/office/drawing/2014/main" id="{4452E565-4AD1-009C-276C-E6F5486A9737}"/>
              </a:ext>
            </a:extLst>
          </p:cNvPr>
          <p:cNvSpPr txBox="1"/>
          <p:nvPr/>
        </p:nvSpPr>
        <p:spPr>
          <a:xfrm>
            <a:off x="398463" y="2583607"/>
            <a:ext cx="4017818" cy="415498"/>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Optional next prompt including persona: </a:t>
            </a:r>
            <a:r>
              <a:rPr lang="pl-PL" sz="1050" i="1"/>
              <a:t>As a machine builder what do you want to know about...</a:t>
            </a:r>
            <a:endParaRPr lang="en-US" sz="1000" i="1"/>
          </a:p>
        </p:txBody>
      </p:sp>
      <p:sp>
        <p:nvSpPr>
          <p:cNvPr id="3" name="TextBox 2">
            <a:extLst>
              <a:ext uri="{FF2B5EF4-FFF2-40B4-BE49-F238E27FC236}">
                <a16:creationId xmlns:a16="http://schemas.microsoft.com/office/drawing/2014/main" id="{2D3C4592-F026-6009-B6D7-D1865C0A9DB4}"/>
              </a:ext>
            </a:extLst>
          </p:cNvPr>
          <p:cNvSpPr txBox="1"/>
          <p:nvPr/>
        </p:nvSpPr>
        <p:spPr>
          <a:xfrm>
            <a:off x="398463" y="1074897"/>
            <a:ext cx="8347074" cy="73866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Simulation context: </a:t>
            </a:r>
            <a:r>
              <a:rPr lang="en-US" sz="1050" i="1"/>
              <a:t>Sarah now understands the type of topics/prompts, as provided by Google Gemini.</a:t>
            </a:r>
            <a:r>
              <a:rPr lang="pl-PL" sz="1050" i="1"/>
              <a:t> The same excercise with exact same prompts should be repeated in other AI engines to find the matching topics/prompts. Once the matching item is selected. Sarah can keep narrowing it down providing as much information to the AI as she considers relevant, to build the prompt that would match her business and provide the impact.</a:t>
            </a:r>
            <a:endParaRPr lang="en-US" sz="1000" i="1"/>
          </a:p>
        </p:txBody>
      </p:sp>
      <p:sp>
        <p:nvSpPr>
          <p:cNvPr id="4" name="TextBox 3">
            <a:extLst>
              <a:ext uri="{FF2B5EF4-FFF2-40B4-BE49-F238E27FC236}">
                <a16:creationId xmlns:a16="http://schemas.microsoft.com/office/drawing/2014/main" id="{FB903453-3105-8505-90F0-29B3A68CC904}"/>
              </a:ext>
            </a:extLst>
          </p:cNvPr>
          <p:cNvSpPr txBox="1"/>
          <p:nvPr/>
        </p:nvSpPr>
        <p:spPr>
          <a:xfrm>
            <a:off x="398463" y="3072104"/>
            <a:ext cx="4017818" cy="415498"/>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Optional next prompt including funnel: </a:t>
            </a:r>
            <a:r>
              <a:rPr lang="pl-PL" sz="1050" i="1"/>
              <a:t>What would you like to know if you are considerating...</a:t>
            </a:r>
            <a:endParaRPr lang="en-US" sz="1000" i="1"/>
          </a:p>
        </p:txBody>
      </p:sp>
      <p:sp>
        <p:nvSpPr>
          <p:cNvPr id="7" name="TextBox 6">
            <a:extLst>
              <a:ext uri="{FF2B5EF4-FFF2-40B4-BE49-F238E27FC236}">
                <a16:creationId xmlns:a16="http://schemas.microsoft.com/office/drawing/2014/main" id="{8292A433-C7E6-BC5A-74B2-E5101F5EC2ED}"/>
              </a:ext>
            </a:extLst>
          </p:cNvPr>
          <p:cNvSpPr txBox="1"/>
          <p:nvPr/>
        </p:nvSpPr>
        <p:spPr>
          <a:xfrm>
            <a:off x="398463" y="3560601"/>
            <a:ext cx="4017818" cy="415498"/>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Optional next prompt including intent: </a:t>
            </a:r>
            <a:r>
              <a:rPr lang="en-US" sz="1050" i="1"/>
              <a:t>What is the most important aspect, if you </a:t>
            </a:r>
            <a:r>
              <a:rPr lang="en-US" sz="1050" i="1" err="1"/>
              <a:t>you</a:t>
            </a:r>
            <a:r>
              <a:rPr lang="en-US" sz="1050" i="1"/>
              <a:t> want to compare...</a:t>
            </a:r>
            <a:endParaRPr lang="en-US" sz="1000" i="1"/>
          </a:p>
        </p:txBody>
      </p:sp>
      <p:sp>
        <p:nvSpPr>
          <p:cNvPr id="13" name="TextBox 12">
            <a:extLst>
              <a:ext uri="{FF2B5EF4-FFF2-40B4-BE49-F238E27FC236}">
                <a16:creationId xmlns:a16="http://schemas.microsoft.com/office/drawing/2014/main" id="{FF9D3CCB-7418-F545-7FC4-147A732F8368}"/>
              </a:ext>
            </a:extLst>
          </p:cNvPr>
          <p:cNvSpPr txBox="1"/>
          <p:nvPr/>
        </p:nvSpPr>
        <p:spPr>
          <a:xfrm>
            <a:off x="398463" y="2037231"/>
            <a:ext cx="4017818" cy="253916"/>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Picked topic: </a:t>
            </a:r>
            <a:r>
              <a:rPr lang="pl-PL" sz="1050" i="1"/>
              <a:t>Humanoid Robots &amp; Next-Gen Cobots</a:t>
            </a:r>
            <a:endParaRPr lang="en-US" sz="1000" i="1"/>
          </a:p>
        </p:txBody>
      </p:sp>
      <p:sp>
        <p:nvSpPr>
          <p:cNvPr id="15" name="TextBox 14">
            <a:extLst>
              <a:ext uri="{FF2B5EF4-FFF2-40B4-BE49-F238E27FC236}">
                <a16:creationId xmlns:a16="http://schemas.microsoft.com/office/drawing/2014/main" id="{51A7C92E-D75A-5B15-EF16-CE4FC8BE96EB}"/>
              </a:ext>
            </a:extLst>
          </p:cNvPr>
          <p:cNvSpPr txBox="1"/>
          <p:nvPr/>
        </p:nvSpPr>
        <p:spPr>
          <a:xfrm>
            <a:off x="398463" y="4265171"/>
            <a:ext cx="4017818" cy="577081"/>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Narrowing down the research including very specific prompt: </a:t>
            </a:r>
            <a:r>
              <a:rPr lang="en-US" sz="1050" i="1"/>
              <a:t>As a machine builder considering [...], what do you want to know and what do you want to compare...</a:t>
            </a:r>
            <a:endParaRPr lang="en-US" sz="1000" i="1"/>
          </a:p>
        </p:txBody>
      </p:sp>
      <p:cxnSp>
        <p:nvCxnSpPr>
          <p:cNvPr id="16" name="Straight Arrow Connector 15">
            <a:extLst>
              <a:ext uri="{FF2B5EF4-FFF2-40B4-BE49-F238E27FC236}">
                <a16:creationId xmlns:a16="http://schemas.microsoft.com/office/drawing/2014/main" id="{690D76ED-994F-E0C1-8875-D6CFE9EF0AD4}"/>
              </a:ext>
            </a:extLst>
          </p:cNvPr>
          <p:cNvCxnSpPr>
            <a:cxnSpLocks/>
            <a:endCxn id="13" idx="0"/>
          </p:cNvCxnSpPr>
          <p:nvPr/>
        </p:nvCxnSpPr>
        <p:spPr>
          <a:xfrm>
            <a:off x="2407372" y="1813561"/>
            <a:ext cx="0" cy="22367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0AC3DCDD-B40C-6323-CCF4-726459AAF31A}"/>
              </a:ext>
            </a:extLst>
          </p:cNvPr>
          <p:cNvCxnSpPr>
            <a:cxnSpLocks/>
            <a:stCxn id="13" idx="2"/>
            <a:endCxn id="10" idx="0"/>
          </p:cNvCxnSpPr>
          <p:nvPr/>
        </p:nvCxnSpPr>
        <p:spPr>
          <a:xfrm>
            <a:off x="2407372" y="2291147"/>
            <a:ext cx="0" cy="29246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639F88BD-1727-E8E7-541E-CD211444541A}"/>
              </a:ext>
            </a:extLst>
          </p:cNvPr>
          <p:cNvCxnSpPr>
            <a:cxnSpLocks/>
            <a:stCxn id="7" idx="2"/>
            <a:endCxn id="15" idx="0"/>
          </p:cNvCxnSpPr>
          <p:nvPr/>
        </p:nvCxnSpPr>
        <p:spPr>
          <a:xfrm>
            <a:off x="2407372" y="3976099"/>
            <a:ext cx="0" cy="289072"/>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pic>
        <p:nvPicPr>
          <p:cNvPr id="1026" name="Picture 2" descr="Google Gemini Logo, symbol, meaning, history, PNG, brand">
            <a:extLst>
              <a:ext uri="{FF2B5EF4-FFF2-40B4-BE49-F238E27FC236}">
                <a16:creationId xmlns:a16="http://schemas.microsoft.com/office/drawing/2014/main" id="{032400C6-2123-3E51-62B4-B00BA005F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168" y="1963783"/>
            <a:ext cx="1703286" cy="9580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ownload Clear OpenAI ChatGPT Logo – Different Chat... - Chat GPT AI Hub">
            <a:extLst>
              <a:ext uri="{FF2B5EF4-FFF2-40B4-BE49-F238E27FC236}">
                <a16:creationId xmlns:a16="http://schemas.microsoft.com/office/drawing/2014/main" id="{F202465F-5A6B-B2F7-0813-33B0744A3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4331" y="2802813"/>
            <a:ext cx="1929389" cy="56709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erplexity Logo and symbol, meaning, history, PNG, brand">
            <a:extLst>
              <a:ext uri="{FF2B5EF4-FFF2-40B4-BE49-F238E27FC236}">
                <a16:creationId xmlns:a16="http://schemas.microsoft.com/office/drawing/2014/main" id="{8E824D6D-4613-C8C5-DDB0-052871B633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8985" y="2877998"/>
            <a:ext cx="1749007" cy="98381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 Copilot Logo (chatbot | 01) - PNG Logo Vector Brand Downloads  (SVG, EPS)">
            <a:extLst>
              <a:ext uri="{FF2B5EF4-FFF2-40B4-BE49-F238E27FC236}">
                <a16:creationId xmlns:a16="http://schemas.microsoft.com/office/drawing/2014/main" id="{D9FA021A-49D2-6BDF-5174-AAA292161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3720" y="2114658"/>
            <a:ext cx="1703286" cy="106455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Logos Download | Claude">
            <a:extLst>
              <a:ext uri="{FF2B5EF4-FFF2-40B4-BE49-F238E27FC236}">
                <a16:creationId xmlns:a16="http://schemas.microsoft.com/office/drawing/2014/main" id="{471FCB41-3E59-6B9C-0AD6-76105964C7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8718" y="3554216"/>
            <a:ext cx="1660613" cy="35691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0D9A7482-DEA2-F0ED-928C-4789D167002E}"/>
              </a:ext>
            </a:extLst>
          </p:cNvPr>
          <p:cNvSpPr txBox="1"/>
          <p:nvPr/>
        </p:nvSpPr>
        <p:spPr>
          <a:xfrm>
            <a:off x="4819041" y="4186572"/>
            <a:ext cx="3939888" cy="877163"/>
          </a:xfrm>
          <a:prstGeom prst="rect">
            <a:avLst/>
          </a:prstGeom>
          <a:solidFill>
            <a:schemeClr val="tx1"/>
          </a:solidFill>
        </p:spPr>
        <p:txBody>
          <a:bodyPr wrap="square">
            <a:spAutoFit/>
          </a:bodyPr>
          <a:lstStyle/>
          <a:p>
            <a:pPr algn="ctr"/>
            <a:r>
              <a:rPr lang="pl-PL" sz="1100" b="1">
                <a:solidFill>
                  <a:schemeClr val="accent5"/>
                </a:solidFill>
              </a:rPr>
              <a:t>Important: </a:t>
            </a:r>
            <a:r>
              <a:rPr lang="pl-PL" sz="1000">
                <a:solidFill>
                  <a:schemeClr val="accent5"/>
                </a:solidFill>
              </a:rPr>
              <a:t>always use multiple AI models for prompt research and always ask the same questions to all LLMs. You can try inserting the same prompt in the same LLM multiple times or few days in a row to see if the answers will be matching.</a:t>
            </a:r>
            <a:endParaRPr lang="en-US" sz="1100" u="sng">
              <a:solidFill>
                <a:schemeClr val="accent5"/>
              </a:solidFill>
            </a:endParaRPr>
          </a:p>
        </p:txBody>
      </p:sp>
    </p:spTree>
    <p:extLst>
      <p:ext uri="{BB962C8B-B14F-4D97-AF65-F5344CB8AC3E}">
        <p14:creationId xmlns:p14="http://schemas.microsoft.com/office/powerpoint/2010/main" val="1205475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81E2C-DEEB-7E15-BF80-3B5128A2A55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6B6335E5-4EBE-54EA-0DBC-FBB8353BB19E}"/>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9A2D815D-7FC7-B154-D7AD-D87E23D6B1F4}"/>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Strategic Scoring &amp; Prioritization</a:t>
            </a:r>
          </a:p>
        </p:txBody>
      </p:sp>
      <p:sp>
        <p:nvSpPr>
          <p:cNvPr id="12" name="Text 2">
            <a:extLst>
              <a:ext uri="{FF2B5EF4-FFF2-40B4-BE49-F238E27FC236}">
                <a16:creationId xmlns:a16="http://schemas.microsoft.com/office/drawing/2014/main" id="{683D4B30-D1C4-8CC0-4FAF-0EBFC4CE50D2}"/>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From subjective difficulty to a quantitative impact model</a:t>
            </a:r>
            <a:r>
              <a:rPr lang="pl-PL" sz="1100">
                <a:solidFill>
                  <a:schemeClr val="accent5"/>
                </a:solidFill>
                <a:cs typeface="Arial"/>
              </a:rPr>
              <a:t> – calculating the impact.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63EE0726-06D3-F21B-5300-CFBB90EBBA91}"/>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1718083-1994-A37F-A0FA-B22FB761FE94}"/>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19</a:t>
            </a:fld>
            <a:endParaRPr lang="en-US">
              <a:solidFill>
                <a:srgbClr val="3DCD58"/>
              </a:solidFill>
            </a:endParaRPr>
          </a:p>
        </p:txBody>
      </p:sp>
      <p:sp>
        <p:nvSpPr>
          <p:cNvPr id="27" name="TextBox 26">
            <a:extLst>
              <a:ext uri="{FF2B5EF4-FFF2-40B4-BE49-F238E27FC236}">
                <a16:creationId xmlns:a16="http://schemas.microsoft.com/office/drawing/2014/main" id="{CDB0E08C-11F0-5BAC-8D3C-FD1609D7E9D2}"/>
              </a:ext>
            </a:extLst>
          </p:cNvPr>
          <p:cNvSpPr txBox="1"/>
          <p:nvPr/>
        </p:nvSpPr>
        <p:spPr>
          <a:xfrm>
            <a:off x="4495498" y="3398387"/>
            <a:ext cx="2927498" cy="861774"/>
          </a:xfrm>
          <a:prstGeom prst="rect">
            <a:avLst/>
          </a:prstGeom>
          <a:solidFill>
            <a:schemeClr val="tx1"/>
          </a:solidFill>
        </p:spPr>
        <p:txBody>
          <a:bodyPr wrap="square">
            <a:spAutoFit/>
          </a:bodyPr>
          <a:lstStyle/>
          <a:p>
            <a:pPr algn="ctr"/>
            <a:r>
              <a:rPr lang="pl-PL" sz="2800" b="1">
                <a:solidFill>
                  <a:schemeClr val="accent5"/>
                </a:solidFill>
              </a:rPr>
              <a:t>0-100</a:t>
            </a:r>
          </a:p>
          <a:p>
            <a:pPr algn="ctr"/>
            <a:endParaRPr lang="pl-PL" sz="1100" b="1">
              <a:solidFill>
                <a:schemeClr val="accent5"/>
              </a:solidFill>
            </a:endParaRPr>
          </a:p>
          <a:p>
            <a:pPr algn="ctr"/>
            <a:r>
              <a:rPr lang="pl-PL" sz="1100" b="1">
                <a:solidFill>
                  <a:schemeClr val="accent5"/>
                </a:solidFill>
              </a:rPr>
              <a:t>GEO Strategic Score</a:t>
            </a:r>
            <a:endParaRPr lang="en-US" sz="1100">
              <a:solidFill>
                <a:schemeClr val="accent5"/>
              </a:solidFill>
            </a:endParaRPr>
          </a:p>
        </p:txBody>
      </p:sp>
      <p:graphicFrame>
        <p:nvGraphicFramePr>
          <p:cNvPr id="2" name="Table 1">
            <a:extLst>
              <a:ext uri="{FF2B5EF4-FFF2-40B4-BE49-F238E27FC236}">
                <a16:creationId xmlns:a16="http://schemas.microsoft.com/office/drawing/2014/main" id="{0EC0907A-42E8-0335-C892-429C5A8BBBB7}"/>
              </a:ext>
            </a:extLst>
          </p:cNvPr>
          <p:cNvGraphicFramePr>
            <a:graphicFrameLocks noGrp="1"/>
          </p:cNvGraphicFramePr>
          <p:nvPr>
            <p:extLst>
              <p:ext uri="{D42A27DB-BD31-4B8C-83A1-F6EECF244321}">
                <p14:modId xmlns:p14="http://schemas.microsoft.com/office/powerpoint/2010/main" val="2172714120"/>
              </p:ext>
            </p:extLst>
          </p:nvPr>
        </p:nvGraphicFramePr>
        <p:xfrm>
          <a:off x="3153113" y="1312103"/>
          <a:ext cx="5612268" cy="1802881"/>
        </p:xfrm>
        <a:graphic>
          <a:graphicData uri="http://schemas.openxmlformats.org/drawingml/2006/table">
            <a:tbl>
              <a:tblPr firstRow="1" bandRow="1">
                <a:tableStyleId>{5C22544A-7EE6-4342-B048-85BDC9FD1C3A}</a:tableStyleId>
              </a:tblPr>
              <a:tblGrid>
                <a:gridCol w="2806134">
                  <a:extLst>
                    <a:ext uri="{9D8B030D-6E8A-4147-A177-3AD203B41FA5}">
                      <a16:colId xmlns:a16="http://schemas.microsoft.com/office/drawing/2014/main" val="1979060177"/>
                    </a:ext>
                  </a:extLst>
                </a:gridCol>
                <a:gridCol w="2806134">
                  <a:extLst>
                    <a:ext uri="{9D8B030D-6E8A-4147-A177-3AD203B41FA5}">
                      <a16:colId xmlns:a16="http://schemas.microsoft.com/office/drawing/2014/main" val="3919474378"/>
                    </a:ext>
                  </a:extLst>
                </a:gridCol>
              </a:tblGrid>
              <a:tr h="304045">
                <a:tc gridSpan="2">
                  <a:txBody>
                    <a:bodyPr/>
                    <a:lstStyle/>
                    <a:p>
                      <a:pPr algn="ctr"/>
                      <a:r>
                        <a:rPr lang="pl-PL" sz="1200">
                          <a:solidFill>
                            <a:schemeClr val="accent5"/>
                          </a:solidFill>
                        </a:rPr>
                        <a:t>Score dimensions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636427690"/>
                  </a:ext>
                </a:extLst>
              </a:tr>
              <a:tr h="749418">
                <a:tc>
                  <a:txBody>
                    <a:bodyPr/>
                    <a:lstStyle/>
                    <a:p>
                      <a:pPr algn="ctr"/>
                      <a:r>
                        <a:rPr lang="pl-PL" sz="1000" b="1"/>
                        <a:t>Competitive Density (0-25)</a:t>
                      </a:r>
                    </a:p>
                    <a:p>
                      <a:pPr algn="ctr"/>
                      <a:r>
                        <a:rPr lang="en-US" sz="1000" b="0"/>
                        <a:t>How saturated is the AI response landscape — giants or a void?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b="1"/>
                        <a:t>Citation Share Potential (0-25)</a:t>
                      </a:r>
                    </a:p>
                    <a:p>
                      <a:pPr algn="ctr"/>
                      <a:r>
                        <a:rPr lang="en-US" sz="1000" b="0"/>
                        <a:t>How likely is Schneider to become the primary cited source?</a:t>
                      </a:r>
                      <a:endParaRPr lang="pl-PL" sz="10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1796290"/>
                  </a:ext>
                </a:extLst>
              </a:tr>
              <a:tr h="749418">
                <a:tc>
                  <a:txBody>
                    <a:bodyPr/>
                    <a:lstStyle/>
                    <a:p>
                      <a:pPr algn="ctr"/>
                      <a:r>
                        <a:rPr lang="pl-PL" sz="1000" b="1"/>
                        <a:t>Business Impact (0-25)</a:t>
                      </a:r>
                    </a:p>
                    <a:p>
                      <a:pPr algn="ctr"/>
                      <a:r>
                        <a:rPr lang="en-US" sz="1000" b="0"/>
                        <a:t>How closely does it align with revenue drivers and strategic 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1000" b="1"/>
                        <a:t>Technical Feasibility (0-25)</a:t>
                      </a:r>
                    </a:p>
                    <a:p>
                      <a:pPr algn="ctr"/>
                      <a:r>
                        <a:rPr lang="en-US" sz="1000" b="0"/>
                        <a:t>Do we have the experience, expertise, authoritativeness and trustworthiness (E-E-A-T</a:t>
                      </a:r>
                      <a:r>
                        <a:rPr lang="pl-PL" sz="1000" b="0"/>
                        <a:t>*</a:t>
                      </a:r>
                      <a:r>
                        <a:rPr lang="en-US" sz="1000" b="0"/>
                        <a:t>) to create content and assets?</a:t>
                      </a:r>
                      <a:endParaRPr lang="pl-PL" sz="1000" b="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470879012"/>
                  </a:ext>
                </a:extLst>
              </a:tr>
            </a:tbl>
          </a:graphicData>
        </a:graphic>
      </p:graphicFrame>
      <p:sp>
        <p:nvSpPr>
          <p:cNvPr id="17" name="TextBox 16">
            <a:extLst>
              <a:ext uri="{FF2B5EF4-FFF2-40B4-BE49-F238E27FC236}">
                <a16:creationId xmlns:a16="http://schemas.microsoft.com/office/drawing/2014/main" id="{FE558827-2F84-BD95-9F40-2A73E8BB1D9F}"/>
              </a:ext>
            </a:extLst>
          </p:cNvPr>
          <p:cNvSpPr txBox="1"/>
          <p:nvPr/>
        </p:nvSpPr>
        <p:spPr>
          <a:xfrm>
            <a:off x="378619" y="3396873"/>
            <a:ext cx="2620765" cy="859536"/>
          </a:xfrm>
          <a:prstGeom prst="rect">
            <a:avLst/>
          </a:prstGeom>
          <a:solidFill>
            <a:schemeClr val="tx1"/>
          </a:solidFill>
        </p:spPr>
        <p:txBody>
          <a:bodyPr wrap="square" anchor="ctr">
            <a:spAutoFit/>
          </a:bodyPr>
          <a:lstStyle/>
          <a:p>
            <a:pPr algn="ctr"/>
            <a:r>
              <a:rPr lang="pl-PL" sz="1100" b="1">
                <a:solidFill>
                  <a:schemeClr val="accent5"/>
                </a:solidFill>
              </a:rPr>
              <a:t>Important: </a:t>
            </a:r>
            <a:r>
              <a:rPr lang="en-US" sz="1000">
                <a:solidFill>
                  <a:schemeClr val="accent5"/>
                </a:solidFill>
              </a:rPr>
              <a:t>A quantitative score allocates resources to the GEO opportunities that deliver the highest strategic value and ROI.</a:t>
            </a:r>
          </a:p>
        </p:txBody>
      </p:sp>
      <p:cxnSp>
        <p:nvCxnSpPr>
          <p:cNvPr id="18" name="Straight Arrow Connector 17">
            <a:extLst>
              <a:ext uri="{FF2B5EF4-FFF2-40B4-BE49-F238E27FC236}">
                <a16:creationId xmlns:a16="http://schemas.microsoft.com/office/drawing/2014/main" id="{0F9DBDA9-BD0B-077D-5418-DB2E27973038}"/>
              </a:ext>
            </a:extLst>
          </p:cNvPr>
          <p:cNvCxnSpPr>
            <a:cxnSpLocks/>
            <a:stCxn id="2" idx="2"/>
            <a:endCxn id="27" idx="0"/>
          </p:cNvCxnSpPr>
          <p:nvPr/>
        </p:nvCxnSpPr>
        <p:spPr>
          <a:xfrm>
            <a:off x="5959247" y="3114984"/>
            <a:ext cx="0" cy="283403"/>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4" name="TextBox 23">
            <a:extLst>
              <a:ext uri="{FF2B5EF4-FFF2-40B4-BE49-F238E27FC236}">
                <a16:creationId xmlns:a16="http://schemas.microsoft.com/office/drawing/2014/main" id="{59E7450B-CD84-4909-89F8-D92718913945}"/>
              </a:ext>
            </a:extLst>
          </p:cNvPr>
          <p:cNvSpPr txBox="1"/>
          <p:nvPr/>
        </p:nvSpPr>
        <p:spPr>
          <a:xfrm>
            <a:off x="378619" y="1312103"/>
            <a:ext cx="2620765" cy="1801368"/>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Beyond simple difficulty</a:t>
            </a:r>
          </a:p>
          <a:p>
            <a:pPr lvl="0">
              <a:defRPr/>
            </a:pPr>
            <a:endParaRPr lang="pl-PL" sz="1050" b="1"/>
          </a:p>
          <a:p>
            <a:pPr lvl="0">
              <a:defRPr/>
            </a:pPr>
            <a:r>
              <a:rPr lang="en-US" sz="1050" b="1"/>
              <a:t>The gap</a:t>
            </a:r>
            <a:r>
              <a:rPr lang="pl-PL" sz="1050" b="1"/>
              <a:t>: </a:t>
            </a:r>
            <a:r>
              <a:rPr lang="pl-PL" sz="1050"/>
              <a:t>R</a:t>
            </a:r>
            <a:r>
              <a:rPr lang="en-US" sz="1050" err="1"/>
              <a:t>elying</a:t>
            </a:r>
            <a:r>
              <a:rPr lang="en-US" sz="1050"/>
              <a:t> on a 'difficulty' score alone is insufficient for high-stakes B2B GEO.</a:t>
            </a:r>
            <a:endParaRPr lang="pl-PL" sz="1050"/>
          </a:p>
          <a:p>
            <a:pPr lvl="0">
              <a:defRPr/>
            </a:pPr>
            <a:endParaRPr lang="pl-PL" sz="1050" b="1"/>
          </a:p>
          <a:p>
            <a:pPr lvl="0">
              <a:defRPr/>
            </a:pPr>
            <a:r>
              <a:rPr lang="en-US" sz="1050" b="1"/>
              <a:t>The need</a:t>
            </a:r>
            <a:r>
              <a:rPr lang="pl-PL" sz="1050" b="1"/>
              <a:t>:</a:t>
            </a:r>
            <a:r>
              <a:rPr lang="en-US" sz="1050" b="1"/>
              <a:t> </a:t>
            </a:r>
            <a:r>
              <a:rPr lang="pl-PL" sz="1050"/>
              <a:t>a</a:t>
            </a:r>
            <a:r>
              <a:rPr lang="en-US" sz="1050"/>
              <a:t> quantitative framework that prioritizes opportunities by their impact on market share and AI-search authority.</a:t>
            </a:r>
            <a:endParaRPr lang="pl-PL" sz="1050"/>
          </a:p>
        </p:txBody>
      </p:sp>
      <p:sp>
        <p:nvSpPr>
          <p:cNvPr id="25" name="TextBox 24">
            <a:extLst>
              <a:ext uri="{FF2B5EF4-FFF2-40B4-BE49-F238E27FC236}">
                <a16:creationId xmlns:a16="http://schemas.microsoft.com/office/drawing/2014/main" id="{D91004A9-63D9-B1E8-ACC3-D6CBB61A8DC4}"/>
              </a:ext>
            </a:extLst>
          </p:cNvPr>
          <p:cNvSpPr txBox="1"/>
          <p:nvPr/>
        </p:nvSpPr>
        <p:spPr>
          <a:xfrm>
            <a:off x="5252485" y="4485359"/>
            <a:ext cx="3824924" cy="553998"/>
          </a:xfrm>
          <a:prstGeom prst="rect">
            <a:avLst/>
          </a:prstGeom>
          <a:solidFill>
            <a:schemeClr val="accent4">
              <a:lumMod val="40000"/>
              <a:lumOff val="60000"/>
            </a:schemeClr>
          </a:solidFill>
          <a:ln>
            <a:solidFill>
              <a:schemeClr val="tx1"/>
            </a:solidFill>
          </a:ln>
        </p:spPr>
        <p:txBody>
          <a:bodyPr wrap="square" lIns="91440" tIns="45720" rIns="91440" bIns="45720" anchor="t">
            <a:spAutoFit/>
          </a:bodyPr>
          <a:lstStyle/>
          <a:p>
            <a:r>
              <a:rPr lang="pl-PL" sz="1000" b="1"/>
              <a:t>GEO tips &amp; tricks</a:t>
            </a:r>
            <a:endParaRPr lang="en-US" sz="1000" b="1"/>
          </a:p>
          <a:p>
            <a:r>
              <a:rPr lang="pl-PL" sz="1000"/>
              <a:t>You don’t need to evaluate the score by yourself – use AI to do it for you, using the questions from the table.</a:t>
            </a:r>
            <a:endParaRPr lang="en-US" sz="1000">
              <a:cs typeface="Poppins"/>
            </a:endParaRPr>
          </a:p>
        </p:txBody>
      </p:sp>
      <p:sp>
        <p:nvSpPr>
          <p:cNvPr id="4" name="TextBox 3">
            <a:extLst>
              <a:ext uri="{FF2B5EF4-FFF2-40B4-BE49-F238E27FC236}">
                <a16:creationId xmlns:a16="http://schemas.microsoft.com/office/drawing/2014/main" id="{EE7B87EC-5714-5E4A-1A57-4EABE76DE200}"/>
              </a:ext>
            </a:extLst>
          </p:cNvPr>
          <p:cNvSpPr txBox="1"/>
          <p:nvPr/>
        </p:nvSpPr>
        <p:spPr>
          <a:xfrm>
            <a:off x="398463" y="4640948"/>
            <a:ext cx="4529138" cy="215444"/>
          </a:xfrm>
          <a:prstGeom prst="rect">
            <a:avLst/>
          </a:prstGeom>
        </p:spPr>
        <p:txBody>
          <a:bodyPr vert="horz" wrap="square" lIns="0" tIns="0" rIns="0" bIns="0" rtlCol="0">
            <a:spAutoFit/>
          </a:bodyPr>
          <a:lstStyle/>
          <a:p>
            <a:pPr algn="l"/>
            <a:r>
              <a:rPr lang="pl-PL" sz="700"/>
              <a:t>*E-E-A-T </a:t>
            </a:r>
            <a:r>
              <a:rPr lang="en-US" sz="700"/>
              <a:t>. It is a framework found in Google's Search Quality Rater Guidelines to evaluate the credibility, quality, and helpfulness of web content.</a:t>
            </a:r>
            <a:endParaRPr lang="pl-PL" sz="700"/>
          </a:p>
        </p:txBody>
      </p:sp>
    </p:spTree>
    <p:extLst>
      <p:ext uri="{BB962C8B-B14F-4D97-AF65-F5344CB8AC3E}">
        <p14:creationId xmlns:p14="http://schemas.microsoft.com/office/powerpoint/2010/main" val="1012726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08619-BF50-7942-0691-A412E323F6E3}"/>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B6324460-4948-2DC2-293E-E0975CDA1920}"/>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97F17472-9654-4870-3D12-10BF2A6D644D}"/>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Cluster the Prompts by Intent and Funnel Stage</a:t>
            </a:r>
            <a:endParaRPr lang="en-US" sz="2200">
              <a:solidFill>
                <a:schemeClr val="accent5"/>
              </a:solidFill>
              <a:cs typeface="Arial"/>
            </a:endParaRPr>
          </a:p>
        </p:txBody>
      </p:sp>
      <p:sp>
        <p:nvSpPr>
          <p:cNvPr id="12" name="Text 2">
            <a:extLst>
              <a:ext uri="{FF2B5EF4-FFF2-40B4-BE49-F238E27FC236}">
                <a16:creationId xmlns:a16="http://schemas.microsoft.com/office/drawing/2014/main" id="{9962B9C8-2631-920A-69BC-33063B21BCBA}"/>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Cluster the prompts first, then map the owned content to identify the gaps in content.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5490C0BC-6D7F-5960-4F81-D93F3CACA35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F743D6F4-8729-87A2-581D-3A1E484FB4B6}"/>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20</a:t>
            </a:fld>
            <a:endParaRPr lang="en-US">
              <a:solidFill>
                <a:srgbClr val="3DCD58"/>
              </a:solidFill>
            </a:endParaRPr>
          </a:p>
        </p:txBody>
      </p:sp>
      <p:graphicFrame>
        <p:nvGraphicFramePr>
          <p:cNvPr id="9" name="Table 8">
            <a:extLst>
              <a:ext uri="{FF2B5EF4-FFF2-40B4-BE49-F238E27FC236}">
                <a16:creationId xmlns:a16="http://schemas.microsoft.com/office/drawing/2014/main" id="{2CBB29C0-EB18-A166-7A46-D7B11F5E620A}"/>
              </a:ext>
            </a:extLst>
          </p:cNvPr>
          <p:cNvGraphicFramePr>
            <a:graphicFrameLocks noGrp="1"/>
          </p:cNvGraphicFramePr>
          <p:nvPr>
            <p:extLst>
              <p:ext uri="{D42A27DB-BD31-4B8C-83A1-F6EECF244321}">
                <p14:modId xmlns:p14="http://schemas.microsoft.com/office/powerpoint/2010/main" val="1253334752"/>
              </p:ext>
            </p:extLst>
          </p:nvPr>
        </p:nvGraphicFramePr>
        <p:xfrm>
          <a:off x="342899" y="1107895"/>
          <a:ext cx="2237509" cy="1432560"/>
        </p:xfrm>
        <a:graphic>
          <a:graphicData uri="http://schemas.openxmlformats.org/drawingml/2006/table">
            <a:tbl>
              <a:tblPr firstRow="1" bandRow="1">
                <a:tableStyleId>{5C22544A-7EE6-4342-B048-85BDC9FD1C3A}</a:tableStyleId>
              </a:tblPr>
              <a:tblGrid>
                <a:gridCol w="2237509">
                  <a:extLst>
                    <a:ext uri="{9D8B030D-6E8A-4147-A177-3AD203B41FA5}">
                      <a16:colId xmlns:a16="http://schemas.microsoft.com/office/drawing/2014/main" val="1979060177"/>
                    </a:ext>
                  </a:extLst>
                </a:gridCol>
              </a:tblGrid>
              <a:tr h="319301">
                <a:tc>
                  <a:txBody>
                    <a:bodyPr/>
                    <a:lstStyle/>
                    <a:p>
                      <a:pPr algn="ctr"/>
                      <a:r>
                        <a:rPr lang="pl-PL" sz="1200">
                          <a:solidFill>
                            <a:schemeClr val="accent5"/>
                          </a:solidFill>
                        </a:rPr>
                        <a:t>Search Intent – (the Core Four)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636427690"/>
                  </a:ext>
                </a:extLst>
              </a:tr>
              <a:tr h="170294">
                <a:tc>
                  <a:txBody>
                    <a:bodyPr/>
                    <a:lstStyle/>
                    <a:p>
                      <a:pPr algn="ctr"/>
                      <a:r>
                        <a:rPr lang="pl-PL" sz="1000" b="1"/>
                        <a:t>Informational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371796290"/>
                  </a:ext>
                </a:extLst>
              </a:tr>
              <a:tr h="170294">
                <a:tc>
                  <a:txBody>
                    <a:bodyPr/>
                    <a:lstStyle/>
                    <a:p>
                      <a:pPr algn="ctr"/>
                      <a:r>
                        <a:rPr lang="pl-PL" sz="1000" b="1"/>
                        <a:t>Commercial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70879012"/>
                  </a:ext>
                </a:extLst>
              </a:tr>
              <a:tr h="170294">
                <a:tc>
                  <a:txBody>
                    <a:bodyPr/>
                    <a:lstStyle/>
                    <a:p>
                      <a:pPr algn="ctr"/>
                      <a:r>
                        <a:rPr lang="pl-PL" sz="1000" b="1"/>
                        <a:t>Transactional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593380638"/>
                  </a:ext>
                </a:extLst>
              </a:tr>
              <a:tr h="170294">
                <a:tc>
                  <a:txBody>
                    <a:bodyPr/>
                    <a:lstStyle/>
                    <a:p>
                      <a:pPr algn="ctr"/>
                      <a:r>
                        <a:rPr lang="pl-PL" sz="1000" b="1"/>
                        <a:t>Navigational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84596650"/>
                  </a:ext>
                </a:extLst>
              </a:tr>
            </a:tbl>
          </a:graphicData>
        </a:graphic>
      </p:graphicFrame>
      <p:graphicFrame>
        <p:nvGraphicFramePr>
          <p:cNvPr id="10" name="Table 9">
            <a:extLst>
              <a:ext uri="{FF2B5EF4-FFF2-40B4-BE49-F238E27FC236}">
                <a16:creationId xmlns:a16="http://schemas.microsoft.com/office/drawing/2014/main" id="{D6BC81DE-BAF2-0744-3078-8DA5C0B20D6C}"/>
              </a:ext>
            </a:extLst>
          </p:cNvPr>
          <p:cNvGraphicFramePr>
            <a:graphicFrameLocks noGrp="1"/>
          </p:cNvGraphicFramePr>
          <p:nvPr>
            <p:extLst>
              <p:ext uri="{D42A27DB-BD31-4B8C-83A1-F6EECF244321}">
                <p14:modId xmlns:p14="http://schemas.microsoft.com/office/powerpoint/2010/main" val="253491485"/>
              </p:ext>
            </p:extLst>
          </p:nvPr>
        </p:nvGraphicFramePr>
        <p:xfrm>
          <a:off x="342899" y="2718278"/>
          <a:ext cx="2237509" cy="1676400"/>
        </p:xfrm>
        <a:graphic>
          <a:graphicData uri="http://schemas.openxmlformats.org/drawingml/2006/table">
            <a:tbl>
              <a:tblPr firstRow="1" bandRow="1">
                <a:tableStyleId>{5C22544A-7EE6-4342-B048-85BDC9FD1C3A}</a:tableStyleId>
              </a:tblPr>
              <a:tblGrid>
                <a:gridCol w="2237509">
                  <a:extLst>
                    <a:ext uri="{9D8B030D-6E8A-4147-A177-3AD203B41FA5}">
                      <a16:colId xmlns:a16="http://schemas.microsoft.com/office/drawing/2014/main" val="3682936613"/>
                    </a:ext>
                  </a:extLst>
                </a:gridCol>
              </a:tblGrid>
              <a:tr h="196701">
                <a:tc>
                  <a:txBody>
                    <a:bodyPr/>
                    <a:lstStyle/>
                    <a:p>
                      <a:pPr marL="0" algn="ctr" defTabSz="457184" rtl="0" eaLnBrk="1" latinLnBrk="0" hangingPunct="1"/>
                      <a:r>
                        <a:rPr lang="pl-PL" sz="1200" b="1" kern="1200">
                          <a:solidFill>
                            <a:schemeClr val="accent5"/>
                          </a:solidFill>
                          <a:latin typeface="+mn-lt"/>
                          <a:ea typeface="+mn-ea"/>
                          <a:cs typeface="+mn-cs"/>
                        </a:rPr>
                        <a:t>Funnel Stages (Modern Buyer's Journey)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9472696"/>
                  </a:ext>
                </a:extLst>
              </a:tr>
              <a:tr h="159546">
                <a:tc>
                  <a:txBody>
                    <a:bodyPr/>
                    <a:lstStyle/>
                    <a:p>
                      <a:pPr marL="0" algn="ctr" defTabSz="457184" rtl="0" eaLnBrk="1" latinLnBrk="0" hangingPunct="1"/>
                      <a:r>
                        <a:rPr lang="pl-PL" sz="1000" b="1" kern="1200">
                          <a:solidFill>
                            <a:schemeClr val="tx1"/>
                          </a:solidFill>
                          <a:latin typeface="+mn-lt"/>
                          <a:ea typeface="+mn-ea"/>
                          <a:cs typeface="+mn-cs"/>
                        </a:rPr>
                        <a:t>Awarness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679893908"/>
                  </a:ext>
                </a:extLst>
              </a:tr>
              <a:tr h="159546">
                <a:tc>
                  <a:txBody>
                    <a:bodyPr/>
                    <a:lstStyle/>
                    <a:p>
                      <a:pPr marL="0" algn="ctr" defTabSz="457184" rtl="0" eaLnBrk="1" latinLnBrk="0" hangingPunct="1"/>
                      <a:r>
                        <a:rPr lang="pl-PL" sz="1000" b="1" kern="1200">
                          <a:solidFill>
                            <a:schemeClr val="tx1"/>
                          </a:solidFill>
                          <a:latin typeface="+mn-lt"/>
                          <a:ea typeface="+mn-ea"/>
                          <a:cs typeface="+mn-cs"/>
                        </a:rPr>
                        <a:t>Consideration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92395682"/>
                  </a:ext>
                </a:extLst>
              </a:tr>
              <a:tr h="159546">
                <a:tc>
                  <a:txBody>
                    <a:bodyPr/>
                    <a:lstStyle/>
                    <a:p>
                      <a:pPr marL="0" algn="ctr" defTabSz="457184" rtl="0" eaLnBrk="1" latinLnBrk="0" hangingPunct="1"/>
                      <a:r>
                        <a:rPr lang="pl-PL" sz="1000" b="1" kern="1200">
                          <a:solidFill>
                            <a:schemeClr val="tx1"/>
                          </a:solidFill>
                          <a:latin typeface="+mn-lt"/>
                          <a:ea typeface="+mn-ea"/>
                          <a:cs typeface="+mn-cs"/>
                        </a:rPr>
                        <a:t>Decision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413189696"/>
                  </a:ext>
                </a:extLst>
              </a:tr>
              <a:tr h="159546">
                <a:tc>
                  <a:txBody>
                    <a:bodyPr/>
                    <a:lstStyle/>
                    <a:p>
                      <a:pPr marL="0" algn="ctr" defTabSz="457184" rtl="0" eaLnBrk="1" latinLnBrk="0" hangingPunct="1"/>
                      <a:r>
                        <a:rPr lang="pl-PL" sz="1000" b="1" kern="1200">
                          <a:solidFill>
                            <a:schemeClr val="tx1"/>
                          </a:solidFill>
                          <a:latin typeface="+mn-lt"/>
                          <a:ea typeface="+mn-ea"/>
                          <a:cs typeface="+mn-cs"/>
                        </a:rPr>
                        <a:t>Purchase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03802269"/>
                  </a:ext>
                </a:extLst>
              </a:tr>
              <a:tr h="159546">
                <a:tc>
                  <a:txBody>
                    <a:bodyPr/>
                    <a:lstStyle/>
                    <a:p>
                      <a:pPr marL="0" algn="ctr" defTabSz="457184" rtl="0" eaLnBrk="1" latinLnBrk="0" hangingPunct="1"/>
                      <a:r>
                        <a:rPr lang="pl-PL" sz="1000" b="1" kern="1200">
                          <a:solidFill>
                            <a:schemeClr val="tx1"/>
                          </a:solidFill>
                          <a:latin typeface="+mn-lt"/>
                          <a:ea typeface="+mn-ea"/>
                          <a:cs typeface="+mn-cs"/>
                        </a:rPr>
                        <a:t>Post-purchase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18989557"/>
                  </a:ext>
                </a:extLst>
              </a:tr>
            </a:tbl>
          </a:graphicData>
        </a:graphic>
      </p:graphicFrame>
      <p:graphicFrame>
        <p:nvGraphicFramePr>
          <p:cNvPr id="14" name="Table 13">
            <a:extLst>
              <a:ext uri="{FF2B5EF4-FFF2-40B4-BE49-F238E27FC236}">
                <a16:creationId xmlns:a16="http://schemas.microsoft.com/office/drawing/2014/main" id="{A7A4116F-EBF6-A6BC-CFC7-AAB0DB20648D}"/>
              </a:ext>
            </a:extLst>
          </p:cNvPr>
          <p:cNvGraphicFramePr>
            <a:graphicFrameLocks noGrp="1"/>
          </p:cNvGraphicFramePr>
          <p:nvPr>
            <p:extLst>
              <p:ext uri="{D42A27DB-BD31-4B8C-83A1-F6EECF244321}">
                <p14:modId xmlns:p14="http://schemas.microsoft.com/office/powerpoint/2010/main" val="502102651"/>
              </p:ext>
            </p:extLst>
          </p:nvPr>
        </p:nvGraphicFramePr>
        <p:xfrm>
          <a:off x="2916382" y="2718278"/>
          <a:ext cx="6096000" cy="2346960"/>
        </p:xfrm>
        <a:graphic>
          <a:graphicData uri="http://schemas.openxmlformats.org/drawingml/2006/table">
            <a:tbl>
              <a:tblPr firstRow="1" bandRow="1">
                <a:tableStyleId>{5C22544A-7EE6-4342-B048-85BDC9FD1C3A}</a:tableStyleId>
              </a:tblPr>
              <a:tblGrid>
                <a:gridCol w="893618">
                  <a:extLst>
                    <a:ext uri="{9D8B030D-6E8A-4147-A177-3AD203B41FA5}">
                      <a16:colId xmlns:a16="http://schemas.microsoft.com/office/drawing/2014/main" val="4020579523"/>
                    </a:ext>
                  </a:extLst>
                </a:gridCol>
                <a:gridCol w="1239982">
                  <a:extLst>
                    <a:ext uri="{9D8B030D-6E8A-4147-A177-3AD203B41FA5}">
                      <a16:colId xmlns:a16="http://schemas.microsoft.com/office/drawing/2014/main" val="2377778892"/>
                    </a:ext>
                  </a:extLst>
                </a:gridCol>
                <a:gridCol w="914400">
                  <a:extLst>
                    <a:ext uri="{9D8B030D-6E8A-4147-A177-3AD203B41FA5}">
                      <a16:colId xmlns:a16="http://schemas.microsoft.com/office/drawing/2014/main" val="545992990"/>
                    </a:ext>
                  </a:extLst>
                </a:gridCol>
                <a:gridCol w="1016000">
                  <a:extLst>
                    <a:ext uri="{9D8B030D-6E8A-4147-A177-3AD203B41FA5}">
                      <a16:colId xmlns:a16="http://schemas.microsoft.com/office/drawing/2014/main" val="1313464516"/>
                    </a:ext>
                  </a:extLst>
                </a:gridCol>
                <a:gridCol w="1016000">
                  <a:extLst>
                    <a:ext uri="{9D8B030D-6E8A-4147-A177-3AD203B41FA5}">
                      <a16:colId xmlns:a16="http://schemas.microsoft.com/office/drawing/2014/main" val="1112624554"/>
                    </a:ext>
                  </a:extLst>
                </a:gridCol>
                <a:gridCol w="1016000">
                  <a:extLst>
                    <a:ext uri="{9D8B030D-6E8A-4147-A177-3AD203B41FA5}">
                      <a16:colId xmlns:a16="http://schemas.microsoft.com/office/drawing/2014/main" val="1839382040"/>
                    </a:ext>
                  </a:extLst>
                </a:gridCol>
              </a:tblGrid>
              <a:tr h="353403">
                <a:tc>
                  <a:txBody>
                    <a:bodyPr/>
                    <a:lstStyle/>
                    <a:p>
                      <a:pPr algn="ctr"/>
                      <a:r>
                        <a:rPr lang="pl-PL" sz="1000">
                          <a:solidFill>
                            <a:schemeClr val="accent5"/>
                          </a:solidFill>
                        </a:rPr>
                        <a:t>Intent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a:solidFill>
                            <a:schemeClr val="accent5"/>
                          </a:solidFill>
                        </a:rPr>
                        <a:t>Example prompt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a:solidFill>
                            <a:schemeClr val="accent5"/>
                          </a:solidFill>
                        </a:rPr>
                        <a:t>Funnel 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a:solidFill>
                            <a:schemeClr val="accent5"/>
                          </a:solidFill>
                        </a:rPr>
                        <a:t>Mapped asset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a:solidFill>
                            <a:schemeClr val="accent5"/>
                          </a:solidFill>
                        </a:rPr>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a:solidFill>
                            <a:schemeClr val="accent5"/>
                          </a:solidFill>
                        </a:rPr>
                        <a:t>Opportunity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042713574"/>
                  </a:ext>
                </a:extLst>
              </a:tr>
              <a:tr h="330749">
                <a:tc>
                  <a:txBody>
                    <a:bodyPr/>
                    <a:lstStyle/>
                    <a:p>
                      <a:r>
                        <a:rPr lang="pl-PL" sz="800" b="0"/>
                        <a:t>Informational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AU" sz="800"/>
                        <a:t>“</a:t>
                      </a:r>
                      <a:r>
                        <a:rPr lang="en-US" sz="800"/>
                        <a:t>What </a:t>
                      </a:r>
                      <a:r>
                        <a:rPr lang="pl-PL" sz="800"/>
                        <a:t>are</a:t>
                      </a:r>
                      <a:r>
                        <a:rPr lang="en-US" sz="800"/>
                        <a:t> </a:t>
                      </a:r>
                      <a:r>
                        <a:rPr lang="pl-PL" sz="800"/>
                        <a:t>food and beverage industrial solutions about</a:t>
                      </a:r>
                      <a:r>
                        <a:rPr lang="en-US" sz="800"/>
                        <a:t>?”</a:t>
                      </a:r>
                      <a:endParaRPr lang="pl-PL" sz="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Awareness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Owned - platform overview page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Optimize the content for GEO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Low – broad topic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124236550"/>
                  </a:ext>
                </a:extLst>
              </a:tr>
              <a:tr h="330749">
                <a:tc>
                  <a:txBody>
                    <a:bodyPr/>
                    <a:lstStyle/>
                    <a:p>
                      <a:r>
                        <a:rPr lang="pl-PL" sz="800" b="0"/>
                        <a:t>Commercial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AU" sz="800"/>
                        <a:t>“</a:t>
                      </a:r>
                      <a:r>
                        <a:rPr lang="pl-PL" sz="800"/>
                        <a:t>Compare </a:t>
                      </a:r>
                      <a:r>
                        <a:rPr lang="pt-BR" sz="800"/>
                        <a:t>EcoStruxure vs Desigo for retail portfolios</a:t>
                      </a:r>
                      <a:r>
                        <a:rPr lang="pl-PL" sz="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Consideration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Gap – no head-to-head asset exists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Build the asset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High – competitors comparison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25849661"/>
                  </a:ext>
                </a:extLst>
              </a:tr>
              <a:tr h="330749">
                <a:tc>
                  <a:txBody>
                    <a:bodyPr/>
                    <a:lstStyle/>
                    <a:p>
                      <a:r>
                        <a:rPr lang="pl-PL" sz="800" b="0"/>
                        <a:t>Transactional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AU" sz="800"/>
                        <a:t>“</a:t>
                      </a:r>
                      <a:r>
                        <a:rPr lang="pl-PL" sz="800"/>
                        <a:t>Where can I buy</a:t>
                      </a:r>
                      <a:r>
                        <a:rPr lang="en-AU" sz="800"/>
                        <a:t> the</a:t>
                      </a:r>
                      <a:r>
                        <a:rPr lang="pl-PL" sz="800"/>
                        <a:t> best 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Owned - marketplace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Optimize Product page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800"/>
                        <a:t>High – monetization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936341334"/>
                  </a:ext>
                </a:extLst>
              </a:tr>
              <a:tr h="330749">
                <a:tc>
                  <a:txBody>
                    <a:bodyPr/>
                    <a:lstStyle/>
                    <a:p>
                      <a:r>
                        <a:rPr lang="pl-PL" sz="800" b="0"/>
                        <a:t>Navigational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AU" sz="800"/>
                        <a:t>“</a:t>
                      </a:r>
                      <a:r>
                        <a:rPr lang="pl-PL" sz="800"/>
                        <a:t>How can I access my MySchneider account for trainings?”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Post-purchase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Gap – MySchneider navigation asset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Build MySchneider navigation document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pl-PL" sz="800"/>
                        <a:t>High – customer satisfication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83173401"/>
                  </a:ext>
                </a:extLst>
              </a:tr>
            </a:tbl>
          </a:graphicData>
        </a:graphic>
      </p:graphicFrame>
      <p:sp>
        <p:nvSpPr>
          <p:cNvPr id="15" name="TextBox 14">
            <a:extLst>
              <a:ext uri="{FF2B5EF4-FFF2-40B4-BE49-F238E27FC236}">
                <a16:creationId xmlns:a16="http://schemas.microsoft.com/office/drawing/2014/main" id="{68244117-BCEB-1DCB-289F-672EAAFFAF82}"/>
              </a:ext>
            </a:extLst>
          </p:cNvPr>
          <p:cNvSpPr txBox="1"/>
          <p:nvPr/>
        </p:nvSpPr>
        <p:spPr>
          <a:xfrm>
            <a:off x="2916382" y="1107895"/>
            <a:ext cx="6096000" cy="1531188"/>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00"/>
              <a:t>Here is a </a:t>
            </a:r>
            <a:r>
              <a:rPr lang="en-US" sz="1000" b="1"/>
              <a:t>prompt analysis matrix</a:t>
            </a:r>
            <a:r>
              <a:rPr lang="en-US" sz="1000"/>
              <a:t> example for use after the prompt research. </a:t>
            </a:r>
            <a:r>
              <a:rPr lang="pl-PL" sz="1000"/>
              <a:t>The matrix can help to understand:</a:t>
            </a:r>
          </a:p>
          <a:p>
            <a:pPr marL="171450" lvl="0" indent="-171450">
              <a:buFont typeface="Arial" panose="020B0604020202020204" pitchFamily="34" charset="0"/>
              <a:buChar char="•"/>
              <a:defRPr/>
            </a:pPr>
            <a:r>
              <a:rPr lang="pl-PL" sz="1000"/>
              <a:t>What is the intent of the prompt</a:t>
            </a:r>
          </a:p>
          <a:p>
            <a:pPr marL="171450" lvl="0" indent="-171450">
              <a:buFont typeface="Arial" panose="020B0604020202020204" pitchFamily="34" charset="0"/>
              <a:buChar char="•"/>
              <a:defRPr/>
            </a:pPr>
            <a:r>
              <a:rPr lang="pl-PL" sz="1000"/>
              <a:t>What is the funnel stage</a:t>
            </a:r>
          </a:p>
          <a:p>
            <a:pPr marL="171450" lvl="0" indent="-171450">
              <a:buFont typeface="Arial" panose="020B0604020202020204" pitchFamily="34" charset="0"/>
              <a:buChar char="•"/>
              <a:defRPr/>
            </a:pPr>
            <a:r>
              <a:rPr lang="pl-PL" sz="1000"/>
              <a:t>Do we have the asset in place already</a:t>
            </a:r>
          </a:p>
          <a:p>
            <a:pPr marL="171450" lvl="0" indent="-171450">
              <a:buFont typeface="Arial" panose="020B0604020202020204" pitchFamily="34" charset="0"/>
              <a:buChar char="•"/>
              <a:defRPr/>
            </a:pPr>
            <a:r>
              <a:rPr lang="pl-PL" sz="1000"/>
              <a:t>What would be the possible action</a:t>
            </a:r>
          </a:p>
          <a:p>
            <a:pPr marL="171450" lvl="0" indent="-171450">
              <a:buFont typeface="Arial" panose="020B0604020202020204" pitchFamily="34" charset="0"/>
              <a:buChar char="•"/>
              <a:defRPr/>
            </a:pPr>
            <a:r>
              <a:rPr lang="pl-PL" sz="1000"/>
              <a:t>What can we win</a:t>
            </a:r>
          </a:p>
          <a:p>
            <a:pPr lvl="0">
              <a:defRPr/>
            </a:pPr>
            <a:r>
              <a:rPr lang="pl-PL" sz="1000"/>
              <a:t>This assessment helps to narrow down the list of prompts to pick only the ones that are relevant for the current business needs or gives us an idea on where we should start.</a:t>
            </a:r>
            <a:endParaRPr lang="pl-PL" sz="1050"/>
          </a:p>
        </p:txBody>
      </p:sp>
    </p:spTree>
    <p:extLst>
      <p:ext uri="{BB962C8B-B14F-4D97-AF65-F5344CB8AC3E}">
        <p14:creationId xmlns:p14="http://schemas.microsoft.com/office/powerpoint/2010/main" val="1850538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D14C7-10B8-C1CA-7484-C951BB3EB3A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CEADBCC-3FCD-C84D-6DEC-FF760594855A}"/>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6" name="Title 5">
            <a:extLst>
              <a:ext uri="{FF2B5EF4-FFF2-40B4-BE49-F238E27FC236}">
                <a16:creationId xmlns:a16="http://schemas.microsoft.com/office/drawing/2014/main" id="{E2BC6444-D72F-D2DC-DD91-87E7C444B45E}"/>
              </a:ext>
            </a:extLst>
          </p:cNvPr>
          <p:cNvSpPr>
            <a:spLocks noGrp="1"/>
          </p:cNvSpPr>
          <p:nvPr>
            <p:ph type="title"/>
          </p:nvPr>
        </p:nvSpPr>
        <p:spPr>
          <a:xfrm>
            <a:off x="1191488" y="1341120"/>
            <a:ext cx="6352312" cy="2520255"/>
          </a:xfrm>
        </p:spPr>
        <p:txBody>
          <a:bodyPr/>
          <a:lstStyle/>
          <a:p>
            <a:r>
              <a:rPr lang="pl-PL"/>
              <a:t>T</a:t>
            </a:r>
            <a:r>
              <a:rPr lang="en-US"/>
              <a:t>he challenge isn't getting cited </a:t>
            </a:r>
            <a:r>
              <a:rPr lang="pl-PL"/>
              <a:t>-</a:t>
            </a:r>
            <a:r>
              <a:rPr lang="en-US"/>
              <a:t> it's getting cited on the topics people are actually talking about.</a:t>
            </a:r>
            <a:endParaRPr lang="pl-PL"/>
          </a:p>
        </p:txBody>
      </p:sp>
    </p:spTree>
    <p:extLst>
      <p:ext uri="{BB962C8B-B14F-4D97-AF65-F5344CB8AC3E}">
        <p14:creationId xmlns:p14="http://schemas.microsoft.com/office/powerpoint/2010/main" val="1686756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42950" y="1820791"/>
            <a:ext cx="7659831" cy="1107996"/>
          </a:xfrm>
          <a:prstGeom prst="rect">
            <a:avLst/>
          </a:prstGeom>
          <a:noFill/>
          <a:ln/>
        </p:spPr>
        <p:txBody>
          <a:bodyPr wrap="square" lIns="0" tIns="0" rIns="0" bIns="0" rtlCol="0" anchor="t">
            <a:spAutoFit/>
          </a:bodyPr>
          <a:lstStyle/>
          <a:p>
            <a:r>
              <a:rPr lang="pl-PL" sz="3600">
                <a:solidFill>
                  <a:schemeClr val="accent5"/>
                </a:solidFill>
              </a:rPr>
              <a:t>Chapter 3: Universal GEO Content Writing Rules</a:t>
            </a:r>
            <a:endParaRPr lang="en-US" sz="3600">
              <a:solidFill>
                <a:schemeClr val="accent5"/>
              </a:solidFill>
            </a:endParaRPr>
          </a:p>
        </p:txBody>
      </p:sp>
      <p:sp>
        <p:nvSpPr>
          <p:cNvPr id="5" name="Text 2"/>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61024880-2430-D9E9-B223-BF3868BE52F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A40AC333-8209-5258-5A09-210C79B0CC41}"/>
              </a:ext>
            </a:extLst>
          </p:cNvPr>
          <p:cNvSpPr>
            <a:spLocks noGrp="1"/>
          </p:cNvSpPr>
          <p:nvPr>
            <p:ph type="body" sz="quarter" idx="4294967295"/>
          </p:nvPr>
        </p:nvSpPr>
        <p:spPr>
          <a:xfrm>
            <a:off x="742950" y="4108450"/>
            <a:ext cx="7181850" cy="215900"/>
          </a:xfrm>
        </p:spPr>
        <p:txBody>
          <a:bodyPr/>
          <a:lstStyle/>
          <a:p>
            <a:r>
              <a:rPr lang="pl-PL"/>
              <a:t>Shuchi Mahajan, Mateusz Madejowski, Bartosz Żak, Jakub Falkowski</a:t>
            </a:r>
          </a:p>
          <a:p>
            <a:endParaRPr lang="pl-PL"/>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45F1E-B936-EAC9-AE4C-A099A9AFE4C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C196787C-4D5C-8B38-ADB7-2753DAA36DB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385E547A-00F3-54B4-9D93-91A1493F9108}"/>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latin typeface="+mj-lt"/>
                <a:ea typeface="+mj-ea"/>
                <a:cs typeface="Arial"/>
              </a:rPr>
              <a:t>How do we write content differently for GEO?</a:t>
            </a:r>
          </a:p>
        </p:txBody>
      </p:sp>
      <p:sp>
        <p:nvSpPr>
          <p:cNvPr id="12" name="Text 2">
            <a:extLst>
              <a:ext uri="{FF2B5EF4-FFF2-40B4-BE49-F238E27FC236}">
                <a16:creationId xmlns:a16="http://schemas.microsoft.com/office/drawing/2014/main" id="{F649C6F3-D20A-76CC-9349-C5E9ABA4AF9A}"/>
              </a:ext>
            </a:extLst>
          </p:cNvPr>
          <p:cNvSpPr/>
          <p:nvPr/>
        </p:nvSpPr>
        <p:spPr>
          <a:xfrm>
            <a:off x="342900" y="589788"/>
            <a:ext cx="7886700" cy="274320"/>
          </a:xfrm>
          <a:prstGeom prst="rect">
            <a:avLst/>
          </a:prstGeom>
          <a:noFill/>
          <a:ln/>
        </p:spPr>
        <p:txBody>
          <a:bodyPr wrap="square" lIns="0" tIns="0" rIns="0" bIns="0" rtlCol="0" anchor="ctr"/>
          <a:lstStyle/>
          <a:p>
            <a:r>
              <a:rPr lang="pl-PL" sz="1100" b="1">
                <a:solidFill>
                  <a:schemeClr val="accent5"/>
                </a:solidFill>
                <a:cs typeface="Arial"/>
              </a:rPr>
              <a:t>C</a:t>
            </a:r>
            <a:r>
              <a:rPr lang="en-US" sz="1100" b="1">
                <a:solidFill>
                  <a:schemeClr val="accent5"/>
                </a:solidFill>
                <a:cs typeface="Arial"/>
              </a:rPr>
              <a:t>ore mindset shift: You are no longer writing on</a:t>
            </a:r>
            <a:r>
              <a:rPr lang="pl-PL" sz="1100" b="1">
                <a:solidFill>
                  <a:schemeClr val="accent5"/>
                </a:solidFill>
                <a:cs typeface="Arial"/>
              </a:rPr>
              <a:t>l</a:t>
            </a:r>
            <a:r>
              <a:rPr lang="en-US" sz="1100" b="1">
                <a:solidFill>
                  <a:schemeClr val="accent5"/>
                </a:solidFill>
                <a:cs typeface="Arial"/>
              </a:rPr>
              <a:t>y to rank or persuade.​</a:t>
            </a:r>
          </a:p>
          <a:p>
            <a:r>
              <a:rPr lang="en-US" sz="1100">
                <a:solidFill>
                  <a:schemeClr val="accent5"/>
                </a:solidFill>
                <a:cs typeface="Arial"/>
              </a:rPr>
              <a:t>In </a:t>
            </a:r>
            <a:r>
              <a:rPr lang="en-US" sz="1100" b="1">
                <a:solidFill>
                  <a:schemeClr val="accent5"/>
                </a:solidFill>
                <a:cs typeface="Arial"/>
              </a:rPr>
              <a:t>GEO</a:t>
            </a:r>
            <a:r>
              <a:rPr lang="en-US" sz="1100">
                <a:solidFill>
                  <a:schemeClr val="accent5"/>
                </a:solidFill>
                <a:cs typeface="Arial"/>
              </a:rPr>
              <a:t>, every page must deliver </a:t>
            </a:r>
            <a:r>
              <a:rPr lang="en-US" sz="1100" b="1">
                <a:solidFill>
                  <a:schemeClr val="accent5"/>
                </a:solidFill>
                <a:cs typeface="Arial"/>
              </a:rPr>
              <a:t>clear, extractable answers </a:t>
            </a:r>
            <a:r>
              <a:rPr lang="en-US" sz="1100">
                <a:solidFill>
                  <a:schemeClr val="accent5"/>
                </a:solidFill>
                <a:cs typeface="Arial"/>
              </a:rPr>
              <a:t>for AI‑led discovery.</a:t>
            </a:r>
            <a:r>
              <a:rPr lang="pl-PL" sz="1100">
                <a:solidFill>
                  <a:schemeClr val="accent5"/>
                </a:solidFill>
                <a:cs typeface="Arial"/>
              </a:rPr>
              <a:t> </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218C1E08-8078-6BCD-268E-C8B8F6B3E61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E54412D6-480D-933F-CC5E-22E8F237F224}"/>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23</a:t>
            </a:fld>
            <a:endParaRPr lang="en-US">
              <a:solidFill>
                <a:srgbClr val="3DCD58"/>
              </a:solidFill>
            </a:endParaRPr>
          </a:p>
        </p:txBody>
      </p:sp>
      <p:graphicFrame>
        <p:nvGraphicFramePr>
          <p:cNvPr id="3" name="Table 2">
            <a:extLst>
              <a:ext uri="{FF2B5EF4-FFF2-40B4-BE49-F238E27FC236}">
                <a16:creationId xmlns:a16="http://schemas.microsoft.com/office/drawing/2014/main" id="{0CDA0BE0-ED23-168D-40A5-D26F1879E808}"/>
              </a:ext>
            </a:extLst>
          </p:cNvPr>
          <p:cNvGraphicFramePr>
            <a:graphicFrameLocks noGrp="1"/>
          </p:cNvGraphicFramePr>
          <p:nvPr>
            <p:extLst>
              <p:ext uri="{D42A27DB-BD31-4B8C-83A1-F6EECF244321}">
                <p14:modId xmlns:p14="http://schemas.microsoft.com/office/powerpoint/2010/main" val="463826669"/>
              </p:ext>
            </p:extLst>
          </p:nvPr>
        </p:nvGraphicFramePr>
        <p:xfrm>
          <a:off x="973729" y="1153004"/>
          <a:ext cx="3276600" cy="3113392"/>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1448082525"/>
                    </a:ext>
                  </a:extLst>
                </a:gridCol>
              </a:tblGrid>
              <a:tr h="44185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en-US" sz="1200">
                          <a:solidFill>
                            <a:schemeClr val="tx1"/>
                          </a:solidFill>
                        </a:rPr>
                        <a:t>Traditional page mindset</a:t>
                      </a:r>
                    </a:p>
                    <a:p>
                      <a:pPr marL="0" marR="0" lvl="0" indent="0" algn="ctr" defTabSz="609563" rtl="0" eaLnBrk="1" fontAlgn="auto" latinLnBrk="0" hangingPunct="1">
                        <a:lnSpc>
                          <a:spcPct val="100000"/>
                        </a:lnSpc>
                        <a:spcBef>
                          <a:spcPts val="0"/>
                        </a:spcBef>
                        <a:spcAft>
                          <a:spcPts val="0"/>
                        </a:spcAft>
                        <a:buClrTx/>
                        <a:buSzTx/>
                        <a:buFontTx/>
                        <a:buNone/>
                        <a:tabLst/>
                        <a:defRPr/>
                      </a:pPr>
                      <a:r>
                        <a:rPr lang="en-US" sz="1200" b="0">
                          <a:solidFill>
                            <a:schemeClr val="tx1"/>
                          </a:solidFill>
                        </a:rPr>
                        <a:t>(Before GEO)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2671537">
                <a:tc>
                  <a:txBody>
                    <a:bodyPr/>
                    <a:lstStyle/>
                    <a:p>
                      <a:pPr marL="171450" indent="-171450">
                        <a:lnSpc>
                          <a:spcPct val="200000"/>
                        </a:lnSpc>
                        <a:buClr>
                          <a:srgbClr val="FF0000"/>
                        </a:buClr>
                        <a:buFont typeface="Arial" panose="020B0604020202020204" pitchFamily="34" charset="0"/>
                        <a:buChar char="•"/>
                      </a:pPr>
                      <a:r>
                        <a:rPr lang="en-US" sz="1000" b="1" i="0" kern="1200">
                          <a:solidFill>
                            <a:schemeClr val="dk1"/>
                          </a:solidFill>
                          <a:effectLst/>
                          <a:latin typeface="+mn-lt"/>
                          <a:ea typeface="+mn-ea"/>
                          <a:cs typeface="+mn-cs"/>
                        </a:rPr>
                        <a:t>Narrative‑first</a:t>
                      </a:r>
                    </a:p>
                    <a:p>
                      <a:pPr marL="171450" indent="-171450">
                        <a:lnSpc>
                          <a:spcPct val="200000"/>
                        </a:lnSpc>
                        <a:buClr>
                          <a:srgbClr val="FF0000"/>
                        </a:buClr>
                        <a:buFont typeface="Arial" panose="020B0604020202020204" pitchFamily="34" charset="0"/>
                        <a:buChar char="•"/>
                      </a:pPr>
                      <a:r>
                        <a:rPr lang="en-US" sz="1000" b="1" i="0" kern="1200">
                          <a:solidFill>
                            <a:schemeClr val="dk1"/>
                          </a:solidFill>
                          <a:effectLst/>
                          <a:latin typeface="+mn-lt"/>
                          <a:ea typeface="+mn-ea"/>
                          <a:cs typeface="+mn-cs"/>
                        </a:rPr>
                        <a:t>Marketing‑heavy</a:t>
                      </a:r>
                    </a:p>
                    <a:p>
                      <a:pPr marL="171450" indent="-171450">
                        <a:lnSpc>
                          <a:spcPct val="200000"/>
                        </a:lnSpc>
                        <a:buClr>
                          <a:srgbClr val="FF0000"/>
                        </a:buClr>
                        <a:buFont typeface="Arial" panose="020B0604020202020204" pitchFamily="34" charset="0"/>
                        <a:buChar char="•"/>
                      </a:pPr>
                      <a:r>
                        <a:rPr lang="en-US" sz="1000" b="1" i="0" kern="1200">
                          <a:solidFill>
                            <a:schemeClr val="dk1"/>
                          </a:solidFill>
                          <a:effectLst/>
                          <a:latin typeface="+mn-lt"/>
                          <a:ea typeface="+mn-ea"/>
                          <a:cs typeface="+mn-cs"/>
                        </a:rPr>
                        <a:t>Implicit value</a:t>
                      </a:r>
                    </a:p>
                    <a:p>
                      <a:pPr marL="171450" indent="-171450">
                        <a:lnSpc>
                          <a:spcPct val="200000"/>
                        </a:lnSpc>
                        <a:buClr>
                          <a:srgbClr val="FF0000"/>
                        </a:buClr>
                        <a:buFont typeface="Arial" panose="020B0604020202020204" pitchFamily="34" charset="0"/>
                        <a:buChar char="•"/>
                      </a:pPr>
                      <a:r>
                        <a:rPr lang="en-US" sz="1000" b="1" i="0" kern="1200">
                          <a:solidFill>
                            <a:schemeClr val="dk1"/>
                          </a:solidFill>
                          <a:effectLst/>
                          <a:latin typeface="+mn-lt"/>
                          <a:ea typeface="+mn-ea"/>
                          <a:cs typeface="+mn-cs"/>
                        </a:rPr>
                        <a:t>Visual-dependent</a:t>
                      </a:r>
                    </a:p>
                    <a:p>
                      <a:pPr marL="171450" indent="-171450">
                        <a:lnSpc>
                          <a:spcPct val="200000"/>
                        </a:lnSpc>
                        <a:buClr>
                          <a:srgbClr val="FF0000"/>
                        </a:buClr>
                        <a:buFont typeface="Arial" panose="020B0604020202020204" pitchFamily="34" charset="0"/>
                        <a:buChar char="•"/>
                      </a:pPr>
                      <a:r>
                        <a:rPr lang="en-US" sz="1000" b="1" i="0" kern="1200">
                          <a:solidFill>
                            <a:schemeClr val="dk1"/>
                          </a:solidFill>
                          <a:effectLst/>
                          <a:latin typeface="+mn-lt"/>
                          <a:ea typeface="+mn-ea"/>
                          <a:cs typeface="+mn-cs"/>
                        </a:rPr>
                        <a:t>Broad, generic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EB032CF4-3781-798F-4512-4B1A7B154F74}"/>
              </a:ext>
            </a:extLst>
          </p:cNvPr>
          <p:cNvGraphicFramePr>
            <a:graphicFrameLocks noGrp="1"/>
          </p:cNvGraphicFramePr>
          <p:nvPr>
            <p:extLst>
              <p:ext uri="{D42A27DB-BD31-4B8C-83A1-F6EECF244321}">
                <p14:modId xmlns:p14="http://schemas.microsoft.com/office/powerpoint/2010/main" val="2500561321"/>
              </p:ext>
            </p:extLst>
          </p:nvPr>
        </p:nvGraphicFramePr>
        <p:xfrm>
          <a:off x="4798419" y="1153004"/>
          <a:ext cx="3431182" cy="3093720"/>
        </p:xfrm>
        <a:graphic>
          <a:graphicData uri="http://schemas.openxmlformats.org/drawingml/2006/table">
            <a:tbl>
              <a:tblPr firstRow="1" bandRow="1">
                <a:tableStyleId>{5C22544A-7EE6-4342-B048-85BDC9FD1C3A}</a:tableStyleId>
              </a:tblPr>
              <a:tblGrid>
                <a:gridCol w="3431182">
                  <a:extLst>
                    <a:ext uri="{9D8B030D-6E8A-4147-A177-3AD203B41FA5}">
                      <a16:colId xmlns:a16="http://schemas.microsoft.com/office/drawing/2014/main" val="1448082525"/>
                    </a:ext>
                  </a:extLst>
                </a:gridCol>
              </a:tblGrid>
              <a:tr h="349926">
                <a:tc>
                  <a:txBody>
                    <a:bodyPr/>
                    <a:lstStyle/>
                    <a:p>
                      <a:pPr algn="ctr"/>
                      <a:r>
                        <a:rPr lang="en-US" sz="1200">
                          <a:solidFill>
                            <a:schemeClr val="accent5"/>
                          </a:solidFill>
                          <a:latin typeface="+mn-lt"/>
                        </a:rPr>
                        <a:t>The GEO page mindset</a:t>
                      </a:r>
                    </a:p>
                    <a:p>
                      <a:pPr algn="ctr"/>
                      <a:r>
                        <a:rPr lang="en-US" sz="1200" b="0">
                          <a:solidFill>
                            <a:schemeClr val="accent5"/>
                          </a:solidFill>
                          <a:latin typeface="+mn-lt"/>
                        </a:rPr>
                        <a:t>(GEO-ready)</a:t>
                      </a:r>
                      <a:endParaRPr lang="en-US" sz="1200">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2036656">
                <a:tc>
                  <a:txBody>
                    <a:bodyPr/>
                    <a:lstStyle/>
                    <a:p>
                      <a:pPr marL="171450" indent="-171450" algn="l" defTabSz="457184" rtl="0" eaLnBrk="1" fontAlgn="t" latinLnBrk="0" hangingPunct="1">
                        <a:lnSpc>
                          <a:spcPct val="100000"/>
                        </a:lnSpc>
                        <a:buFont typeface="Arial" panose="020B0604020202020204" pitchFamily="34" charset="0"/>
                        <a:buChar char="•"/>
                      </a:pPr>
                      <a:r>
                        <a:rPr lang="en-US" sz="1000" b="1" i="0" kern="1200">
                          <a:solidFill>
                            <a:schemeClr val="dk1"/>
                          </a:solidFill>
                          <a:effectLst/>
                          <a:latin typeface="+mn-lt"/>
                          <a:ea typeface="+mn-ea"/>
                          <a:cs typeface="+mn-cs"/>
                        </a:rPr>
                        <a:t>Answer first </a:t>
                      </a:r>
                    </a:p>
                    <a:p>
                      <a:pPr marL="0" indent="0" algn="l" defTabSz="457184" rtl="0" eaLnBrk="1" fontAlgn="t" latinLnBrk="0" hangingPunct="1">
                        <a:lnSpc>
                          <a:spcPct val="100000"/>
                        </a:lnSpc>
                        <a:buFont typeface="Arial" panose="020B0604020202020204" pitchFamily="34" charset="0"/>
                        <a:buNone/>
                      </a:pPr>
                      <a:r>
                        <a:rPr lang="en-US" sz="1000" b="0" i="0" kern="1200">
                          <a:solidFill>
                            <a:schemeClr val="dk1"/>
                          </a:solidFill>
                          <a:effectLst/>
                          <a:latin typeface="+mn-lt"/>
                          <a:ea typeface="+mn-ea"/>
                          <a:cs typeface="+mn-cs"/>
                        </a:rPr>
                        <a:t>Fully answer the question — not just earn the click.</a:t>
                      </a:r>
                    </a:p>
                    <a:p>
                      <a:pPr marL="171450" indent="-171450" algn="l" defTabSz="457184" rtl="0" eaLnBrk="1" fontAlgn="t" latinLnBrk="0" hangingPunct="1">
                        <a:lnSpc>
                          <a:spcPct val="100000"/>
                        </a:lnSpc>
                        <a:buFont typeface="Arial" panose="020B0604020202020204" pitchFamily="34" charset="0"/>
                        <a:buChar char="•"/>
                      </a:pPr>
                      <a:endParaRPr lang="en-US" sz="1000" b="1" i="0" kern="1200">
                        <a:solidFill>
                          <a:schemeClr val="dk1"/>
                        </a:solidFill>
                        <a:effectLst/>
                        <a:latin typeface="+mn-lt"/>
                        <a:ea typeface="+mn-ea"/>
                        <a:cs typeface="+mn-cs"/>
                      </a:endParaRPr>
                    </a:p>
                    <a:p>
                      <a:pPr marL="171450" marR="0" lvl="0" indent="-171450" algn="l" rtl="0" eaLnBrk="1" fontAlgn="t" latinLnBrk="0" hangingPunct="1">
                        <a:lnSpc>
                          <a:spcPct val="100000"/>
                        </a:lnSpc>
                        <a:spcBef>
                          <a:spcPts val="0"/>
                        </a:spcBef>
                        <a:spcAft>
                          <a:spcPts val="0"/>
                        </a:spcAft>
                        <a:buClrTx/>
                        <a:buSzTx/>
                        <a:buFont typeface="Arial" panose="020B0604020202020204" pitchFamily="34" charset="0"/>
                        <a:buChar char="•"/>
                      </a:pPr>
                      <a:r>
                        <a:rPr lang="en-US" sz="1000" b="1" i="0" kern="1200">
                          <a:solidFill>
                            <a:schemeClr val="dk1"/>
                          </a:solidFill>
                          <a:effectLst/>
                          <a:latin typeface="+mn-lt"/>
                          <a:ea typeface="+mn-ea"/>
                          <a:cs typeface="+mn-cs"/>
                        </a:rPr>
                        <a:t>Be extractable</a:t>
                      </a:r>
                      <a:endParaRPr lang="pl-PL" sz="1000" b="1" i="0" kern="1200">
                        <a:solidFill>
                          <a:schemeClr val="dk1"/>
                        </a:solidFill>
                        <a:effectLst/>
                        <a:latin typeface="+mn-lt"/>
                        <a:ea typeface="+mn-ea"/>
                        <a:cs typeface="+mn-cs"/>
                      </a:endParaRPr>
                    </a:p>
                    <a:p>
                      <a:pPr marL="0" marR="0" lvl="0" indent="0" algn="l" rtl="0" eaLnBrk="1" fontAlgn="t" latinLnBrk="0" hangingPunct="1">
                        <a:lnSpc>
                          <a:spcPct val="100000"/>
                        </a:lnSpc>
                        <a:spcBef>
                          <a:spcPts val="0"/>
                        </a:spcBef>
                        <a:spcAft>
                          <a:spcPts val="0"/>
                        </a:spcAft>
                        <a:buClrTx/>
                        <a:buSzTx/>
                        <a:buFont typeface="Arial" panose="020B0604020202020204" pitchFamily="34" charset="0"/>
                        <a:buNone/>
                      </a:pPr>
                      <a:r>
                        <a:rPr lang="en-US" sz="1000" b="0" i="0" kern="1200">
                          <a:solidFill>
                            <a:schemeClr val="dk1"/>
                          </a:solidFill>
                          <a:effectLst/>
                          <a:latin typeface="+mn-lt"/>
                          <a:ea typeface="+mn-ea"/>
                          <a:cs typeface="+mn-cs"/>
                        </a:rPr>
                        <a:t>Neutral tone of voice, clean headings, structured text, bullet</a:t>
                      </a:r>
                      <a:r>
                        <a:rPr lang="pl-PL" sz="1000" b="0" i="0" kern="1200">
                          <a:solidFill>
                            <a:schemeClr val="dk1"/>
                          </a:solidFill>
                          <a:effectLst/>
                          <a:latin typeface="+mn-lt"/>
                          <a:ea typeface="+mn-ea"/>
                          <a:cs typeface="+mn-cs"/>
                        </a:rPr>
                        <a:t> </a:t>
                      </a:r>
                      <a:r>
                        <a:rPr lang="en-US" sz="1000" b="0" i="0" kern="1200">
                          <a:solidFill>
                            <a:schemeClr val="dk1"/>
                          </a:solidFill>
                          <a:effectLst/>
                          <a:latin typeface="+mn-lt"/>
                          <a:ea typeface="+mn-ea"/>
                          <a:cs typeface="+mn-cs"/>
                        </a:rPr>
                        <a:t>points, and factual density.</a:t>
                      </a:r>
                    </a:p>
                    <a:p>
                      <a:pPr marL="171450" marR="0" lvl="0" indent="-171450" algn="l" defTabSz="457184"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1000" b="0" i="0" kern="1200">
                        <a:solidFill>
                          <a:schemeClr val="dk1"/>
                        </a:solidFill>
                        <a:effectLst/>
                        <a:latin typeface="+mn-lt"/>
                        <a:ea typeface="+mn-ea"/>
                        <a:cs typeface="+mn-cs"/>
                      </a:endParaRPr>
                    </a:p>
                    <a:p>
                      <a:pPr marL="171450" indent="-171450" algn="l" rtl="0" eaLnBrk="1" fontAlgn="t" latinLnBrk="0" hangingPunct="1">
                        <a:lnSpc>
                          <a:spcPct val="100000"/>
                        </a:lnSpc>
                        <a:buFont typeface="Arial" panose="020B0604020202020204" pitchFamily="34" charset="0"/>
                        <a:buChar char="•"/>
                      </a:pPr>
                      <a:r>
                        <a:rPr lang="en-US" sz="1000" b="1" i="0" kern="1200">
                          <a:solidFill>
                            <a:schemeClr val="dk1"/>
                          </a:solidFill>
                          <a:effectLst/>
                          <a:latin typeface="+mn-lt"/>
                          <a:ea typeface="+mn-ea"/>
                          <a:cs typeface="+mn-cs"/>
                        </a:rPr>
                        <a:t>Outcome led clarity</a:t>
                      </a:r>
                      <a:endParaRPr lang="pl-PL" sz="1000" b="1" i="0" kern="1200">
                        <a:solidFill>
                          <a:srgbClr val="0A2F24"/>
                        </a:solidFill>
                        <a:effectLst/>
                        <a:latin typeface="+mn-lt"/>
                        <a:ea typeface="+mn-ea"/>
                        <a:cs typeface="+mn-cs"/>
                      </a:endParaRPr>
                    </a:p>
                    <a:p>
                      <a:pPr marL="0" indent="0" algn="l" rtl="0" eaLnBrk="1" fontAlgn="t" latinLnBrk="0" hangingPunct="1">
                        <a:lnSpc>
                          <a:spcPct val="100000"/>
                        </a:lnSpc>
                        <a:buFont typeface="Arial" panose="020B0604020202020204" pitchFamily="34" charset="0"/>
                        <a:buNone/>
                      </a:pPr>
                      <a:r>
                        <a:rPr lang="en-US" sz="1000" b="0" i="0" kern="1200">
                          <a:solidFill>
                            <a:schemeClr val="dk1"/>
                          </a:solidFill>
                          <a:effectLst/>
                          <a:latin typeface="+mn-lt"/>
                          <a:ea typeface="+mn-ea"/>
                          <a:cs typeface="+mn-cs"/>
                        </a:rPr>
                        <a:t>AI recommends only complete, reliable, and trustworthy information.</a:t>
                      </a:r>
                    </a:p>
                    <a:p>
                      <a:pPr marL="171450" indent="-171450" algn="l" defTabSz="457184" rtl="0" eaLnBrk="1" fontAlgn="t" latinLnBrk="0" hangingPunct="1">
                        <a:lnSpc>
                          <a:spcPct val="100000"/>
                        </a:lnSpc>
                        <a:buFont typeface="Arial" panose="020B0604020202020204" pitchFamily="34" charset="0"/>
                        <a:buChar char="•"/>
                      </a:pPr>
                      <a:endParaRPr lang="en-US" sz="1000" b="0" i="0" kern="120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en-US" sz="1000" b="1" i="0" kern="1200" noProof="0">
                          <a:solidFill>
                            <a:schemeClr val="dk1"/>
                          </a:solidFill>
                          <a:effectLst/>
                          <a:latin typeface="+mn-lt"/>
                          <a:ea typeface="+mn-ea"/>
                          <a:cs typeface="+mn-cs"/>
                        </a:rPr>
                        <a:t>Clear context &amp; segmentation</a:t>
                      </a:r>
                    </a:p>
                    <a:p>
                      <a:pPr marL="0" indent="0" algn="l" defTabSz="457184" rtl="0" eaLnBrk="1" fontAlgn="t" latinLnBrk="0" hangingPunct="1">
                        <a:lnSpc>
                          <a:spcPct val="100000"/>
                        </a:lnSpc>
                        <a:buFont typeface="Arial" panose="020B0604020202020204" pitchFamily="34" charset="0"/>
                        <a:buNone/>
                      </a:pPr>
                      <a:r>
                        <a:rPr lang="en-US" sz="1000" b="0" i="0" kern="1200" noProof="0">
                          <a:solidFill>
                            <a:schemeClr val="dk1"/>
                          </a:solidFill>
                          <a:effectLst/>
                          <a:latin typeface="+mn-lt"/>
                          <a:ea typeface="+mn-ea"/>
                          <a:cs typeface="+mn-cs"/>
                        </a:rPr>
                        <a:t>Be explicit to establish relevance.</a:t>
                      </a:r>
                    </a:p>
                    <a:p>
                      <a:pPr marL="171450" indent="-171450" algn="l" defTabSz="457184" rtl="0" eaLnBrk="1" fontAlgn="t" latinLnBrk="0" hangingPunct="1">
                        <a:lnSpc>
                          <a:spcPct val="100000"/>
                        </a:lnSpc>
                        <a:buFont typeface="Arial" panose="020B0604020202020204" pitchFamily="34" charset="0"/>
                        <a:buChar char="•"/>
                      </a:pPr>
                      <a:endParaRPr lang="en-US" sz="1000" b="0" i="0" kern="1200" noProof="0">
                        <a:solidFill>
                          <a:schemeClr val="dk1"/>
                        </a:solidFill>
                        <a:effectLst/>
                        <a:latin typeface="+mn-lt"/>
                        <a:ea typeface="+mn-ea"/>
                        <a:cs typeface="+mn-cs"/>
                      </a:endParaRPr>
                    </a:p>
                    <a:p>
                      <a:pPr marL="171450" indent="-171450" algn="l" defTabSz="457184" rtl="0" eaLnBrk="1" fontAlgn="t" latinLnBrk="0" hangingPunct="1">
                        <a:lnSpc>
                          <a:spcPct val="100000"/>
                        </a:lnSpc>
                        <a:buFont typeface="Arial" panose="020B0604020202020204" pitchFamily="34" charset="0"/>
                        <a:buChar char="•"/>
                      </a:pPr>
                      <a:r>
                        <a:rPr lang="en-US" sz="1000" b="1" i="0" kern="1200" noProof="0">
                          <a:solidFill>
                            <a:schemeClr val="dk1"/>
                          </a:solidFill>
                          <a:effectLst/>
                          <a:latin typeface="+mn-lt"/>
                          <a:ea typeface="+mn-ea"/>
                          <a:cs typeface="+mn-cs"/>
                        </a:rPr>
                        <a:t>Invert the pyramid</a:t>
                      </a:r>
                      <a:endParaRPr lang="pl-PL" sz="1000" b="0" i="0" kern="1200" noProof="0">
                        <a:solidFill>
                          <a:srgbClr val="0A2F24"/>
                        </a:solidFill>
                        <a:effectLst/>
                        <a:latin typeface="+mn-lt"/>
                        <a:ea typeface="+mn-ea"/>
                        <a:cs typeface="+mn-cs"/>
                      </a:endParaRPr>
                    </a:p>
                    <a:p>
                      <a:pPr marL="0" indent="0" algn="l" defTabSz="457184" rtl="0" eaLnBrk="1" fontAlgn="t" latinLnBrk="0" hangingPunct="1">
                        <a:lnSpc>
                          <a:spcPct val="100000"/>
                        </a:lnSpc>
                        <a:buFont typeface="Arial" panose="020B0604020202020204" pitchFamily="34" charset="0"/>
                        <a:buNone/>
                      </a:pPr>
                      <a:r>
                        <a:rPr lang="en-US" sz="1000" b="0" i="0" kern="1200" noProof="0">
                          <a:solidFill>
                            <a:schemeClr val="dk1"/>
                          </a:solidFill>
                          <a:effectLst/>
                          <a:latin typeface="+mn-lt"/>
                          <a:ea typeface="+mn-ea"/>
                          <a:cs typeface="+mn-cs"/>
                        </a:rPr>
                        <a:t>Put the core </a:t>
                      </a:r>
                      <a:r>
                        <a:rPr lang="pl-PL" sz="1000" b="0" i="0" kern="1200" noProof="0">
                          <a:solidFill>
                            <a:schemeClr val="dk1"/>
                          </a:solidFill>
                          <a:effectLst/>
                          <a:latin typeface="+mn-lt"/>
                          <a:ea typeface="+mn-ea"/>
                          <a:cs typeface="+mn-cs"/>
                        </a:rPr>
                        <a:t>message</a:t>
                      </a:r>
                      <a:r>
                        <a:rPr lang="en-US" sz="1000" b="0" i="0" kern="1200" noProof="0">
                          <a:solidFill>
                            <a:schemeClr val="dk1"/>
                          </a:solidFill>
                          <a:effectLst/>
                          <a:latin typeface="+mn-lt"/>
                          <a:ea typeface="+mn-ea"/>
                          <a:cs typeface="+mn-cs"/>
                        </a:rPr>
                        <a:t> at the very top of the page.</a:t>
                      </a:r>
                    </a:p>
                    <a:p>
                      <a:pPr marL="0" lvl="0" algn="l">
                        <a:lnSpc>
                          <a:spcPct val="100000"/>
                        </a:lnSpc>
                        <a:buNone/>
                      </a:pPr>
                      <a:endParaRPr lang="en-US" sz="1000" b="0" i="0" u="none" strike="noStrike" kern="1200" noProof="0">
                        <a:solidFill>
                          <a:schemeClr val="dk1"/>
                        </a:solidFill>
                        <a:effectLst/>
                        <a:latin typeface="Poppins"/>
                        <a:ea typeface="+mn-ea"/>
                        <a:cs typeface="Poppin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4" name="TextBox 3">
            <a:extLst>
              <a:ext uri="{FF2B5EF4-FFF2-40B4-BE49-F238E27FC236}">
                <a16:creationId xmlns:a16="http://schemas.microsoft.com/office/drawing/2014/main" id="{49F263B5-050A-D732-8AC6-3464AB6049B4}"/>
              </a:ext>
            </a:extLst>
          </p:cNvPr>
          <p:cNvSpPr txBox="1"/>
          <p:nvPr/>
        </p:nvSpPr>
        <p:spPr>
          <a:xfrm>
            <a:off x="2371595" y="4318189"/>
            <a:ext cx="4572000" cy="746358"/>
          </a:xfrm>
          <a:prstGeom prst="rect">
            <a:avLst/>
          </a:prstGeom>
          <a:solidFill>
            <a:schemeClr val="tx1"/>
          </a:solidFill>
        </p:spPr>
        <p:txBody>
          <a:bodyPr wrap="square">
            <a:spAutoFit/>
          </a:bodyPr>
          <a:lstStyle/>
          <a:p>
            <a:pPr algn="ctr"/>
            <a:r>
              <a:rPr lang="pl-PL" sz="1100" b="1">
                <a:solidFill>
                  <a:schemeClr val="accent5"/>
                </a:solidFill>
              </a:rPr>
              <a:t>Important: </a:t>
            </a:r>
            <a:r>
              <a:rPr lang="en-US" sz="1100" b="1">
                <a:solidFill>
                  <a:schemeClr val="accent5"/>
                </a:solidFill>
              </a:rPr>
              <a:t>Write for AI‑retrievable layer.</a:t>
            </a:r>
            <a:br>
              <a:rPr lang="en-US" sz="1100">
                <a:solidFill>
                  <a:schemeClr val="accent5"/>
                </a:solidFill>
              </a:rPr>
            </a:br>
            <a:r>
              <a:rPr lang="en-US" sz="1000">
                <a:solidFill>
                  <a:schemeClr val="accent5"/>
                </a:solidFill>
              </a:rPr>
              <a:t>If an AI agent can’t extract a clean, factual answer explaining what the page offers and why it matters, it will surface a competitor instead.</a:t>
            </a:r>
            <a:endParaRPr lang="en-US" sz="1100">
              <a:solidFill>
                <a:schemeClr val="accent5"/>
              </a:solidFill>
            </a:endParaRPr>
          </a:p>
        </p:txBody>
      </p:sp>
    </p:spTree>
    <p:extLst>
      <p:ext uri="{BB962C8B-B14F-4D97-AF65-F5344CB8AC3E}">
        <p14:creationId xmlns:p14="http://schemas.microsoft.com/office/powerpoint/2010/main" val="1248301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7A0F8-EA28-D68A-1058-4A0F7884427E}"/>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C94B5EAC-2850-5C08-5359-FE87C7908E70}"/>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450648C-5D63-FB12-78E7-8554DC592F63}"/>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latin typeface="+mj-lt"/>
                <a:ea typeface="+mj-ea"/>
                <a:cs typeface="Arial"/>
              </a:rPr>
              <a:t>GEO </a:t>
            </a:r>
            <a:r>
              <a:rPr lang="pl-PL" sz="2200">
                <a:solidFill>
                  <a:schemeClr val="accent5"/>
                </a:solidFill>
                <a:latin typeface="+mj-lt"/>
                <a:ea typeface="+mj-ea"/>
                <a:cs typeface="Arial"/>
              </a:rPr>
              <a:t>Principle</a:t>
            </a:r>
            <a:r>
              <a:rPr lang="en-US" sz="2200">
                <a:solidFill>
                  <a:schemeClr val="accent5"/>
                </a:solidFill>
                <a:latin typeface="+mj-lt"/>
                <a:ea typeface="+mj-ea"/>
                <a:cs typeface="Arial"/>
              </a:rPr>
              <a:t>: Direct </a:t>
            </a:r>
            <a:r>
              <a:rPr lang="pl-PL" sz="2200">
                <a:solidFill>
                  <a:schemeClr val="accent5"/>
                </a:solidFill>
                <a:latin typeface="+mj-lt"/>
                <a:ea typeface="+mj-ea"/>
                <a:cs typeface="Arial"/>
              </a:rPr>
              <a:t>A</a:t>
            </a:r>
            <a:r>
              <a:rPr lang="en-US" sz="2200" err="1">
                <a:solidFill>
                  <a:schemeClr val="accent5"/>
                </a:solidFill>
                <a:latin typeface="+mj-lt"/>
                <a:ea typeface="+mj-ea"/>
                <a:cs typeface="Arial"/>
              </a:rPr>
              <a:t>nswer</a:t>
            </a:r>
            <a:r>
              <a:rPr lang="en-US" sz="2200">
                <a:solidFill>
                  <a:schemeClr val="accent5"/>
                </a:solidFill>
                <a:latin typeface="+mj-lt"/>
                <a:ea typeface="+mj-ea"/>
                <a:cs typeface="Arial"/>
              </a:rPr>
              <a:t> </a:t>
            </a:r>
            <a:r>
              <a:rPr lang="pl-PL" sz="2200">
                <a:solidFill>
                  <a:schemeClr val="accent5"/>
                </a:solidFill>
                <a:latin typeface="+mj-lt"/>
                <a:ea typeface="+mj-ea"/>
                <a:cs typeface="Arial"/>
              </a:rPr>
              <a:t>F</a:t>
            </a:r>
            <a:r>
              <a:rPr lang="en-US" sz="2200" err="1">
                <a:solidFill>
                  <a:schemeClr val="accent5"/>
                </a:solidFill>
                <a:latin typeface="+mj-lt"/>
                <a:ea typeface="+mj-ea"/>
                <a:cs typeface="Arial"/>
              </a:rPr>
              <a:t>irst</a:t>
            </a:r>
            <a:r>
              <a:rPr lang="en-US" sz="2200">
                <a:solidFill>
                  <a:schemeClr val="accent5"/>
                </a:solidFill>
                <a:latin typeface="+mj-lt"/>
                <a:ea typeface="+mj-ea"/>
                <a:cs typeface="Arial"/>
              </a:rPr>
              <a:t> vs </a:t>
            </a:r>
            <a:r>
              <a:rPr lang="pl-PL" sz="2200">
                <a:solidFill>
                  <a:schemeClr val="accent5"/>
                </a:solidFill>
                <a:latin typeface="+mj-lt"/>
                <a:ea typeface="+mj-ea"/>
                <a:cs typeface="Arial"/>
              </a:rPr>
              <a:t>N</a:t>
            </a:r>
            <a:r>
              <a:rPr lang="en-US" sz="2200" err="1">
                <a:solidFill>
                  <a:schemeClr val="accent5"/>
                </a:solidFill>
                <a:latin typeface="+mj-lt"/>
                <a:ea typeface="+mj-ea"/>
                <a:cs typeface="Arial"/>
              </a:rPr>
              <a:t>arrative</a:t>
            </a:r>
            <a:r>
              <a:rPr lang="en-US" sz="2200">
                <a:solidFill>
                  <a:schemeClr val="accent5"/>
                </a:solidFill>
                <a:latin typeface="+mj-lt"/>
                <a:ea typeface="+mj-ea"/>
                <a:cs typeface="Arial"/>
              </a:rPr>
              <a:t>‑</a:t>
            </a:r>
            <a:r>
              <a:rPr lang="pl-PL" sz="2200">
                <a:solidFill>
                  <a:schemeClr val="accent5"/>
                </a:solidFill>
                <a:latin typeface="+mj-lt"/>
                <a:ea typeface="+mj-ea"/>
                <a:cs typeface="Arial"/>
              </a:rPr>
              <a:t>F</a:t>
            </a:r>
            <a:r>
              <a:rPr lang="en-US" sz="2200" err="1">
                <a:solidFill>
                  <a:schemeClr val="accent5"/>
                </a:solidFill>
                <a:latin typeface="+mj-lt"/>
                <a:ea typeface="+mj-ea"/>
                <a:cs typeface="Arial"/>
              </a:rPr>
              <a:t>irst</a:t>
            </a:r>
            <a:endParaRPr lang="en-US" sz="2200">
              <a:solidFill>
                <a:schemeClr val="accent5"/>
              </a:solidFill>
              <a:latin typeface="+mj-lt"/>
              <a:ea typeface="+mj-ea"/>
              <a:cs typeface="Arial"/>
            </a:endParaRPr>
          </a:p>
        </p:txBody>
      </p:sp>
      <p:sp>
        <p:nvSpPr>
          <p:cNvPr id="12" name="Text 2">
            <a:extLst>
              <a:ext uri="{FF2B5EF4-FFF2-40B4-BE49-F238E27FC236}">
                <a16:creationId xmlns:a16="http://schemas.microsoft.com/office/drawing/2014/main" id="{E649EEC9-05E1-92BE-DA75-85A0AAC3C5B6}"/>
              </a:ext>
            </a:extLst>
          </p:cNvPr>
          <p:cNvSpPr/>
          <p:nvPr/>
        </p:nvSpPr>
        <p:spPr>
          <a:xfrm>
            <a:off x="342900" y="589788"/>
            <a:ext cx="7886700" cy="274320"/>
          </a:xfrm>
          <a:prstGeom prst="rect">
            <a:avLst/>
          </a:prstGeom>
          <a:noFill/>
          <a:ln/>
        </p:spPr>
        <p:txBody>
          <a:bodyPr wrap="square" lIns="0" tIns="0" rIns="0" bIns="0" rtlCol="0" anchor="ctr"/>
          <a:lstStyle/>
          <a:p>
            <a:r>
              <a:rPr lang="pl-PL" sz="1100" b="1">
                <a:solidFill>
                  <a:schemeClr val="accent5"/>
                </a:solidFill>
                <a:cs typeface="Arial"/>
              </a:rPr>
              <a:t>A</a:t>
            </a:r>
            <a:r>
              <a:rPr lang="en-US" sz="1100" b="1" err="1">
                <a:solidFill>
                  <a:schemeClr val="accent5"/>
                </a:solidFill>
                <a:cs typeface="Arial"/>
              </a:rPr>
              <a:t>nswer</a:t>
            </a:r>
            <a:r>
              <a:rPr lang="en-US" sz="1100" b="1">
                <a:solidFill>
                  <a:schemeClr val="accent5"/>
                </a:solidFill>
                <a:cs typeface="Arial"/>
              </a:rPr>
              <a:t> the user’s question immediately.</a:t>
            </a:r>
          </a:p>
          <a:p>
            <a:r>
              <a:rPr lang="en-US" sz="1100">
                <a:solidFill>
                  <a:schemeClr val="accent5"/>
                </a:solidFill>
                <a:cs typeface="Arial"/>
              </a:rPr>
              <a:t>Do not make users — or AI — read past positioning, vision statements, or marketing copy to find the core answer.</a:t>
            </a:r>
            <a:r>
              <a:rPr lang="pl-PL" sz="1100">
                <a:solidFill>
                  <a:schemeClr val="accent5"/>
                </a:solidFill>
                <a:cs typeface="Arial"/>
              </a:rPr>
              <a:t> </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457D8BF1-C40B-62E9-C920-371B2D5C1E10}"/>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4F88A24-EC34-C9F7-72B2-DE5F88007424}"/>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24</a:t>
            </a:fld>
            <a:endParaRPr lang="en-US">
              <a:solidFill>
                <a:srgbClr val="3DCD58"/>
              </a:solidFill>
            </a:endParaRPr>
          </a:p>
        </p:txBody>
      </p:sp>
      <p:graphicFrame>
        <p:nvGraphicFramePr>
          <p:cNvPr id="3" name="Table 2">
            <a:extLst>
              <a:ext uri="{FF2B5EF4-FFF2-40B4-BE49-F238E27FC236}">
                <a16:creationId xmlns:a16="http://schemas.microsoft.com/office/drawing/2014/main" id="{16C13D4F-3D08-ADE5-5B74-EC9FBF18EAF2}"/>
              </a:ext>
            </a:extLst>
          </p:cNvPr>
          <p:cNvGraphicFramePr>
            <a:graphicFrameLocks noGrp="1"/>
          </p:cNvGraphicFramePr>
          <p:nvPr>
            <p:extLst>
              <p:ext uri="{D42A27DB-BD31-4B8C-83A1-F6EECF244321}">
                <p14:modId xmlns:p14="http://schemas.microsoft.com/office/powerpoint/2010/main" val="1789933282"/>
              </p:ext>
            </p:extLst>
          </p:nvPr>
        </p:nvGraphicFramePr>
        <p:xfrm>
          <a:off x="955964" y="1172677"/>
          <a:ext cx="3294365" cy="1933361"/>
        </p:xfrm>
        <a:graphic>
          <a:graphicData uri="http://schemas.openxmlformats.org/drawingml/2006/table">
            <a:tbl>
              <a:tblPr firstRow="1" bandRow="1">
                <a:tableStyleId>{5C22544A-7EE6-4342-B048-85BDC9FD1C3A}</a:tableStyleId>
              </a:tblPr>
              <a:tblGrid>
                <a:gridCol w="3294365">
                  <a:extLst>
                    <a:ext uri="{9D8B030D-6E8A-4147-A177-3AD203B41FA5}">
                      <a16:colId xmlns:a16="http://schemas.microsoft.com/office/drawing/2014/main" val="1448082525"/>
                    </a:ext>
                  </a:extLst>
                </a:gridCol>
              </a:tblGrid>
              <a:tr h="390157">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b="1">
                          <a:solidFill>
                            <a:schemeClr val="tx1"/>
                          </a:solidFill>
                        </a:rPr>
                        <a:t>Before: </a:t>
                      </a:r>
                      <a:r>
                        <a:rPr lang="en-US" sz="1200" b="1">
                          <a:solidFill>
                            <a:schemeClr val="tx1"/>
                          </a:solidFill>
                        </a:rPr>
                        <a:t>Narrative‑first (SEO/marketing‑led)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1499021">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Transform the way you manage energy with our innovative solutions. As buildings become more complex, organizations need smarter, future‑ready technologies to stay competitive. Our portfolio of advanced platforms helps enterprises drive efficiency, resilience, and sustainability across operations.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B7A9F59A-B4E7-A408-D6CF-9FF66E643720}"/>
              </a:ext>
            </a:extLst>
          </p:cNvPr>
          <p:cNvGraphicFramePr>
            <a:graphicFrameLocks noGrp="1"/>
          </p:cNvGraphicFramePr>
          <p:nvPr>
            <p:extLst>
              <p:ext uri="{D42A27DB-BD31-4B8C-83A1-F6EECF244321}">
                <p14:modId xmlns:p14="http://schemas.microsoft.com/office/powerpoint/2010/main" val="3953533665"/>
              </p:ext>
            </p:extLst>
          </p:nvPr>
        </p:nvGraphicFramePr>
        <p:xfrm>
          <a:off x="4793673" y="1153005"/>
          <a:ext cx="3376598" cy="195303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8210">
                <a:tc>
                  <a:txBody>
                    <a:bodyPr/>
                    <a:lstStyle/>
                    <a:p>
                      <a:pPr algn="ctr"/>
                      <a:r>
                        <a:rPr lang="pl-PL" sz="1200" b="1">
                          <a:solidFill>
                            <a:schemeClr val="accent5"/>
                          </a:solidFill>
                          <a:latin typeface="+mn-lt"/>
                        </a:rPr>
                        <a:t>After: </a:t>
                      </a:r>
                      <a:r>
                        <a:rPr lang="en-US" sz="1200" b="1">
                          <a:solidFill>
                            <a:schemeClr val="accent5"/>
                          </a:solidFill>
                          <a:latin typeface="+mn-lt"/>
                        </a:rPr>
                        <a:t>Direct answer first (GEO‑ready)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1564824">
                <a:tc>
                  <a:txBody>
                    <a:bodyPr/>
                    <a:lstStyle/>
                    <a:p>
                      <a:pPr marL="0" indent="0" algn="l" defTabSz="457184" rtl="0" eaLnBrk="1" fontAlgn="t" latinLnBrk="0" hangingPunct="1">
                        <a:lnSpc>
                          <a:spcPct val="100000"/>
                        </a:lnSpc>
                        <a:buFont typeface="Arial" panose="020B0604020202020204" pitchFamily="34" charset="0"/>
                        <a:buNone/>
                      </a:pPr>
                      <a:r>
                        <a:rPr lang="en-US" sz="1000" b="1" i="0" kern="1200">
                          <a:solidFill>
                            <a:schemeClr val="dk1"/>
                          </a:solidFill>
                          <a:effectLst/>
                          <a:latin typeface="+mn-lt"/>
                          <a:ea typeface="+mn-ea"/>
                          <a:cs typeface="+mn-cs"/>
                        </a:rPr>
                        <a:t>What is an energy management system?</a:t>
                      </a:r>
                      <a:endParaRPr lang="pl-PL" sz="1000" b="1" i="0" kern="1200">
                        <a:solidFill>
                          <a:schemeClr val="dk1"/>
                        </a:solidFill>
                        <a:effectLst/>
                        <a:latin typeface="+mn-lt"/>
                        <a:ea typeface="+mn-ea"/>
                        <a:cs typeface="+mn-cs"/>
                      </a:endParaRPr>
                    </a:p>
                    <a:p>
                      <a:pPr marL="0" indent="0" algn="l" defTabSz="457184" rtl="0" eaLnBrk="1" fontAlgn="t" latinLnBrk="0" hangingPunct="1">
                        <a:lnSpc>
                          <a:spcPct val="100000"/>
                        </a:lnSpc>
                        <a:buFont typeface="Arial" panose="020B0604020202020204" pitchFamily="34" charset="0"/>
                        <a:buNone/>
                      </a:pPr>
                      <a:endParaRPr lang="en-US" sz="1000" b="1" i="0" kern="1200">
                        <a:solidFill>
                          <a:schemeClr val="dk1"/>
                        </a:solidFill>
                        <a:effectLst/>
                        <a:latin typeface="+mn-lt"/>
                        <a:ea typeface="+mn-ea"/>
                        <a:cs typeface="+mn-cs"/>
                      </a:endParaRPr>
                    </a:p>
                    <a:p>
                      <a:pPr marL="0" indent="0" algn="l" defTabSz="457184" rtl="0" eaLnBrk="1" fontAlgn="t" latinLnBrk="0" hangingPunct="1">
                        <a:lnSpc>
                          <a:spcPct val="100000"/>
                        </a:lnSpc>
                        <a:buFont typeface="Arial" panose="020B0604020202020204" pitchFamily="34" charset="0"/>
                        <a:buNone/>
                      </a:pPr>
                      <a:r>
                        <a:rPr lang="en-US" sz="1000" b="0" i="0" kern="1200">
                          <a:solidFill>
                            <a:schemeClr val="dk1"/>
                          </a:solidFill>
                          <a:effectLst/>
                          <a:latin typeface="+mn-lt"/>
                          <a:ea typeface="+mn-ea"/>
                          <a:cs typeface="+mn-cs"/>
                        </a:rPr>
                        <a:t>An energy management system monitors, analyzes, and optimizes energy consumption across buildings or facilities using metering, automation, and analytics to reduce costs and improve efficiency.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4" name="TextBox 3">
            <a:extLst>
              <a:ext uri="{FF2B5EF4-FFF2-40B4-BE49-F238E27FC236}">
                <a16:creationId xmlns:a16="http://schemas.microsoft.com/office/drawing/2014/main" id="{1C06FA33-12F8-007A-9C0F-4DADE1FFDCFF}"/>
              </a:ext>
            </a:extLst>
          </p:cNvPr>
          <p:cNvSpPr txBox="1"/>
          <p:nvPr/>
        </p:nvSpPr>
        <p:spPr>
          <a:xfrm>
            <a:off x="2020003" y="4330574"/>
            <a:ext cx="5616666" cy="415498"/>
          </a:xfrm>
          <a:prstGeom prst="rect">
            <a:avLst/>
          </a:prstGeom>
          <a:solidFill>
            <a:schemeClr val="tx1"/>
          </a:solidFill>
        </p:spPr>
        <p:txBody>
          <a:bodyPr wrap="square">
            <a:spAutoFit/>
          </a:bodyPr>
          <a:lstStyle/>
          <a:p>
            <a:pPr lvl="0" algn="ctr">
              <a:defRPr/>
            </a:pPr>
            <a:r>
              <a:rPr lang="pl-PL" sz="1100" b="1">
                <a:solidFill>
                  <a:schemeClr val="accent5"/>
                </a:solidFill>
              </a:rPr>
              <a:t>Important: </a:t>
            </a:r>
            <a:r>
              <a:rPr lang="en-US" sz="1000">
                <a:solidFill>
                  <a:schemeClr val="accent5"/>
                </a:solidFill>
              </a:rPr>
              <a:t>If the answer is not in the first few lines under each heading., AI will not</a:t>
            </a:r>
            <a:r>
              <a:rPr lang="pl-PL" sz="1000">
                <a:solidFill>
                  <a:schemeClr val="accent5"/>
                </a:solidFill>
              </a:rPr>
              <a:t> </a:t>
            </a:r>
            <a:r>
              <a:rPr lang="en-US" sz="1000">
                <a:solidFill>
                  <a:schemeClr val="accent5"/>
                </a:solidFill>
              </a:rPr>
              <a:t>wait to find it.</a:t>
            </a:r>
            <a:r>
              <a:rPr lang="pl-PL" sz="1000">
                <a:solidFill>
                  <a:schemeClr val="accent5"/>
                </a:solidFill>
                <a:cs typeface="Poppins"/>
              </a:rPr>
              <a:t> </a:t>
            </a:r>
            <a:r>
              <a:rPr lang="en-US" sz="1000">
                <a:solidFill>
                  <a:schemeClr val="accent5"/>
                </a:solidFill>
              </a:rPr>
              <a:t>Put the definition and value up front — explanation can follow</a:t>
            </a:r>
            <a:r>
              <a:rPr lang="en-US" sz="1000" b="1">
                <a:solidFill>
                  <a:schemeClr val="accent5"/>
                </a:solidFill>
              </a:rPr>
              <a:t>.</a:t>
            </a:r>
          </a:p>
        </p:txBody>
      </p:sp>
      <p:sp>
        <p:nvSpPr>
          <p:cNvPr id="2" name="TextBox 1">
            <a:extLst>
              <a:ext uri="{FF2B5EF4-FFF2-40B4-BE49-F238E27FC236}">
                <a16:creationId xmlns:a16="http://schemas.microsoft.com/office/drawing/2014/main" id="{058120E3-6557-8F21-0266-7D2A3BC36317}"/>
              </a:ext>
            </a:extLst>
          </p:cNvPr>
          <p:cNvSpPr txBox="1"/>
          <p:nvPr/>
        </p:nvSpPr>
        <p:spPr>
          <a:xfrm>
            <a:off x="955964" y="3206727"/>
            <a:ext cx="3294365" cy="861774"/>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00000"/>
                </a:solidFill>
                <a:effectLst/>
                <a:uLnTx/>
                <a:uFillTx/>
                <a:latin typeface="Poppins"/>
                <a:ea typeface="+mn-ea"/>
                <a:cs typeface="+mn-cs"/>
              </a:rPr>
              <a:t>Why this </a:t>
            </a:r>
            <a:r>
              <a:rPr lang="pl-PL" sz="1000" b="1">
                <a:solidFill>
                  <a:srgbClr val="C00000"/>
                </a:solidFill>
                <a:latin typeface="Poppins"/>
              </a:rPr>
              <a:t>is not optimized</a:t>
            </a:r>
            <a:r>
              <a:rPr kumimoji="0" lang="en-US" sz="1000" b="1" i="0" u="none" strike="noStrike" kern="1200" cap="none" spc="0" normalizeH="0" baseline="0" noProof="0">
                <a:ln>
                  <a:noFill/>
                </a:ln>
                <a:solidFill>
                  <a:srgbClr val="C00000"/>
                </a:solidFill>
                <a:effectLst/>
                <a:uLnTx/>
                <a:uFillTx/>
                <a:latin typeface="Poppins"/>
                <a:ea typeface="+mn-ea"/>
                <a:cs typeface="+mn-cs"/>
              </a:rPr>
              <a:t> GEO</a:t>
            </a:r>
            <a:r>
              <a:rPr lang="en-US" sz="1000" b="1">
                <a:solidFill>
                  <a:srgbClr val="C00000"/>
                </a:solidFill>
                <a:latin typeface="Poppins"/>
              </a:rPr>
              <a:t>?</a:t>
            </a:r>
            <a:endParaRPr kumimoji="0" lang="en-US" sz="1000" b="1" i="0" u="none" strike="noStrike" kern="1200" cap="none" spc="0" normalizeH="0" baseline="0" noProof="0">
              <a:ln>
                <a:noFill/>
              </a:ln>
              <a:solidFill>
                <a:srgbClr val="C00000"/>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marR="0" lvl="0" indent="-213995" algn="l" defTabSz="457184"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No clear definition of the solution</a:t>
            </a:r>
            <a:endParaRPr lang="en-US" sz="1000" b="0" i="0" u="none" strike="noStrike" kern="1200" cap="none" spc="0" normalizeH="0" baseline="0" noProof="0">
              <a:ln>
                <a:noFill/>
              </a:ln>
              <a:solidFill>
                <a:srgbClr val="0A2F24"/>
              </a:solidFill>
              <a:effectLst/>
              <a:uLnTx/>
              <a:uFillTx/>
              <a:latin typeface="Poppins"/>
              <a:cs typeface="Poppins"/>
            </a:endParaRPr>
          </a:p>
          <a:p>
            <a:pPr marL="213995" marR="0" lvl="0" indent="-213995" algn="l" defTabSz="457184"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Core answer is delayed or missing</a:t>
            </a:r>
            <a:endParaRPr lang="en-US" sz="1000" b="0" i="0" u="none" strike="noStrike" kern="1200" cap="none" spc="0" normalizeH="0" baseline="0" noProof="0">
              <a:ln>
                <a:noFill/>
              </a:ln>
              <a:solidFill>
                <a:srgbClr val="0A2F24"/>
              </a:solidFill>
              <a:effectLst/>
              <a:uLnTx/>
              <a:uFillTx/>
              <a:latin typeface="Poppins"/>
              <a:cs typeface="Poppins"/>
            </a:endParaRPr>
          </a:p>
          <a:p>
            <a:pPr marL="213995" marR="0" lvl="0" indent="-213995" algn="l" defTabSz="457184" rtl="0" eaLnBrk="1" fontAlgn="auto" latinLnBrk="0" hangingPunct="1">
              <a:lnSpc>
                <a:spcPct val="100000"/>
              </a:lnSpc>
              <a:spcBef>
                <a:spcPts val="0"/>
              </a:spcBef>
              <a:spcAft>
                <a:spcPts val="0"/>
              </a:spcAft>
              <a:buClr>
                <a:srgbClr val="C0000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AI cannot extract a concise, factual response</a:t>
            </a:r>
            <a:endParaRPr lang="en-US" sz="1000" b="0" i="0" u="none" strike="noStrike" kern="1200" cap="none" spc="0" normalizeH="0" baseline="0" noProof="0">
              <a:ln>
                <a:noFill/>
              </a:ln>
              <a:solidFill>
                <a:srgbClr val="0A2F24"/>
              </a:solidFill>
              <a:effectLst/>
              <a:uLnTx/>
              <a:uFillTx/>
              <a:latin typeface="Poppins"/>
              <a:cs typeface="Poppins"/>
            </a:endParaRPr>
          </a:p>
        </p:txBody>
      </p:sp>
      <p:sp>
        <p:nvSpPr>
          <p:cNvPr id="7" name="TextBox 6">
            <a:extLst>
              <a:ext uri="{FF2B5EF4-FFF2-40B4-BE49-F238E27FC236}">
                <a16:creationId xmlns:a16="http://schemas.microsoft.com/office/drawing/2014/main" id="{BFEC9661-7737-EDB1-9ADD-1CB746060E12}"/>
              </a:ext>
            </a:extLst>
          </p:cNvPr>
          <p:cNvSpPr txBox="1"/>
          <p:nvPr/>
        </p:nvSpPr>
        <p:spPr>
          <a:xfrm>
            <a:off x="4793673" y="3200969"/>
            <a:ext cx="3376598" cy="1015663"/>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rPr>
              <a:t>Why this works for GEO</a:t>
            </a:r>
            <a:r>
              <a:rPr lang="en-US" sz="1000" b="1">
                <a:solidFill>
                  <a:schemeClr val="tx2">
                    <a:lumMod val="76000"/>
                  </a:schemeClr>
                </a:solidFill>
                <a:latin typeface="Poppins"/>
              </a:rPr>
              <a:t>?</a:t>
            </a:r>
            <a:endPar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The answer is immediate and self‑contained</a:t>
            </a:r>
            <a:endParaRPr lang="en-US" sz="1000" b="0" i="0" u="none" strike="noStrike" kern="1200" cap="none" spc="0" normalizeH="0" baseline="0" noProof="0">
              <a:ln>
                <a:noFill/>
              </a:ln>
              <a:solidFill>
                <a:srgbClr val="0A2F24"/>
              </a:solidFill>
              <a:effectLst/>
              <a:uLnTx/>
              <a:uFillTx/>
              <a:latin typeface="Poppins"/>
              <a:cs typeface="Poppin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Clear definition, audience, and outcome</a:t>
            </a:r>
            <a:endParaRPr lang="en-US" sz="1000" b="0" i="0" u="none" strike="noStrike" kern="1200" cap="none" spc="0" normalizeH="0" baseline="0" noProof="0">
              <a:ln>
                <a:noFill/>
              </a:ln>
              <a:solidFill>
                <a:srgbClr val="0A2F24"/>
              </a:solidFill>
              <a:effectLst/>
              <a:uLnTx/>
              <a:uFillTx/>
              <a:latin typeface="Poppins"/>
              <a:cs typeface="Poppin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AI can confidently extract and reuse the answer</a:t>
            </a:r>
            <a:endParaRPr lang="en-US" sz="1000" b="0" i="0" u="none" strike="noStrike" kern="1200" cap="none" spc="0" normalizeH="0" baseline="0" noProof="0">
              <a:ln>
                <a:noFill/>
              </a:ln>
              <a:solidFill>
                <a:srgbClr val="0A2F24"/>
              </a:solidFill>
              <a:effectLst/>
              <a:uLnTx/>
              <a:uFillTx/>
              <a:latin typeface="Poppins"/>
              <a:cs typeface="Poppins"/>
            </a:endParaRPr>
          </a:p>
        </p:txBody>
      </p:sp>
    </p:spTree>
    <p:extLst>
      <p:ext uri="{BB962C8B-B14F-4D97-AF65-F5344CB8AC3E}">
        <p14:creationId xmlns:p14="http://schemas.microsoft.com/office/powerpoint/2010/main" val="70646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D58FA-A650-5408-19E9-F5658709665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9AD6FF82-6EB2-F799-0AFE-0BA6CAA59F66}"/>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DD0FDE3E-8C12-C007-2A3F-6C659F05D71B}"/>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GEO </a:t>
            </a:r>
            <a:r>
              <a:rPr lang="pl-PL" sz="2200">
                <a:solidFill>
                  <a:schemeClr val="accent5"/>
                </a:solidFill>
                <a:cs typeface="Arial"/>
              </a:rPr>
              <a:t>Principle</a:t>
            </a:r>
            <a:r>
              <a:rPr lang="en-US" sz="2200">
                <a:solidFill>
                  <a:schemeClr val="accent5"/>
                </a:solidFill>
                <a:latin typeface="+mj-lt"/>
                <a:ea typeface="+mj-ea"/>
                <a:cs typeface="Arial"/>
              </a:rPr>
              <a:t>: Fact‑based, extractable vs narrative prose</a:t>
            </a:r>
          </a:p>
        </p:txBody>
      </p:sp>
      <p:sp>
        <p:nvSpPr>
          <p:cNvPr id="12" name="Text 2">
            <a:extLst>
              <a:ext uri="{FF2B5EF4-FFF2-40B4-BE49-F238E27FC236}">
                <a16:creationId xmlns:a16="http://schemas.microsoft.com/office/drawing/2014/main" id="{BFC2589F-1D18-F77F-2451-202917FECC38}"/>
              </a:ext>
            </a:extLst>
          </p:cNvPr>
          <p:cNvSpPr/>
          <p:nvPr/>
        </p:nvSpPr>
        <p:spPr>
          <a:xfrm>
            <a:off x="342900" y="589788"/>
            <a:ext cx="7886700" cy="274320"/>
          </a:xfrm>
          <a:prstGeom prst="rect">
            <a:avLst/>
          </a:prstGeom>
          <a:noFill/>
          <a:ln/>
        </p:spPr>
        <p:txBody>
          <a:bodyPr wrap="square" lIns="0" tIns="0" rIns="0" bIns="0" rtlCol="0" anchor="ctr"/>
          <a:lstStyle/>
          <a:p>
            <a:r>
              <a:rPr lang="pl-PL" sz="1100" b="1">
                <a:solidFill>
                  <a:schemeClr val="accent5"/>
                </a:solidFill>
                <a:cs typeface="Arial"/>
              </a:rPr>
              <a:t>W</a:t>
            </a:r>
            <a:r>
              <a:rPr lang="en-US" sz="1100" b="1">
                <a:solidFill>
                  <a:schemeClr val="accent5"/>
                </a:solidFill>
                <a:cs typeface="Arial"/>
              </a:rPr>
              <a:t>rite in facts, which AI can extract — not prose it has to interpret.</a:t>
            </a:r>
          </a:p>
          <a:p>
            <a:r>
              <a:rPr lang="en-US" sz="1100">
                <a:solidFill>
                  <a:schemeClr val="accent5"/>
                </a:solidFill>
                <a:cs typeface="Arial"/>
              </a:rPr>
              <a:t>AI systems favor structured information (lists, tables, clear statements) over long narrative prose.</a:t>
            </a:r>
            <a:r>
              <a:rPr lang="pl-PL" sz="1100">
                <a:solidFill>
                  <a:schemeClr val="accent5"/>
                </a:solidFill>
                <a:cs typeface="Arial"/>
              </a:rPr>
              <a:t> </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F8C52FF1-490E-B8F7-B61F-E6364FE03831}"/>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CB6F2BE4-4FAB-F2C7-2927-ADFA85372001}"/>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25</a:t>
            </a:fld>
            <a:endParaRPr lang="en-US">
              <a:solidFill>
                <a:srgbClr val="3DCD58"/>
              </a:solidFill>
            </a:endParaRPr>
          </a:p>
        </p:txBody>
      </p:sp>
      <p:graphicFrame>
        <p:nvGraphicFramePr>
          <p:cNvPr id="3" name="Table 2">
            <a:extLst>
              <a:ext uri="{FF2B5EF4-FFF2-40B4-BE49-F238E27FC236}">
                <a16:creationId xmlns:a16="http://schemas.microsoft.com/office/drawing/2014/main" id="{E89EB131-91F0-3DA1-75D0-F3FFFD4F5A0F}"/>
              </a:ext>
            </a:extLst>
          </p:cNvPr>
          <p:cNvGraphicFramePr>
            <a:graphicFrameLocks noGrp="1"/>
          </p:cNvGraphicFramePr>
          <p:nvPr/>
        </p:nvGraphicFramePr>
        <p:xfrm>
          <a:off x="955964" y="1172678"/>
          <a:ext cx="3294365" cy="1678542"/>
        </p:xfrm>
        <a:graphic>
          <a:graphicData uri="http://schemas.openxmlformats.org/drawingml/2006/table">
            <a:tbl>
              <a:tblPr firstRow="1" bandRow="1">
                <a:tableStyleId>{5C22544A-7EE6-4342-B048-85BDC9FD1C3A}</a:tableStyleId>
              </a:tblPr>
              <a:tblGrid>
                <a:gridCol w="3294365">
                  <a:extLst>
                    <a:ext uri="{9D8B030D-6E8A-4147-A177-3AD203B41FA5}">
                      <a16:colId xmlns:a16="http://schemas.microsoft.com/office/drawing/2014/main" val="1448082525"/>
                    </a:ext>
                  </a:extLst>
                </a:gridCol>
              </a:tblGrid>
              <a:tr h="407442">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en-US" sz="1200">
                          <a:solidFill>
                            <a:schemeClr val="tx1"/>
                          </a:solidFill>
                        </a:rPr>
                        <a:t>Before: Narrative prose (hard to extract)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1271100">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Our energy optimization solutions are designed to help organizations improve performance and sustainability. By leveraging advanced technologies and deep domain expertise, businesses can gain better visibility into consumption patterns, identify inefficiencies, and support long‑term operational goals.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D0D61815-CAA8-C94E-CC15-20DE66902A33}"/>
              </a:ext>
            </a:extLst>
          </p:cNvPr>
          <p:cNvGraphicFramePr>
            <a:graphicFrameLocks noGrp="1"/>
          </p:cNvGraphicFramePr>
          <p:nvPr>
            <p:extLst>
              <p:ext uri="{D42A27DB-BD31-4B8C-83A1-F6EECF244321}">
                <p14:modId xmlns:p14="http://schemas.microsoft.com/office/powerpoint/2010/main" val="3291420579"/>
              </p:ext>
            </p:extLst>
          </p:nvPr>
        </p:nvGraphicFramePr>
        <p:xfrm>
          <a:off x="4793673" y="1153004"/>
          <a:ext cx="3376598" cy="1698215"/>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409448">
                <a:tc>
                  <a:txBody>
                    <a:bodyPr/>
                    <a:lstStyle/>
                    <a:p>
                      <a:pPr algn="ctr"/>
                      <a:r>
                        <a:rPr lang="en-US" sz="1200" b="1">
                          <a:solidFill>
                            <a:schemeClr val="accent5"/>
                          </a:solidFill>
                          <a:latin typeface="+mn-lt"/>
                        </a:rPr>
                        <a:t>After: Fact‑based, extractable content </a:t>
                      </a:r>
                      <a:r>
                        <a:rPr lang="en-US" sz="1200" b="0">
                          <a:solidFill>
                            <a:schemeClr val="accent5"/>
                          </a:solidFill>
                          <a:latin typeface="+mn-lt"/>
                        </a:rPr>
                        <a:t>(GEO‑ready)</a:t>
                      </a:r>
                      <a:endParaRPr lang="en-US" sz="1200">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1263875">
                <a:tc>
                  <a:txBody>
                    <a:bodyPr/>
                    <a:lstStyle/>
                    <a:p>
                      <a:pPr marL="0" indent="0" algn="l" defTabSz="457184" rtl="0" eaLnBrk="1" fontAlgn="t" latinLnBrk="0" hangingPunct="1">
                        <a:lnSpc>
                          <a:spcPct val="100000"/>
                        </a:lnSpc>
                        <a:buFont typeface="Arial" panose="020B0604020202020204" pitchFamily="34" charset="0"/>
                        <a:buNone/>
                      </a:pPr>
                      <a:r>
                        <a:rPr lang="en-US" sz="1000" b="1" i="0" kern="1200">
                          <a:solidFill>
                            <a:schemeClr val="dk1"/>
                          </a:solidFill>
                          <a:effectLst/>
                          <a:latin typeface="+mn-lt"/>
                          <a:ea typeface="+mn-ea"/>
                          <a:cs typeface="+mn-cs"/>
                        </a:rPr>
                        <a:t>What does the solution do?</a:t>
                      </a:r>
                    </a:p>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Monitors and optimizes energy consumption across sites</a:t>
                      </a:r>
                    </a:p>
                    <a:p>
                      <a:pPr marL="0" indent="0" algn="l" defTabSz="457184" rtl="0" eaLnBrk="1" fontAlgn="t" latinLnBrk="0" hangingPunct="1">
                        <a:lnSpc>
                          <a:spcPct val="100000"/>
                        </a:lnSpc>
                        <a:buFont typeface="Arial" panose="020B0604020202020204" pitchFamily="34" charset="0"/>
                        <a:buNone/>
                      </a:pPr>
                      <a:endParaRPr lang="en-US" sz="1000" b="0" i="0" kern="1200">
                        <a:solidFill>
                          <a:schemeClr val="dk1"/>
                        </a:solidFill>
                        <a:effectLst/>
                        <a:latin typeface="+mn-lt"/>
                        <a:ea typeface="+mn-ea"/>
                        <a:cs typeface="+mn-cs"/>
                      </a:endParaRPr>
                    </a:p>
                    <a:p>
                      <a:pPr marL="0" indent="0" algn="l" defTabSz="457184" rtl="0" eaLnBrk="1" fontAlgn="t" latinLnBrk="0" hangingPunct="1">
                        <a:lnSpc>
                          <a:spcPct val="100000"/>
                        </a:lnSpc>
                        <a:buFont typeface="Arial" panose="020B0604020202020204" pitchFamily="34" charset="0"/>
                        <a:buNone/>
                      </a:pPr>
                      <a:r>
                        <a:rPr lang="en-US" sz="1000" b="1" i="0" kern="1200">
                          <a:solidFill>
                            <a:schemeClr val="dk1"/>
                          </a:solidFill>
                          <a:effectLst/>
                          <a:latin typeface="+mn-lt"/>
                          <a:ea typeface="+mn-ea"/>
                          <a:cs typeface="+mn-cs"/>
                        </a:rPr>
                        <a:t>What outcome does it deliver?</a:t>
                      </a:r>
                    </a:p>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Lower energy costs and improved efficiency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4" name="TextBox 3">
            <a:extLst>
              <a:ext uri="{FF2B5EF4-FFF2-40B4-BE49-F238E27FC236}">
                <a16:creationId xmlns:a16="http://schemas.microsoft.com/office/drawing/2014/main" id="{A705DA2C-BF4C-5E1D-EA76-9DA37D682076}"/>
              </a:ext>
            </a:extLst>
          </p:cNvPr>
          <p:cNvSpPr txBox="1"/>
          <p:nvPr/>
        </p:nvSpPr>
        <p:spPr>
          <a:xfrm>
            <a:off x="4417265" y="4025394"/>
            <a:ext cx="3105754" cy="877163"/>
          </a:xfrm>
          <a:prstGeom prst="rect">
            <a:avLst/>
          </a:prstGeom>
          <a:solidFill>
            <a:schemeClr val="tx1"/>
          </a:solidFill>
        </p:spPr>
        <p:txBody>
          <a:bodyPr wrap="square">
            <a:spAutoFit/>
          </a:bodyPr>
          <a:lstStyle/>
          <a:p>
            <a:pPr lvl="0" algn="ctr">
              <a:defRPr/>
            </a:pPr>
            <a:r>
              <a:rPr lang="pl-PL" sz="1100" b="1">
                <a:solidFill>
                  <a:schemeClr val="accent5"/>
                </a:solidFill>
              </a:rPr>
              <a:t>Important: </a:t>
            </a:r>
            <a:r>
              <a:rPr lang="en-US" sz="1000" b="1">
                <a:solidFill>
                  <a:schemeClr val="accent5"/>
                </a:solidFill>
              </a:rPr>
              <a:t>If information cannot be broken into facts, AI cannot reuse it.</a:t>
            </a:r>
            <a:endParaRPr lang="en-US" sz="1000" b="1">
              <a:solidFill>
                <a:schemeClr val="accent5"/>
              </a:solidFill>
              <a:cs typeface="Poppins"/>
            </a:endParaRPr>
          </a:p>
          <a:p>
            <a:pPr lvl="0" algn="ctr">
              <a:defRPr/>
            </a:pPr>
            <a:r>
              <a:rPr lang="en-US" sz="1000" b="1">
                <a:solidFill>
                  <a:schemeClr val="accent5"/>
                </a:solidFill>
              </a:rPr>
              <a:t>Use lists, tables, and clear statements so answers can be extracted without interpretation.</a:t>
            </a:r>
          </a:p>
        </p:txBody>
      </p:sp>
      <p:sp>
        <p:nvSpPr>
          <p:cNvPr id="2" name="TextBox 1">
            <a:extLst>
              <a:ext uri="{FF2B5EF4-FFF2-40B4-BE49-F238E27FC236}">
                <a16:creationId xmlns:a16="http://schemas.microsoft.com/office/drawing/2014/main" id="{597A5508-2488-8021-26E2-2D51AE04D7B1}"/>
              </a:ext>
            </a:extLst>
          </p:cNvPr>
          <p:cNvSpPr txBox="1"/>
          <p:nvPr/>
        </p:nvSpPr>
        <p:spPr>
          <a:xfrm>
            <a:off x="947104" y="2837652"/>
            <a:ext cx="3294366" cy="1785104"/>
          </a:xfrm>
          <a:prstGeom prst="rect">
            <a:avLst/>
          </a:prstGeom>
          <a:noFill/>
        </p:spPr>
        <p:txBody>
          <a:bodyPr wrap="square" lIns="91440" tIns="45720" rIns="91440" bIns="45720" anchor="t">
            <a:spAutoFit/>
          </a:bodyPr>
          <a:lstStyle/>
          <a:p>
            <a:pPr lvl="0">
              <a:defRPr/>
            </a:pPr>
            <a:r>
              <a:rPr kumimoji="0" lang="en-US" sz="1000" b="1" i="0" u="none" strike="noStrike" kern="1200" cap="none" spc="0" normalizeH="0" baseline="0" noProof="0">
                <a:ln>
                  <a:noFill/>
                </a:ln>
                <a:solidFill>
                  <a:srgbClr val="C00000"/>
                </a:solidFill>
                <a:effectLst/>
                <a:uLnTx/>
                <a:uFillTx/>
                <a:latin typeface="Poppins"/>
                <a:ea typeface="+mn-ea"/>
                <a:cs typeface="+mn-cs"/>
              </a:rPr>
              <a:t>Why this </a:t>
            </a:r>
            <a:r>
              <a:rPr lang="pl-PL" sz="1000" b="1">
                <a:solidFill>
                  <a:srgbClr val="C00000"/>
                </a:solidFill>
              </a:rPr>
              <a:t>is not optimized</a:t>
            </a:r>
            <a:r>
              <a:rPr kumimoji="0" lang="en-US" sz="1000" b="1" i="0" u="none" strike="noStrike" kern="1200" cap="none" spc="0" normalizeH="0" baseline="0" noProof="0">
                <a:ln>
                  <a:noFill/>
                </a:ln>
                <a:solidFill>
                  <a:srgbClr val="C00000"/>
                </a:solidFill>
                <a:effectLst/>
                <a:uLnTx/>
                <a:uFillTx/>
                <a:latin typeface="Poppins"/>
                <a:ea typeface="+mn-ea"/>
                <a:cs typeface="+mn-cs"/>
              </a:rPr>
              <a:t> for GEO</a:t>
            </a:r>
            <a:r>
              <a:rPr lang="en-US" sz="1000" b="1">
                <a:solidFill>
                  <a:srgbClr val="C00000"/>
                </a:solidFill>
                <a:latin typeface="Poppins"/>
              </a:rPr>
              <a:t>?</a:t>
            </a:r>
            <a:endParaRPr kumimoji="0" lang="en-US" sz="1000" b="1" i="0" u="none" strike="noStrike" kern="1200" cap="none" spc="0" normalizeH="0" baseline="0" noProof="0">
              <a:ln>
                <a:noFill/>
              </a:ln>
              <a:solidFill>
                <a:srgbClr val="C00000"/>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lvl="0" indent="-213995">
              <a:buClr>
                <a:srgbClr val="C00000"/>
              </a:buClr>
              <a:buFont typeface="Arial" panose="020B0604020202020204" pitchFamily="34" charset="0"/>
              <a:buChar char="•"/>
              <a:defRPr/>
            </a:pPr>
            <a:r>
              <a:rPr lang="en-US" sz="1000">
                <a:solidFill>
                  <a:srgbClr val="0A2F24"/>
                </a:solidFill>
              </a:rPr>
              <a:t>“designed to help” describes </a:t>
            </a:r>
            <a:r>
              <a:rPr lang="en-US" sz="1000" b="1">
                <a:solidFill>
                  <a:srgbClr val="0A2F24"/>
                </a:solidFill>
              </a:rPr>
              <a:t>intent,</a:t>
            </a:r>
            <a:r>
              <a:rPr lang="en-US" sz="1000">
                <a:solidFill>
                  <a:srgbClr val="0A2F24"/>
                </a:solidFill>
              </a:rPr>
              <a:t> not </a:t>
            </a:r>
            <a:r>
              <a:rPr lang="en-US" sz="1000" b="1">
                <a:solidFill>
                  <a:srgbClr val="0A2F24"/>
                </a:solidFill>
              </a:rPr>
              <a:t>function</a:t>
            </a:r>
          </a:p>
          <a:p>
            <a:pPr marL="213995" lvl="0" indent="-213995">
              <a:buClr>
                <a:srgbClr val="C00000"/>
              </a:buClr>
              <a:buFont typeface="Arial" panose="020B0604020202020204" pitchFamily="34" charset="0"/>
              <a:buChar char="•"/>
              <a:defRPr/>
            </a:pPr>
            <a:r>
              <a:rPr lang="en-US" sz="1000">
                <a:solidFill>
                  <a:srgbClr val="0A2F24"/>
                </a:solidFill>
              </a:rPr>
              <a:t>“leveraging advanced technologies and deep domain expertise” is </a:t>
            </a:r>
            <a:r>
              <a:rPr lang="en-US" sz="1000" b="1">
                <a:solidFill>
                  <a:srgbClr val="0A2F24"/>
                </a:solidFill>
              </a:rPr>
              <a:t>classic marketing abstraction</a:t>
            </a:r>
          </a:p>
          <a:p>
            <a:pPr marL="213995" lvl="0" indent="-213995">
              <a:buClr>
                <a:srgbClr val="C00000"/>
              </a:buClr>
              <a:buFont typeface="Arial" panose="020B0604020202020204" pitchFamily="34" charset="0"/>
              <a:buChar char="•"/>
              <a:defRPr/>
            </a:pPr>
            <a:r>
              <a:rPr lang="en-US" sz="1000">
                <a:solidFill>
                  <a:srgbClr val="0A2F24"/>
                </a:solidFill>
              </a:rPr>
              <a:t>“businesses can gain better visibility…” </a:t>
            </a:r>
            <a:r>
              <a:rPr lang="en-US" sz="1000" b="1">
                <a:solidFill>
                  <a:srgbClr val="0A2F24"/>
                </a:solidFill>
              </a:rPr>
              <a:t>outcomes are implied, not owned </a:t>
            </a:r>
            <a:r>
              <a:rPr lang="en-US" sz="1000">
                <a:solidFill>
                  <a:srgbClr val="0A2F24"/>
                </a:solidFill>
              </a:rPr>
              <a:t>by the solution</a:t>
            </a:r>
          </a:p>
          <a:p>
            <a:pPr marL="213995" lvl="0" indent="-213995">
              <a:buClr>
                <a:srgbClr val="C00000"/>
              </a:buClr>
              <a:buFont typeface="Arial" panose="020B0604020202020204" pitchFamily="34" charset="0"/>
              <a:buChar char="•"/>
              <a:defRPr/>
            </a:pPr>
            <a:r>
              <a:rPr lang="en-US" sz="1000" b="1">
                <a:solidFill>
                  <a:srgbClr val="0A2F24"/>
                </a:solidFill>
              </a:rPr>
              <a:t>No atomic fact </a:t>
            </a:r>
            <a:r>
              <a:rPr lang="en-US" sz="1000">
                <a:solidFill>
                  <a:srgbClr val="0A2F24"/>
                </a:solidFill>
              </a:rPr>
              <a:t>on what does the solution do.</a:t>
            </a:r>
            <a:endParaRPr lang="en-US" sz="1000">
              <a:solidFill>
                <a:srgbClr val="0A2F24"/>
              </a:solidFill>
              <a:cs typeface="Poppins"/>
            </a:endParaRPr>
          </a:p>
        </p:txBody>
      </p:sp>
      <p:sp>
        <p:nvSpPr>
          <p:cNvPr id="7" name="TextBox 6">
            <a:extLst>
              <a:ext uri="{FF2B5EF4-FFF2-40B4-BE49-F238E27FC236}">
                <a16:creationId xmlns:a16="http://schemas.microsoft.com/office/drawing/2014/main" id="{BF80B5B2-E555-8823-EDF1-3411547CCD36}"/>
              </a:ext>
            </a:extLst>
          </p:cNvPr>
          <p:cNvSpPr txBox="1"/>
          <p:nvPr/>
        </p:nvSpPr>
        <p:spPr>
          <a:xfrm>
            <a:off x="4793673" y="2851219"/>
            <a:ext cx="3376598" cy="1169551"/>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rPr>
              <a:t>Why this works for GEO</a:t>
            </a:r>
            <a:r>
              <a:rPr lang="en-US" sz="1000" b="1">
                <a:solidFill>
                  <a:schemeClr val="tx2">
                    <a:lumMod val="76000"/>
                  </a:schemeClr>
                </a:solidFill>
                <a:latin typeface="Poppins"/>
              </a:rPr>
              <a:t>?</a:t>
            </a:r>
            <a:endPar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Capabilities are explicit​</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Information is structured into extractable units​</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Outcomes are owned by the solution​</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AI can confidently summarize and reuse the content</a:t>
            </a:r>
            <a:endParaRPr lang="en-US" sz="1000" b="0" i="0" u="none" strike="noStrike" kern="1200" cap="none" spc="0" normalizeH="0" baseline="0" noProof="0">
              <a:ln>
                <a:noFill/>
              </a:ln>
              <a:solidFill>
                <a:srgbClr val="0A2F24"/>
              </a:solidFill>
              <a:effectLst/>
              <a:uLnTx/>
              <a:uFillTx/>
              <a:latin typeface="Poppins"/>
              <a:cs typeface="Poppins"/>
            </a:endParaRPr>
          </a:p>
        </p:txBody>
      </p:sp>
    </p:spTree>
    <p:extLst>
      <p:ext uri="{BB962C8B-B14F-4D97-AF65-F5344CB8AC3E}">
        <p14:creationId xmlns:p14="http://schemas.microsoft.com/office/powerpoint/2010/main" val="2674876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9A6E3-D590-64E7-E14E-55EA7BAA5127}"/>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B379700D-E194-DDFF-FA83-665804A027D8}"/>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315B2DDD-85D0-4D44-B5F7-7BF4199BB45F}"/>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GEO </a:t>
            </a:r>
            <a:r>
              <a:rPr lang="pl-PL" sz="2200">
                <a:solidFill>
                  <a:schemeClr val="accent5"/>
                </a:solidFill>
                <a:cs typeface="Arial"/>
              </a:rPr>
              <a:t>Principle</a:t>
            </a:r>
            <a:r>
              <a:rPr lang="en-US" sz="2200">
                <a:solidFill>
                  <a:schemeClr val="accent5"/>
                </a:solidFill>
                <a:cs typeface="Arial"/>
              </a:rPr>
              <a:t>: Outcome‑led </a:t>
            </a:r>
            <a:r>
              <a:rPr lang="pl-PL" sz="2200">
                <a:solidFill>
                  <a:schemeClr val="accent5"/>
                </a:solidFill>
                <a:cs typeface="Arial"/>
              </a:rPr>
              <a:t>C</a:t>
            </a:r>
            <a:r>
              <a:rPr lang="en-US" sz="2200" err="1">
                <a:solidFill>
                  <a:schemeClr val="accent5"/>
                </a:solidFill>
                <a:cs typeface="Arial"/>
              </a:rPr>
              <a:t>larity</a:t>
            </a:r>
            <a:endParaRPr lang="en-US" sz="2200">
              <a:solidFill>
                <a:schemeClr val="accent5"/>
              </a:solidFill>
              <a:cs typeface="Arial"/>
            </a:endParaRPr>
          </a:p>
        </p:txBody>
      </p:sp>
      <p:sp>
        <p:nvSpPr>
          <p:cNvPr id="12" name="Text 2">
            <a:extLst>
              <a:ext uri="{FF2B5EF4-FFF2-40B4-BE49-F238E27FC236}">
                <a16:creationId xmlns:a16="http://schemas.microsoft.com/office/drawing/2014/main" id="{44DE4A84-DD9F-A944-7934-C345AEE14FA7}"/>
              </a:ext>
            </a:extLst>
          </p:cNvPr>
          <p:cNvSpPr/>
          <p:nvPr/>
        </p:nvSpPr>
        <p:spPr>
          <a:xfrm>
            <a:off x="342900" y="589788"/>
            <a:ext cx="7886700" cy="274320"/>
          </a:xfrm>
          <a:prstGeom prst="rect">
            <a:avLst/>
          </a:prstGeom>
          <a:noFill/>
          <a:ln/>
        </p:spPr>
        <p:txBody>
          <a:bodyPr wrap="square" lIns="0" tIns="0" rIns="0" bIns="0" rtlCol="0" anchor="ctr"/>
          <a:lstStyle/>
          <a:p>
            <a:r>
              <a:rPr lang="en-US" sz="1100" b="1">
                <a:solidFill>
                  <a:schemeClr val="accent5"/>
                </a:solidFill>
                <a:cs typeface="Arial"/>
              </a:rPr>
              <a:t>State outcomes explicitly — do not assume the value is obvious.</a:t>
            </a:r>
          </a:p>
          <a:p>
            <a:r>
              <a:rPr lang="en-US" sz="1100">
                <a:solidFill>
                  <a:schemeClr val="accent5"/>
                </a:solidFill>
                <a:cs typeface="Arial"/>
              </a:rPr>
              <a:t>AI systems need concrete results they can summarize and recommend, not vague benefit statements.</a:t>
            </a:r>
          </a:p>
        </p:txBody>
      </p:sp>
      <p:sp>
        <p:nvSpPr>
          <p:cNvPr id="5" name="Footer Placeholder 4">
            <a:extLst>
              <a:ext uri="{FF2B5EF4-FFF2-40B4-BE49-F238E27FC236}">
                <a16:creationId xmlns:a16="http://schemas.microsoft.com/office/drawing/2014/main" id="{C6835215-BFD9-910E-5855-38247CD14C99}"/>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9BF3CF41-0C58-BDBB-B47F-F9EF4BE190AD}"/>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26</a:t>
            </a:fld>
            <a:endParaRPr lang="en-US">
              <a:solidFill>
                <a:srgbClr val="3DCD58"/>
              </a:solidFill>
            </a:endParaRPr>
          </a:p>
        </p:txBody>
      </p:sp>
      <p:graphicFrame>
        <p:nvGraphicFramePr>
          <p:cNvPr id="3" name="Table 2">
            <a:extLst>
              <a:ext uri="{FF2B5EF4-FFF2-40B4-BE49-F238E27FC236}">
                <a16:creationId xmlns:a16="http://schemas.microsoft.com/office/drawing/2014/main" id="{53BC4757-5FB3-5AB8-77CC-80C0224FC492}"/>
              </a:ext>
            </a:extLst>
          </p:cNvPr>
          <p:cNvGraphicFramePr>
            <a:graphicFrameLocks noGrp="1"/>
          </p:cNvGraphicFramePr>
          <p:nvPr/>
        </p:nvGraphicFramePr>
        <p:xfrm>
          <a:off x="955964" y="1172677"/>
          <a:ext cx="3294365" cy="1485470"/>
        </p:xfrm>
        <a:graphic>
          <a:graphicData uri="http://schemas.openxmlformats.org/drawingml/2006/table">
            <a:tbl>
              <a:tblPr firstRow="1" bandRow="1">
                <a:tableStyleId>{5C22544A-7EE6-4342-B048-85BDC9FD1C3A}</a:tableStyleId>
              </a:tblPr>
              <a:tblGrid>
                <a:gridCol w="3294365">
                  <a:extLst>
                    <a:ext uri="{9D8B030D-6E8A-4147-A177-3AD203B41FA5}">
                      <a16:colId xmlns:a16="http://schemas.microsoft.com/office/drawing/2014/main" val="1448082525"/>
                    </a:ext>
                  </a:extLst>
                </a:gridCol>
              </a:tblGrid>
              <a:tr h="347943">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a:t>
                      </a:r>
                      <a:r>
                        <a:rPr lang="en-US" sz="1200">
                          <a:solidFill>
                            <a:schemeClr val="tx1"/>
                          </a:solidFill>
                        </a:rPr>
                        <a:t>Generic value statements (hard to reuse)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1051130">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Our solutions help organizations improve efficiency, sustainability, and performance across operations.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DAC593B7-672B-BAB3-E0F6-8F446EE57557}"/>
              </a:ext>
            </a:extLst>
          </p:cNvPr>
          <p:cNvGraphicFramePr>
            <a:graphicFrameLocks noGrp="1"/>
          </p:cNvGraphicFramePr>
          <p:nvPr>
            <p:extLst>
              <p:ext uri="{D42A27DB-BD31-4B8C-83A1-F6EECF244321}">
                <p14:modId xmlns:p14="http://schemas.microsoft.com/office/powerpoint/2010/main" val="3371994091"/>
              </p:ext>
            </p:extLst>
          </p:nvPr>
        </p:nvGraphicFramePr>
        <p:xfrm>
          <a:off x="4793673" y="1172677"/>
          <a:ext cx="3376598" cy="150476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415046">
                <a:tc>
                  <a:txBody>
                    <a:bodyPr/>
                    <a:lstStyle/>
                    <a:p>
                      <a:pPr algn="ctr"/>
                      <a:r>
                        <a:rPr lang="en-US" sz="1200" b="1">
                          <a:solidFill>
                            <a:schemeClr val="accent5"/>
                          </a:solidFill>
                          <a:latin typeface="+mn-lt"/>
                        </a:rPr>
                        <a:t>After: Outcome‑led, specific results </a:t>
                      </a:r>
                      <a:r>
                        <a:rPr lang="en-US" sz="1200" b="0">
                          <a:solidFill>
                            <a:schemeClr val="accent5"/>
                          </a:solidFill>
                          <a:latin typeface="+mn-lt"/>
                        </a:rPr>
                        <a:t>(GEO‑ready)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1070424">
                <a:tc>
                  <a:txBody>
                    <a:bodyPr/>
                    <a:lstStyle/>
                    <a:p>
                      <a:pPr marL="0" indent="0" algn="l" defTabSz="457184" rtl="0" eaLnBrk="1" fontAlgn="t" latinLnBrk="0" hangingPunct="1">
                        <a:lnSpc>
                          <a:spcPct val="100000"/>
                        </a:lnSpc>
                        <a:buFont typeface="Arial" panose="020B0604020202020204" pitchFamily="34" charset="0"/>
                        <a:buNone/>
                      </a:pPr>
                      <a:r>
                        <a:rPr lang="en-US" sz="1000" b="1" i="0" kern="1200">
                          <a:solidFill>
                            <a:schemeClr val="dk1"/>
                          </a:solidFill>
                          <a:effectLst/>
                          <a:latin typeface="+mn-lt"/>
                          <a:ea typeface="+mn-ea"/>
                          <a:cs typeface="+mn-cs"/>
                        </a:rPr>
                        <a:t>What outcomes does this deliver?</a:t>
                      </a:r>
                    </a:p>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Reduces energy costs across commercial sites</a:t>
                      </a:r>
                    </a:p>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Improves operational efficiency through usage optimization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4" name="TextBox 3">
            <a:extLst>
              <a:ext uri="{FF2B5EF4-FFF2-40B4-BE49-F238E27FC236}">
                <a16:creationId xmlns:a16="http://schemas.microsoft.com/office/drawing/2014/main" id="{3C296B37-131F-AF1D-BDAF-BBDB757FA141}"/>
              </a:ext>
            </a:extLst>
          </p:cNvPr>
          <p:cNvSpPr txBox="1"/>
          <p:nvPr/>
        </p:nvSpPr>
        <p:spPr>
          <a:xfrm>
            <a:off x="2208066" y="4249352"/>
            <a:ext cx="4627419" cy="430887"/>
          </a:xfrm>
          <a:prstGeom prst="rect">
            <a:avLst/>
          </a:prstGeom>
          <a:solidFill>
            <a:schemeClr val="tx1"/>
          </a:solidFill>
        </p:spPr>
        <p:txBody>
          <a:bodyPr wrap="square">
            <a:spAutoFit/>
          </a:bodyPr>
          <a:lstStyle/>
          <a:p>
            <a:pPr lvl="0" algn="ctr">
              <a:defRPr/>
            </a:pPr>
            <a:r>
              <a:rPr lang="pl-PL" sz="1100" b="1">
                <a:solidFill>
                  <a:schemeClr val="accent5"/>
                </a:solidFill>
              </a:rPr>
              <a:t>Important: </a:t>
            </a:r>
            <a:r>
              <a:rPr lang="en-US" sz="1000">
                <a:solidFill>
                  <a:schemeClr val="accent5"/>
                </a:solidFill>
              </a:rPr>
              <a:t>If outcomes are not clear, AI cannot judge relevance.</a:t>
            </a:r>
          </a:p>
          <a:p>
            <a:pPr lvl="0" algn="ctr">
              <a:defRPr/>
            </a:pPr>
            <a:r>
              <a:rPr lang="en-US" sz="1000">
                <a:solidFill>
                  <a:schemeClr val="accent5"/>
                </a:solidFill>
              </a:rPr>
              <a:t>State specific results so AI knows when to surface your content</a:t>
            </a:r>
            <a:r>
              <a:rPr lang="en-US" sz="1100">
                <a:solidFill>
                  <a:schemeClr val="accent5"/>
                </a:solidFill>
              </a:rPr>
              <a:t>.</a:t>
            </a:r>
          </a:p>
        </p:txBody>
      </p:sp>
      <p:sp>
        <p:nvSpPr>
          <p:cNvPr id="2" name="TextBox 1">
            <a:extLst>
              <a:ext uri="{FF2B5EF4-FFF2-40B4-BE49-F238E27FC236}">
                <a16:creationId xmlns:a16="http://schemas.microsoft.com/office/drawing/2014/main" id="{52AFD88D-1E15-0C3D-B858-744FA8D9305C}"/>
              </a:ext>
            </a:extLst>
          </p:cNvPr>
          <p:cNvSpPr txBox="1"/>
          <p:nvPr/>
        </p:nvSpPr>
        <p:spPr>
          <a:xfrm>
            <a:off x="947104" y="2837652"/>
            <a:ext cx="3294366" cy="1015663"/>
          </a:xfrm>
          <a:prstGeom prst="rect">
            <a:avLst/>
          </a:prstGeom>
          <a:noFill/>
        </p:spPr>
        <p:txBody>
          <a:bodyPr wrap="square" lIns="91440" tIns="45720" rIns="91440" bIns="45720" anchor="t">
            <a:spAutoFit/>
          </a:bodyPr>
          <a:lstStyle/>
          <a:p>
            <a:pPr lvl="0">
              <a:defRPr/>
            </a:pPr>
            <a:r>
              <a:rPr kumimoji="0" lang="en-US" sz="1000" b="1" i="0" u="none" strike="noStrike" kern="1200" cap="none" spc="0" normalizeH="0" baseline="0" noProof="0">
                <a:ln>
                  <a:noFill/>
                </a:ln>
                <a:solidFill>
                  <a:srgbClr val="C00000"/>
                </a:solidFill>
                <a:effectLst/>
                <a:uLnTx/>
                <a:uFillTx/>
                <a:latin typeface="Poppins"/>
                <a:ea typeface="+mn-ea"/>
                <a:cs typeface="+mn-cs"/>
              </a:rPr>
              <a:t>Why this </a:t>
            </a:r>
            <a:r>
              <a:rPr lang="pl-PL" sz="1000" b="1">
                <a:solidFill>
                  <a:srgbClr val="C00000"/>
                </a:solidFill>
              </a:rPr>
              <a:t>is not optimized</a:t>
            </a:r>
            <a:r>
              <a:rPr kumimoji="0" lang="en-US" sz="1000" b="1" i="0" u="none" strike="noStrike" kern="1200" cap="none" spc="0" normalizeH="0" baseline="0" noProof="0">
                <a:ln>
                  <a:noFill/>
                </a:ln>
                <a:solidFill>
                  <a:srgbClr val="C00000"/>
                </a:solidFill>
                <a:effectLst/>
                <a:uLnTx/>
                <a:uFillTx/>
                <a:latin typeface="Poppins"/>
                <a:ea typeface="+mn-ea"/>
                <a:cs typeface="+mn-cs"/>
              </a:rPr>
              <a:t> for GEO</a:t>
            </a:r>
            <a:r>
              <a:rPr lang="en-US" sz="1000" b="1">
                <a:solidFill>
                  <a:srgbClr val="C00000"/>
                </a:solidFill>
                <a:latin typeface="Poppins"/>
              </a:rPr>
              <a:t>?</a:t>
            </a:r>
            <a:endParaRPr kumimoji="0" lang="en-US" sz="1000" b="1" i="0" u="none" strike="noStrike" kern="1200" cap="none" spc="0" normalizeH="0" baseline="0" noProof="0">
              <a:ln>
                <a:noFill/>
              </a:ln>
              <a:solidFill>
                <a:srgbClr val="C00000"/>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lvl="0" indent="-213995">
              <a:buClr>
                <a:srgbClr val="C00000"/>
              </a:buClr>
              <a:buFont typeface="Arial" panose="020B0604020202020204" pitchFamily="34" charset="0"/>
              <a:buChar char="•"/>
              <a:defRPr/>
            </a:pPr>
            <a:r>
              <a:rPr lang="en-US" sz="1000">
                <a:solidFill>
                  <a:srgbClr val="0A2F24"/>
                </a:solidFill>
              </a:rPr>
              <a:t>Benefits are broad and interchangeable</a:t>
            </a:r>
          </a:p>
          <a:p>
            <a:pPr marL="213995" lvl="0" indent="-213995">
              <a:buClr>
                <a:srgbClr val="C00000"/>
              </a:buClr>
              <a:buFont typeface="Arial" panose="020B0604020202020204" pitchFamily="34" charset="0"/>
              <a:buChar char="•"/>
              <a:defRPr/>
            </a:pPr>
            <a:r>
              <a:rPr lang="en-US" sz="1000">
                <a:solidFill>
                  <a:srgbClr val="0A2F24"/>
                </a:solidFill>
              </a:rPr>
              <a:t>No measurable or specific outcome</a:t>
            </a:r>
          </a:p>
          <a:p>
            <a:pPr marL="213995" lvl="0" indent="-213995">
              <a:buClr>
                <a:srgbClr val="C00000"/>
              </a:buClr>
              <a:buFont typeface="Arial" panose="020B0604020202020204" pitchFamily="34" charset="0"/>
              <a:buChar char="•"/>
              <a:defRPr/>
            </a:pPr>
            <a:r>
              <a:rPr lang="en-US" sz="1000">
                <a:solidFill>
                  <a:srgbClr val="0A2F24"/>
                </a:solidFill>
              </a:rPr>
              <a:t>AI cannot determine why or when to recommend this content</a:t>
            </a:r>
            <a:endParaRPr lang="en-US" sz="1000">
              <a:solidFill>
                <a:srgbClr val="0A2F24"/>
              </a:solidFill>
              <a:cs typeface="Poppins"/>
            </a:endParaRPr>
          </a:p>
        </p:txBody>
      </p:sp>
      <p:sp>
        <p:nvSpPr>
          <p:cNvPr id="7" name="TextBox 6">
            <a:extLst>
              <a:ext uri="{FF2B5EF4-FFF2-40B4-BE49-F238E27FC236}">
                <a16:creationId xmlns:a16="http://schemas.microsoft.com/office/drawing/2014/main" id="{B2E89AE9-40D9-1940-9EA1-D40CA4A11EB5}"/>
              </a:ext>
            </a:extLst>
          </p:cNvPr>
          <p:cNvSpPr txBox="1"/>
          <p:nvPr/>
        </p:nvSpPr>
        <p:spPr>
          <a:xfrm>
            <a:off x="4793673" y="2851219"/>
            <a:ext cx="3376598" cy="1015663"/>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rPr>
              <a:t>Why this works for GEO</a:t>
            </a:r>
            <a:r>
              <a:rPr lang="en-US" sz="1000" b="1">
                <a:solidFill>
                  <a:schemeClr val="tx2">
                    <a:lumMod val="76000"/>
                  </a:schemeClr>
                </a:solidFill>
                <a:latin typeface="Poppins"/>
              </a:rPr>
              <a:t>?</a:t>
            </a:r>
            <a:endPar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Outcomes are explicit and concrete</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Value is clear without additional context</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AI can confidently match outcomes to user intent</a:t>
            </a:r>
          </a:p>
        </p:txBody>
      </p:sp>
    </p:spTree>
    <p:extLst>
      <p:ext uri="{BB962C8B-B14F-4D97-AF65-F5344CB8AC3E}">
        <p14:creationId xmlns:p14="http://schemas.microsoft.com/office/powerpoint/2010/main" val="1014801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8FEC-5F02-6721-A1AE-216335F25523}"/>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C031169B-85C7-FB60-D9D0-FDD7CF287E13}"/>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9E666BDC-BB35-BE01-2427-C89B29825F79}"/>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GEO </a:t>
            </a:r>
            <a:r>
              <a:rPr lang="pl-PL" sz="2200">
                <a:solidFill>
                  <a:schemeClr val="accent5"/>
                </a:solidFill>
                <a:cs typeface="Arial"/>
              </a:rPr>
              <a:t>Principle</a:t>
            </a:r>
            <a:r>
              <a:rPr lang="en-US" sz="2200">
                <a:solidFill>
                  <a:schemeClr val="accent5"/>
                </a:solidFill>
                <a:cs typeface="Arial"/>
              </a:rPr>
              <a:t>: Clear </a:t>
            </a:r>
            <a:r>
              <a:rPr lang="pl-PL" sz="2200">
                <a:solidFill>
                  <a:schemeClr val="accent5"/>
                </a:solidFill>
                <a:cs typeface="Arial"/>
              </a:rPr>
              <a:t>C</a:t>
            </a:r>
            <a:r>
              <a:rPr lang="en-US" sz="2200" err="1">
                <a:solidFill>
                  <a:schemeClr val="accent5"/>
                </a:solidFill>
                <a:cs typeface="Arial"/>
              </a:rPr>
              <a:t>ontext</a:t>
            </a:r>
            <a:r>
              <a:rPr lang="en-US" sz="2200">
                <a:solidFill>
                  <a:schemeClr val="accent5"/>
                </a:solidFill>
                <a:cs typeface="Arial"/>
              </a:rPr>
              <a:t> and </a:t>
            </a:r>
            <a:r>
              <a:rPr lang="pl-PL" sz="2200">
                <a:solidFill>
                  <a:schemeClr val="accent5"/>
                </a:solidFill>
                <a:cs typeface="Arial"/>
              </a:rPr>
              <a:t>S</a:t>
            </a:r>
            <a:r>
              <a:rPr lang="en-US" sz="2200" err="1">
                <a:solidFill>
                  <a:schemeClr val="accent5"/>
                </a:solidFill>
                <a:cs typeface="Arial"/>
              </a:rPr>
              <a:t>egmentation</a:t>
            </a:r>
            <a:r>
              <a:rPr lang="en-US" sz="2200">
                <a:solidFill>
                  <a:schemeClr val="accent5"/>
                </a:solidFill>
                <a:cs typeface="Arial"/>
              </a:rPr>
              <a:t> </a:t>
            </a:r>
          </a:p>
        </p:txBody>
      </p:sp>
      <p:sp>
        <p:nvSpPr>
          <p:cNvPr id="12" name="Text 2">
            <a:extLst>
              <a:ext uri="{FF2B5EF4-FFF2-40B4-BE49-F238E27FC236}">
                <a16:creationId xmlns:a16="http://schemas.microsoft.com/office/drawing/2014/main" id="{81BDD150-5F70-8EC9-A743-2DBD1D337671}"/>
              </a:ext>
            </a:extLst>
          </p:cNvPr>
          <p:cNvSpPr/>
          <p:nvPr/>
        </p:nvSpPr>
        <p:spPr>
          <a:xfrm>
            <a:off x="342900" y="589788"/>
            <a:ext cx="7886700" cy="274320"/>
          </a:xfrm>
          <a:prstGeom prst="rect">
            <a:avLst/>
          </a:prstGeom>
          <a:noFill/>
          <a:ln/>
        </p:spPr>
        <p:txBody>
          <a:bodyPr wrap="square" lIns="0" tIns="0" rIns="0" bIns="0" rtlCol="0" anchor="ctr"/>
          <a:lstStyle/>
          <a:p>
            <a:r>
              <a:rPr lang="en-US" sz="1100" b="1">
                <a:solidFill>
                  <a:schemeClr val="accent5"/>
                </a:solidFill>
                <a:cs typeface="Arial"/>
              </a:rPr>
              <a:t>Be explicit about who the content is for and when it applies.</a:t>
            </a:r>
          </a:p>
          <a:p>
            <a:r>
              <a:rPr lang="en-US" sz="1100">
                <a:solidFill>
                  <a:schemeClr val="accent5"/>
                </a:solidFill>
                <a:cs typeface="Arial"/>
              </a:rPr>
              <a:t>AI systems need clear context (role, scenario, or use case) to determine relevance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E7A629CE-7B5F-3B06-3DFC-172E25756752}"/>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3FB7CC0-2016-51B6-EC69-54DA83E8B667}"/>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27</a:t>
            </a:fld>
            <a:endParaRPr lang="en-US">
              <a:solidFill>
                <a:srgbClr val="3DCD58"/>
              </a:solidFill>
            </a:endParaRPr>
          </a:p>
        </p:txBody>
      </p:sp>
      <p:graphicFrame>
        <p:nvGraphicFramePr>
          <p:cNvPr id="3" name="Table 2">
            <a:extLst>
              <a:ext uri="{FF2B5EF4-FFF2-40B4-BE49-F238E27FC236}">
                <a16:creationId xmlns:a16="http://schemas.microsoft.com/office/drawing/2014/main" id="{844A5A13-5B87-1AED-6EE1-8FA8425FA1F6}"/>
              </a:ext>
            </a:extLst>
          </p:cNvPr>
          <p:cNvGraphicFramePr>
            <a:graphicFrameLocks noGrp="1"/>
          </p:cNvGraphicFramePr>
          <p:nvPr/>
        </p:nvGraphicFramePr>
        <p:xfrm>
          <a:off x="955964" y="1172676"/>
          <a:ext cx="3294365" cy="1678542"/>
        </p:xfrm>
        <a:graphic>
          <a:graphicData uri="http://schemas.openxmlformats.org/drawingml/2006/table">
            <a:tbl>
              <a:tblPr firstRow="1" bandRow="1">
                <a:tableStyleId>{5C22544A-7EE6-4342-B048-85BDC9FD1C3A}</a:tableStyleId>
              </a:tblPr>
              <a:tblGrid>
                <a:gridCol w="3294365">
                  <a:extLst>
                    <a:ext uri="{9D8B030D-6E8A-4147-A177-3AD203B41FA5}">
                      <a16:colId xmlns:a16="http://schemas.microsoft.com/office/drawing/2014/main" val="1448082525"/>
                    </a:ext>
                  </a:extLst>
                </a:gridCol>
              </a:tblGrid>
              <a:tr h="478427">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Broad, unsegmented content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1200115">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Our energy management solutions are designed to support organizations across industries by improving efficiency, resilience, and sustainability.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3D0BB21D-468E-74DA-78E2-AE52612D471E}"/>
              </a:ext>
            </a:extLst>
          </p:cNvPr>
          <p:cNvGraphicFramePr>
            <a:graphicFrameLocks noGrp="1"/>
          </p:cNvGraphicFramePr>
          <p:nvPr>
            <p:extLst>
              <p:ext uri="{D42A27DB-BD31-4B8C-83A1-F6EECF244321}">
                <p14:modId xmlns:p14="http://schemas.microsoft.com/office/powerpoint/2010/main" val="2915783015"/>
              </p:ext>
            </p:extLst>
          </p:nvPr>
        </p:nvGraphicFramePr>
        <p:xfrm>
          <a:off x="4793673" y="1172677"/>
          <a:ext cx="3376598" cy="167854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464451">
                <a:tc>
                  <a:txBody>
                    <a:bodyPr/>
                    <a:lstStyle/>
                    <a:p>
                      <a:pPr algn="ctr"/>
                      <a:r>
                        <a:rPr lang="en-US" sz="1200" b="1">
                          <a:solidFill>
                            <a:schemeClr val="accent5"/>
                          </a:solidFill>
                          <a:latin typeface="+mn-lt"/>
                        </a:rPr>
                        <a:t>After: Context‑specific, segmented content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1214091">
                <a:tc>
                  <a:txBody>
                    <a:bodyPr/>
                    <a:lstStyle/>
                    <a:p>
                      <a:pPr marL="0" indent="0" algn="l" defTabSz="457184" rtl="0" eaLnBrk="1" fontAlgn="t" latinLnBrk="0" hangingPunct="1">
                        <a:lnSpc>
                          <a:spcPct val="100000"/>
                        </a:lnSpc>
                        <a:buFont typeface="Arial" panose="020B0604020202020204" pitchFamily="34" charset="0"/>
                        <a:buNone/>
                      </a:pPr>
                      <a:r>
                        <a:rPr lang="en-US" sz="1000" b="1" i="0" kern="1200">
                          <a:solidFill>
                            <a:schemeClr val="dk1"/>
                          </a:solidFill>
                          <a:effectLst/>
                          <a:latin typeface="+mn-lt"/>
                          <a:ea typeface="+mn-ea"/>
                          <a:cs typeface="+mn-cs"/>
                        </a:rPr>
                        <a:t>Who is this for?</a:t>
                      </a:r>
                    </a:p>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Facility and energy managers in commercial buildings.</a:t>
                      </a:r>
                    </a:p>
                    <a:p>
                      <a:pPr marL="0" indent="0" algn="l" defTabSz="457184" rtl="0" eaLnBrk="1" fontAlgn="t" latinLnBrk="0" hangingPunct="1">
                        <a:lnSpc>
                          <a:spcPct val="100000"/>
                        </a:lnSpc>
                        <a:buFont typeface="Arial" panose="020B0604020202020204" pitchFamily="34" charset="0"/>
                        <a:buNone/>
                      </a:pPr>
                      <a:endParaRPr lang="en-US" sz="1000" b="1" i="0" kern="1200">
                        <a:solidFill>
                          <a:schemeClr val="dk1"/>
                        </a:solidFill>
                        <a:effectLst/>
                        <a:latin typeface="+mn-lt"/>
                        <a:ea typeface="+mn-ea"/>
                        <a:cs typeface="+mn-cs"/>
                      </a:endParaRPr>
                    </a:p>
                    <a:p>
                      <a:pPr marL="0" indent="0" algn="l" defTabSz="457184" rtl="0" eaLnBrk="1" fontAlgn="t" latinLnBrk="0" hangingPunct="1">
                        <a:lnSpc>
                          <a:spcPct val="100000"/>
                        </a:lnSpc>
                        <a:buFont typeface="Arial" panose="020B0604020202020204" pitchFamily="34" charset="0"/>
                        <a:buNone/>
                      </a:pPr>
                      <a:r>
                        <a:rPr lang="en-US" sz="1000" b="1" i="0" kern="1200">
                          <a:solidFill>
                            <a:schemeClr val="dk1"/>
                          </a:solidFill>
                          <a:effectLst/>
                          <a:latin typeface="+mn-lt"/>
                          <a:ea typeface="+mn-ea"/>
                          <a:cs typeface="+mn-cs"/>
                        </a:rPr>
                        <a:t>When is it used?</a:t>
                      </a:r>
                    </a:p>
                    <a:p>
                      <a:pPr marL="171450" indent="-171450" algn="l" defTabSz="457184" rtl="0" eaLnBrk="1" fontAlgn="t" latinLnBrk="0" hangingPunct="1">
                        <a:lnSpc>
                          <a:spcPct val="100000"/>
                        </a:lnSpc>
                        <a:buFont typeface="Arial" panose="020B0604020202020204" pitchFamily="34" charset="0"/>
                        <a:buChar char="•"/>
                      </a:pPr>
                      <a:r>
                        <a:rPr lang="en-US" sz="1000" b="0" i="0" kern="1200">
                          <a:solidFill>
                            <a:schemeClr val="dk1"/>
                          </a:solidFill>
                          <a:effectLst/>
                          <a:latin typeface="+mn-lt"/>
                          <a:ea typeface="+mn-ea"/>
                          <a:cs typeface="+mn-cs"/>
                        </a:rPr>
                        <a:t>When reducing real‑time energy consumption and operating costs across multiple sites.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4" name="TextBox 3">
            <a:extLst>
              <a:ext uri="{FF2B5EF4-FFF2-40B4-BE49-F238E27FC236}">
                <a16:creationId xmlns:a16="http://schemas.microsoft.com/office/drawing/2014/main" id="{CE05CE7E-09EB-26CC-014D-A1D90358B1FD}"/>
              </a:ext>
            </a:extLst>
          </p:cNvPr>
          <p:cNvSpPr txBox="1"/>
          <p:nvPr/>
        </p:nvSpPr>
        <p:spPr>
          <a:xfrm>
            <a:off x="2208066" y="3900882"/>
            <a:ext cx="4627419" cy="877163"/>
          </a:xfrm>
          <a:prstGeom prst="rect">
            <a:avLst/>
          </a:prstGeom>
          <a:solidFill>
            <a:schemeClr val="tx1"/>
          </a:solidFill>
        </p:spPr>
        <p:txBody>
          <a:bodyPr wrap="square">
            <a:spAutoFit/>
          </a:bodyPr>
          <a:lstStyle/>
          <a:p>
            <a:pPr lvl="0" algn="ctr">
              <a:defRPr/>
            </a:pPr>
            <a:r>
              <a:rPr lang="pl-PL" sz="1100" b="1">
                <a:solidFill>
                  <a:schemeClr val="accent5"/>
                </a:solidFill>
              </a:rPr>
              <a:t>Important: </a:t>
            </a:r>
            <a:r>
              <a:rPr lang="en-US" sz="1000">
                <a:solidFill>
                  <a:schemeClr val="accent5"/>
                </a:solidFill>
              </a:rPr>
              <a:t>If context is not clear, AI cannot match your content to the right query.</a:t>
            </a:r>
            <a:endParaRPr lang="pl-PL" sz="1000">
              <a:solidFill>
                <a:schemeClr val="accent5"/>
              </a:solidFill>
            </a:endParaRPr>
          </a:p>
          <a:p>
            <a:pPr lvl="0" algn="ctr">
              <a:defRPr/>
            </a:pPr>
            <a:endParaRPr lang="en-US" sz="1000">
              <a:solidFill>
                <a:schemeClr val="accent5"/>
              </a:solidFill>
            </a:endParaRPr>
          </a:p>
          <a:p>
            <a:pPr lvl="0" algn="ctr">
              <a:defRPr/>
            </a:pPr>
            <a:r>
              <a:rPr lang="en-US" sz="1000">
                <a:solidFill>
                  <a:schemeClr val="accent5"/>
                </a:solidFill>
              </a:rPr>
              <a:t>State the specific audience and scenario so AI knows when and for whom to surface your content.</a:t>
            </a:r>
          </a:p>
        </p:txBody>
      </p:sp>
      <p:sp>
        <p:nvSpPr>
          <p:cNvPr id="2" name="TextBox 1">
            <a:extLst>
              <a:ext uri="{FF2B5EF4-FFF2-40B4-BE49-F238E27FC236}">
                <a16:creationId xmlns:a16="http://schemas.microsoft.com/office/drawing/2014/main" id="{B3B14ECC-0E69-DA44-1436-9DD02F8595F2}"/>
              </a:ext>
            </a:extLst>
          </p:cNvPr>
          <p:cNvSpPr txBox="1"/>
          <p:nvPr/>
        </p:nvSpPr>
        <p:spPr>
          <a:xfrm>
            <a:off x="947103" y="2945164"/>
            <a:ext cx="3294366" cy="861774"/>
          </a:xfrm>
          <a:prstGeom prst="rect">
            <a:avLst/>
          </a:prstGeom>
          <a:noFill/>
        </p:spPr>
        <p:txBody>
          <a:bodyPr wrap="square" lIns="91440" tIns="45720" rIns="91440" bIns="45720" anchor="t">
            <a:spAutoFit/>
          </a:bodyPr>
          <a:lstStyle/>
          <a:p>
            <a:pPr lvl="0">
              <a:defRPr/>
            </a:pPr>
            <a:r>
              <a:rPr kumimoji="0" lang="en-US" sz="1000" b="1" i="0" u="none" strike="noStrike" kern="1200" cap="none" spc="0" normalizeH="0" baseline="0" noProof="0">
                <a:ln>
                  <a:noFill/>
                </a:ln>
                <a:solidFill>
                  <a:srgbClr val="C00000"/>
                </a:solidFill>
                <a:effectLst/>
                <a:uLnTx/>
                <a:uFillTx/>
                <a:latin typeface="Poppins"/>
                <a:ea typeface="+mn-ea"/>
                <a:cs typeface="+mn-cs"/>
              </a:rPr>
              <a:t>Why this </a:t>
            </a:r>
            <a:r>
              <a:rPr lang="pl-PL" sz="1000" b="1">
                <a:solidFill>
                  <a:srgbClr val="C00000"/>
                </a:solidFill>
              </a:rPr>
              <a:t>is not optimized</a:t>
            </a:r>
            <a:r>
              <a:rPr kumimoji="0" lang="en-US" sz="1000" b="1" i="0" u="none" strike="noStrike" kern="1200" cap="none" spc="0" normalizeH="0" baseline="0" noProof="0">
                <a:ln>
                  <a:noFill/>
                </a:ln>
                <a:solidFill>
                  <a:srgbClr val="C00000"/>
                </a:solidFill>
                <a:effectLst/>
                <a:uLnTx/>
                <a:uFillTx/>
                <a:latin typeface="Poppins"/>
                <a:ea typeface="+mn-ea"/>
                <a:cs typeface="+mn-cs"/>
              </a:rPr>
              <a:t> for GEO</a:t>
            </a:r>
            <a:r>
              <a:rPr lang="en-US" sz="1000" b="1">
                <a:solidFill>
                  <a:srgbClr val="C00000"/>
                </a:solidFill>
                <a:latin typeface="Poppins"/>
              </a:rPr>
              <a:t>?</a:t>
            </a:r>
            <a:endParaRPr kumimoji="0" lang="en-US" sz="1000" b="1" i="0" u="none" strike="noStrike" kern="1200" cap="none" spc="0" normalizeH="0" baseline="0" noProof="0">
              <a:ln>
                <a:noFill/>
              </a:ln>
              <a:solidFill>
                <a:srgbClr val="C00000"/>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lvl="0" indent="-213995">
              <a:buClr>
                <a:srgbClr val="C00000"/>
              </a:buClr>
              <a:buFont typeface="Arial" panose="020B0604020202020204" pitchFamily="34" charset="0"/>
              <a:buChar char="•"/>
              <a:defRPr/>
            </a:pPr>
            <a:r>
              <a:rPr lang="en-US" sz="1000">
                <a:solidFill>
                  <a:srgbClr val="0A2F24"/>
                </a:solidFill>
              </a:rPr>
              <a:t>Audience is undefined</a:t>
            </a:r>
          </a:p>
          <a:p>
            <a:pPr marL="213995" lvl="0" indent="-213995">
              <a:buClr>
                <a:srgbClr val="C00000"/>
              </a:buClr>
              <a:buFont typeface="Arial" panose="020B0604020202020204" pitchFamily="34" charset="0"/>
              <a:buChar char="•"/>
              <a:defRPr/>
            </a:pPr>
            <a:r>
              <a:rPr lang="en-US" sz="1000">
                <a:solidFill>
                  <a:srgbClr val="0A2F24"/>
                </a:solidFill>
              </a:rPr>
              <a:t>No usage scenario or trigger</a:t>
            </a:r>
          </a:p>
          <a:p>
            <a:pPr marL="213995" lvl="0" indent="-213995">
              <a:buClr>
                <a:srgbClr val="C00000"/>
              </a:buClr>
              <a:buFont typeface="Arial" panose="020B0604020202020204" pitchFamily="34" charset="0"/>
              <a:buChar char="•"/>
              <a:defRPr/>
            </a:pPr>
            <a:r>
              <a:rPr lang="en-US" sz="1000">
                <a:solidFill>
                  <a:srgbClr val="0A2F24"/>
                </a:solidFill>
              </a:rPr>
              <a:t>AI cannot confidently match to a query</a:t>
            </a:r>
          </a:p>
        </p:txBody>
      </p:sp>
      <p:sp>
        <p:nvSpPr>
          <p:cNvPr id="7" name="TextBox 6">
            <a:extLst>
              <a:ext uri="{FF2B5EF4-FFF2-40B4-BE49-F238E27FC236}">
                <a16:creationId xmlns:a16="http://schemas.microsoft.com/office/drawing/2014/main" id="{D3985601-4EA2-C474-012D-9CCC533B39C5}"/>
              </a:ext>
            </a:extLst>
          </p:cNvPr>
          <p:cNvSpPr txBox="1"/>
          <p:nvPr/>
        </p:nvSpPr>
        <p:spPr>
          <a:xfrm>
            <a:off x="4793673" y="2945164"/>
            <a:ext cx="3376598" cy="861774"/>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rPr>
              <a:t>Why this works for GEO</a:t>
            </a:r>
            <a:r>
              <a:rPr lang="en-US" sz="1000" b="1">
                <a:solidFill>
                  <a:schemeClr val="tx2">
                    <a:lumMod val="76000"/>
                  </a:schemeClr>
                </a:solidFill>
                <a:latin typeface="Poppins"/>
              </a:rPr>
              <a:t>?</a:t>
            </a:r>
            <a:endPar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Audience and scenario are explicit</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Context aligns with intent</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AI can determine relevance</a:t>
            </a:r>
          </a:p>
        </p:txBody>
      </p:sp>
    </p:spTree>
    <p:extLst>
      <p:ext uri="{BB962C8B-B14F-4D97-AF65-F5344CB8AC3E}">
        <p14:creationId xmlns:p14="http://schemas.microsoft.com/office/powerpoint/2010/main" val="3473609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3F01A-85C4-0781-E650-EA0F5797992C}"/>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E276A0C-BA50-58AC-A3B7-C7C5C2A3E39A}"/>
              </a:ext>
            </a:extLst>
          </p:cNvPr>
          <p:cNvGraphicFramePr>
            <a:graphicFrameLocks noGrp="1"/>
          </p:cNvGraphicFramePr>
          <p:nvPr>
            <p:extLst>
              <p:ext uri="{D42A27DB-BD31-4B8C-83A1-F6EECF244321}">
                <p14:modId xmlns:p14="http://schemas.microsoft.com/office/powerpoint/2010/main" val="165607628"/>
              </p:ext>
            </p:extLst>
          </p:nvPr>
        </p:nvGraphicFramePr>
        <p:xfrm>
          <a:off x="4336324" y="1093470"/>
          <a:ext cx="4027918" cy="2956560"/>
        </p:xfrm>
        <a:graphic>
          <a:graphicData uri="http://schemas.openxmlformats.org/drawingml/2006/table">
            <a:tbl>
              <a:tblPr firstRow="1" bandRow="1">
                <a:tableStyleId>{5C22544A-7EE6-4342-B048-85BDC9FD1C3A}</a:tableStyleId>
              </a:tblPr>
              <a:tblGrid>
                <a:gridCol w="4027918">
                  <a:extLst>
                    <a:ext uri="{9D8B030D-6E8A-4147-A177-3AD203B41FA5}">
                      <a16:colId xmlns:a16="http://schemas.microsoft.com/office/drawing/2014/main" val="896702349"/>
                    </a:ext>
                  </a:extLst>
                </a:gridCol>
              </a:tblGrid>
              <a:tr h="260914">
                <a:tc>
                  <a:txBody>
                    <a:bodyPr/>
                    <a:lstStyle/>
                    <a:p>
                      <a:pPr algn="ctr"/>
                      <a:r>
                        <a:rPr lang="pl-PL" sz="1200" b="1">
                          <a:solidFill>
                            <a:schemeClr val="accent5"/>
                          </a:solidFill>
                        </a:rPr>
                        <a:t>After</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What is </a:t>
                      </a:r>
                      <a:r>
                        <a:rPr kumimoji="0" lang="en-US" sz="1000" b="1" i="0" u="none" strike="noStrike" kern="1200" cap="none" spc="0" normalizeH="0" baseline="0" noProof="0" err="1">
                          <a:ln>
                            <a:noFill/>
                          </a:ln>
                          <a:solidFill>
                            <a:srgbClr val="0A2F24"/>
                          </a:solidFill>
                          <a:effectLst/>
                          <a:uLnTx/>
                          <a:uFillTx/>
                          <a:latin typeface="+mn-lt"/>
                          <a:ea typeface="+mn-ea"/>
                          <a:cs typeface="+mn-cs"/>
                        </a:rPr>
                        <a:t>EcoStruxure</a:t>
                      </a:r>
                      <a:r>
                        <a:rPr kumimoji="0" lang="en-US" sz="1000" b="1" i="0" u="none" strike="noStrike" kern="1200" cap="none" spc="0" normalizeH="0" baseline="0" noProof="0">
                          <a:ln>
                            <a:noFill/>
                          </a:ln>
                          <a:solidFill>
                            <a:srgbClr val="0A2F24"/>
                          </a:solidFill>
                          <a:effectLst/>
                          <a:uLnTx/>
                          <a:uFillTx/>
                          <a:latin typeface="+mn-lt"/>
                          <a:ea typeface="+mn-ea"/>
                          <a:cs typeface="+mn-cs"/>
                        </a:rPr>
                        <a:t>™ Automation Expert?</a:t>
                      </a:r>
                      <a:endParaRPr kumimoji="0" lang="en-US" sz="1000" b="1" i="0" u="none" strike="noStrike" kern="1200" cap="none" spc="0" normalizeH="0" baseline="0" noProof="0">
                        <a:ln>
                          <a:noFill/>
                        </a:ln>
                        <a:solidFill>
                          <a:srgbClr val="0A2F24"/>
                        </a:solidFill>
                        <a:effectLst/>
                        <a:uLnTx/>
                        <a:uFillTx/>
                        <a:latin typeface="+mn-lt"/>
                        <a:ea typeface="+mn-ea"/>
                        <a:cs typeface="Poppins"/>
                      </a:endParaRPr>
                    </a:p>
                    <a:p>
                      <a:pPr marL="213995" marR="0" lvl="0" indent="-137160" algn="l" defTabSz="457184"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An open, software‑defined industrial automation platform that decouples hardware and software to enable flexible, scalable automation systems.</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Who is it for?</a:t>
                      </a:r>
                    </a:p>
                    <a:p>
                      <a:pPr marL="213995" marR="0" lvl="0" indent="-137160" algn="l" defTabSz="457184"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Automation engineers, system integrators, and industrial teams modernizing complex architectures.</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When should it be used?</a:t>
                      </a:r>
                    </a:p>
                    <a:p>
                      <a:pPr marL="213995" marR="0" lvl="0" indent="-137160" algn="l" defTabSz="457184"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When flexible, software‑centric control is required in complex industrial architectures.</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What outcomes does it deliver?</a:t>
                      </a:r>
                    </a:p>
                    <a:p>
                      <a:pPr marL="213995" marR="0" lvl="0" indent="-137160" algn="l" defTabSz="457184"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Reduced engineering effort</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213995" marR="0" lvl="0" indent="-137160" algn="l" defTabSz="457184"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Faster system adaptation</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213995" marR="0" lvl="0" indent="-137160" algn="l" defTabSz="457184"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Greater flexibility and scalability</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2" name="Table 1">
            <a:extLst>
              <a:ext uri="{FF2B5EF4-FFF2-40B4-BE49-F238E27FC236}">
                <a16:creationId xmlns:a16="http://schemas.microsoft.com/office/drawing/2014/main" id="{E7B392FF-46E6-A770-9347-FB6CCCC93A25}"/>
              </a:ext>
            </a:extLst>
          </p:cNvPr>
          <p:cNvGraphicFramePr>
            <a:graphicFrameLocks noGrp="1"/>
          </p:cNvGraphicFramePr>
          <p:nvPr>
            <p:extLst>
              <p:ext uri="{D42A27DB-BD31-4B8C-83A1-F6EECF244321}">
                <p14:modId xmlns:p14="http://schemas.microsoft.com/office/powerpoint/2010/main" val="3450729718"/>
              </p:ext>
            </p:extLst>
          </p:nvPr>
        </p:nvGraphicFramePr>
        <p:xfrm>
          <a:off x="526922" y="1102811"/>
          <a:ext cx="3312863" cy="1280160"/>
        </p:xfrm>
        <a:graphic>
          <a:graphicData uri="http://schemas.openxmlformats.org/drawingml/2006/table">
            <a:tbl>
              <a:tblPr firstRow="1" bandRow="1">
                <a:tableStyleId>{5C22544A-7EE6-4342-B048-85BDC9FD1C3A}</a:tableStyleId>
              </a:tblPr>
              <a:tblGrid>
                <a:gridCol w="3312863">
                  <a:extLst>
                    <a:ext uri="{9D8B030D-6E8A-4147-A177-3AD203B41FA5}">
                      <a16:colId xmlns:a16="http://schemas.microsoft.com/office/drawing/2014/main" val="896702349"/>
                    </a:ext>
                  </a:extLst>
                </a:gridCol>
              </a:tblGrid>
              <a:tr h="239649">
                <a:tc>
                  <a:txBody>
                    <a:bodyPr/>
                    <a:lstStyle/>
                    <a:p>
                      <a:pPr algn="ctr"/>
                      <a:r>
                        <a:rPr lang="pl-PL" sz="1200" b="1">
                          <a:solidFill>
                            <a:schemeClr val="tx1"/>
                          </a:solidFill>
                        </a:rPr>
                        <a:t>Before</a:t>
                      </a:r>
                      <a:endParaRPr lang="pl-PL"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2616454"/>
                  </a:ext>
                </a:extLst>
              </a:tr>
              <a:tr h="37084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Open, software‑defined automation</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Open, software‑defined automation improves flexibility, reduces engineering effort, and enables continuous optimization of industrial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28453341"/>
                  </a:ext>
                </a:extLst>
              </a:tr>
            </a:tbl>
          </a:graphicData>
        </a:graphic>
      </p:graphicFrame>
      <p:sp>
        <p:nvSpPr>
          <p:cNvPr id="8" name="Shape 0">
            <a:extLst>
              <a:ext uri="{FF2B5EF4-FFF2-40B4-BE49-F238E27FC236}">
                <a16:creationId xmlns:a16="http://schemas.microsoft.com/office/drawing/2014/main" id="{606FF6D1-3163-18A2-650C-61E5C226E283}"/>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FDA3AA2F-09DC-E0A8-2DB9-F4B6CA2A2140}"/>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GEO in action: </a:t>
            </a:r>
            <a:r>
              <a:rPr lang="pl-PL" sz="2200">
                <a:solidFill>
                  <a:schemeClr val="accent5"/>
                </a:solidFill>
                <a:cs typeface="Arial"/>
              </a:rPr>
              <a:t>Banner R</a:t>
            </a:r>
            <a:r>
              <a:rPr lang="en-US" sz="2200" err="1">
                <a:solidFill>
                  <a:schemeClr val="accent5"/>
                </a:solidFill>
                <a:cs typeface="Arial"/>
              </a:rPr>
              <a:t>ewrite</a:t>
            </a:r>
            <a:r>
              <a:rPr lang="pl-PL" sz="2200">
                <a:solidFill>
                  <a:schemeClr val="accent5"/>
                </a:solidFill>
                <a:cs typeface="Arial"/>
              </a:rPr>
              <a:t> Example</a:t>
            </a:r>
            <a:endParaRPr lang="en-US" sz="2200">
              <a:solidFill>
                <a:schemeClr val="accent5"/>
              </a:solidFill>
              <a:cs typeface="Arial"/>
            </a:endParaRPr>
          </a:p>
        </p:txBody>
      </p:sp>
      <p:sp>
        <p:nvSpPr>
          <p:cNvPr id="12" name="Text 2">
            <a:extLst>
              <a:ext uri="{FF2B5EF4-FFF2-40B4-BE49-F238E27FC236}">
                <a16:creationId xmlns:a16="http://schemas.microsoft.com/office/drawing/2014/main" id="{BB4468FB-7F86-D7E5-F997-C3395620E812}"/>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34D97D36-5A85-C3B9-E8EF-FA4328581EC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8396AA88-6206-FF5A-541E-9F66C399391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28</a:t>
            </a:fld>
            <a:endParaRPr lang="en-US">
              <a:solidFill>
                <a:srgbClr val="3DCD58"/>
              </a:solidFill>
            </a:endParaRPr>
          </a:p>
        </p:txBody>
      </p:sp>
      <p:sp>
        <p:nvSpPr>
          <p:cNvPr id="10" name="TextBox 9">
            <a:extLst>
              <a:ext uri="{FF2B5EF4-FFF2-40B4-BE49-F238E27FC236}">
                <a16:creationId xmlns:a16="http://schemas.microsoft.com/office/drawing/2014/main" id="{61FB57DC-9E78-D3BF-B85C-3B77CE6DE435}"/>
              </a:ext>
            </a:extLst>
          </p:cNvPr>
          <p:cNvSpPr txBox="1"/>
          <p:nvPr/>
        </p:nvSpPr>
        <p:spPr>
          <a:xfrm>
            <a:off x="527158" y="2425603"/>
            <a:ext cx="2659720" cy="861774"/>
          </a:xfrm>
          <a:prstGeom prst="rect">
            <a:avLst/>
          </a:prstGeom>
          <a:noFill/>
        </p:spPr>
        <p:txBody>
          <a:bodyPr wrap="square" lIns="91440" tIns="45720" rIns="91440" bIns="45720" anchor="t">
            <a:spAutoFit/>
          </a:bodyPr>
          <a:lstStyle/>
          <a:p>
            <a:r>
              <a:rPr lang="pl-PL" sz="1000" b="1">
                <a:solidFill>
                  <a:srgbClr val="C00000"/>
                </a:solidFill>
              </a:rPr>
              <a:t>W</a:t>
            </a:r>
            <a:r>
              <a:rPr lang="en-US" sz="1000" b="1">
                <a:solidFill>
                  <a:srgbClr val="C00000"/>
                </a:solidFill>
              </a:rPr>
              <a:t>hy this </a:t>
            </a:r>
            <a:r>
              <a:rPr lang="pl-PL" sz="1000" b="1">
                <a:solidFill>
                  <a:srgbClr val="C00000"/>
                </a:solidFill>
              </a:rPr>
              <a:t>is not optimized</a:t>
            </a:r>
            <a:r>
              <a:rPr lang="en-US" sz="1000" b="1">
                <a:solidFill>
                  <a:srgbClr val="C00000"/>
                </a:solidFill>
              </a:rPr>
              <a:t> GEO?</a:t>
            </a:r>
          </a:p>
          <a:p>
            <a:endParaRPr lang="en-US" sz="1000" b="1"/>
          </a:p>
          <a:p>
            <a:pPr marL="213995" indent="-137160">
              <a:buClr>
                <a:srgbClr val="C00000"/>
              </a:buClr>
              <a:buFont typeface="Arial" panose="020B0604020202020204" pitchFamily="34" charset="0"/>
              <a:buChar char="•"/>
            </a:pPr>
            <a:r>
              <a:rPr lang="en-US" sz="1000"/>
              <a:t>No explicit definition</a:t>
            </a:r>
            <a:endParaRPr lang="en-US" sz="1000">
              <a:cs typeface="Poppins"/>
            </a:endParaRPr>
          </a:p>
          <a:p>
            <a:pPr marL="213995" indent="-137160">
              <a:buClr>
                <a:srgbClr val="C00000"/>
              </a:buClr>
              <a:buFont typeface="Arial" panose="020B0604020202020204" pitchFamily="34" charset="0"/>
              <a:buChar char="•"/>
            </a:pPr>
            <a:r>
              <a:rPr lang="en-US" sz="1000"/>
              <a:t>Audience not stated</a:t>
            </a:r>
            <a:endParaRPr lang="en-US" sz="1000">
              <a:cs typeface="Poppins"/>
            </a:endParaRPr>
          </a:p>
          <a:p>
            <a:pPr marL="213995" indent="-137160">
              <a:buClr>
                <a:srgbClr val="C00000"/>
              </a:buClr>
              <a:buFont typeface="Arial" panose="020B0604020202020204" pitchFamily="34" charset="0"/>
              <a:buChar char="•"/>
            </a:pPr>
            <a:r>
              <a:rPr lang="en-US" sz="1000"/>
              <a:t>Usage scenario unclear</a:t>
            </a:r>
            <a:endParaRPr lang="en-US" sz="1000">
              <a:cs typeface="Poppins"/>
            </a:endParaRPr>
          </a:p>
        </p:txBody>
      </p:sp>
      <p:sp>
        <p:nvSpPr>
          <p:cNvPr id="15" name="TextBox 14">
            <a:extLst>
              <a:ext uri="{FF2B5EF4-FFF2-40B4-BE49-F238E27FC236}">
                <a16:creationId xmlns:a16="http://schemas.microsoft.com/office/drawing/2014/main" id="{1B61CC4E-0FCD-4D2A-97C6-CAFCC8392CF8}"/>
              </a:ext>
            </a:extLst>
          </p:cNvPr>
          <p:cNvSpPr txBox="1"/>
          <p:nvPr/>
        </p:nvSpPr>
        <p:spPr>
          <a:xfrm>
            <a:off x="4571886" y="4114800"/>
            <a:ext cx="2060325" cy="861774"/>
          </a:xfrm>
          <a:prstGeom prst="rect">
            <a:avLst/>
          </a:prstGeom>
          <a:noFill/>
        </p:spPr>
        <p:txBody>
          <a:bodyPr wrap="square" lIns="91440" tIns="45720" rIns="91440" bIns="45720" anchor="t">
            <a:spAutoFit/>
          </a:bodyPr>
          <a:lstStyle/>
          <a:p>
            <a:r>
              <a:rPr lang="en-US" sz="1000" b="1">
                <a:solidFill>
                  <a:schemeClr val="tx2">
                    <a:lumMod val="76000"/>
                  </a:schemeClr>
                </a:solidFill>
              </a:rPr>
              <a:t>Why this works for GEO?</a:t>
            </a:r>
          </a:p>
          <a:p>
            <a:endParaRPr lang="en-US" sz="1000" b="1"/>
          </a:p>
          <a:p>
            <a:pPr marL="213995" indent="-137160">
              <a:buClr>
                <a:schemeClr val="bg2"/>
              </a:buClr>
              <a:buFont typeface="Arial" panose="020B0604020202020204" pitchFamily="34" charset="0"/>
              <a:buChar char="•"/>
            </a:pPr>
            <a:r>
              <a:rPr lang="en-US" sz="1000"/>
              <a:t>Answer first</a:t>
            </a:r>
            <a:endParaRPr lang="en-US" sz="1000">
              <a:cs typeface="Poppins"/>
            </a:endParaRPr>
          </a:p>
          <a:p>
            <a:pPr marL="213995" indent="-137160">
              <a:buClr>
                <a:schemeClr val="bg2"/>
              </a:buClr>
              <a:buFont typeface="Arial" panose="020B0604020202020204" pitchFamily="34" charset="0"/>
              <a:buChar char="•"/>
            </a:pPr>
            <a:r>
              <a:rPr lang="en-US" sz="1000"/>
              <a:t>Clear context</a:t>
            </a:r>
            <a:endParaRPr lang="en-US" sz="1000">
              <a:cs typeface="Poppins"/>
            </a:endParaRPr>
          </a:p>
          <a:p>
            <a:pPr marL="213995" indent="-137160">
              <a:buClr>
                <a:schemeClr val="bg2"/>
              </a:buClr>
              <a:buFont typeface="Arial" panose="020B0604020202020204" pitchFamily="34" charset="0"/>
              <a:buChar char="•"/>
            </a:pPr>
            <a:r>
              <a:rPr lang="en-US" sz="1000"/>
              <a:t>Extractable outcomes</a:t>
            </a:r>
            <a:endParaRPr lang="en-US" sz="1000">
              <a:cs typeface="Poppins"/>
            </a:endParaRPr>
          </a:p>
        </p:txBody>
      </p:sp>
      <p:sp>
        <p:nvSpPr>
          <p:cNvPr id="16" name="TextBox 15">
            <a:extLst>
              <a:ext uri="{FF2B5EF4-FFF2-40B4-BE49-F238E27FC236}">
                <a16:creationId xmlns:a16="http://schemas.microsoft.com/office/drawing/2014/main" id="{256DBDA5-86AF-92C0-BA11-D0424C4382D2}"/>
              </a:ext>
            </a:extLst>
          </p:cNvPr>
          <p:cNvSpPr txBox="1"/>
          <p:nvPr/>
        </p:nvSpPr>
        <p:spPr>
          <a:xfrm>
            <a:off x="7033080" y="3788483"/>
            <a:ext cx="1973444" cy="1323439"/>
          </a:xfrm>
          <a:prstGeom prst="rect">
            <a:avLst/>
          </a:prstGeom>
          <a:solidFill>
            <a:schemeClr val="accent4">
              <a:lumMod val="40000"/>
              <a:lumOff val="60000"/>
            </a:schemeClr>
          </a:solidFill>
          <a:ln>
            <a:solidFill>
              <a:schemeClr val="tx1"/>
            </a:solidFill>
          </a:ln>
        </p:spPr>
        <p:txBody>
          <a:bodyPr wrap="square" lIns="91440" tIns="45720" rIns="91440" bIns="45720" anchor="t">
            <a:spAutoFit/>
          </a:bodyPr>
          <a:lstStyle/>
          <a:p>
            <a:r>
              <a:rPr lang="pl-PL" sz="1000" b="1"/>
              <a:t>GEO tips &amp; tricks</a:t>
            </a:r>
            <a:endParaRPr lang="en-US" sz="1000" b="1"/>
          </a:p>
          <a:p>
            <a:r>
              <a:rPr lang="pl-PL" sz="1000"/>
              <a:t>Perform quick GEO test: if</a:t>
            </a:r>
            <a:r>
              <a:rPr lang="en-US" sz="1000"/>
              <a:t> AI reads only the </a:t>
            </a:r>
            <a:r>
              <a:rPr lang="pl-PL" sz="1000"/>
              <a:t>banner</a:t>
            </a:r>
            <a:r>
              <a:rPr lang="en-US" sz="1000"/>
              <a:t> section, can it confidently explain all four?</a:t>
            </a:r>
            <a:endParaRPr lang="en-US" sz="1000">
              <a:cs typeface="Poppins"/>
            </a:endParaRPr>
          </a:p>
          <a:p>
            <a:endParaRPr lang="en-US" sz="1000"/>
          </a:p>
          <a:p>
            <a:r>
              <a:rPr lang="en-US" sz="1000" b="1"/>
              <a:t>Yes</a:t>
            </a:r>
            <a:r>
              <a:rPr lang="en-US" sz="1000"/>
              <a:t> </a:t>
            </a:r>
            <a:r>
              <a:rPr lang="en-US" sz="1000" b="1"/>
              <a:t>→</a:t>
            </a:r>
            <a:r>
              <a:rPr lang="en-US" sz="1000"/>
              <a:t> </a:t>
            </a:r>
            <a:r>
              <a:rPr lang="en-US" sz="1000" b="1"/>
              <a:t>GEO‑ready</a:t>
            </a:r>
          </a:p>
          <a:p>
            <a:r>
              <a:rPr lang="en-US" sz="1000"/>
              <a:t>No → </a:t>
            </a:r>
            <a:r>
              <a:rPr lang="pl-PL" sz="1000"/>
              <a:t>not GEO - optimized</a:t>
            </a:r>
            <a:endParaRPr lang="en-US" sz="1000"/>
          </a:p>
        </p:txBody>
      </p:sp>
      <p:pic>
        <p:nvPicPr>
          <p:cNvPr id="18" name="Picture 17" descr="A screenshot of a computer&#10;&#10;AI-generated content may be incorrect.">
            <a:extLst>
              <a:ext uri="{FF2B5EF4-FFF2-40B4-BE49-F238E27FC236}">
                <a16:creationId xmlns:a16="http://schemas.microsoft.com/office/drawing/2014/main" id="{702C3C9A-0287-D97B-6DD6-111CB3D81486}"/>
              </a:ext>
            </a:extLst>
          </p:cNvPr>
          <p:cNvPicPr>
            <a:picLocks noChangeAspect="1"/>
          </p:cNvPicPr>
          <p:nvPr/>
        </p:nvPicPr>
        <p:blipFill>
          <a:blip r:embed="rId3"/>
          <a:stretch>
            <a:fillRect/>
          </a:stretch>
        </p:blipFill>
        <p:spPr>
          <a:xfrm>
            <a:off x="123818" y="3368824"/>
            <a:ext cx="3744758" cy="1282217"/>
          </a:xfrm>
          <a:prstGeom prst="rect">
            <a:avLst/>
          </a:prstGeom>
          <a:ln>
            <a:solidFill>
              <a:schemeClr val="tx1"/>
            </a:solidFill>
          </a:ln>
        </p:spPr>
      </p:pic>
      <p:pic>
        <p:nvPicPr>
          <p:cNvPr id="19" name="Picture 18" descr="A screenshot of a computer program&#10;&#10;AI-generated content may be incorrect.">
            <a:extLst>
              <a:ext uri="{FF2B5EF4-FFF2-40B4-BE49-F238E27FC236}">
                <a16:creationId xmlns:a16="http://schemas.microsoft.com/office/drawing/2014/main" id="{517C278E-49C0-45F6-B2E3-77259F4FBA31}"/>
              </a:ext>
            </a:extLst>
          </p:cNvPr>
          <p:cNvPicPr>
            <a:picLocks noChangeAspect="1"/>
          </p:cNvPicPr>
          <p:nvPr/>
        </p:nvPicPr>
        <p:blipFill>
          <a:blip r:embed="rId4"/>
          <a:stretch>
            <a:fillRect/>
          </a:stretch>
        </p:blipFill>
        <p:spPr>
          <a:xfrm>
            <a:off x="2426855" y="3144855"/>
            <a:ext cx="1790595" cy="1190989"/>
          </a:xfrm>
          <a:prstGeom prst="rect">
            <a:avLst/>
          </a:prstGeom>
          <a:ln>
            <a:solidFill>
              <a:schemeClr val="tx1"/>
            </a:solidFill>
          </a:ln>
        </p:spPr>
      </p:pic>
      <p:cxnSp>
        <p:nvCxnSpPr>
          <p:cNvPr id="22" name="Straight Arrow Connector 21">
            <a:extLst>
              <a:ext uri="{FF2B5EF4-FFF2-40B4-BE49-F238E27FC236}">
                <a16:creationId xmlns:a16="http://schemas.microsoft.com/office/drawing/2014/main" id="{3639BFE2-F78C-524D-3242-7FE548E17364}"/>
              </a:ext>
            </a:extLst>
          </p:cNvPr>
          <p:cNvCxnSpPr>
            <a:cxnSpLocks/>
            <a:endCxn id="19" idx="1"/>
          </p:cNvCxnSpPr>
          <p:nvPr/>
        </p:nvCxnSpPr>
        <p:spPr>
          <a:xfrm flipV="1">
            <a:off x="1697182" y="3740350"/>
            <a:ext cx="729673" cy="26627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4" name="TextBox 3">
            <a:extLst>
              <a:ext uri="{FF2B5EF4-FFF2-40B4-BE49-F238E27FC236}">
                <a16:creationId xmlns:a16="http://schemas.microsoft.com/office/drawing/2014/main" id="{041D6F83-FDAE-390B-9B9D-D264FD1F0868}"/>
              </a:ext>
            </a:extLst>
          </p:cNvPr>
          <p:cNvSpPr txBox="1"/>
          <p:nvPr/>
        </p:nvSpPr>
        <p:spPr>
          <a:xfrm>
            <a:off x="1964076" y="4500436"/>
            <a:ext cx="2372248" cy="569387"/>
          </a:xfrm>
          <a:prstGeom prst="rect">
            <a:avLst/>
          </a:prstGeom>
          <a:solidFill>
            <a:schemeClr val="tx1"/>
          </a:solidFill>
        </p:spPr>
        <p:txBody>
          <a:bodyPr wrap="square">
            <a:spAutoFit/>
          </a:bodyPr>
          <a:lstStyle/>
          <a:p>
            <a:pPr lvl="0" algn="ctr">
              <a:defRPr/>
            </a:pPr>
            <a:r>
              <a:rPr lang="pl-PL" sz="1100" b="1">
                <a:solidFill>
                  <a:schemeClr val="accent5"/>
                </a:solidFill>
              </a:rPr>
              <a:t>Important: </a:t>
            </a:r>
            <a:r>
              <a:rPr lang="en-US" sz="1000">
                <a:solidFill>
                  <a:schemeClr val="accent5"/>
                </a:solidFill>
              </a:rPr>
              <a:t>This fix restructures the top of the page — it does not rewrite everything.</a:t>
            </a:r>
            <a:endParaRPr lang="en-US" sz="1100">
              <a:solidFill>
                <a:schemeClr val="accent5"/>
              </a:solidFill>
            </a:endParaRPr>
          </a:p>
        </p:txBody>
      </p:sp>
    </p:spTree>
    <p:extLst>
      <p:ext uri="{BB962C8B-B14F-4D97-AF65-F5344CB8AC3E}">
        <p14:creationId xmlns:p14="http://schemas.microsoft.com/office/powerpoint/2010/main" val="3941131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05E5A-F595-97F4-1490-9B1FF3850CC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E8F2A446-7D70-B15A-8A6B-088C66C7438F}"/>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7F824094-6EDB-7102-98EA-D04DB9477A31}"/>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in action</a:t>
            </a:r>
            <a:r>
              <a:rPr lang="en-US" sz="2200">
                <a:solidFill>
                  <a:schemeClr val="accent5"/>
                </a:solidFill>
                <a:cs typeface="Arial"/>
              </a:rPr>
              <a:t>: </a:t>
            </a:r>
            <a:r>
              <a:rPr lang="pl-PL" sz="2200">
                <a:solidFill>
                  <a:schemeClr val="accent5"/>
                </a:solidFill>
                <a:cs typeface="Arial"/>
              </a:rPr>
              <a:t>CTA (Call to Action) – Optimization Guide</a:t>
            </a:r>
            <a:endParaRPr lang="en-US" sz="2200">
              <a:solidFill>
                <a:schemeClr val="accent5"/>
              </a:solidFill>
              <a:cs typeface="Arial"/>
            </a:endParaRPr>
          </a:p>
        </p:txBody>
      </p:sp>
      <p:sp>
        <p:nvSpPr>
          <p:cNvPr id="12" name="Text 2">
            <a:extLst>
              <a:ext uri="{FF2B5EF4-FFF2-40B4-BE49-F238E27FC236}">
                <a16:creationId xmlns:a16="http://schemas.microsoft.com/office/drawing/2014/main" id="{631AB259-4622-D51E-9F08-3EC1ABA12DCC}"/>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8FE433B8-9155-91E5-6300-D82CFCA4A934}"/>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58376D35-4D8F-9209-8D04-3C98F511AEA3}"/>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29</a:t>
            </a:fld>
            <a:endParaRPr lang="en-US">
              <a:solidFill>
                <a:srgbClr val="3DCD58"/>
              </a:solidFill>
            </a:endParaRPr>
          </a:p>
        </p:txBody>
      </p:sp>
      <p:sp>
        <p:nvSpPr>
          <p:cNvPr id="3" name="TextBox 2">
            <a:extLst>
              <a:ext uri="{FF2B5EF4-FFF2-40B4-BE49-F238E27FC236}">
                <a16:creationId xmlns:a16="http://schemas.microsoft.com/office/drawing/2014/main" id="{220FCBCA-8DFA-28A2-F696-9DE4011E6FBC}"/>
              </a:ext>
            </a:extLst>
          </p:cNvPr>
          <p:cNvSpPr txBox="1"/>
          <p:nvPr/>
        </p:nvSpPr>
        <p:spPr>
          <a:xfrm>
            <a:off x="191708" y="4198949"/>
            <a:ext cx="3130899" cy="415498"/>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en-US" sz="1000">
                <a:solidFill>
                  <a:schemeClr val="accent5"/>
                </a:solidFill>
              </a:rPr>
              <a:t>This fix restructures the top of the page — it does not rewrite everything.</a:t>
            </a:r>
            <a:endParaRPr lang="en-US" sz="1100">
              <a:solidFill>
                <a:schemeClr val="accent5"/>
              </a:solidFill>
            </a:endParaRPr>
          </a:p>
        </p:txBody>
      </p:sp>
      <p:sp>
        <p:nvSpPr>
          <p:cNvPr id="29" name="TextBox 28">
            <a:extLst>
              <a:ext uri="{FF2B5EF4-FFF2-40B4-BE49-F238E27FC236}">
                <a16:creationId xmlns:a16="http://schemas.microsoft.com/office/drawing/2014/main" id="{70EDA7C1-FB2D-F726-AD5F-A8B3D0810901}"/>
              </a:ext>
            </a:extLst>
          </p:cNvPr>
          <p:cNvSpPr txBox="1"/>
          <p:nvPr/>
        </p:nvSpPr>
        <p:spPr>
          <a:xfrm>
            <a:off x="3740619" y="3625666"/>
            <a:ext cx="2568741" cy="861774"/>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00000"/>
                </a:solidFill>
                <a:effectLst/>
                <a:uLnTx/>
                <a:uFillTx/>
                <a:latin typeface="Poppins"/>
                <a:ea typeface="+mn-ea"/>
                <a:cs typeface="+mn-cs"/>
              </a:rPr>
              <a:t>Why </a:t>
            </a:r>
            <a:r>
              <a:rPr kumimoji="0" lang="pl-PL" sz="1000" b="1" i="0" u="none" strike="noStrike" kern="1200" cap="none" spc="0" normalizeH="0" baseline="0" noProof="0">
                <a:ln>
                  <a:noFill/>
                </a:ln>
                <a:solidFill>
                  <a:srgbClr val="C00000"/>
                </a:solidFill>
                <a:effectLst/>
                <a:uLnTx/>
                <a:uFillTx/>
                <a:latin typeface="Poppins"/>
                <a:ea typeface="+mn-ea"/>
                <a:cs typeface="+mn-cs"/>
              </a:rPr>
              <a:t>they are not GEO friendly?</a:t>
            </a:r>
            <a:endParaRPr kumimoji="0" lang="en-US" sz="1000" b="1" i="0" u="none" strike="noStrike" kern="1200" cap="none" spc="0" normalizeH="0" baseline="0" noProof="0">
              <a:ln>
                <a:noFill/>
              </a:ln>
              <a:solidFill>
                <a:srgbClr val="C00000"/>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lvl="0" indent="-213995">
              <a:buClr>
                <a:srgbClr val="C00000"/>
              </a:buClr>
              <a:buFont typeface="Arial" panose="020B0604020202020204" pitchFamily="34" charset="0"/>
              <a:buChar char="•"/>
              <a:defRPr/>
            </a:pPr>
            <a:r>
              <a:rPr lang="en-US" sz="1000">
                <a:solidFill>
                  <a:srgbClr val="0A2F24"/>
                </a:solidFill>
              </a:rPr>
              <a:t>No content meaning</a:t>
            </a:r>
          </a:p>
          <a:p>
            <a:pPr marL="213995" lvl="0" indent="-213995">
              <a:buClr>
                <a:srgbClr val="C00000"/>
              </a:buClr>
              <a:buFont typeface="Arial" panose="020B0604020202020204" pitchFamily="34" charset="0"/>
              <a:buChar char="•"/>
              <a:defRPr/>
            </a:pPr>
            <a:r>
              <a:rPr lang="en-US" sz="1000">
                <a:solidFill>
                  <a:srgbClr val="0A2F24"/>
                </a:solidFill>
              </a:rPr>
              <a:t>Not searchable or descriptive</a:t>
            </a:r>
          </a:p>
          <a:p>
            <a:pPr marL="213995" lvl="0" indent="-213995">
              <a:buClr>
                <a:srgbClr val="C00000"/>
              </a:buClr>
              <a:buFont typeface="Arial" panose="020B0604020202020204" pitchFamily="34" charset="0"/>
              <a:buChar char="•"/>
              <a:defRPr/>
            </a:pPr>
            <a:r>
              <a:rPr lang="en-US" sz="1000">
                <a:solidFill>
                  <a:srgbClr val="0A2F24"/>
                </a:solidFill>
              </a:rPr>
              <a:t>Relies on marketing language.</a:t>
            </a:r>
          </a:p>
        </p:txBody>
      </p:sp>
      <p:sp>
        <p:nvSpPr>
          <p:cNvPr id="30" name="TextBox 29">
            <a:extLst>
              <a:ext uri="{FF2B5EF4-FFF2-40B4-BE49-F238E27FC236}">
                <a16:creationId xmlns:a16="http://schemas.microsoft.com/office/drawing/2014/main" id="{1A49D1A5-D76F-1D38-9FBF-0B00A5F630C3}"/>
              </a:ext>
            </a:extLst>
          </p:cNvPr>
          <p:cNvSpPr txBox="1"/>
          <p:nvPr/>
        </p:nvSpPr>
        <p:spPr>
          <a:xfrm>
            <a:off x="6300228" y="3625666"/>
            <a:ext cx="2559609" cy="1015663"/>
          </a:xfrm>
          <a:prstGeom prst="rect">
            <a:avLst/>
          </a:prstGeom>
          <a:noFill/>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rPr>
              <a:t>Why </a:t>
            </a:r>
            <a:r>
              <a:rPr kumimoji="0" lang="pl-PL" sz="1000" b="1" i="0" u="none" strike="noStrike" kern="1200" cap="none" spc="0" normalizeH="0" baseline="0" noProof="0">
                <a:ln>
                  <a:noFill/>
                </a:ln>
                <a:solidFill>
                  <a:schemeClr val="tx2">
                    <a:lumMod val="76000"/>
                  </a:schemeClr>
                </a:solidFill>
                <a:effectLst/>
                <a:uLnTx/>
                <a:uFillTx/>
                <a:latin typeface="Poppins"/>
                <a:ea typeface="+mn-ea"/>
                <a:cs typeface="+mn-cs"/>
              </a:rPr>
              <a:t>they work</a:t>
            </a:r>
            <a:r>
              <a:rPr lang="en-US" sz="1000" b="1">
                <a:solidFill>
                  <a:schemeClr val="tx2">
                    <a:lumMod val="76000"/>
                  </a:schemeClr>
                </a:solidFill>
                <a:latin typeface="Poppins"/>
              </a:rPr>
              <a:t>?</a:t>
            </a:r>
            <a:endParaRPr kumimoji="0" lang="en-US" sz="1000" b="1" i="0" u="none" strike="noStrike" kern="1200" cap="none" spc="0" normalizeH="0" baseline="0" noProof="0">
              <a:ln>
                <a:noFill/>
              </a:ln>
              <a:solidFill>
                <a:schemeClr val="tx2">
                  <a:lumMod val="76000"/>
                </a:schemeClr>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24"/>
              </a:solidFill>
              <a:effectLst/>
              <a:uLnTx/>
              <a:uFillTx/>
              <a:latin typeface="Poppins"/>
              <a:ea typeface="+mn-ea"/>
              <a:cs typeface="+mn-cs"/>
            </a:endParaRP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Describes what the user gets</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Neutral, informative, AI‑readable</a:t>
            </a:r>
          </a:p>
          <a:p>
            <a:pPr marL="213995" marR="0" lvl="0" indent="-213995" algn="l" defTabSz="457184" rtl="0" eaLnBrk="1" fontAlgn="auto" latinLnBrk="0" hangingPunct="1">
              <a:lnSpc>
                <a:spcPct val="100000"/>
              </a:lnSpc>
              <a:spcBef>
                <a:spcPts val="0"/>
              </a:spcBef>
              <a:spcAft>
                <a:spcPts val="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Matches the asset title and summary</a:t>
            </a:r>
          </a:p>
        </p:txBody>
      </p:sp>
      <p:graphicFrame>
        <p:nvGraphicFramePr>
          <p:cNvPr id="31" name="Table 30">
            <a:extLst>
              <a:ext uri="{FF2B5EF4-FFF2-40B4-BE49-F238E27FC236}">
                <a16:creationId xmlns:a16="http://schemas.microsoft.com/office/drawing/2014/main" id="{6D98EDBC-0E4A-822C-DA5E-D6E49000A11B}"/>
              </a:ext>
            </a:extLst>
          </p:cNvPr>
          <p:cNvGraphicFramePr>
            <a:graphicFrameLocks noGrp="1"/>
          </p:cNvGraphicFramePr>
          <p:nvPr>
            <p:extLst>
              <p:ext uri="{D42A27DB-BD31-4B8C-83A1-F6EECF244321}">
                <p14:modId xmlns:p14="http://schemas.microsoft.com/office/powerpoint/2010/main" val="2981501257"/>
              </p:ext>
            </p:extLst>
          </p:nvPr>
        </p:nvGraphicFramePr>
        <p:xfrm>
          <a:off x="3740619" y="1169725"/>
          <a:ext cx="5119218" cy="1896759"/>
        </p:xfrm>
        <a:graphic>
          <a:graphicData uri="http://schemas.openxmlformats.org/drawingml/2006/table">
            <a:tbl>
              <a:tblPr firstRow="1" bandRow="1">
                <a:tableStyleId>{5C22544A-7EE6-4342-B048-85BDC9FD1C3A}</a:tableStyleId>
              </a:tblPr>
              <a:tblGrid>
                <a:gridCol w="2559609">
                  <a:extLst>
                    <a:ext uri="{9D8B030D-6E8A-4147-A177-3AD203B41FA5}">
                      <a16:colId xmlns:a16="http://schemas.microsoft.com/office/drawing/2014/main" val="2828880838"/>
                    </a:ext>
                  </a:extLst>
                </a:gridCol>
                <a:gridCol w="2559609">
                  <a:extLst>
                    <a:ext uri="{9D8B030D-6E8A-4147-A177-3AD203B41FA5}">
                      <a16:colId xmlns:a16="http://schemas.microsoft.com/office/drawing/2014/main" val="1729937763"/>
                    </a:ext>
                  </a:extLst>
                </a:gridCol>
              </a:tblGrid>
              <a:tr h="421696">
                <a:tc>
                  <a:txBody>
                    <a:bodyPr/>
                    <a:lstStyle/>
                    <a:p>
                      <a:pPr lvl="0" algn="ctr"/>
                      <a:r>
                        <a:rPr lang="pl-PL" sz="1200">
                          <a:solidFill>
                            <a:schemeClr val="tx1"/>
                          </a:solidFill>
                        </a:rPr>
                        <a:t>Weak CTA examples (to avoid)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chemeClr val="accent5"/>
                          </a:solidFill>
                          <a:effectLst/>
                          <a:uLnTx/>
                          <a:uFillTx/>
                          <a:latin typeface="+mn-lt"/>
                          <a:ea typeface="+mn-ea"/>
                          <a:cs typeface="+mn-cs"/>
                        </a:rPr>
                        <a:t>Good CTA examples (GEO compliant)</a:t>
                      </a:r>
                      <a:endParaRPr kumimoji="0" lang="en-US" sz="1200" b="0" i="0" u="none" strike="noStrike" kern="1200" cap="none" spc="0" normalizeH="0" baseline="0" noProof="0">
                        <a:ln>
                          <a:noFill/>
                        </a:ln>
                        <a:solidFill>
                          <a:schemeClr val="accent5"/>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547516903"/>
                  </a:ext>
                </a:extLst>
              </a:tr>
              <a:tr h="344385">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[Download now]</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[Download the energy management guide]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242934878"/>
                  </a:ext>
                </a:extLst>
              </a:tr>
              <a:tr h="319419">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[Learn more]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[Access the cybersecurity white paper]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1691800"/>
                  </a:ext>
                </a:extLst>
              </a:tr>
              <a:tr h="319419">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[Get started]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[Get the buildings energy report]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9291297"/>
                  </a:ext>
                </a:extLst>
              </a:tr>
              <a:tr h="319419">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[Unlock insights]</a:t>
                      </a:r>
                      <a:endParaRPr kumimoji="0" lang="en-US" sz="1000" b="0" i="0" u="none" strike="noStrike" kern="1200" cap="none" spc="0" normalizeH="0" baseline="0">
                        <a:ln>
                          <a:noFill/>
                        </a:ln>
                        <a:solidFill>
                          <a:srgbClr val="0A2F24"/>
                        </a:solidFill>
                        <a:effectLst/>
                        <a:uLnTx/>
                        <a:uFillTx/>
                        <a:latin typeface="Poppins"/>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
                          <a:srgbClr val="009530"/>
                        </a:buClr>
                        <a:buSzTx/>
                        <a:buFont typeface="Arial" panose="020B0604020202020204" pitchFamily="34" charset="0"/>
                        <a:buNone/>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[Read the guide to IT/OT convergence]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32975272"/>
                  </a:ext>
                </a:extLst>
              </a:tr>
            </a:tbl>
          </a:graphicData>
        </a:graphic>
      </p:graphicFrame>
      <p:pic>
        <p:nvPicPr>
          <p:cNvPr id="33" name="Picture 32">
            <a:extLst>
              <a:ext uri="{FF2B5EF4-FFF2-40B4-BE49-F238E27FC236}">
                <a16:creationId xmlns:a16="http://schemas.microsoft.com/office/drawing/2014/main" id="{6472E95A-CB6D-17E8-1810-8CEEA20E948A}"/>
              </a:ext>
            </a:extLst>
          </p:cNvPr>
          <p:cNvPicPr>
            <a:picLocks noChangeAspect="1"/>
          </p:cNvPicPr>
          <p:nvPr/>
        </p:nvPicPr>
        <p:blipFill>
          <a:blip r:embed="rId3"/>
          <a:stretch>
            <a:fillRect/>
          </a:stretch>
        </p:blipFill>
        <p:spPr>
          <a:xfrm>
            <a:off x="4172917" y="3138194"/>
            <a:ext cx="1346006" cy="487472"/>
          </a:xfrm>
          <a:prstGeom prst="rect">
            <a:avLst/>
          </a:prstGeom>
          <a:ln>
            <a:solidFill>
              <a:schemeClr val="tx1"/>
            </a:solidFill>
          </a:ln>
        </p:spPr>
      </p:pic>
      <p:pic>
        <p:nvPicPr>
          <p:cNvPr id="35" name="Picture 34">
            <a:extLst>
              <a:ext uri="{FF2B5EF4-FFF2-40B4-BE49-F238E27FC236}">
                <a16:creationId xmlns:a16="http://schemas.microsoft.com/office/drawing/2014/main" id="{C1CA3D00-015C-41A9-2F5F-B8EA069ABF00}"/>
              </a:ext>
            </a:extLst>
          </p:cNvPr>
          <p:cNvPicPr>
            <a:picLocks noChangeAspect="1"/>
          </p:cNvPicPr>
          <p:nvPr/>
        </p:nvPicPr>
        <p:blipFill>
          <a:blip r:embed="rId4"/>
          <a:stretch>
            <a:fillRect/>
          </a:stretch>
        </p:blipFill>
        <p:spPr>
          <a:xfrm>
            <a:off x="5951221" y="3154519"/>
            <a:ext cx="2908616" cy="454036"/>
          </a:xfrm>
          <a:prstGeom prst="rect">
            <a:avLst/>
          </a:prstGeom>
          <a:ln>
            <a:solidFill>
              <a:schemeClr val="tx1"/>
            </a:solidFill>
          </a:ln>
        </p:spPr>
      </p:pic>
      <p:cxnSp>
        <p:nvCxnSpPr>
          <p:cNvPr id="36" name="Straight Arrow Connector 35">
            <a:extLst>
              <a:ext uri="{FF2B5EF4-FFF2-40B4-BE49-F238E27FC236}">
                <a16:creationId xmlns:a16="http://schemas.microsoft.com/office/drawing/2014/main" id="{25C209E3-E995-DEE9-8666-566B993C64AF}"/>
              </a:ext>
            </a:extLst>
          </p:cNvPr>
          <p:cNvCxnSpPr>
            <a:cxnSpLocks/>
            <a:stCxn id="33" idx="3"/>
            <a:endCxn id="35" idx="1"/>
          </p:cNvCxnSpPr>
          <p:nvPr/>
        </p:nvCxnSpPr>
        <p:spPr>
          <a:xfrm flipV="1">
            <a:off x="5518923" y="3381537"/>
            <a:ext cx="432298" cy="393"/>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45" name="Table 44">
            <a:extLst>
              <a:ext uri="{FF2B5EF4-FFF2-40B4-BE49-F238E27FC236}">
                <a16:creationId xmlns:a16="http://schemas.microsoft.com/office/drawing/2014/main" id="{4228CBC8-1475-47A6-3AC1-1F503C12C58D}"/>
              </a:ext>
            </a:extLst>
          </p:cNvPr>
          <p:cNvGraphicFramePr>
            <a:graphicFrameLocks noGrp="1"/>
          </p:cNvGraphicFramePr>
          <p:nvPr>
            <p:extLst>
              <p:ext uri="{D42A27DB-BD31-4B8C-83A1-F6EECF244321}">
                <p14:modId xmlns:p14="http://schemas.microsoft.com/office/powerpoint/2010/main" val="2963622941"/>
              </p:ext>
            </p:extLst>
          </p:nvPr>
        </p:nvGraphicFramePr>
        <p:xfrm>
          <a:off x="191708" y="1169725"/>
          <a:ext cx="3130899" cy="2895600"/>
        </p:xfrm>
        <a:graphic>
          <a:graphicData uri="http://schemas.openxmlformats.org/drawingml/2006/table">
            <a:tbl>
              <a:tblPr firstRow="1" bandRow="1">
                <a:tableStyleId>{5C22544A-7EE6-4342-B048-85BDC9FD1C3A}</a:tableStyleId>
              </a:tblPr>
              <a:tblGrid>
                <a:gridCol w="3130899">
                  <a:extLst>
                    <a:ext uri="{9D8B030D-6E8A-4147-A177-3AD203B41FA5}">
                      <a16:colId xmlns:a16="http://schemas.microsoft.com/office/drawing/2014/main" val="896702349"/>
                    </a:ext>
                  </a:extLst>
                </a:gridCol>
              </a:tblGrid>
              <a:tr h="260914">
                <a:tc>
                  <a:txBody>
                    <a:bodyPr/>
                    <a:lstStyle/>
                    <a:p>
                      <a:pPr algn="ctr"/>
                      <a:r>
                        <a:rPr lang="pl-PL" sz="1200" b="1">
                          <a:solidFill>
                            <a:schemeClr val="accent5"/>
                          </a:solidFill>
                        </a:rPr>
                        <a:t>General Rules</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marL="0" indent="0">
                        <a:lnSpc>
                          <a:spcPct val="150000"/>
                        </a:lnSpc>
                        <a:buClr>
                          <a:schemeClr val="tx2"/>
                        </a:buClr>
                        <a:buFont typeface="Arial" panose="020B0604020202020204" pitchFamily="34" charset="0"/>
                        <a:buNone/>
                      </a:pPr>
                      <a:r>
                        <a:rPr lang="pl-PL" sz="1000"/>
                        <a:t>AI engines </a:t>
                      </a:r>
                      <a:r>
                        <a:rPr lang="en-US" sz="1000" b="1"/>
                        <a:t>prioritize</a:t>
                      </a:r>
                      <a:r>
                        <a:rPr lang="en-US" sz="1000"/>
                        <a:t> natural, highly-specific CTAs that directly </a:t>
                      </a:r>
                      <a:r>
                        <a:rPr lang="en-US" sz="1000" b="1"/>
                        <a:t>match a reader's intent</a:t>
                      </a:r>
                      <a:r>
                        <a:rPr lang="en-US" sz="1000"/>
                        <a:t> to encourage user action</a:t>
                      </a:r>
                    </a:p>
                    <a:p>
                      <a:pPr marL="0" indent="0" defTabSz="457172">
                        <a:lnSpc>
                          <a:spcPct val="150000"/>
                        </a:lnSpc>
                        <a:spcBef>
                          <a:spcPts val="500"/>
                        </a:spcBef>
                        <a:spcAft>
                          <a:spcPts val="500"/>
                        </a:spcAft>
                        <a:buClr>
                          <a:schemeClr val="tx2"/>
                        </a:buClr>
                        <a:buFont typeface="Arial" panose="020B0604020202020204" pitchFamily="34" charset="0"/>
                        <a:buNone/>
                        <a:defRPr/>
                      </a:pPr>
                      <a:r>
                        <a:rPr lang="en-US" sz="1000"/>
                        <a:t>CTAs should optimize for </a:t>
                      </a:r>
                      <a:r>
                        <a:rPr lang="en-US" sz="1000" b="1"/>
                        <a:t>user intent </a:t>
                      </a:r>
                      <a:r>
                        <a:rPr lang="en-US" sz="1000"/>
                        <a:t>and clarity, </a:t>
                      </a:r>
                      <a:r>
                        <a:rPr lang="en-US" sz="1000" b="1"/>
                        <a:t>not marketing language </a:t>
                      </a:r>
                    </a:p>
                    <a:p>
                      <a:pPr defTabSz="457172">
                        <a:lnSpc>
                          <a:spcPct val="150000"/>
                        </a:lnSpc>
                        <a:spcBef>
                          <a:spcPts val="500"/>
                        </a:spcBef>
                        <a:spcAft>
                          <a:spcPts val="500"/>
                        </a:spcAft>
                        <a:buClr>
                          <a:srgbClr val="3DCD58"/>
                        </a:buClr>
                        <a:defRPr/>
                      </a:pPr>
                      <a:r>
                        <a:rPr lang="en-US" sz="1050" b="1"/>
                        <a:t>Best CTA Practices</a:t>
                      </a:r>
                    </a:p>
                    <a:p>
                      <a:pPr indent="-128270" defTabSz="457172">
                        <a:lnSpc>
                          <a:spcPct val="150000"/>
                        </a:lnSpc>
                        <a:buClr>
                          <a:srgbClr val="3DCD58"/>
                        </a:buClr>
                        <a:buFont typeface="Arial" panose="020B0604020202020204" pitchFamily="34" charset="0"/>
                        <a:buChar char="•"/>
                        <a:defRPr/>
                      </a:pPr>
                      <a:r>
                        <a:rPr lang="en-US" sz="1000"/>
                        <a:t>Place CTAs after informational sections</a:t>
                      </a:r>
                    </a:p>
                    <a:p>
                      <a:pPr indent="-128270" defTabSz="457172">
                        <a:lnSpc>
                          <a:spcPct val="150000"/>
                        </a:lnSpc>
                        <a:buClr>
                          <a:srgbClr val="3DCD58"/>
                        </a:buClr>
                        <a:buFont typeface="Arial" panose="020B0604020202020204" pitchFamily="34" charset="0"/>
                        <a:buChar char="•"/>
                        <a:defRPr/>
                      </a:pPr>
                      <a:r>
                        <a:rPr lang="en-US" sz="1000"/>
                        <a:t>Use intent‑based language</a:t>
                      </a:r>
                    </a:p>
                    <a:p>
                      <a:pPr indent="-128270" defTabSz="457172">
                        <a:lnSpc>
                          <a:spcPct val="150000"/>
                        </a:lnSpc>
                        <a:buClr>
                          <a:srgbClr val="3DCD58"/>
                        </a:buClr>
                        <a:buFont typeface="Arial" panose="020B0604020202020204" pitchFamily="34" charset="0"/>
                        <a:buChar char="•"/>
                        <a:defRPr/>
                      </a:pPr>
                      <a:r>
                        <a:rPr lang="en-US" sz="1000"/>
                        <a:t>Avoid vague phrases like “Learn more”, “Know more”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spTree>
    <p:extLst>
      <p:ext uri="{BB962C8B-B14F-4D97-AF65-F5344CB8AC3E}">
        <p14:creationId xmlns:p14="http://schemas.microsoft.com/office/powerpoint/2010/main" val="3312809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DDE8-D7A6-B3E4-2435-68BBB76E7EBB}"/>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5D81C129-D6E1-39AA-5E15-730410C79C28}"/>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B531DFD-EA78-5970-1ABA-FE1B87AF5C5F}"/>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in action</a:t>
            </a:r>
            <a:r>
              <a:rPr lang="en-US" sz="2200">
                <a:solidFill>
                  <a:schemeClr val="accent5"/>
                </a:solidFill>
                <a:cs typeface="Arial"/>
              </a:rPr>
              <a:t>: </a:t>
            </a:r>
            <a:r>
              <a:rPr lang="pl-PL" sz="2200">
                <a:solidFill>
                  <a:schemeClr val="accent5"/>
                </a:solidFill>
                <a:cs typeface="Arial"/>
              </a:rPr>
              <a:t>Short Content Forms for Object Description -Examples</a:t>
            </a:r>
            <a:endParaRPr lang="en-US" sz="2200">
              <a:solidFill>
                <a:schemeClr val="accent5"/>
              </a:solidFill>
              <a:cs typeface="Arial"/>
            </a:endParaRPr>
          </a:p>
        </p:txBody>
      </p:sp>
      <p:sp>
        <p:nvSpPr>
          <p:cNvPr id="12" name="Text 2">
            <a:extLst>
              <a:ext uri="{FF2B5EF4-FFF2-40B4-BE49-F238E27FC236}">
                <a16:creationId xmlns:a16="http://schemas.microsoft.com/office/drawing/2014/main" id="{A704367E-962E-A772-87C5-73FF5379FC22}"/>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0C0974A8-4902-9B60-7069-176934467FC0}"/>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DC3B5AF2-F7B3-57E1-3C14-21AB102D232F}"/>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30</a:t>
            </a:fld>
            <a:endParaRPr lang="en-US">
              <a:solidFill>
                <a:srgbClr val="3DCD58"/>
              </a:solidFill>
            </a:endParaRPr>
          </a:p>
        </p:txBody>
      </p:sp>
      <p:pic>
        <p:nvPicPr>
          <p:cNvPr id="2" name="Picture 1">
            <a:extLst>
              <a:ext uri="{FF2B5EF4-FFF2-40B4-BE49-F238E27FC236}">
                <a16:creationId xmlns:a16="http://schemas.microsoft.com/office/drawing/2014/main" id="{3C5CFCE8-5942-3D43-560D-270E20A523EC}"/>
              </a:ext>
            </a:extLst>
          </p:cNvPr>
          <p:cNvPicPr>
            <a:picLocks noChangeAspect="1"/>
          </p:cNvPicPr>
          <p:nvPr/>
        </p:nvPicPr>
        <p:blipFill>
          <a:blip r:embed="rId3"/>
          <a:stretch>
            <a:fillRect/>
          </a:stretch>
        </p:blipFill>
        <p:spPr>
          <a:xfrm>
            <a:off x="825960" y="1535232"/>
            <a:ext cx="2118942" cy="2105866"/>
          </a:xfrm>
          <a:prstGeom prst="rect">
            <a:avLst/>
          </a:prstGeom>
          <a:ln>
            <a:solidFill>
              <a:schemeClr val="tx1"/>
            </a:solidFill>
          </a:ln>
        </p:spPr>
      </p:pic>
      <p:pic>
        <p:nvPicPr>
          <p:cNvPr id="4" name="Picture 3">
            <a:extLst>
              <a:ext uri="{FF2B5EF4-FFF2-40B4-BE49-F238E27FC236}">
                <a16:creationId xmlns:a16="http://schemas.microsoft.com/office/drawing/2014/main" id="{A9A49C2D-50FC-E787-2C25-54C93AF52C24}"/>
              </a:ext>
            </a:extLst>
          </p:cNvPr>
          <p:cNvPicPr>
            <a:picLocks noChangeAspect="1"/>
          </p:cNvPicPr>
          <p:nvPr/>
        </p:nvPicPr>
        <p:blipFill>
          <a:blip r:embed="rId4"/>
          <a:srcRect r="49247"/>
          <a:stretch>
            <a:fillRect/>
          </a:stretch>
        </p:blipFill>
        <p:spPr>
          <a:xfrm>
            <a:off x="3639433" y="1562843"/>
            <a:ext cx="1946481" cy="2078255"/>
          </a:xfrm>
          <a:prstGeom prst="rect">
            <a:avLst/>
          </a:prstGeom>
          <a:ln>
            <a:solidFill>
              <a:schemeClr val="tx1"/>
            </a:solidFill>
          </a:ln>
        </p:spPr>
      </p:pic>
      <p:pic>
        <p:nvPicPr>
          <p:cNvPr id="10" name="Picture 9">
            <a:extLst>
              <a:ext uri="{FF2B5EF4-FFF2-40B4-BE49-F238E27FC236}">
                <a16:creationId xmlns:a16="http://schemas.microsoft.com/office/drawing/2014/main" id="{78AA59D5-2649-5383-1F4E-30D6370BC7E8}"/>
              </a:ext>
            </a:extLst>
          </p:cNvPr>
          <p:cNvPicPr>
            <a:picLocks noChangeAspect="1"/>
          </p:cNvPicPr>
          <p:nvPr/>
        </p:nvPicPr>
        <p:blipFill>
          <a:blip r:embed="rId5"/>
          <a:stretch>
            <a:fillRect/>
          </a:stretch>
        </p:blipFill>
        <p:spPr>
          <a:xfrm>
            <a:off x="6256961" y="1535232"/>
            <a:ext cx="2024372" cy="2111083"/>
          </a:xfrm>
          <a:prstGeom prst="rect">
            <a:avLst/>
          </a:prstGeom>
          <a:ln>
            <a:solidFill>
              <a:schemeClr val="tx1"/>
            </a:solidFill>
          </a:ln>
        </p:spPr>
      </p:pic>
      <p:sp>
        <p:nvSpPr>
          <p:cNvPr id="15" name="TextBox 14">
            <a:extLst>
              <a:ext uri="{FF2B5EF4-FFF2-40B4-BE49-F238E27FC236}">
                <a16:creationId xmlns:a16="http://schemas.microsoft.com/office/drawing/2014/main" id="{2FEEEB52-DE1D-6098-6A9F-AB6590BC88C2}"/>
              </a:ext>
            </a:extLst>
          </p:cNvPr>
          <p:cNvSpPr txBox="1"/>
          <p:nvPr/>
        </p:nvSpPr>
        <p:spPr>
          <a:xfrm>
            <a:off x="6256961" y="1094599"/>
            <a:ext cx="2024371" cy="400110"/>
          </a:xfrm>
          <a:prstGeom prst="rect">
            <a:avLst/>
          </a:prstGeom>
          <a:solidFill>
            <a:schemeClr val="tx1"/>
          </a:solidFill>
          <a:ln>
            <a:solidFill>
              <a:schemeClr val="tx1"/>
            </a:solidFill>
          </a:ln>
        </p:spPr>
        <p:txBody>
          <a:bodyPr wrap="square" lIns="91440" tIns="45720" rIns="91440" bIns="45720" anchor="t">
            <a:spAutoFit/>
          </a:bodyPr>
          <a:lstStyle/>
          <a:p>
            <a:pPr algn="ctr"/>
            <a:r>
              <a:rPr lang="en-US" sz="1000" b="1">
                <a:solidFill>
                  <a:schemeClr val="accent5"/>
                </a:solidFill>
              </a:rPr>
              <a:t>Improved copy (with  character constraints)</a:t>
            </a:r>
          </a:p>
        </p:txBody>
      </p:sp>
      <p:sp>
        <p:nvSpPr>
          <p:cNvPr id="16" name="TextBox 15">
            <a:extLst>
              <a:ext uri="{FF2B5EF4-FFF2-40B4-BE49-F238E27FC236}">
                <a16:creationId xmlns:a16="http://schemas.microsoft.com/office/drawing/2014/main" id="{05F27DBB-6510-CC5D-A347-6441A0E10A46}"/>
              </a:ext>
            </a:extLst>
          </p:cNvPr>
          <p:cNvSpPr txBox="1"/>
          <p:nvPr/>
        </p:nvSpPr>
        <p:spPr>
          <a:xfrm>
            <a:off x="3627691" y="1086905"/>
            <a:ext cx="1958223" cy="415498"/>
          </a:xfrm>
          <a:prstGeom prst="rect">
            <a:avLst/>
          </a:prstGeom>
          <a:solidFill>
            <a:schemeClr val="tx1"/>
          </a:solidFill>
          <a:ln>
            <a:solidFill>
              <a:schemeClr val="tx1"/>
            </a:solidFill>
          </a:ln>
        </p:spPr>
        <p:txBody>
          <a:bodyPr wrap="square" lIns="91440" tIns="45720" rIns="91440" bIns="45720" anchor="t">
            <a:spAutoFit/>
          </a:bodyPr>
          <a:lstStyle/>
          <a:p>
            <a:pPr algn="ctr"/>
            <a:r>
              <a:rPr lang="en-US" sz="1000" b="1">
                <a:solidFill>
                  <a:schemeClr val="accent5"/>
                </a:solidFill>
              </a:rPr>
              <a:t>Improved copy (no  character constraints)</a:t>
            </a:r>
          </a:p>
        </p:txBody>
      </p:sp>
      <p:sp>
        <p:nvSpPr>
          <p:cNvPr id="18" name="TextBox 17">
            <a:extLst>
              <a:ext uri="{FF2B5EF4-FFF2-40B4-BE49-F238E27FC236}">
                <a16:creationId xmlns:a16="http://schemas.microsoft.com/office/drawing/2014/main" id="{67EAE130-593C-94DE-35C4-E038EE4EB23F}"/>
              </a:ext>
            </a:extLst>
          </p:cNvPr>
          <p:cNvSpPr txBox="1"/>
          <p:nvPr/>
        </p:nvSpPr>
        <p:spPr>
          <a:xfrm>
            <a:off x="825960" y="1102293"/>
            <a:ext cx="2118942" cy="400110"/>
          </a:xfrm>
          <a:prstGeom prst="rect">
            <a:avLst/>
          </a:prstGeom>
          <a:solidFill>
            <a:schemeClr val="accent2"/>
          </a:solidFill>
          <a:ln>
            <a:solidFill>
              <a:schemeClr val="tx1"/>
            </a:solidFill>
          </a:ln>
        </p:spPr>
        <p:txBody>
          <a:bodyPr wrap="square" lIns="91440" tIns="45720" rIns="91440" bIns="45720" anchor="t">
            <a:spAutoFit/>
          </a:bodyPr>
          <a:lstStyle/>
          <a:p>
            <a:pPr algn="ctr"/>
            <a:r>
              <a:rPr lang="en-US" sz="1000" b="1"/>
              <a:t>Example from live page without GEO-optimization</a:t>
            </a:r>
          </a:p>
        </p:txBody>
      </p:sp>
      <p:sp>
        <p:nvSpPr>
          <p:cNvPr id="20" name="TextBox 19">
            <a:extLst>
              <a:ext uri="{FF2B5EF4-FFF2-40B4-BE49-F238E27FC236}">
                <a16:creationId xmlns:a16="http://schemas.microsoft.com/office/drawing/2014/main" id="{E7C2596A-C615-5E12-001E-4E23BD4215B1}"/>
              </a:ext>
            </a:extLst>
          </p:cNvPr>
          <p:cNvSpPr txBox="1"/>
          <p:nvPr/>
        </p:nvSpPr>
        <p:spPr>
          <a:xfrm>
            <a:off x="3627691" y="3734366"/>
            <a:ext cx="1958223" cy="1258037"/>
          </a:xfrm>
          <a:prstGeom prst="rect">
            <a:avLst/>
          </a:prstGeom>
          <a:solidFill>
            <a:schemeClr val="accent5"/>
          </a:solidFill>
          <a:ln>
            <a:solidFill>
              <a:schemeClr val="tx1"/>
            </a:solidFill>
          </a:ln>
        </p:spPr>
        <p:txBody>
          <a:bodyPr wrap="square" lIns="91440" tIns="45720" rIns="91440" bIns="45720" anchor="t">
            <a:spAutoFit/>
          </a:bodyPr>
          <a:lstStyle/>
          <a:p>
            <a:pPr>
              <a:lnSpc>
                <a:spcPct val="150000"/>
              </a:lnSpc>
            </a:pPr>
            <a:r>
              <a:rPr lang="en-US" sz="1050" b="1"/>
              <a:t>What works for GEO</a:t>
            </a:r>
            <a:endParaRPr lang="en-US" sz="1000"/>
          </a:p>
          <a:p>
            <a:pPr marL="128270" indent="-128270">
              <a:spcBef>
                <a:spcPts val="0"/>
              </a:spcBef>
              <a:spcAft>
                <a:spcPts val="0"/>
              </a:spcAft>
              <a:buClr>
                <a:srgbClr val="3DCD58"/>
              </a:buClr>
              <a:buFont typeface="Arial" panose="020B0604020202020204" pitchFamily="34" charset="0"/>
              <a:buChar char="•"/>
              <a:defRPr/>
            </a:pPr>
            <a:r>
              <a:rPr lang="en-US" sz="1000"/>
              <a:t>Answer‑first framing</a:t>
            </a:r>
          </a:p>
          <a:p>
            <a:pPr marL="128270" indent="-128270">
              <a:spcBef>
                <a:spcPts val="0"/>
              </a:spcBef>
              <a:spcAft>
                <a:spcPts val="0"/>
              </a:spcAft>
              <a:buClr>
                <a:srgbClr val="3DCD58"/>
              </a:buClr>
              <a:buFont typeface="Arial" panose="020B0604020202020204" pitchFamily="34" charset="0"/>
              <a:buChar char="•"/>
              <a:defRPr/>
            </a:pPr>
            <a:r>
              <a:rPr lang="en-US" sz="1000"/>
              <a:t>Strong entity + outcome linkage</a:t>
            </a:r>
          </a:p>
          <a:p>
            <a:pPr marL="128270" indent="-128270">
              <a:spcBef>
                <a:spcPts val="0"/>
              </a:spcBef>
              <a:spcAft>
                <a:spcPts val="0"/>
              </a:spcAft>
              <a:buClr>
                <a:srgbClr val="3DCD58"/>
              </a:buClr>
              <a:buFont typeface="Arial" panose="020B0604020202020204" pitchFamily="34" charset="0"/>
              <a:buChar char="•"/>
              <a:defRPr/>
            </a:pPr>
            <a:r>
              <a:rPr lang="en-US" sz="1000"/>
              <a:t>AI‑quotable structure</a:t>
            </a:r>
          </a:p>
          <a:p>
            <a:pPr marL="128270" indent="-128270">
              <a:spcBef>
                <a:spcPts val="0"/>
              </a:spcBef>
              <a:spcAft>
                <a:spcPts val="0"/>
              </a:spcAft>
              <a:buClr>
                <a:srgbClr val="3DCD58"/>
              </a:buClr>
              <a:buFont typeface="Arial" panose="020B0604020202020204" pitchFamily="34" charset="0"/>
              <a:buChar char="•"/>
              <a:defRPr/>
            </a:pPr>
            <a:r>
              <a:rPr lang="en-US" sz="1000"/>
              <a:t>CTA reinforces intent, not just action</a:t>
            </a:r>
          </a:p>
        </p:txBody>
      </p:sp>
      <p:sp>
        <p:nvSpPr>
          <p:cNvPr id="21" name="Rectangle 20">
            <a:extLst>
              <a:ext uri="{FF2B5EF4-FFF2-40B4-BE49-F238E27FC236}">
                <a16:creationId xmlns:a16="http://schemas.microsoft.com/office/drawing/2014/main" id="{670D047C-F5AA-8B27-2EDB-5779D7FE7313}"/>
              </a:ext>
            </a:extLst>
          </p:cNvPr>
          <p:cNvSpPr/>
          <p:nvPr/>
        </p:nvSpPr>
        <p:spPr>
          <a:xfrm>
            <a:off x="0" y="4770120"/>
            <a:ext cx="2124328" cy="3733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2" name="Rectangle 21">
            <a:extLst>
              <a:ext uri="{FF2B5EF4-FFF2-40B4-BE49-F238E27FC236}">
                <a16:creationId xmlns:a16="http://schemas.microsoft.com/office/drawing/2014/main" id="{939AD27B-19C6-B070-0F58-E267B4386BEE}"/>
              </a:ext>
            </a:extLst>
          </p:cNvPr>
          <p:cNvSpPr/>
          <p:nvPr/>
        </p:nvSpPr>
        <p:spPr>
          <a:xfrm>
            <a:off x="7019672" y="4617720"/>
            <a:ext cx="2124328" cy="52044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19" name="TextBox 18">
            <a:extLst>
              <a:ext uri="{FF2B5EF4-FFF2-40B4-BE49-F238E27FC236}">
                <a16:creationId xmlns:a16="http://schemas.microsoft.com/office/drawing/2014/main" id="{99A7B2FA-F745-497A-D4CE-0D67707CCBE0}"/>
              </a:ext>
            </a:extLst>
          </p:cNvPr>
          <p:cNvSpPr txBox="1"/>
          <p:nvPr/>
        </p:nvSpPr>
        <p:spPr>
          <a:xfrm>
            <a:off x="6256961" y="3734366"/>
            <a:ext cx="2024373" cy="1261872"/>
          </a:xfrm>
          <a:prstGeom prst="rect">
            <a:avLst/>
          </a:prstGeom>
          <a:solidFill>
            <a:schemeClr val="accent5"/>
          </a:solidFill>
          <a:ln>
            <a:solidFill>
              <a:schemeClr val="tx1"/>
            </a:solidFill>
          </a:ln>
        </p:spPr>
        <p:txBody>
          <a:bodyPr wrap="square" lIns="91440" tIns="45720" rIns="91440" bIns="45720" anchor="t">
            <a:spAutoFit/>
          </a:bodyPr>
          <a:lstStyle/>
          <a:p>
            <a:pPr>
              <a:lnSpc>
                <a:spcPct val="150000"/>
              </a:lnSpc>
            </a:pPr>
            <a:r>
              <a:rPr lang="en-US" sz="1050" b="1"/>
              <a:t>What works for GEO</a:t>
            </a:r>
            <a:r>
              <a:rPr lang="pl-PL" sz="1050" b="1"/>
              <a:t> </a:t>
            </a:r>
            <a:endParaRPr lang="pl-PL" sz="1000" b="1"/>
          </a:p>
          <a:p>
            <a:pPr marL="128270" indent="-128270">
              <a:buClr>
                <a:srgbClr val="3DCD58"/>
              </a:buClr>
              <a:buFont typeface="Arial" panose="020B0604020202020204" pitchFamily="34" charset="0"/>
              <a:buChar char="•"/>
              <a:defRPr/>
            </a:pPr>
            <a:r>
              <a:rPr lang="en-US" sz="1000"/>
              <a:t>“See how” framing</a:t>
            </a:r>
            <a:endParaRPr lang="pl-PL" sz="1000"/>
          </a:p>
          <a:p>
            <a:pPr marL="128270" indent="-128270">
              <a:spcBef>
                <a:spcPts val="0"/>
              </a:spcBef>
              <a:spcAft>
                <a:spcPts val="0"/>
              </a:spcAft>
              <a:buClr>
                <a:srgbClr val="3DCD58"/>
              </a:buClr>
              <a:buFont typeface="Arial" panose="020B0604020202020204" pitchFamily="34" charset="0"/>
              <a:buChar char="•"/>
              <a:defRPr/>
            </a:pPr>
            <a:r>
              <a:rPr lang="en-US" sz="1000"/>
              <a:t>Short entity recognition and outcome keywords</a:t>
            </a:r>
          </a:p>
          <a:p>
            <a:pPr marL="128270" indent="-128270">
              <a:spcBef>
                <a:spcPts val="0"/>
              </a:spcBef>
              <a:spcAft>
                <a:spcPts val="0"/>
              </a:spcAft>
              <a:buClr>
                <a:srgbClr val="3DCD58"/>
              </a:buClr>
              <a:buFont typeface="Arial" panose="020B0604020202020204" pitchFamily="34" charset="0"/>
              <a:buChar char="•"/>
              <a:defRPr/>
            </a:pPr>
            <a:r>
              <a:rPr lang="en-US" sz="1000"/>
              <a:t>Strong CTA signaling learning + explanation</a:t>
            </a:r>
          </a:p>
        </p:txBody>
      </p:sp>
      <p:sp>
        <p:nvSpPr>
          <p:cNvPr id="3" name="TextBox 2">
            <a:extLst>
              <a:ext uri="{FF2B5EF4-FFF2-40B4-BE49-F238E27FC236}">
                <a16:creationId xmlns:a16="http://schemas.microsoft.com/office/drawing/2014/main" id="{31C1E7BA-D201-9FDE-67A6-9BA5235C3707}"/>
              </a:ext>
            </a:extLst>
          </p:cNvPr>
          <p:cNvSpPr txBox="1"/>
          <p:nvPr/>
        </p:nvSpPr>
        <p:spPr>
          <a:xfrm>
            <a:off x="820574" y="3734932"/>
            <a:ext cx="2124328" cy="1238801"/>
          </a:xfrm>
          <a:prstGeom prst="rect">
            <a:avLst/>
          </a:prstGeom>
          <a:solidFill>
            <a:schemeClr val="accent2">
              <a:lumMod val="20000"/>
              <a:lumOff val="80000"/>
            </a:schemeClr>
          </a:solidFill>
          <a:ln>
            <a:solidFill>
              <a:schemeClr val="tx1"/>
            </a:solidFill>
          </a:ln>
        </p:spPr>
        <p:txBody>
          <a:bodyPr wrap="square" lIns="91440" tIns="45720" rIns="91440" bIns="45720" anchor="t">
            <a:spAutoFit/>
          </a:bodyPr>
          <a:lstStyle/>
          <a:p>
            <a:r>
              <a:rPr lang="en-US" sz="1100" b="1"/>
              <a:t>What needs fixing (GEO gaps)</a:t>
            </a:r>
          </a:p>
          <a:p>
            <a:pPr marL="128270" indent="-128270">
              <a:spcBef>
                <a:spcPts val="0"/>
              </a:spcBef>
              <a:spcAft>
                <a:spcPts val="0"/>
              </a:spcAft>
              <a:buClr>
                <a:srgbClr val="3DCD58"/>
              </a:buClr>
              <a:buFont typeface="Arial" panose="020B0604020202020204" pitchFamily="34" charset="0"/>
              <a:buChar char="•"/>
              <a:defRPr/>
            </a:pPr>
            <a:r>
              <a:rPr lang="en-US" sz="1050"/>
              <a:t>Headline is too generic</a:t>
            </a:r>
          </a:p>
          <a:p>
            <a:pPr marL="128270" indent="-128270">
              <a:spcBef>
                <a:spcPts val="0"/>
              </a:spcBef>
              <a:spcAft>
                <a:spcPts val="0"/>
              </a:spcAft>
              <a:buClr>
                <a:srgbClr val="3DCD58"/>
              </a:buClr>
              <a:buFont typeface="Arial" panose="020B0604020202020204" pitchFamily="34" charset="0"/>
              <a:buChar char="•"/>
              <a:defRPr/>
            </a:pPr>
            <a:r>
              <a:rPr lang="en-US" sz="1050"/>
              <a:t>No outcome-driven framing</a:t>
            </a:r>
          </a:p>
          <a:p>
            <a:pPr marL="128270" indent="-128270">
              <a:spcBef>
                <a:spcPts val="0"/>
              </a:spcBef>
              <a:spcAft>
                <a:spcPts val="0"/>
              </a:spcAft>
              <a:buClr>
                <a:srgbClr val="3DCD58"/>
              </a:buClr>
              <a:buFont typeface="Arial" panose="020B0604020202020204" pitchFamily="34" charset="0"/>
              <a:buChar char="•"/>
              <a:defRPr/>
            </a:pPr>
            <a:r>
              <a:rPr lang="en-US" sz="1050"/>
              <a:t>Weak CTA for AI summarization</a:t>
            </a:r>
          </a:p>
        </p:txBody>
      </p:sp>
    </p:spTree>
    <p:extLst>
      <p:ext uri="{BB962C8B-B14F-4D97-AF65-F5344CB8AC3E}">
        <p14:creationId xmlns:p14="http://schemas.microsoft.com/office/powerpoint/2010/main" val="69723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5A064-541F-44EE-0BCC-FFB620D5CD6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5F126DE3-EAA7-A107-FBCD-1D1460F34B45}"/>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739637CA-8BF1-ADC2-0F5D-038374618DAC}"/>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in action</a:t>
            </a:r>
            <a:r>
              <a:rPr lang="en-US" sz="2200">
                <a:solidFill>
                  <a:schemeClr val="accent5"/>
                </a:solidFill>
                <a:cs typeface="Arial"/>
              </a:rPr>
              <a:t>: </a:t>
            </a:r>
            <a:r>
              <a:rPr lang="pl-PL" sz="2200">
                <a:solidFill>
                  <a:schemeClr val="accent5"/>
                </a:solidFill>
                <a:cs typeface="Arial"/>
              </a:rPr>
              <a:t>Medium Content Forms for Object Description</a:t>
            </a:r>
            <a:endParaRPr lang="en-US" sz="2200">
              <a:solidFill>
                <a:schemeClr val="accent5"/>
              </a:solidFill>
              <a:cs typeface="Arial"/>
            </a:endParaRPr>
          </a:p>
        </p:txBody>
      </p:sp>
      <p:sp>
        <p:nvSpPr>
          <p:cNvPr id="12" name="Text 2">
            <a:extLst>
              <a:ext uri="{FF2B5EF4-FFF2-40B4-BE49-F238E27FC236}">
                <a16:creationId xmlns:a16="http://schemas.microsoft.com/office/drawing/2014/main" id="{3E5DE8C5-00D3-D82B-14CF-3713E318FCA8}"/>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63FC8AB4-9C0C-9187-CA81-E406F1EF752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93467AD8-4671-153C-FC5D-ADD2503EA78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31</a:t>
            </a:fld>
            <a:endParaRPr lang="en-US">
              <a:solidFill>
                <a:srgbClr val="3DCD58"/>
              </a:solidFill>
            </a:endParaRPr>
          </a:p>
        </p:txBody>
      </p:sp>
      <p:graphicFrame>
        <p:nvGraphicFramePr>
          <p:cNvPr id="4" name="Table 3">
            <a:extLst>
              <a:ext uri="{FF2B5EF4-FFF2-40B4-BE49-F238E27FC236}">
                <a16:creationId xmlns:a16="http://schemas.microsoft.com/office/drawing/2014/main" id="{06F7CD0B-09D4-8413-38C1-0437D95A0477}"/>
              </a:ext>
            </a:extLst>
          </p:cNvPr>
          <p:cNvGraphicFramePr>
            <a:graphicFrameLocks noGrp="1"/>
          </p:cNvGraphicFramePr>
          <p:nvPr/>
        </p:nvGraphicFramePr>
        <p:xfrm>
          <a:off x="73821" y="1135495"/>
          <a:ext cx="4308799" cy="2401570"/>
        </p:xfrm>
        <a:graphic>
          <a:graphicData uri="http://schemas.openxmlformats.org/drawingml/2006/table">
            <a:tbl>
              <a:tblPr firstRow="1" bandRow="1">
                <a:tableStyleId>{5C22544A-7EE6-4342-B048-85BDC9FD1C3A}</a:tableStyleId>
              </a:tblPr>
              <a:tblGrid>
                <a:gridCol w="4308799">
                  <a:extLst>
                    <a:ext uri="{9D8B030D-6E8A-4147-A177-3AD203B41FA5}">
                      <a16:colId xmlns:a16="http://schemas.microsoft.com/office/drawing/2014/main" val="896702349"/>
                    </a:ext>
                  </a:extLst>
                </a:gridCol>
              </a:tblGrid>
              <a:tr h="239649">
                <a:tc>
                  <a:txBody>
                    <a:bodyPr/>
                    <a:lstStyle/>
                    <a:p>
                      <a:pPr algn="ctr"/>
                      <a:r>
                        <a:rPr lang="en-US" sz="1200" b="1">
                          <a:solidFill>
                            <a:schemeClr val="tx1"/>
                          </a:solidFill>
                        </a:rPr>
                        <a:t>Example without GEO-optimization</a:t>
                      </a:r>
                      <a:endParaRPr lang="pl-PL"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2616454"/>
                  </a:ext>
                </a:extLst>
              </a:tr>
              <a:tr h="370840">
                <a:tc>
                  <a:txBody>
                    <a:bodyPr/>
                    <a:lstStyle/>
                    <a:p>
                      <a:pPr>
                        <a:lnSpc>
                          <a:spcPct val="150000"/>
                        </a:lnSpc>
                      </a:pPr>
                      <a:r>
                        <a:rPr lang="en-US" sz="1000" b="1"/>
                        <a:t>Title:</a:t>
                      </a:r>
                      <a:r>
                        <a:rPr lang="en-US" sz="1000"/>
                        <a:t> Le Grand Monarque Hotel</a:t>
                      </a:r>
                    </a:p>
                    <a:p>
                      <a:pPr>
                        <a:lnSpc>
                          <a:spcPct val="150000"/>
                        </a:lnSpc>
                      </a:pPr>
                      <a:r>
                        <a:rPr lang="en-US" sz="1000" b="1"/>
                        <a:t>Subtitle:</a:t>
                      </a:r>
                      <a:r>
                        <a:rPr lang="en-US" sz="1000"/>
                        <a:t> 15% saving in 6 months</a:t>
                      </a:r>
                    </a:p>
                    <a:p>
                      <a:pPr>
                        <a:lnSpc>
                          <a:spcPct val="150000"/>
                        </a:lnSpc>
                      </a:pPr>
                      <a:r>
                        <a:rPr lang="en-US" sz="1000" b="1"/>
                        <a:t>Description:</a:t>
                      </a:r>
                      <a:r>
                        <a:rPr lang="en-US" sz="1000"/>
                        <a:t> This hotel in France faced soaring energy costs and needed a new approach to managing their energy consumption. In just six months with Energy Management module of the </a:t>
                      </a:r>
                      <a:r>
                        <a:rPr lang="en-US" sz="1000" err="1"/>
                        <a:t>EcoStruxure</a:t>
                      </a:r>
                      <a:r>
                        <a:rPr lang="en-US" sz="1000"/>
                        <a:t> Building Activate, they achieved a 15% reduction in energy consumption while gaining new visibility into carbon emissions.</a:t>
                      </a:r>
                    </a:p>
                    <a:p>
                      <a:pPr>
                        <a:lnSpc>
                          <a:spcPct val="150000"/>
                        </a:lnSpc>
                      </a:pPr>
                      <a:r>
                        <a:rPr lang="en-US" sz="1000" b="1"/>
                        <a:t>CTA: </a:t>
                      </a:r>
                      <a:r>
                        <a:rPr lang="en-US" sz="1000"/>
                        <a:t>Read the full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28453341"/>
                  </a:ext>
                </a:extLst>
              </a:tr>
            </a:tbl>
          </a:graphicData>
        </a:graphic>
      </p:graphicFrame>
      <p:graphicFrame>
        <p:nvGraphicFramePr>
          <p:cNvPr id="10" name="Table 9">
            <a:extLst>
              <a:ext uri="{FF2B5EF4-FFF2-40B4-BE49-F238E27FC236}">
                <a16:creationId xmlns:a16="http://schemas.microsoft.com/office/drawing/2014/main" id="{ADC61391-8BE6-AC90-9FDD-94FD0849EC3E}"/>
              </a:ext>
            </a:extLst>
          </p:cNvPr>
          <p:cNvGraphicFramePr>
            <a:graphicFrameLocks noGrp="1"/>
          </p:cNvGraphicFramePr>
          <p:nvPr>
            <p:extLst>
              <p:ext uri="{D42A27DB-BD31-4B8C-83A1-F6EECF244321}">
                <p14:modId xmlns:p14="http://schemas.microsoft.com/office/powerpoint/2010/main" val="2298186078"/>
              </p:ext>
            </p:extLst>
          </p:nvPr>
        </p:nvGraphicFramePr>
        <p:xfrm>
          <a:off x="4571886" y="1135495"/>
          <a:ext cx="4514340" cy="2503361"/>
        </p:xfrm>
        <a:graphic>
          <a:graphicData uri="http://schemas.openxmlformats.org/drawingml/2006/table">
            <a:tbl>
              <a:tblPr firstRow="1" bandRow="1">
                <a:tableStyleId>{5C22544A-7EE6-4342-B048-85BDC9FD1C3A}</a:tableStyleId>
              </a:tblPr>
              <a:tblGrid>
                <a:gridCol w="4514340">
                  <a:extLst>
                    <a:ext uri="{9D8B030D-6E8A-4147-A177-3AD203B41FA5}">
                      <a16:colId xmlns:a16="http://schemas.microsoft.com/office/drawing/2014/main" val="896702349"/>
                    </a:ext>
                  </a:extLst>
                </a:gridCol>
              </a:tblGrid>
              <a:tr h="260914">
                <a:tc>
                  <a:txBody>
                    <a:bodyPr/>
                    <a:lstStyle/>
                    <a:p>
                      <a:pPr algn="ctr"/>
                      <a:r>
                        <a:rPr lang="en-US" sz="1200" b="1">
                          <a:solidFill>
                            <a:schemeClr val="accent5"/>
                          </a:solidFill>
                        </a:rPr>
                        <a:t>Improved copy after GEO optimization</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lnSpc>
                          <a:spcPct val="150000"/>
                        </a:lnSpc>
                        <a:buClr>
                          <a:srgbClr val="3DCD58"/>
                        </a:buClr>
                        <a:defRPr/>
                      </a:pPr>
                      <a:r>
                        <a:rPr lang="en-US" sz="1050" b="1"/>
                        <a:t>Title: </a:t>
                      </a:r>
                      <a:r>
                        <a:rPr lang="en-US" sz="1050"/>
                        <a:t>Le Grand Monarque Hotel</a:t>
                      </a:r>
                    </a:p>
                    <a:p>
                      <a:pPr>
                        <a:lnSpc>
                          <a:spcPct val="150000"/>
                        </a:lnSpc>
                        <a:buClr>
                          <a:srgbClr val="3DCD58"/>
                        </a:buClr>
                        <a:defRPr/>
                      </a:pPr>
                      <a:r>
                        <a:rPr lang="en-US" sz="1050" b="1"/>
                        <a:t>Subtitle: </a:t>
                      </a:r>
                      <a:r>
                        <a:rPr lang="en-US" sz="1050"/>
                        <a:t>15% energy cost savings in 6 months</a:t>
                      </a:r>
                    </a:p>
                    <a:p>
                      <a:pPr>
                        <a:lnSpc>
                          <a:spcPct val="150000"/>
                        </a:lnSpc>
                        <a:buClr>
                          <a:srgbClr val="3DCD58"/>
                        </a:buClr>
                        <a:defRPr/>
                      </a:pPr>
                      <a:r>
                        <a:rPr lang="en-US" sz="1050" b="1"/>
                        <a:t>Description: </a:t>
                      </a:r>
                      <a:r>
                        <a:rPr lang="en-US" sz="1050"/>
                        <a:t>By implementing the </a:t>
                      </a:r>
                      <a:r>
                        <a:rPr lang="en-US" sz="1050" err="1"/>
                        <a:t>EcoStruxure</a:t>
                      </a:r>
                      <a:r>
                        <a:rPr lang="en-US" sz="1050"/>
                        <a:t>™ Building Activate Energy Management module, the hotel reduced energy costs by 15% in six months and gained improved visibility into carbon emissions.</a:t>
                      </a:r>
                    </a:p>
                    <a:p>
                      <a:pPr>
                        <a:lnSpc>
                          <a:spcPct val="150000"/>
                        </a:lnSpc>
                        <a:buClr>
                          <a:srgbClr val="3DCD58"/>
                        </a:buClr>
                        <a:defRPr/>
                      </a:pPr>
                      <a:r>
                        <a:rPr lang="en-US" sz="1050" b="1"/>
                        <a:t>CTA: </a:t>
                      </a:r>
                      <a:r>
                        <a:rPr lang="en-US" sz="1050"/>
                        <a:t>Read the </a:t>
                      </a:r>
                      <a:endParaRPr lang="pl-PL" sz="1050"/>
                    </a:p>
                    <a:p>
                      <a:pPr>
                        <a:lnSpc>
                          <a:spcPct val="150000"/>
                        </a:lnSpc>
                        <a:buClr>
                          <a:srgbClr val="3DCD58"/>
                        </a:buClr>
                        <a:defRPr/>
                      </a:pPr>
                      <a:r>
                        <a:rPr lang="en-US" sz="1050"/>
                        <a:t>Le Grand Monarque Hotel </a:t>
                      </a:r>
                      <a:endParaRPr lang="pl-PL" sz="1050"/>
                    </a:p>
                    <a:p>
                      <a:pPr>
                        <a:lnSpc>
                          <a:spcPct val="150000"/>
                        </a:lnSpc>
                        <a:buClr>
                          <a:srgbClr val="3DCD58"/>
                        </a:buClr>
                        <a:defRPr/>
                      </a:pPr>
                      <a:r>
                        <a:rPr lang="en-US" sz="1050"/>
                        <a:t>case study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pic>
        <p:nvPicPr>
          <p:cNvPr id="18" name="Picture 17">
            <a:extLst>
              <a:ext uri="{FF2B5EF4-FFF2-40B4-BE49-F238E27FC236}">
                <a16:creationId xmlns:a16="http://schemas.microsoft.com/office/drawing/2014/main" id="{C0DA7BF1-61CD-AA9B-FF1C-D099E60FBA42}"/>
              </a:ext>
            </a:extLst>
          </p:cNvPr>
          <p:cNvPicPr>
            <a:picLocks noChangeAspect="1"/>
          </p:cNvPicPr>
          <p:nvPr/>
        </p:nvPicPr>
        <p:blipFill>
          <a:blip r:embed="rId3"/>
          <a:stretch>
            <a:fillRect/>
          </a:stretch>
        </p:blipFill>
        <p:spPr>
          <a:xfrm>
            <a:off x="4844306" y="3877172"/>
            <a:ext cx="3969499" cy="1247557"/>
          </a:xfrm>
          <a:prstGeom prst="rect">
            <a:avLst/>
          </a:prstGeom>
          <a:ln>
            <a:solidFill>
              <a:schemeClr val="tx1"/>
            </a:solidFill>
          </a:ln>
        </p:spPr>
      </p:pic>
      <p:pic>
        <p:nvPicPr>
          <p:cNvPr id="19" name="Picture 18">
            <a:extLst>
              <a:ext uri="{FF2B5EF4-FFF2-40B4-BE49-F238E27FC236}">
                <a16:creationId xmlns:a16="http://schemas.microsoft.com/office/drawing/2014/main" id="{CE123259-784D-AB3A-8491-E051F3D5A092}"/>
              </a:ext>
            </a:extLst>
          </p:cNvPr>
          <p:cNvPicPr>
            <a:picLocks noChangeAspect="1"/>
          </p:cNvPicPr>
          <p:nvPr/>
        </p:nvPicPr>
        <p:blipFill>
          <a:blip r:embed="rId4"/>
          <a:stretch>
            <a:fillRect/>
          </a:stretch>
        </p:blipFill>
        <p:spPr>
          <a:xfrm>
            <a:off x="73821" y="3914249"/>
            <a:ext cx="4193611" cy="1173402"/>
          </a:xfrm>
          <a:prstGeom prst="rect">
            <a:avLst/>
          </a:prstGeom>
          <a:ln>
            <a:solidFill>
              <a:schemeClr val="tx1"/>
            </a:solidFill>
          </a:ln>
        </p:spPr>
      </p:pic>
      <p:sp>
        <p:nvSpPr>
          <p:cNvPr id="20" name="TextBox 19">
            <a:extLst>
              <a:ext uri="{FF2B5EF4-FFF2-40B4-BE49-F238E27FC236}">
                <a16:creationId xmlns:a16="http://schemas.microsoft.com/office/drawing/2014/main" id="{90A45A26-DFC5-BE40-1411-8B3E4860AF19}"/>
              </a:ext>
            </a:extLst>
          </p:cNvPr>
          <p:cNvSpPr txBox="1"/>
          <p:nvPr/>
        </p:nvSpPr>
        <p:spPr>
          <a:xfrm>
            <a:off x="6458195" y="2744698"/>
            <a:ext cx="2544876" cy="1169551"/>
          </a:xfrm>
          <a:prstGeom prst="rect">
            <a:avLst/>
          </a:prstGeom>
          <a:solidFill>
            <a:srgbClr val="FFFFFF"/>
          </a:solidFill>
          <a:ln>
            <a:solidFill>
              <a:schemeClr val="tx1"/>
            </a:solidFill>
          </a:ln>
        </p:spPr>
        <p:txBody>
          <a:bodyPr wrap="square">
            <a:spAutoFit/>
          </a:bodyPr>
          <a:lstStyle/>
          <a:p>
            <a:pPr>
              <a:defRPr/>
            </a:pPr>
            <a:r>
              <a:rPr lang="en-US" sz="1000" b="1">
                <a:solidFill>
                  <a:schemeClr val="tx2">
                    <a:lumMod val="76000"/>
                  </a:schemeClr>
                </a:solidFill>
                <a:latin typeface="Poppins"/>
              </a:rPr>
              <a:t>What works for GEO</a:t>
            </a:r>
            <a:endParaRPr lang="en-US" sz="1000" b="1"/>
          </a:p>
          <a:p>
            <a:pPr marL="171450" indent="-171450">
              <a:buClr>
                <a:srgbClr val="3DCD58"/>
              </a:buClr>
              <a:buFont typeface="Arial" panose="020B0604020202020204" pitchFamily="34" charset="0"/>
              <a:buChar char="•"/>
              <a:defRPr/>
            </a:pPr>
            <a:r>
              <a:rPr lang="en-US" sz="1000"/>
              <a:t>One clear primary outcome</a:t>
            </a:r>
          </a:p>
          <a:p>
            <a:pPr marL="171450" indent="-171450">
              <a:buClr>
                <a:srgbClr val="3DCD58"/>
              </a:buClr>
              <a:buFont typeface="Arial" panose="020B0604020202020204" pitchFamily="34" charset="0"/>
              <a:buChar char="•"/>
              <a:defRPr/>
            </a:pPr>
            <a:r>
              <a:rPr lang="en-US" sz="1000"/>
              <a:t>Clear value story at</a:t>
            </a:r>
            <a:r>
              <a:rPr lang="pl-PL" sz="1000"/>
              <a:t>-</a:t>
            </a:r>
            <a:r>
              <a:rPr lang="en-US" sz="1000"/>
              <a:t>a</a:t>
            </a:r>
            <a:r>
              <a:rPr lang="pl-PL" sz="1000"/>
              <a:t>-</a:t>
            </a:r>
            <a:r>
              <a:rPr lang="en-US" sz="1000"/>
              <a:t>glance</a:t>
            </a:r>
          </a:p>
          <a:p>
            <a:pPr marL="171450" indent="-171450">
              <a:buClr>
                <a:srgbClr val="3DCD58"/>
              </a:buClr>
              <a:buFont typeface="Arial" panose="020B0604020202020204" pitchFamily="34" charset="0"/>
              <a:buChar char="•"/>
              <a:defRPr/>
            </a:pPr>
            <a:r>
              <a:rPr lang="en-US" sz="1000"/>
              <a:t>Strong outcome </a:t>
            </a:r>
            <a:r>
              <a:rPr lang="pl-PL" sz="1000"/>
              <a:t>-</a:t>
            </a:r>
            <a:r>
              <a:rPr lang="en-US" sz="1000"/>
              <a:t> solution </a:t>
            </a:r>
            <a:r>
              <a:rPr lang="pl-PL" sz="1000"/>
              <a:t>-</a:t>
            </a:r>
            <a:r>
              <a:rPr lang="en-US" sz="1000"/>
              <a:t> timeframe link</a:t>
            </a:r>
          </a:p>
          <a:p>
            <a:pPr marL="171450" indent="-171450">
              <a:buClr>
                <a:srgbClr val="3DCD58"/>
              </a:buClr>
              <a:buFont typeface="Arial" panose="020B0604020202020204" pitchFamily="34" charset="0"/>
              <a:buChar char="•"/>
              <a:defRPr/>
            </a:pPr>
            <a:r>
              <a:rPr lang="en-US" sz="1000"/>
              <a:t>CTA supports intent and performance</a:t>
            </a:r>
          </a:p>
        </p:txBody>
      </p:sp>
      <p:sp>
        <p:nvSpPr>
          <p:cNvPr id="21" name="TextBox 20">
            <a:extLst>
              <a:ext uri="{FF2B5EF4-FFF2-40B4-BE49-F238E27FC236}">
                <a16:creationId xmlns:a16="http://schemas.microsoft.com/office/drawing/2014/main" id="{5302F03D-4FB6-C577-3604-60DF20817397}"/>
              </a:ext>
            </a:extLst>
          </p:cNvPr>
          <p:cNvSpPr txBox="1"/>
          <p:nvPr/>
        </p:nvSpPr>
        <p:spPr>
          <a:xfrm>
            <a:off x="1932377" y="3329473"/>
            <a:ext cx="2544876" cy="1323439"/>
          </a:xfrm>
          <a:prstGeom prst="rect">
            <a:avLst/>
          </a:prstGeom>
          <a:solidFill>
            <a:schemeClr val="bg1"/>
          </a:solidFill>
          <a:ln>
            <a:solidFill>
              <a:schemeClr val="tx1"/>
            </a:solidFill>
          </a:ln>
        </p:spPr>
        <p:txBody>
          <a:bodyPr wrap="square">
            <a:spAutoFit/>
          </a:bodyPr>
          <a:lstStyle/>
          <a:p>
            <a:pPr>
              <a:buClr>
                <a:srgbClr val="3DCD58"/>
              </a:buClr>
              <a:defRPr/>
            </a:pPr>
            <a:r>
              <a:rPr lang="en-US" sz="1000" b="1">
                <a:solidFill>
                  <a:srgbClr val="C00000"/>
                </a:solidFill>
              </a:rPr>
              <a:t>What needs fixing (GEO gaps)</a:t>
            </a:r>
          </a:p>
          <a:p>
            <a:pPr marL="171450" indent="-171450">
              <a:buClr>
                <a:srgbClr val="3DCD58"/>
              </a:buClr>
              <a:buFont typeface="Arial" panose="020B0604020202020204" pitchFamily="34" charset="0"/>
              <a:buChar char="•"/>
              <a:defRPr/>
            </a:pPr>
            <a:r>
              <a:rPr lang="en-US" sz="1000"/>
              <a:t>Multiple success messages (cost, consumption, carbon)</a:t>
            </a:r>
          </a:p>
          <a:p>
            <a:pPr marL="171450" indent="-171450">
              <a:buClr>
                <a:srgbClr val="3DCD58"/>
              </a:buClr>
              <a:buFont typeface="Arial" panose="020B0604020202020204" pitchFamily="34" charset="0"/>
              <a:buChar char="•"/>
              <a:defRPr/>
            </a:pPr>
            <a:r>
              <a:rPr lang="en-US" sz="1000"/>
              <a:t>Headline and body not fully aligned</a:t>
            </a:r>
          </a:p>
          <a:p>
            <a:pPr marL="171450" indent="-171450">
              <a:buClr>
                <a:srgbClr val="3DCD58"/>
              </a:buClr>
              <a:buFont typeface="Arial" panose="020B0604020202020204" pitchFamily="34" charset="0"/>
              <a:buChar char="•"/>
              <a:defRPr/>
            </a:pPr>
            <a:r>
              <a:rPr lang="en-US" sz="1000"/>
              <a:t>Outcome</a:t>
            </a:r>
            <a:r>
              <a:rPr lang="pl-PL" sz="1000"/>
              <a:t> - </a:t>
            </a:r>
            <a:r>
              <a:rPr lang="en-US" sz="1000"/>
              <a:t>solution link is weak</a:t>
            </a:r>
          </a:p>
          <a:p>
            <a:pPr marL="171450" indent="-171450">
              <a:buClr>
                <a:srgbClr val="3DCD58"/>
              </a:buClr>
              <a:buFont typeface="Arial" panose="020B0604020202020204" pitchFamily="34" charset="0"/>
              <a:buChar char="•"/>
              <a:defRPr/>
            </a:pPr>
            <a:r>
              <a:rPr lang="en-US" sz="1000"/>
              <a:t>Generic CTA reduces reuse effectiveness</a:t>
            </a:r>
          </a:p>
        </p:txBody>
      </p:sp>
    </p:spTree>
    <p:extLst>
      <p:ext uri="{BB962C8B-B14F-4D97-AF65-F5344CB8AC3E}">
        <p14:creationId xmlns:p14="http://schemas.microsoft.com/office/powerpoint/2010/main" val="3851287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036F-6904-D86A-283D-A74B03D8E6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35AE493-3218-A536-D662-32EDF343FF3D}"/>
              </a:ext>
            </a:extLst>
          </p:cNvPr>
          <p:cNvPicPr>
            <a:picLocks noChangeAspect="1"/>
          </p:cNvPicPr>
          <p:nvPr/>
        </p:nvPicPr>
        <p:blipFill>
          <a:blip r:embed="rId3"/>
          <a:stretch>
            <a:fillRect/>
          </a:stretch>
        </p:blipFill>
        <p:spPr>
          <a:xfrm>
            <a:off x="4894541" y="4056521"/>
            <a:ext cx="2960810" cy="1027001"/>
          </a:xfrm>
          <a:prstGeom prst="rect">
            <a:avLst/>
          </a:prstGeom>
          <a:ln w="9525">
            <a:solidFill>
              <a:schemeClr val="tx1"/>
            </a:solidFill>
          </a:ln>
        </p:spPr>
      </p:pic>
      <p:sp>
        <p:nvSpPr>
          <p:cNvPr id="8" name="Shape 0">
            <a:extLst>
              <a:ext uri="{FF2B5EF4-FFF2-40B4-BE49-F238E27FC236}">
                <a16:creationId xmlns:a16="http://schemas.microsoft.com/office/drawing/2014/main" id="{66572A99-A2CD-669F-D6A2-87A96A5B9E8C}"/>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FB785340-02C1-7670-8EFA-F5F86F6DB307}"/>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in action</a:t>
            </a:r>
            <a:r>
              <a:rPr lang="en-US" sz="2200">
                <a:solidFill>
                  <a:schemeClr val="accent5"/>
                </a:solidFill>
                <a:cs typeface="Arial"/>
              </a:rPr>
              <a:t>: </a:t>
            </a:r>
            <a:r>
              <a:rPr lang="pl-PL" sz="2200">
                <a:solidFill>
                  <a:schemeClr val="accent5"/>
                </a:solidFill>
                <a:cs typeface="Arial"/>
              </a:rPr>
              <a:t>Long Content Forms for Object Description</a:t>
            </a:r>
            <a:endParaRPr lang="en-US" sz="2200">
              <a:solidFill>
                <a:schemeClr val="accent5"/>
              </a:solidFill>
              <a:cs typeface="Arial"/>
            </a:endParaRPr>
          </a:p>
        </p:txBody>
      </p:sp>
      <p:sp>
        <p:nvSpPr>
          <p:cNvPr id="12" name="Text 2">
            <a:extLst>
              <a:ext uri="{FF2B5EF4-FFF2-40B4-BE49-F238E27FC236}">
                <a16:creationId xmlns:a16="http://schemas.microsoft.com/office/drawing/2014/main" id="{DDBB6043-038A-99A8-9058-D6BF3FD34E93}"/>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05E4D07F-3EAA-D949-041A-ABDE2E2C3E71}"/>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82FA8784-EEAA-A6C0-FF54-F89C8104E7A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32</a:t>
            </a:fld>
            <a:endParaRPr lang="en-US">
              <a:solidFill>
                <a:srgbClr val="3DCD58"/>
              </a:solidFill>
            </a:endParaRPr>
          </a:p>
        </p:txBody>
      </p:sp>
      <p:graphicFrame>
        <p:nvGraphicFramePr>
          <p:cNvPr id="4" name="Table 3">
            <a:extLst>
              <a:ext uri="{FF2B5EF4-FFF2-40B4-BE49-F238E27FC236}">
                <a16:creationId xmlns:a16="http://schemas.microsoft.com/office/drawing/2014/main" id="{1F6F3BD6-E05E-C345-DA42-AE30C59F0D66}"/>
              </a:ext>
            </a:extLst>
          </p:cNvPr>
          <p:cNvGraphicFramePr>
            <a:graphicFrameLocks noGrp="1"/>
          </p:cNvGraphicFramePr>
          <p:nvPr>
            <p:extLst>
              <p:ext uri="{D42A27DB-BD31-4B8C-83A1-F6EECF244321}">
                <p14:modId xmlns:p14="http://schemas.microsoft.com/office/powerpoint/2010/main" val="3552157908"/>
              </p:ext>
            </p:extLst>
          </p:nvPr>
        </p:nvGraphicFramePr>
        <p:xfrm>
          <a:off x="73821" y="1135495"/>
          <a:ext cx="4308799" cy="2908808"/>
        </p:xfrm>
        <a:graphic>
          <a:graphicData uri="http://schemas.openxmlformats.org/drawingml/2006/table">
            <a:tbl>
              <a:tblPr firstRow="1" bandRow="1">
                <a:tableStyleId>{5C22544A-7EE6-4342-B048-85BDC9FD1C3A}</a:tableStyleId>
              </a:tblPr>
              <a:tblGrid>
                <a:gridCol w="4308799">
                  <a:extLst>
                    <a:ext uri="{9D8B030D-6E8A-4147-A177-3AD203B41FA5}">
                      <a16:colId xmlns:a16="http://schemas.microsoft.com/office/drawing/2014/main" val="896702349"/>
                    </a:ext>
                  </a:extLst>
                </a:gridCol>
              </a:tblGrid>
              <a:tr h="239649">
                <a:tc>
                  <a:txBody>
                    <a:bodyPr/>
                    <a:lstStyle/>
                    <a:p>
                      <a:pPr algn="ctr"/>
                      <a:r>
                        <a:rPr lang="en-US" sz="1200" b="1">
                          <a:solidFill>
                            <a:schemeClr val="tx1"/>
                          </a:solidFill>
                        </a:rPr>
                        <a:t>Example without GEO-optimization</a:t>
                      </a:r>
                      <a:endParaRPr lang="pl-PL"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2616454"/>
                  </a:ext>
                </a:extLst>
              </a:tr>
              <a:tr h="370840">
                <a:tc>
                  <a:txBody>
                    <a:bodyPr/>
                    <a:lstStyle/>
                    <a:p>
                      <a:pPr>
                        <a:lnSpc>
                          <a:spcPct val="150000"/>
                        </a:lnSpc>
                      </a:pPr>
                      <a:r>
                        <a:rPr lang="en-US" sz="800" b="1"/>
                        <a:t>Title: </a:t>
                      </a:r>
                      <a:r>
                        <a:rPr lang="en-US" sz="800" b="0"/>
                        <a:t>Combine your SM </a:t>
                      </a:r>
                      <a:r>
                        <a:rPr lang="en-US" sz="800" b="0" err="1"/>
                        <a:t>AirSeT</a:t>
                      </a:r>
                      <a:r>
                        <a:rPr lang="en-US" sz="800" b="0"/>
                        <a:t> with </a:t>
                      </a:r>
                      <a:r>
                        <a:rPr lang="en-US" sz="800" b="0" err="1"/>
                        <a:t>EcoCare</a:t>
                      </a:r>
                      <a:endParaRPr lang="en-US" sz="800" b="0"/>
                    </a:p>
                    <a:p>
                      <a:pPr>
                        <a:lnSpc>
                          <a:spcPct val="150000"/>
                        </a:lnSpc>
                      </a:pPr>
                      <a:r>
                        <a:rPr lang="en-US" sz="800" b="1"/>
                        <a:t>Subtitle: </a:t>
                      </a:r>
                      <a:r>
                        <a:rPr lang="en-US" sz="800" b="0"/>
                        <a:t>Protect your equipment with advanced services</a:t>
                      </a:r>
                    </a:p>
                    <a:p>
                      <a:pPr>
                        <a:lnSpc>
                          <a:spcPct val="150000"/>
                        </a:lnSpc>
                      </a:pPr>
                      <a:r>
                        <a:rPr lang="en-US" sz="800" b="1"/>
                        <a:t>Description: </a:t>
                      </a:r>
                      <a:r>
                        <a:rPr lang="en-US" sz="800" b="0"/>
                        <a:t>With </a:t>
                      </a:r>
                      <a:r>
                        <a:rPr lang="en-US" sz="800" b="0" err="1"/>
                        <a:t>EcoCare</a:t>
                      </a:r>
                      <a:r>
                        <a:rPr lang="en-US" sz="800" b="0"/>
                        <a:t> membership services, a next‑generation service plan, you gain exclusive support for your equipment from day one and throughout its entire lifecycle. For minimal investment compared with your overall </a:t>
                      </a:r>
                      <a:r>
                        <a:rPr lang="en-US" sz="800" b="0" err="1"/>
                        <a:t>CapEx</a:t>
                      </a:r>
                      <a:r>
                        <a:rPr lang="en-US" sz="800" b="0"/>
                        <a:t>, you'll enjoy 24/7 remote monitoring and alarm management, and access to technical expertise, on‑site and remotely, as defined by the service level agreement (SLA). This proactive approach helps reduce the risk of unexpected downtime and related costs whilst enhancing the uptime, safety, and efficiency of your operations.</a:t>
                      </a:r>
                    </a:p>
                    <a:p>
                      <a:pPr marL="171450" indent="-171450">
                        <a:lnSpc>
                          <a:spcPct val="150000"/>
                        </a:lnSpc>
                        <a:buFont typeface="Arial" panose="020B0604020202020204" pitchFamily="34" charset="0"/>
                        <a:buChar char="•"/>
                      </a:pPr>
                      <a:r>
                        <a:rPr lang="en-US" sz="800" b="0"/>
                        <a:t>Please verify the availability of </a:t>
                      </a:r>
                      <a:r>
                        <a:rPr lang="en-US" sz="800" b="0" err="1"/>
                        <a:t>EcoCare</a:t>
                      </a:r>
                      <a:r>
                        <a:rPr lang="en-US" sz="800" b="0"/>
                        <a:t> in your region through a local services sales representative. If </a:t>
                      </a:r>
                      <a:r>
                        <a:rPr lang="en-US" sz="800" b="0" err="1"/>
                        <a:t>EcoCare</a:t>
                      </a:r>
                      <a:r>
                        <a:rPr lang="en-US" sz="800" b="0"/>
                        <a:t> is not yet available, leverage the </a:t>
                      </a:r>
                      <a:r>
                        <a:rPr lang="en-US" sz="800" b="0" err="1"/>
                        <a:t>EcoStruxure</a:t>
                      </a:r>
                      <a:r>
                        <a:rPr lang="en-US" sz="800" b="0"/>
                        <a:t> Service Plan.</a:t>
                      </a:r>
                    </a:p>
                    <a:p>
                      <a:pPr>
                        <a:lnSpc>
                          <a:spcPct val="150000"/>
                        </a:lnSpc>
                      </a:pPr>
                      <a:r>
                        <a:rPr lang="en-US" sz="800" b="1"/>
                        <a:t>CTA: </a:t>
                      </a:r>
                      <a:r>
                        <a:rPr lang="en-US" sz="800" b="0"/>
                        <a:t>Learn more about </a:t>
                      </a:r>
                      <a:r>
                        <a:rPr lang="en-US" sz="800" b="0" err="1"/>
                        <a:t>EcoCare</a:t>
                      </a:r>
                      <a:r>
                        <a:rPr lang="en-US" sz="800" b="0"/>
                        <a:t>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28453341"/>
                  </a:ext>
                </a:extLst>
              </a:tr>
            </a:tbl>
          </a:graphicData>
        </a:graphic>
      </p:graphicFrame>
      <p:graphicFrame>
        <p:nvGraphicFramePr>
          <p:cNvPr id="10" name="Table 9">
            <a:extLst>
              <a:ext uri="{FF2B5EF4-FFF2-40B4-BE49-F238E27FC236}">
                <a16:creationId xmlns:a16="http://schemas.microsoft.com/office/drawing/2014/main" id="{9B5201FD-472F-2B39-5C20-7F52A55795CC}"/>
              </a:ext>
            </a:extLst>
          </p:cNvPr>
          <p:cNvGraphicFramePr>
            <a:graphicFrameLocks noGrp="1"/>
          </p:cNvGraphicFramePr>
          <p:nvPr>
            <p:extLst>
              <p:ext uri="{D42A27DB-BD31-4B8C-83A1-F6EECF244321}">
                <p14:modId xmlns:p14="http://schemas.microsoft.com/office/powerpoint/2010/main" val="1338960969"/>
              </p:ext>
            </p:extLst>
          </p:nvPr>
        </p:nvGraphicFramePr>
        <p:xfrm>
          <a:off x="4571886" y="1135495"/>
          <a:ext cx="4514340" cy="2360168"/>
        </p:xfrm>
        <a:graphic>
          <a:graphicData uri="http://schemas.openxmlformats.org/drawingml/2006/table">
            <a:tbl>
              <a:tblPr firstRow="1" bandRow="1">
                <a:tableStyleId>{5C22544A-7EE6-4342-B048-85BDC9FD1C3A}</a:tableStyleId>
              </a:tblPr>
              <a:tblGrid>
                <a:gridCol w="4514340">
                  <a:extLst>
                    <a:ext uri="{9D8B030D-6E8A-4147-A177-3AD203B41FA5}">
                      <a16:colId xmlns:a16="http://schemas.microsoft.com/office/drawing/2014/main" val="896702349"/>
                    </a:ext>
                  </a:extLst>
                </a:gridCol>
              </a:tblGrid>
              <a:tr h="260914">
                <a:tc>
                  <a:txBody>
                    <a:bodyPr/>
                    <a:lstStyle/>
                    <a:p>
                      <a:pPr algn="ctr"/>
                      <a:r>
                        <a:rPr lang="en-US" sz="1200" b="1">
                          <a:solidFill>
                            <a:schemeClr val="accent5"/>
                          </a:solidFill>
                        </a:rPr>
                        <a:t>Improved copy after GEO optimization</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lnSpc>
                          <a:spcPct val="150000"/>
                        </a:lnSpc>
                        <a:buClr>
                          <a:srgbClr val="3DCD58"/>
                        </a:buClr>
                        <a:defRPr/>
                      </a:pPr>
                      <a:r>
                        <a:rPr lang="en-US" sz="800" b="1"/>
                        <a:t>Title: </a:t>
                      </a:r>
                      <a:r>
                        <a:rPr lang="en-US" sz="800" b="0"/>
                        <a:t>How </a:t>
                      </a:r>
                      <a:r>
                        <a:rPr lang="en-US" sz="800" b="0" err="1"/>
                        <a:t>EcoCare</a:t>
                      </a:r>
                      <a:r>
                        <a:rPr lang="en-US" sz="800" b="0"/>
                        <a:t> services support SM </a:t>
                      </a:r>
                      <a:r>
                        <a:rPr lang="en-US" sz="800" b="0" err="1"/>
                        <a:t>AirSeT</a:t>
                      </a:r>
                      <a:r>
                        <a:rPr lang="en-US" sz="800" b="0"/>
                        <a:t> performance</a:t>
                      </a:r>
                    </a:p>
                    <a:p>
                      <a:pPr>
                        <a:lnSpc>
                          <a:spcPct val="150000"/>
                        </a:lnSpc>
                        <a:buClr>
                          <a:srgbClr val="3DCD58"/>
                        </a:buClr>
                        <a:defRPr/>
                      </a:pPr>
                      <a:r>
                        <a:rPr lang="en-US" sz="800" b="1"/>
                        <a:t>Description: </a:t>
                      </a:r>
                      <a:r>
                        <a:rPr lang="en-US" sz="800" b="0" err="1"/>
                        <a:t>EcoCare</a:t>
                      </a:r>
                      <a:r>
                        <a:rPr lang="en-US" sz="800" b="0"/>
                        <a:t> helps protect and optimize SM </a:t>
                      </a:r>
                      <a:r>
                        <a:rPr lang="en-US" sz="800" b="0" err="1"/>
                        <a:t>AirSeT</a:t>
                      </a:r>
                      <a:r>
                        <a:rPr lang="en-US" sz="800" b="0"/>
                        <a:t> equipment with proactive services delivered across its entire lifecycle.</a:t>
                      </a:r>
                    </a:p>
                    <a:p>
                      <a:pPr marL="171450" indent="-171450">
                        <a:lnSpc>
                          <a:spcPct val="150000"/>
                        </a:lnSpc>
                        <a:buClr>
                          <a:srgbClr val="3DCD58"/>
                        </a:buClr>
                        <a:buFont typeface="Arial" panose="020B0604020202020204" pitchFamily="34" charset="0"/>
                        <a:buChar char="•"/>
                        <a:defRPr/>
                      </a:pPr>
                      <a:r>
                        <a:rPr lang="en-US" sz="800" b="0"/>
                        <a:t>24/7 remote monitoring and alarm management</a:t>
                      </a:r>
                    </a:p>
                    <a:p>
                      <a:pPr marL="171450" indent="-171450">
                        <a:lnSpc>
                          <a:spcPct val="150000"/>
                        </a:lnSpc>
                        <a:buClr>
                          <a:srgbClr val="3DCD58"/>
                        </a:buClr>
                        <a:buFont typeface="Arial" panose="020B0604020202020204" pitchFamily="34" charset="0"/>
                        <a:buChar char="•"/>
                        <a:defRPr/>
                      </a:pPr>
                      <a:r>
                        <a:rPr lang="en-US" sz="800" b="0"/>
                        <a:t>Access to Schneider Electric technical expertise, on‑site and remote</a:t>
                      </a:r>
                    </a:p>
                    <a:p>
                      <a:pPr marL="171450" indent="-171450">
                        <a:lnSpc>
                          <a:spcPct val="150000"/>
                        </a:lnSpc>
                        <a:buClr>
                          <a:srgbClr val="3DCD58"/>
                        </a:buClr>
                        <a:buFont typeface="Arial" panose="020B0604020202020204" pitchFamily="34" charset="0"/>
                        <a:buChar char="•"/>
                        <a:defRPr/>
                      </a:pPr>
                      <a:r>
                        <a:rPr lang="en-US" sz="800" b="0"/>
                        <a:t>Service level agreements defining service performance and response</a:t>
                      </a:r>
                    </a:p>
                    <a:p>
                      <a:pPr marL="171450" indent="-171450">
                        <a:lnSpc>
                          <a:spcPct val="150000"/>
                        </a:lnSpc>
                        <a:buClr>
                          <a:srgbClr val="3DCD58"/>
                        </a:buClr>
                        <a:buFont typeface="Arial" panose="020B0604020202020204" pitchFamily="34" charset="0"/>
                        <a:buChar char="•"/>
                        <a:defRPr/>
                      </a:pPr>
                      <a:r>
                        <a:rPr lang="en-US" sz="800" b="0"/>
                        <a:t>Predictive maintenance insights to help reduce unplanned downtime</a:t>
                      </a:r>
                    </a:p>
                    <a:p>
                      <a:pPr marL="171450" indent="-171450">
                        <a:lnSpc>
                          <a:spcPct val="150000"/>
                        </a:lnSpc>
                        <a:buClr>
                          <a:srgbClr val="3DCD58"/>
                        </a:buClr>
                        <a:buFont typeface="Arial" panose="020B0604020202020204" pitchFamily="34" charset="0"/>
                        <a:buChar char="•"/>
                        <a:defRPr/>
                      </a:pPr>
                      <a:r>
                        <a:rPr lang="en-US" sz="800" b="0"/>
                        <a:t>Improved uptime, safety, and operational efficiency with lower total cost of ownership</a:t>
                      </a:r>
                    </a:p>
                    <a:p>
                      <a:pPr marL="171450" indent="-171450">
                        <a:lnSpc>
                          <a:spcPct val="150000"/>
                        </a:lnSpc>
                        <a:buClr>
                          <a:srgbClr val="3DCD58"/>
                        </a:buClr>
                        <a:buFont typeface="Arial" panose="020B0604020202020204" pitchFamily="34" charset="0"/>
                        <a:buChar char="•"/>
                        <a:defRPr/>
                      </a:pPr>
                      <a:r>
                        <a:rPr lang="en-US" sz="800" b="0" err="1"/>
                        <a:t>EcoCare</a:t>
                      </a:r>
                      <a:r>
                        <a:rPr lang="en-US" sz="800" b="0"/>
                        <a:t> availability varies by region; confirm locally.</a:t>
                      </a:r>
                    </a:p>
                    <a:p>
                      <a:pPr>
                        <a:lnSpc>
                          <a:spcPct val="150000"/>
                        </a:lnSpc>
                        <a:buClr>
                          <a:srgbClr val="3DCD58"/>
                        </a:buClr>
                        <a:defRPr/>
                      </a:pPr>
                      <a:r>
                        <a:rPr lang="en-US" sz="800" b="1"/>
                        <a:t>CTA: </a:t>
                      </a:r>
                      <a:r>
                        <a:rPr lang="en-US" sz="800" b="0"/>
                        <a:t>Explore </a:t>
                      </a:r>
                      <a:r>
                        <a:rPr lang="en-US" sz="800" b="0" err="1"/>
                        <a:t>EcoCare</a:t>
                      </a:r>
                      <a:r>
                        <a:rPr lang="en-US" sz="800" b="0"/>
                        <a:t> for SM </a:t>
                      </a:r>
                      <a:r>
                        <a:rPr lang="en-US" sz="800" b="0" err="1"/>
                        <a:t>AirSeT</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sp>
        <p:nvSpPr>
          <p:cNvPr id="20" name="TextBox 19">
            <a:extLst>
              <a:ext uri="{FF2B5EF4-FFF2-40B4-BE49-F238E27FC236}">
                <a16:creationId xmlns:a16="http://schemas.microsoft.com/office/drawing/2014/main" id="{B6686080-6B21-0C47-85A4-A73B57108D5F}"/>
              </a:ext>
            </a:extLst>
          </p:cNvPr>
          <p:cNvSpPr txBox="1"/>
          <p:nvPr/>
        </p:nvSpPr>
        <p:spPr>
          <a:xfrm>
            <a:off x="6783227" y="3576578"/>
            <a:ext cx="2346342" cy="1477328"/>
          </a:xfrm>
          <a:prstGeom prst="rect">
            <a:avLst/>
          </a:prstGeom>
          <a:solidFill>
            <a:srgbClr val="FFFFFF"/>
          </a:solidFill>
          <a:ln>
            <a:solidFill>
              <a:schemeClr val="tx1"/>
            </a:solidFill>
          </a:ln>
        </p:spPr>
        <p:txBody>
          <a:bodyPr wrap="square">
            <a:spAutoFit/>
          </a:bodyPr>
          <a:lstStyle/>
          <a:p>
            <a:pPr>
              <a:defRPr/>
            </a:pPr>
            <a:r>
              <a:rPr lang="en-US" sz="1000" b="1">
                <a:solidFill>
                  <a:schemeClr val="tx2">
                    <a:lumMod val="76000"/>
                  </a:schemeClr>
                </a:solidFill>
                <a:latin typeface="Poppins"/>
              </a:rPr>
              <a:t>What works for GEO</a:t>
            </a:r>
            <a:endParaRPr lang="en-US" sz="1000" b="1"/>
          </a:p>
          <a:p>
            <a:pPr marL="171450" indent="-171450">
              <a:buClr>
                <a:srgbClr val="3DCD58"/>
              </a:buClr>
              <a:buFont typeface="Arial" panose="020B0604020202020204" pitchFamily="34" charset="0"/>
              <a:buChar char="•"/>
              <a:defRPr/>
            </a:pPr>
            <a:r>
              <a:rPr lang="en-US" sz="1000"/>
              <a:t>Value is clear and visible at first glance</a:t>
            </a:r>
          </a:p>
          <a:p>
            <a:pPr marL="171450" indent="-171450">
              <a:buClr>
                <a:srgbClr val="3DCD58"/>
              </a:buClr>
              <a:buFont typeface="Arial" panose="020B0604020202020204" pitchFamily="34" charset="0"/>
              <a:buChar char="•"/>
              <a:defRPr/>
            </a:pPr>
            <a:r>
              <a:rPr lang="en-US" sz="1000"/>
              <a:t>Scannable structure suited for carousel UX</a:t>
            </a:r>
          </a:p>
          <a:p>
            <a:pPr marL="171450" indent="-171450">
              <a:buClr>
                <a:srgbClr val="3DCD58"/>
              </a:buClr>
              <a:buFont typeface="Arial" panose="020B0604020202020204" pitchFamily="34" charset="0"/>
              <a:buChar char="•"/>
              <a:defRPr/>
            </a:pPr>
            <a:r>
              <a:rPr lang="en-US" sz="1000"/>
              <a:t>Product and service entities are clearly connected</a:t>
            </a:r>
          </a:p>
          <a:p>
            <a:pPr marL="171450" indent="-171450">
              <a:buClr>
                <a:srgbClr val="3DCD58"/>
              </a:buClr>
              <a:buFont typeface="Arial" panose="020B0604020202020204" pitchFamily="34" charset="0"/>
              <a:buChar char="•"/>
              <a:defRPr/>
            </a:pPr>
            <a:r>
              <a:rPr lang="en-US" sz="1000"/>
              <a:t>Easily understood and summarized by AI systems</a:t>
            </a:r>
          </a:p>
        </p:txBody>
      </p:sp>
      <p:pic>
        <p:nvPicPr>
          <p:cNvPr id="2" name="Picture 1">
            <a:extLst>
              <a:ext uri="{FF2B5EF4-FFF2-40B4-BE49-F238E27FC236}">
                <a16:creationId xmlns:a16="http://schemas.microsoft.com/office/drawing/2014/main" id="{51FDB0D7-5E12-8993-B876-398EA2B591BE}"/>
              </a:ext>
            </a:extLst>
          </p:cNvPr>
          <p:cNvPicPr>
            <a:picLocks noChangeAspect="1"/>
          </p:cNvPicPr>
          <p:nvPr/>
        </p:nvPicPr>
        <p:blipFill>
          <a:blip r:embed="rId4"/>
          <a:stretch>
            <a:fillRect/>
          </a:stretch>
        </p:blipFill>
        <p:spPr>
          <a:xfrm>
            <a:off x="73821" y="4222026"/>
            <a:ext cx="2767929" cy="834622"/>
          </a:xfrm>
          <a:prstGeom prst="rect">
            <a:avLst/>
          </a:prstGeom>
          <a:ln w="9525">
            <a:solidFill>
              <a:schemeClr val="tx1"/>
            </a:solidFill>
          </a:ln>
        </p:spPr>
      </p:pic>
      <p:sp>
        <p:nvSpPr>
          <p:cNvPr id="21" name="TextBox 20">
            <a:extLst>
              <a:ext uri="{FF2B5EF4-FFF2-40B4-BE49-F238E27FC236}">
                <a16:creationId xmlns:a16="http://schemas.microsoft.com/office/drawing/2014/main" id="{5681628D-422B-F6E8-1902-B865B11E993B}"/>
              </a:ext>
            </a:extLst>
          </p:cNvPr>
          <p:cNvSpPr txBox="1"/>
          <p:nvPr/>
        </p:nvSpPr>
        <p:spPr>
          <a:xfrm>
            <a:off x="2248618" y="3748395"/>
            <a:ext cx="2544876" cy="1169551"/>
          </a:xfrm>
          <a:prstGeom prst="rect">
            <a:avLst/>
          </a:prstGeom>
          <a:solidFill>
            <a:schemeClr val="bg1"/>
          </a:solidFill>
          <a:ln>
            <a:solidFill>
              <a:schemeClr val="tx1"/>
            </a:solidFill>
          </a:ln>
        </p:spPr>
        <p:txBody>
          <a:bodyPr wrap="square">
            <a:spAutoFit/>
          </a:bodyPr>
          <a:lstStyle/>
          <a:p>
            <a:pPr>
              <a:buClr>
                <a:srgbClr val="3DCD58"/>
              </a:buClr>
              <a:defRPr/>
            </a:pPr>
            <a:r>
              <a:rPr lang="en-US" sz="1000" b="1">
                <a:solidFill>
                  <a:srgbClr val="C00000"/>
                </a:solidFill>
              </a:rPr>
              <a:t>What needs fixing (GEO gaps)</a:t>
            </a:r>
          </a:p>
          <a:p>
            <a:pPr marL="171450" indent="-171450">
              <a:buClr>
                <a:srgbClr val="3DCD58"/>
              </a:buClr>
              <a:buFont typeface="Arial" panose="020B0604020202020204" pitchFamily="34" charset="0"/>
              <a:buChar char="•"/>
              <a:defRPr/>
            </a:pPr>
            <a:r>
              <a:rPr lang="en-US" sz="1000"/>
              <a:t>Dense paragraph (low </a:t>
            </a:r>
            <a:r>
              <a:rPr lang="en-US" sz="1000" err="1"/>
              <a:t>scanability</a:t>
            </a:r>
            <a:r>
              <a:rPr lang="en-US" sz="1000"/>
              <a:t>)</a:t>
            </a:r>
          </a:p>
          <a:p>
            <a:pPr marL="171450" indent="-171450">
              <a:buClr>
                <a:srgbClr val="3DCD58"/>
              </a:buClr>
              <a:buFont typeface="Arial" panose="020B0604020202020204" pitchFamily="34" charset="0"/>
              <a:buChar char="•"/>
              <a:defRPr/>
            </a:pPr>
            <a:r>
              <a:rPr lang="en-US" sz="1000"/>
              <a:t>Value buried deep in text</a:t>
            </a:r>
          </a:p>
          <a:p>
            <a:pPr marL="171450" indent="-171450">
              <a:buClr>
                <a:srgbClr val="3DCD58"/>
              </a:buClr>
              <a:buFont typeface="Arial" panose="020B0604020202020204" pitchFamily="34" charset="0"/>
              <a:buChar char="•"/>
              <a:defRPr/>
            </a:pPr>
            <a:r>
              <a:rPr lang="en-US" sz="1000"/>
              <a:t>Harder for AI to summarize key outcomes</a:t>
            </a:r>
          </a:p>
          <a:p>
            <a:pPr marL="171450" indent="-171450">
              <a:buClr>
                <a:srgbClr val="3DCD58"/>
              </a:buClr>
              <a:buFont typeface="Arial" panose="020B0604020202020204" pitchFamily="34" charset="0"/>
              <a:buChar char="•"/>
              <a:defRPr/>
            </a:pPr>
            <a:endParaRPr lang="en-US" sz="1000"/>
          </a:p>
        </p:txBody>
      </p:sp>
    </p:spTree>
    <p:extLst>
      <p:ext uri="{BB962C8B-B14F-4D97-AF65-F5344CB8AC3E}">
        <p14:creationId xmlns:p14="http://schemas.microsoft.com/office/powerpoint/2010/main" val="3365483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0F86C-5C08-1579-E125-273370F9E9F3}"/>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4DA1FA8F-65F4-B836-EA47-974C608C3631}"/>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EE7B9E16-1E94-1CA8-8725-63EEC022CC12}"/>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in action</a:t>
            </a:r>
            <a:r>
              <a:rPr lang="en-US" sz="2200">
                <a:solidFill>
                  <a:schemeClr val="accent5"/>
                </a:solidFill>
                <a:cs typeface="Arial"/>
              </a:rPr>
              <a:t>: </a:t>
            </a:r>
            <a:r>
              <a:rPr lang="pl-PL" sz="2200">
                <a:solidFill>
                  <a:schemeClr val="accent5"/>
                </a:solidFill>
                <a:cs typeface="Arial"/>
              </a:rPr>
              <a:t>Videos/images description content</a:t>
            </a:r>
            <a:endParaRPr lang="en-US" sz="2200">
              <a:solidFill>
                <a:schemeClr val="accent5"/>
              </a:solidFill>
              <a:cs typeface="Arial"/>
            </a:endParaRPr>
          </a:p>
        </p:txBody>
      </p:sp>
      <p:sp>
        <p:nvSpPr>
          <p:cNvPr id="12" name="Text 2">
            <a:extLst>
              <a:ext uri="{FF2B5EF4-FFF2-40B4-BE49-F238E27FC236}">
                <a16:creationId xmlns:a16="http://schemas.microsoft.com/office/drawing/2014/main" id="{7EC6C783-6837-5F99-BF63-C4360063572C}"/>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68A47036-AB16-2384-AB1C-72CB7D7E26D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E9728972-AA5F-C33D-1A22-416A7C65396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33</a:t>
            </a:fld>
            <a:endParaRPr lang="en-US">
              <a:solidFill>
                <a:srgbClr val="3DCD58"/>
              </a:solidFill>
            </a:endParaRPr>
          </a:p>
        </p:txBody>
      </p:sp>
      <p:sp>
        <p:nvSpPr>
          <p:cNvPr id="3" name="TextBox 2">
            <a:extLst>
              <a:ext uri="{FF2B5EF4-FFF2-40B4-BE49-F238E27FC236}">
                <a16:creationId xmlns:a16="http://schemas.microsoft.com/office/drawing/2014/main" id="{335CF4C0-1B25-C169-E2F5-DE06E123ECD2}"/>
              </a:ext>
            </a:extLst>
          </p:cNvPr>
          <p:cNvSpPr txBox="1"/>
          <p:nvPr/>
        </p:nvSpPr>
        <p:spPr>
          <a:xfrm>
            <a:off x="191708" y="4222273"/>
            <a:ext cx="4643528" cy="569387"/>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pl-PL" sz="1000">
                <a:solidFill>
                  <a:schemeClr val="accent5"/>
                </a:solidFill>
              </a:rPr>
              <a:t>AI does not </a:t>
            </a:r>
            <a:r>
              <a:rPr lang="en-AU" sz="1000">
                <a:solidFill>
                  <a:schemeClr val="accent5"/>
                </a:solidFill>
              </a:rPr>
              <a:t>“</a:t>
            </a:r>
            <a:r>
              <a:rPr lang="pl-PL" sz="1000">
                <a:solidFill>
                  <a:schemeClr val="accent5"/>
                </a:solidFill>
              </a:rPr>
              <a:t>see” visual assets, description is what matters. To know more about videos/images please visit video/image related chapters of this playbook</a:t>
            </a:r>
            <a:endParaRPr lang="en-US" sz="1100">
              <a:solidFill>
                <a:schemeClr val="accent5"/>
              </a:solidFill>
            </a:endParaRPr>
          </a:p>
        </p:txBody>
      </p:sp>
      <p:graphicFrame>
        <p:nvGraphicFramePr>
          <p:cNvPr id="28" name="Table 27">
            <a:extLst>
              <a:ext uri="{FF2B5EF4-FFF2-40B4-BE49-F238E27FC236}">
                <a16:creationId xmlns:a16="http://schemas.microsoft.com/office/drawing/2014/main" id="{021C78E6-E72E-7120-8F28-90F259F81935}"/>
              </a:ext>
            </a:extLst>
          </p:cNvPr>
          <p:cNvGraphicFramePr>
            <a:graphicFrameLocks noGrp="1"/>
          </p:cNvGraphicFramePr>
          <p:nvPr>
            <p:extLst>
              <p:ext uri="{D42A27DB-BD31-4B8C-83A1-F6EECF244321}">
                <p14:modId xmlns:p14="http://schemas.microsoft.com/office/powerpoint/2010/main" val="1347816401"/>
              </p:ext>
            </p:extLst>
          </p:nvPr>
        </p:nvGraphicFramePr>
        <p:xfrm>
          <a:off x="191708" y="1213614"/>
          <a:ext cx="3130899" cy="2811780"/>
        </p:xfrm>
        <a:graphic>
          <a:graphicData uri="http://schemas.openxmlformats.org/drawingml/2006/table">
            <a:tbl>
              <a:tblPr firstRow="1" bandRow="1">
                <a:tableStyleId>{5C22544A-7EE6-4342-B048-85BDC9FD1C3A}</a:tableStyleId>
              </a:tblPr>
              <a:tblGrid>
                <a:gridCol w="3130899">
                  <a:extLst>
                    <a:ext uri="{9D8B030D-6E8A-4147-A177-3AD203B41FA5}">
                      <a16:colId xmlns:a16="http://schemas.microsoft.com/office/drawing/2014/main" val="896702349"/>
                    </a:ext>
                  </a:extLst>
                </a:gridCol>
              </a:tblGrid>
              <a:tr h="260914">
                <a:tc>
                  <a:txBody>
                    <a:bodyPr/>
                    <a:lstStyle/>
                    <a:p>
                      <a:pPr algn="ctr"/>
                      <a:r>
                        <a:rPr lang="en-US" sz="1200" b="1">
                          <a:solidFill>
                            <a:schemeClr val="accent5"/>
                          </a:solidFill>
                        </a:rPr>
                        <a:t>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lnSpc>
                          <a:spcPct val="150000"/>
                        </a:lnSpc>
                        <a:spcBef>
                          <a:spcPts val="0"/>
                        </a:spcBef>
                        <a:spcAft>
                          <a:spcPts val="0"/>
                        </a:spcAft>
                        <a:buClr>
                          <a:schemeClr val="tx2"/>
                        </a:buClr>
                        <a:defRPr/>
                      </a:pPr>
                      <a:r>
                        <a:rPr lang="en-US" sz="1000" b="1"/>
                        <a:t>AI engines do not "watch"</a:t>
                      </a:r>
                      <a:r>
                        <a:rPr lang="en-US" sz="1000"/>
                        <a:t> </a:t>
                      </a:r>
                      <a:r>
                        <a:rPr lang="en-US" sz="1000" b="1"/>
                        <a:t>video</a:t>
                      </a:r>
                      <a:r>
                        <a:rPr lang="pl-PL" sz="1000" b="1"/>
                        <a:t> or „see” the image</a:t>
                      </a:r>
                      <a:r>
                        <a:rPr lang="en-US" sz="1000" b="1"/>
                        <a:t> </a:t>
                      </a:r>
                      <a:r>
                        <a:rPr lang="en-US" sz="1000"/>
                        <a:t>in the same way humans do. Instead, they "read" and process the text and descriptive data associated with videos to include them in generated answers.</a:t>
                      </a:r>
                      <a:endParaRPr lang="pl-PL" sz="1000"/>
                    </a:p>
                    <a:p>
                      <a:pPr>
                        <a:lnSpc>
                          <a:spcPct val="150000"/>
                        </a:lnSpc>
                        <a:spcBef>
                          <a:spcPts val="0"/>
                        </a:spcBef>
                        <a:spcAft>
                          <a:spcPts val="0"/>
                        </a:spcAft>
                        <a:buClr>
                          <a:schemeClr val="tx2"/>
                        </a:buClr>
                        <a:defRPr/>
                      </a:pPr>
                      <a:endParaRPr lang="en-US" sz="1000"/>
                    </a:p>
                    <a:p>
                      <a:pPr>
                        <a:spcBef>
                          <a:spcPts val="0"/>
                        </a:spcBef>
                        <a:spcAft>
                          <a:spcPts val="0"/>
                        </a:spcAft>
                        <a:buClr>
                          <a:srgbClr val="3DCD58"/>
                        </a:buClr>
                        <a:defRPr/>
                      </a:pPr>
                      <a:r>
                        <a:rPr lang="en-US" sz="1050" b="1"/>
                        <a:t>GEO rules for video</a:t>
                      </a:r>
                      <a:r>
                        <a:rPr lang="pl-PL" sz="1050" b="1"/>
                        <a:t>/image</a:t>
                      </a:r>
                      <a:r>
                        <a:rPr lang="en-US" sz="1050" b="1"/>
                        <a:t> content</a:t>
                      </a:r>
                      <a:r>
                        <a:rPr lang="pl-PL" sz="1050" b="1"/>
                        <a:t>:</a:t>
                      </a:r>
                      <a:endParaRPr lang="en-US" sz="1050" b="1"/>
                    </a:p>
                    <a:p>
                      <a:pPr marL="128270" indent="-128270">
                        <a:spcBef>
                          <a:spcPts val="0"/>
                        </a:spcBef>
                        <a:spcAft>
                          <a:spcPts val="0"/>
                        </a:spcAft>
                        <a:buClr>
                          <a:srgbClr val="3DCD58"/>
                        </a:buClr>
                        <a:buFont typeface="Arial" panose="020B0604020202020204" pitchFamily="34" charset="0"/>
                        <a:buChar char="•"/>
                        <a:defRPr/>
                      </a:pPr>
                      <a:r>
                        <a:rPr lang="en-US" sz="1000"/>
                        <a:t>Never rely on video</a:t>
                      </a:r>
                      <a:r>
                        <a:rPr lang="pl-PL" sz="1000"/>
                        <a:t>/image</a:t>
                      </a:r>
                      <a:r>
                        <a:rPr lang="en-US" sz="1000"/>
                        <a:t> alone</a:t>
                      </a:r>
                    </a:p>
                    <a:p>
                      <a:pPr marL="128270" indent="-128270" defTabSz="457172">
                        <a:lnSpc>
                          <a:spcPct val="100000"/>
                        </a:lnSpc>
                        <a:spcBef>
                          <a:spcPts val="0"/>
                        </a:spcBef>
                        <a:spcAft>
                          <a:spcPts val="0"/>
                        </a:spcAft>
                        <a:buClr>
                          <a:srgbClr val="3DCD58"/>
                        </a:buClr>
                        <a:buFont typeface="Arial" panose="020B0604020202020204" pitchFamily="34" charset="0"/>
                        <a:buChar char="•"/>
                        <a:defRPr/>
                      </a:pPr>
                      <a:r>
                        <a:rPr lang="en-US" sz="1000"/>
                        <a:t>Always add: </a:t>
                      </a:r>
                    </a:p>
                    <a:p>
                      <a:pPr marL="533400" lvl="1" indent="-171450" defTabSz="447648">
                        <a:lnSpc>
                          <a:spcPct val="100000"/>
                        </a:lnSpc>
                        <a:spcBef>
                          <a:spcPts val="0"/>
                        </a:spcBef>
                        <a:spcAft>
                          <a:spcPts val="0"/>
                        </a:spcAft>
                        <a:buClr>
                          <a:srgbClr val="3DCD58"/>
                        </a:buClr>
                        <a:buFont typeface="Arial" panose="020B0604020202020204" pitchFamily="34" charset="0"/>
                        <a:buChar char="•"/>
                        <a:defRPr/>
                      </a:pPr>
                      <a:r>
                        <a:rPr lang="pl-PL" sz="1000"/>
                        <a:t>Video</a:t>
                      </a:r>
                      <a:r>
                        <a:rPr lang="en-AU" sz="1000"/>
                        <a:t>/image</a:t>
                      </a:r>
                      <a:r>
                        <a:rPr lang="pl-PL" sz="1000"/>
                        <a:t> title</a:t>
                      </a:r>
                    </a:p>
                    <a:p>
                      <a:pPr marL="533400" lvl="1" indent="-171450" defTabSz="447648">
                        <a:lnSpc>
                          <a:spcPct val="100000"/>
                        </a:lnSpc>
                        <a:spcBef>
                          <a:spcPts val="0"/>
                        </a:spcBef>
                        <a:spcAft>
                          <a:spcPts val="0"/>
                        </a:spcAft>
                        <a:buClr>
                          <a:srgbClr val="3DCD58"/>
                        </a:buClr>
                        <a:buFont typeface="Arial" panose="020B0604020202020204" pitchFamily="34" charset="0"/>
                        <a:buChar char="•"/>
                        <a:defRPr/>
                      </a:pPr>
                      <a:r>
                        <a:rPr lang="en-US" sz="1000"/>
                        <a:t>3–4 bullet takeaway summary</a:t>
                      </a:r>
                    </a:p>
                    <a:p>
                      <a:pPr marL="128270" indent="-128270" defTabSz="457172">
                        <a:lnSpc>
                          <a:spcPct val="100000"/>
                        </a:lnSpc>
                        <a:spcBef>
                          <a:spcPts val="0"/>
                        </a:spcBef>
                        <a:spcAft>
                          <a:spcPts val="0"/>
                        </a:spcAft>
                        <a:buClr>
                          <a:srgbClr val="3DCD58"/>
                        </a:buClr>
                        <a:buFont typeface="Arial" panose="020B0604020202020204" pitchFamily="34" charset="0"/>
                        <a:buChar char="•"/>
                        <a:defRPr/>
                      </a:pPr>
                      <a:r>
                        <a:rPr lang="en-US" sz="1000"/>
                        <a:t>Use descriptive </a:t>
                      </a:r>
                      <a:r>
                        <a:rPr lang="pl-PL" sz="1000"/>
                        <a:t>content</a:t>
                      </a:r>
                      <a:r>
                        <a:rPr lang="en-US" sz="1000"/>
                        <a:t>, not campaign 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2" name="Table 1">
            <a:extLst>
              <a:ext uri="{FF2B5EF4-FFF2-40B4-BE49-F238E27FC236}">
                <a16:creationId xmlns:a16="http://schemas.microsoft.com/office/drawing/2014/main" id="{57ED81A1-D6DE-0BAC-CEB3-D857E2992F45}"/>
              </a:ext>
            </a:extLst>
          </p:cNvPr>
          <p:cNvGraphicFramePr>
            <a:graphicFrameLocks noGrp="1"/>
          </p:cNvGraphicFramePr>
          <p:nvPr>
            <p:extLst>
              <p:ext uri="{D42A27DB-BD31-4B8C-83A1-F6EECF244321}">
                <p14:modId xmlns:p14="http://schemas.microsoft.com/office/powerpoint/2010/main" val="2793262924"/>
              </p:ext>
            </p:extLst>
          </p:nvPr>
        </p:nvGraphicFramePr>
        <p:xfrm>
          <a:off x="3586568" y="1213614"/>
          <a:ext cx="5365724" cy="2812218"/>
        </p:xfrm>
        <a:graphic>
          <a:graphicData uri="http://schemas.openxmlformats.org/drawingml/2006/table">
            <a:tbl>
              <a:tblPr firstRow="1" bandRow="1">
                <a:tableStyleId>{5C22544A-7EE6-4342-B048-85BDC9FD1C3A}</a:tableStyleId>
              </a:tblPr>
              <a:tblGrid>
                <a:gridCol w="5365724">
                  <a:extLst>
                    <a:ext uri="{9D8B030D-6E8A-4147-A177-3AD203B41FA5}">
                      <a16:colId xmlns:a16="http://schemas.microsoft.com/office/drawing/2014/main" val="3037676781"/>
                    </a:ext>
                  </a:extLst>
                </a:gridCol>
              </a:tblGrid>
              <a:tr h="273881">
                <a:tc>
                  <a:txBody>
                    <a:bodyPr/>
                    <a:lstStyle/>
                    <a:p>
                      <a:pPr algn="ctr"/>
                      <a:r>
                        <a:rPr lang="en-US" sz="1200" b="1">
                          <a:solidFill>
                            <a:schemeClr val="accent5"/>
                          </a:solidFill>
                        </a:rPr>
                        <a:t>Example of what AI will see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2537898">
                <a:tc>
                  <a:txBody>
                    <a:bodyPr/>
                    <a:lstStyle/>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Video</a:t>
                      </a:r>
                      <a:r>
                        <a:rPr kumimoji="0" lang="pl-PL" sz="1000" b="1" i="0" u="none" strike="noStrike" kern="1200" cap="none" spc="0" normalizeH="0" baseline="0" noProof="0">
                          <a:ln>
                            <a:noFill/>
                          </a:ln>
                          <a:solidFill>
                            <a:srgbClr val="0A2F24"/>
                          </a:solidFill>
                          <a:effectLst/>
                          <a:uLnTx/>
                          <a:uFillTx/>
                          <a:latin typeface="+mn-lt"/>
                          <a:ea typeface="+mn-ea"/>
                          <a:cs typeface="+mn-cs"/>
                        </a:rPr>
                        <a:t>/image</a:t>
                      </a:r>
                      <a:r>
                        <a:rPr kumimoji="0" lang="en-US" sz="1000" b="1" i="0" u="none" strike="noStrike" kern="1200" cap="none" spc="0" normalizeH="0" baseline="0" noProof="0">
                          <a:ln>
                            <a:noFill/>
                          </a:ln>
                          <a:solidFill>
                            <a:srgbClr val="0A2F24"/>
                          </a:solidFill>
                          <a:effectLst/>
                          <a:uLnTx/>
                          <a:uFillTx/>
                          <a:latin typeface="+mn-lt"/>
                          <a:ea typeface="+mn-ea"/>
                          <a:cs typeface="+mn-cs"/>
                        </a:rPr>
                        <a:t> title: </a:t>
                      </a:r>
                      <a:r>
                        <a:rPr kumimoji="0" lang="en-US" sz="1000" b="0" i="0" u="none" strike="noStrike" kern="1200" cap="none" spc="0" normalizeH="0" baseline="0" noProof="0">
                          <a:ln>
                            <a:noFill/>
                          </a:ln>
                          <a:solidFill>
                            <a:srgbClr val="0A2F24"/>
                          </a:solidFill>
                          <a:effectLst/>
                          <a:uLnTx/>
                          <a:uFillTx/>
                          <a:latin typeface="+mn-lt"/>
                          <a:ea typeface="+mn-ea"/>
                          <a:cs typeface="+mn-cs"/>
                        </a:rPr>
                        <a:t>How </a:t>
                      </a:r>
                      <a:r>
                        <a:rPr kumimoji="0" lang="en-US" sz="1000" b="0" i="0" u="none" strike="noStrike" kern="1200" cap="none" spc="0" normalizeH="0" baseline="0" noProof="0" err="1">
                          <a:ln>
                            <a:noFill/>
                          </a:ln>
                          <a:solidFill>
                            <a:srgbClr val="0A2F24"/>
                          </a:solidFill>
                          <a:effectLst/>
                          <a:uLnTx/>
                          <a:uFillTx/>
                          <a:latin typeface="+mn-lt"/>
                          <a:ea typeface="+mn-ea"/>
                          <a:cs typeface="+mn-cs"/>
                        </a:rPr>
                        <a:t>EcoStruxure</a:t>
                      </a:r>
                      <a:r>
                        <a:rPr kumimoji="0" lang="en-US" sz="1000" b="0" i="0" u="none" strike="noStrike" kern="1200" cap="none" spc="0" normalizeH="0" baseline="0" noProof="0">
                          <a:ln>
                            <a:noFill/>
                          </a:ln>
                          <a:solidFill>
                            <a:srgbClr val="0A2F24"/>
                          </a:solidFill>
                          <a:effectLst/>
                          <a:uLnTx/>
                          <a:uFillTx/>
                          <a:latin typeface="+mn-lt"/>
                          <a:ea typeface="+mn-ea"/>
                          <a:cs typeface="+mn-cs"/>
                        </a:rPr>
                        <a:t>™ Power Monitoring improves energy visibility</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pl-PL" sz="1000" b="1" i="0" u="none" strike="noStrike" kern="1200" cap="none" spc="0" normalizeH="0" baseline="0" noProof="0">
                          <a:ln>
                            <a:noFill/>
                          </a:ln>
                          <a:solidFill>
                            <a:srgbClr val="0A2F24"/>
                          </a:solidFill>
                          <a:effectLst/>
                          <a:uLnTx/>
                          <a:uFillTx/>
                          <a:latin typeface="+mn-lt"/>
                          <a:ea typeface="+mn-ea"/>
                          <a:cs typeface="+mn-cs"/>
                        </a:rPr>
                        <a:t>Description (w</a:t>
                      </a:r>
                      <a:r>
                        <a:rPr kumimoji="0" lang="en-US" sz="1000" b="1" i="0" u="none" strike="noStrike" kern="1200" cap="none" spc="0" normalizeH="0" baseline="0" noProof="0">
                          <a:ln>
                            <a:noFill/>
                          </a:ln>
                          <a:solidFill>
                            <a:srgbClr val="0A2F24"/>
                          </a:solidFill>
                          <a:effectLst/>
                          <a:uLnTx/>
                          <a:uFillTx/>
                          <a:latin typeface="+mn-lt"/>
                          <a:ea typeface="+mn-ea"/>
                          <a:cs typeface="+mn-cs"/>
                        </a:rPr>
                        <a:t>hat the AI/user sees</a:t>
                      </a:r>
                      <a:r>
                        <a:rPr kumimoji="0" lang="pl-PL" sz="1000" b="1" i="0" u="none" strike="noStrike" kern="1200" cap="none" spc="0" normalizeH="0" baseline="0" noProof="0">
                          <a:ln>
                            <a:noFill/>
                          </a:ln>
                          <a:solidFill>
                            <a:srgbClr val="0A2F24"/>
                          </a:solidFill>
                          <a:effectLst/>
                          <a:uLnTx/>
                          <a:uFillTx/>
                          <a:latin typeface="+mn-lt"/>
                          <a:ea typeface="+mn-ea"/>
                          <a:cs typeface="+mn-cs"/>
                        </a:rPr>
                        <a:t>):</a:t>
                      </a:r>
                      <a:br>
                        <a:rPr kumimoji="0" lang="en-US" sz="1000" b="0" i="0" u="none" strike="noStrike" kern="1200" cap="none" spc="0" normalizeH="0" baseline="0" noProof="0">
                          <a:ln>
                            <a:noFill/>
                          </a:ln>
                          <a:solidFill>
                            <a:srgbClr val="0A2F24"/>
                          </a:solidFill>
                          <a:effectLst/>
                          <a:uLnTx/>
                          <a:uFillTx/>
                          <a:latin typeface="+mn-lt"/>
                          <a:ea typeface="+mn-ea"/>
                          <a:cs typeface="+mn-cs"/>
                        </a:rPr>
                      </a:br>
                      <a:r>
                        <a:rPr kumimoji="0" lang="en-US" sz="1000" b="0" i="0" u="none" strike="noStrike" kern="1200" cap="none" spc="0" normalizeH="0" baseline="0" noProof="0" err="1">
                          <a:ln>
                            <a:noFill/>
                          </a:ln>
                          <a:solidFill>
                            <a:srgbClr val="0A2F24"/>
                          </a:solidFill>
                          <a:effectLst/>
                          <a:uLnTx/>
                          <a:uFillTx/>
                          <a:latin typeface="+mn-lt"/>
                          <a:ea typeface="+mn-ea"/>
                          <a:cs typeface="+mn-cs"/>
                        </a:rPr>
                        <a:t>EcoStruxure</a:t>
                      </a:r>
                      <a:r>
                        <a:rPr kumimoji="0" lang="en-US" sz="1000" b="0" i="0" u="none" strike="noStrike" kern="1200" cap="none" spc="0" normalizeH="0" baseline="0" noProof="0">
                          <a:ln>
                            <a:noFill/>
                          </a:ln>
                          <a:solidFill>
                            <a:srgbClr val="0A2F24"/>
                          </a:solidFill>
                          <a:effectLst/>
                          <a:uLnTx/>
                          <a:uFillTx/>
                          <a:latin typeface="+mn-lt"/>
                          <a:ea typeface="+mn-ea"/>
                          <a:cs typeface="+mn-cs"/>
                        </a:rPr>
                        <a:t> Power Monitoring </a:t>
                      </a:r>
                      <a:r>
                        <a:rPr kumimoji="0" lang="en-US" sz="1000" b="0" i="0" u="none" strike="noStrike" kern="1200" cap="none" spc="0" normalizeH="0" baseline="0" noProof="0" err="1">
                          <a:ln>
                            <a:noFill/>
                          </a:ln>
                          <a:solidFill>
                            <a:srgbClr val="0A2F24"/>
                          </a:solidFill>
                          <a:effectLst/>
                          <a:uLnTx/>
                          <a:uFillTx/>
                          <a:latin typeface="+mn-lt"/>
                          <a:ea typeface="+mn-ea"/>
                          <a:cs typeface="+mn-cs"/>
                        </a:rPr>
                        <a:t>giv</a:t>
                      </a:r>
                      <a:r>
                        <a:rPr kumimoji="0" lang="pl-PL" sz="1000" b="0" i="0" u="none" strike="noStrike" kern="1200" cap="none" spc="0" normalizeH="0" baseline="0" noProof="0">
                          <a:ln>
                            <a:noFill/>
                          </a:ln>
                          <a:solidFill>
                            <a:srgbClr val="0A2F24"/>
                          </a:solidFill>
                          <a:effectLst/>
                          <a:uLnTx/>
                          <a:uFillTx/>
                          <a:latin typeface="+mn-lt"/>
                          <a:ea typeface="+mn-ea"/>
                          <a:cs typeface="+mn-cs"/>
                        </a:rPr>
                        <a:t>es</a:t>
                      </a:r>
                      <a:r>
                        <a:rPr kumimoji="0" lang="en-US" sz="1000" b="0" i="0" u="none" strike="noStrike" kern="1200" cap="none" spc="0" normalizeH="0" baseline="0" noProof="0">
                          <a:ln>
                            <a:noFill/>
                          </a:ln>
                          <a:solidFill>
                            <a:srgbClr val="0A2F24"/>
                          </a:solidFill>
                          <a:effectLst/>
                          <a:uLnTx/>
                          <a:uFillTx/>
                          <a:latin typeface="+mn-lt"/>
                          <a:ea typeface="+mn-ea"/>
                          <a:cs typeface="+mn-cs"/>
                        </a:rPr>
                        <a:t> facility teams visibility into consumption, performance issues, and efficiency opportunities.</a:t>
                      </a:r>
                      <a:endParaRPr kumimoji="0" lang="pl-PL" sz="1000" b="0" i="0" u="none" strike="noStrike" kern="1200" cap="none" spc="0" normalizeH="0" baseline="0" noProof="0">
                        <a:ln>
                          <a:noFill/>
                        </a:ln>
                        <a:solidFill>
                          <a:srgbClr val="0A2F24"/>
                        </a:solidFill>
                        <a:effectLst/>
                        <a:uLnTx/>
                        <a:uFillTx/>
                        <a:latin typeface="+mn-lt"/>
                        <a:ea typeface="+mn-ea"/>
                        <a:cs typeface="+mn-cs"/>
                      </a:endParaRPr>
                    </a:p>
                    <a:p>
                      <a:pPr marL="171450" marR="0" lvl="0" indent="-17145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Real-time, granular data</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collection</a:t>
                      </a:r>
                      <a:endParaRPr kumimoji="0" lang="pl-PL" sz="1000" b="0" i="0" u="none" strike="noStrike" kern="1200" cap="none" spc="0" normalizeH="0" baseline="0" noProof="0">
                        <a:ln>
                          <a:noFill/>
                        </a:ln>
                        <a:solidFill>
                          <a:srgbClr val="0A2F24"/>
                        </a:solidFill>
                        <a:effectLst/>
                        <a:uLnTx/>
                        <a:uFillTx/>
                        <a:latin typeface="+mn-lt"/>
                        <a:ea typeface="+mn-ea"/>
                        <a:cs typeface="+mn-cs"/>
                      </a:endParaRPr>
                    </a:p>
                    <a:p>
                      <a:pPr marL="171450" marR="0" lvl="0" indent="-17145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Centralized dashboards and analytics</a:t>
                      </a:r>
                      <a:endParaRPr kumimoji="0" lang="pl-PL" sz="1000" b="0" i="0" u="none" strike="noStrike" kern="1200" cap="none" spc="0" normalizeH="0" baseline="0" noProof="0">
                        <a:ln>
                          <a:noFill/>
                        </a:ln>
                        <a:solidFill>
                          <a:srgbClr val="0A2F24"/>
                        </a:solidFill>
                        <a:effectLst/>
                        <a:uLnTx/>
                        <a:uFillTx/>
                        <a:latin typeface="+mn-lt"/>
                        <a:ea typeface="+mn-ea"/>
                        <a:cs typeface="+mn-cs"/>
                      </a:endParaRPr>
                    </a:p>
                    <a:p>
                      <a:pPr marL="171450" marR="0" lvl="0" indent="-17145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Actionable alerts and reporting </a:t>
                      </a:r>
                    </a:p>
                    <a:p>
                      <a:pPr marL="0" marR="0" lvl="0" indent="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CTA: </a:t>
                      </a:r>
                      <a:r>
                        <a:rPr kumimoji="0" lang="en-US" sz="1000" b="0" i="0" u="none" strike="noStrike" kern="1200" cap="none" spc="0" normalizeH="0" baseline="0" noProof="0">
                          <a:ln>
                            <a:noFill/>
                          </a:ln>
                          <a:solidFill>
                            <a:srgbClr val="0A2F24"/>
                          </a:solidFill>
                          <a:effectLst/>
                          <a:uLnTx/>
                          <a:uFillTx/>
                          <a:latin typeface="+mn-lt"/>
                          <a:ea typeface="+mn-ea"/>
                          <a:cs typeface="+mn-cs"/>
                        </a:rPr>
                        <a:t>Watch the energy monitoring walkthrough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9" name="TextBox 8">
            <a:extLst>
              <a:ext uri="{FF2B5EF4-FFF2-40B4-BE49-F238E27FC236}">
                <a16:creationId xmlns:a16="http://schemas.microsoft.com/office/drawing/2014/main" id="{8F25D18D-1627-23B1-2AB0-290B09C8B7DD}"/>
              </a:ext>
            </a:extLst>
          </p:cNvPr>
          <p:cNvSpPr txBox="1"/>
          <p:nvPr/>
        </p:nvSpPr>
        <p:spPr>
          <a:xfrm>
            <a:off x="4996992" y="3929886"/>
            <a:ext cx="2544876" cy="861774"/>
          </a:xfrm>
          <a:prstGeom prst="rect">
            <a:avLst/>
          </a:prstGeom>
          <a:solidFill>
            <a:schemeClr val="accent4">
              <a:lumMod val="20000"/>
              <a:lumOff val="80000"/>
            </a:schemeClr>
          </a:solidFill>
          <a:ln>
            <a:solidFill>
              <a:schemeClr val="tx1"/>
            </a:solidFill>
          </a:ln>
        </p:spPr>
        <p:txBody>
          <a:bodyPr wrap="square">
            <a:spAutoFit/>
          </a:bodyPr>
          <a:lstStyle/>
          <a:p>
            <a:pPr>
              <a:buClr>
                <a:srgbClr val="3DCD58"/>
              </a:buClr>
              <a:defRPr/>
            </a:pPr>
            <a:r>
              <a:rPr lang="pl-PL" sz="1000" b="1"/>
              <a:t>GEO Tips &amp; Tricks</a:t>
            </a:r>
          </a:p>
          <a:p>
            <a:pPr>
              <a:buClr>
                <a:srgbClr val="3DCD58"/>
              </a:buClr>
              <a:defRPr/>
            </a:pPr>
            <a:r>
              <a:rPr lang="en-US" sz="1000"/>
              <a:t>Checklist for video</a:t>
            </a:r>
            <a:r>
              <a:rPr lang="pl-PL" sz="1000"/>
              <a:t>/image</a:t>
            </a:r>
            <a:r>
              <a:rPr lang="en-US" sz="1000"/>
              <a:t>:</a:t>
            </a:r>
          </a:p>
          <a:p>
            <a:pPr marL="171450" indent="-171450">
              <a:buClr>
                <a:srgbClr val="3DCD58"/>
              </a:buClr>
              <a:buFont typeface="Arial" panose="020B0604020202020204" pitchFamily="34" charset="0"/>
              <a:buChar char="•"/>
              <a:defRPr/>
            </a:pPr>
            <a:r>
              <a:rPr lang="en-US" sz="1000"/>
              <a:t>Video</a:t>
            </a:r>
            <a:r>
              <a:rPr lang="pl-PL" sz="1000"/>
              <a:t>/image</a:t>
            </a:r>
            <a:r>
              <a:rPr lang="en-US" sz="1000"/>
              <a:t> is supported by text</a:t>
            </a:r>
          </a:p>
          <a:p>
            <a:pPr marL="171450" indent="-171450">
              <a:buClr>
                <a:srgbClr val="3DCD58"/>
              </a:buClr>
              <a:buFont typeface="Arial" panose="020B0604020202020204" pitchFamily="34" charset="0"/>
              <a:buChar char="•"/>
              <a:defRPr/>
            </a:pPr>
            <a:r>
              <a:rPr lang="en-US" sz="1000"/>
              <a:t>Clear, descriptive title</a:t>
            </a:r>
          </a:p>
          <a:p>
            <a:pPr marL="171450" indent="-171450">
              <a:buClr>
                <a:srgbClr val="3DCD58"/>
              </a:buClr>
              <a:buFont typeface="Arial" panose="020B0604020202020204" pitchFamily="34" charset="0"/>
              <a:buChar char="•"/>
              <a:defRPr/>
            </a:pPr>
            <a:r>
              <a:rPr lang="en-US" sz="1000"/>
              <a:t>AI‑readable summary content</a:t>
            </a:r>
          </a:p>
        </p:txBody>
      </p:sp>
      <p:cxnSp>
        <p:nvCxnSpPr>
          <p:cNvPr id="24" name="Straight Arrow Connector 23">
            <a:extLst>
              <a:ext uri="{FF2B5EF4-FFF2-40B4-BE49-F238E27FC236}">
                <a16:creationId xmlns:a16="http://schemas.microsoft.com/office/drawing/2014/main" id="{BA5C71BF-E37D-10AC-56EB-20C4ABD98549}"/>
              </a:ext>
            </a:extLst>
          </p:cNvPr>
          <p:cNvCxnSpPr>
            <a:cxnSpLocks/>
          </p:cNvCxnSpPr>
          <p:nvPr/>
        </p:nvCxnSpPr>
        <p:spPr>
          <a:xfrm>
            <a:off x="3322791" y="2596158"/>
            <a:ext cx="263777"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5985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8F64C-7966-9BD5-81EC-C29FC0F95B8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5E6C0EB-0981-32A1-AE4A-0E2C3EE5D898}"/>
              </a:ext>
            </a:extLst>
          </p:cNvPr>
          <p:cNvGraphicFramePr>
            <a:graphicFrameLocks noGrp="1"/>
          </p:cNvGraphicFramePr>
          <p:nvPr>
            <p:extLst>
              <p:ext uri="{D42A27DB-BD31-4B8C-83A1-F6EECF244321}">
                <p14:modId xmlns:p14="http://schemas.microsoft.com/office/powerpoint/2010/main" val="841241528"/>
              </p:ext>
            </p:extLst>
          </p:nvPr>
        </p:nvGraphicFramePr>
        <p:xfrm>
          <a:off x="3745479" y="1192703"/>
          <a:ext cx="5025091" cy="2858770"/>
        </p:xfrm>
        <a:graphic>
          <a:graphicData uri="http://schemas.openxmlformats.org/drawingml/2006/table">
            <a:tbl>
              <a:tblPr firstRow="1" bandRow="1">
                <a:tableStyleId>{5C22544A-7EE6-4342-B048-85BDC9FD1C3A}</a:tableStyleId>
              </a:tblPr>
              <a:tblGrid>
                <a:gridCol w="5025091">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Example</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Page: </a:t>
                      </a:r>
                      <a:r>
                        <a:rPr kumimoji="0" lang="en-US" sz="1000" b="0" i="0" u="none" strike="noStrike" kern="1200" cap="none" spc="0" normalizeH="0" baseline="0" noProof="0">
                          <a:ln>
                            <a:noFill/>
                          </a:ln>
                          <a:solidFill>
                            <a:srgbClr val="0A2F24"/>
                          </a:solidFill>
                          <a:effectLst/>
                          <a:uLnTx/>
                          <a:uFillTx/>
                          <a:latin typeface="+mn-lt"/>
                          <a:ea typeface="+mn-ea"/>
                          <a:cs typeface="+mn-cs"/>
                        </a:rPr>
                        <a:t>Schneider Electric Cybersecurity White Paper (se.com </a:t>
                      </a:r>
                      <a:r>
                        <a:rPr kumimoji="0" lang="pl-PL" sz="1000" b="0" i="0" u="none" strike="noStrike" kern="1200" cap="none" spc="0" normalizeH="0" baseline="0" noProof="0">
                          <a:ln>
                            <a:noFill/>
                          </a:ln>
                          <a:solidFill>
                            <a:srgbClr val="0A2F24"/>
                          </a:solidFill>
                          <a:effectLst/>
                          <a:uLnTx/>
                          <a:uFillTx/>
                          <a:latin typeface="+mn-lt"/>
                          <a:ea typeface="+mn-ea"/>
                          <a:cs typeface="+mn-cs"/>
                        </a:rPr>
                        <a:t>-&gt;</a:t>
                      </a:r>
                      <a:r>
                        <a:rPr kumimoji="0" lang="en-US" sz="1000" b="0" i="0" u="none" strike="noStrike" kern="1200" cap="none" spc="0" normalizeH="0" baseline="0" noProof="0">
                          <a:ln>
                            <a:noFill/>
                          </a:ln>
                          <a:solidFill>
                            <a:srgbClr val="0A2F24"/>
                          </a:solidFill>
                          <a:effectLst/>
                          <a:uLnTx/>
                          <a:uFillTx/>
                          <a:latin typeface="+mn-lt"/>
                          <a:ea typeface="+mn-ea"/>
                          <a:cs typeface="+mn-cs"/>
                        </a:rPr>
                        <a:t> Download</a:t>
                      </a:r>
                      <a:r>
                        <a:rPr kumimoji="0" lang="pl-PL" sz="1000" b="0" i="0" u="none" strike="noStrike" kern="1200" cap="none" spc="0" normalizeH="0" baseline="0" noProof="0">
                          <a:ln>
                            <a:noFill/>
                          </a:ln>
                          <a:solidFill>
                            <a:srgbClr val="0A2F24"/>
                          </a:solidFill>
                          <a:effectLst/>
                          <a:uLnTx/>
                          <a:uFillTx/>
                          <a:latin typeface="+mn-lt"/>
                          <a:ea typeface="+mn-ea"/>
                          <a:cs typeface="+mn-cs"/>
                        </a:rPr>
                        <a:t> -&gt; Doc</a:t>
                      </a:r>
                      <a:r>
                        <a:rPr kumimoji="0" lang="en-US" sz="1000" b="0" i="0" u="none" strike="noStrike" kern="1200" cap="none" spc="0" normalizeH="0" baseline="0" noProof="0" err="1">
                          <a:ln>
                            <a:noFill/>
                          </a:ln>
                          <a:solidFill>
                            <a:srgbClr val="0A2F24"/>
                          </a:solidFill>
                          <a:effectLst/>
                          <a:uLnTx/>
                          <a:uFillTx/>
                          <a:latin typeface="+mn-lt"/>
                          <a:ea typeface="+mn-ea"/>
                          <a:cs typeface="+mn-cs"/>
                        </a:rPr>
                        <a:t>ument</a:t>
                      </a:r>
                      <a:r>
                        <a:rPr kumimoji="0" lang="en-US" sz="1000" b="0" i="0" u="none" strike="noStrike" kern="1200" cap="none" spc="0" normalizeH="0" baseline="0" noProof="0">
                          <a:ln>
                            <a:noFill/>
                          </a:ln>
                          <a:solidFill>
                            <a:srgbClr val="0A2F24"/>
                          </a:solidFill>
                          <a:effectLst/>
                          <a:uLnTx/>
                          <a:uFillTx/>
                          <a:latin typeface="+mn-lt"/>
                          <a:ea typeface="+mn-ea"/>
                          <a:cs typeface="+mn-cs"/>
                        </a:rPr>
                        <a:t>)</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What the AI/user sees </a:t>
                      </a:r>
                      <a:r>
                        <a:rPr kumimoji="0" lang="en-US" sz="1000" b="1" i="1" u="none" strike="noStrike" kern="1200" cap="none" spc="0" normalizeH="0" baseline="0" noProof="0">
                          <a:ln>
                            <a:noFill/>
                          </a:ln>
                          <a:solidFill>
                            <a:srgbClr val="0A2F24"/>
                          </a:solidFill>
                          <a:effectLst/>
                          <a:uLnTx/>
                          <a:uFillTx/>
                          <a:latin typeface="+mn-lt"/>
                          <a:ea typeface="+mn-ea"/>
                          <a:cs typeface="+mn-cs"/>
                        </a:rPr>
                        <a:t>BEFORE</a:t>
                      </a:r>
                      <a:r>
                        <a:rPr kumimoji="0" lang="en-US" sz="1000" b="1" i="0" u="none" strike="noStrike" kern="1200" cap="none" spc="0" normalizeH="0" baseline="0" noProof="0">
                          <a:ln>
                            <a:noFill/>
                          </a:ln>
                          <a:solidFill>
                            <a:srgbClr val="0A2F24"/>
                          </a:solidFill>
                          <a:effectLst/>
                          <a:uLnTx/>
                          <a:uFillTx/>
                          <a:latin typeface="+mn-lt"/>
                          <a:ea typeface="+mn-ea"/>
                          <a:cs typeface="+mn-cs"/>
                        </a:rPr>
                        <a:t> the gate:</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Title (visible </a:t>
                      </a:r>
                      <a:r>
                        <a:rPr kumimoji="0" lang="pl-PL" sz="1000" b="0" i="0" u="none" strike="noStrike" kern="1200" cap="none" spc="0" normalizeH="0" baseline="0" noProof="0">
                          <a:ln>
                            <a:noFill/>
                          </a:ln>
                          <a:solidFill>
                            <a:srgbClr val="0A2F24"/>
                          </a:solidFill>
                          <a:effectLst/>
                          <a:uLnTx/>
                          <a:uFillTx/>
                          <a:latin typeface="+mn-lt"/>
                          <a:ea typeface="+mn-ea"/>
                          <a:cs typeface="+mn-cs"/>
                        </a:rPr>
                        <a:t>and</a:t>
                      </a:r>
                      <a:r>
                        <a:rPr kumimoji="0" lang="en-US" sz="1000" b="0" i="0" u="none" strike="noStrike" kern="1200" cap="none" spc="0" normalizeH="0" baseline="0" noProof="0">
                          <a:ln>
                            <a:noFill/>
                          </a:ln>
                          <a:solidFill>
                            <a:srgbClr val="0A2F24"/>
                          </a:solidFill>
                          <a:effectLst/>
                          <a:uLnTx/>
                          <a:uFillTx/>
                          <a:latin typeface="+mn-lt"/>
                          <a:ea typeface="+mn-ea"/>
                          <a:cs typeface="+mn-cs"/>
                        </a:rPr>
                        <a:t> descriptive): Cybersecurity at Schneider Electric – Addressing IT/OT Convergence</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Short description (visible text):</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This white paper explains cybersecurity risks from IT/OT convergence and best practices for securing industrial environments.</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CTA: </a:t>
                      </a:r>
                      <a:r>
                        <a:rPr kumimoji="0" lang="en-US" sz="1000" b="0" i="0" u="none" strike="noStrike" kern="1200" cap="none" spc="0" normalizeH="0" baseline="0" noProof="0">
                          <a:ln>
                            <a:noFill/>
                          </a:ln>
                          <a:solidFill>
                            <a:srgbClr val="0A2F24"/>
                          </a:solidFill>
                          <a:effectLst/>
                          <a:uLnTx/>
                          <a:uFillTx/>
                          <a:latin typeface="+mn-lt"/>
                          <a:ea typeface="+mn-ea"/>
                          <a:cs typeface="+mn-cs"/>
                        </a:rPr>
                        <a:t>Download the white paper</a:t>
                      </a:r>
                      <a:endParaRPr kumimoji="0" lang="en-US" sz="1050" b="0" i="0" u="none" strike="noStrike" kern="1200" cap="none" spc="0" normalizeH="0" baseline="0" noProof="0">
                        <a:ln>
                          <a:noFill/>
                        </a:ln>
                        <a:solidFill>
                          <a:srgbClr val="0A2F24"/>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8" name="Shape 0">
            <a:extLst>
              <a:ext uri="{FF2B5EF4-FFF2-40B4-BE49-F238E27FC236}">
                <a16:creationId xmlns:a16="http://schemas.microsoft.com/office/drawing/2014/main" id="{E3C8351D-F6D6-77E5-E738-7E3457BD39C6}"/>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A4FF05CE-5A65-5064-D875-298A474431E0}"/>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in action</a:t>
            </a:r>
            <a:r>
              <a:rPr lang="en-US" sz="2200">
                <a:solidFill>
                  <a:schemeClr val="accent5"/>
                </a:solidFill>
                <a:cs typeface="Arial"/>
              </a:rPr>
              <a:t>: </a:t>
            </a:r>
            <a:r>
              <a:rPr lang="pl-PL" sz="2200">
                <a:solidFill>
                  <a:schemeClr val="accent5"/>
                </a:solidFill>
                <a:cs typeface="Arial"/>
              </a:rPr>
              <a:t>Gated Content Item Description</a:t>
            </a:r>
            <a:endParaRPr lang="en-US" sz="2200">
              <a:solidFill>
                <a:schemeClr val="accent5"/>
              </a:solidFill>
              <a:cs typeface="Arial"/>
            </a:endParaRPr>
          </a:p>
        </p:txBody>
      </p:sp>
      <p:sp>
        <p:nvSpPr>
          <p:cNvPr id="12" name="Text 2">
            <a:extLst>
              <a:ext uri="{FF2B5EF4-FFF2-40B4-BE49-F238E27FC236}">
                <a16:creationId xmlns:a16="http://schemas.microsoft.com/office/drawing/2014/main" id="{33EEB785-4649-38ED-14D6-40CBF0D90BE7}"/>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F4F119E0-3ABF-64C6-ADC3-F52F0AE901E1}"/>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EE7001DD-4EEC-6181-56A0-3A36E741CFDF}"/>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34</a:t>
            </a:fld>
            <a:endParaRPr lang="en-US">
              <a:solidFill>
                <a:srgbClr val="3DCD58"/>
              </a:solidFill>
            </a:endParaRPr>
          </a:p>
        </p:txBody>
      </p:sp>
      <p:graphicFrame>
        <p:nvGraphicFramePr>
          <p:cNvPr id="10" name="Table 9">
            <a:extLst>
              <a:ext uri="{FF2B5EF4-FFF2-40B4-BE49-F238E27FC236}">
                <a16:creationId xmlns:a16="http://schemas.microsoft.com/office/drawing/2014/main" id="{78A7F677-71A3-443E-3533-EF58896C2D75}"/>
              </a:ext>
            </a:extLst>
          </p:cNvPr>
          <p:cNvGraphicFramePr>
            <a:graphicFrameLocks noGrp="1"/>
          </p:cNvGraphicFramePr>
          <p:nvPr>
            <p:extLst>
              <p:ext uri="{D42A27DB-BD31-4B8C-83A1-F6EECF244321}">
                <p14:modId xmlns:p14="http://schemas.microsoft.com/office/powerpoint/2010/main" val="3773856706"/>
              </p:ext>
            </p:extLst>
          </p:nvPr>
        </p:nvGraphicFramePr>
        <p:xfrm>
          <a:off x="306265" y="1220724"/>
          <a:ext cx="2895714" cy="250698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896702349"/>
                    </a:ext>
                  </a:extLst>
                </a:gridCol>
              </a:tblGrid>
              <a:tr h="260914">
                <a:tc>
                  <a:txBody>
                    <a:bodyPr/>
                    <a:lstStyle/>
                    <a:p>
                      <a:pPr algn="ctr"/>
                      <a:r>
                        <a:rPr lang="pl-PL" sz="1200" b="1">
                          <a:solidFill>
                            <a:schemeClr val="accent5"/>
                          </a:solidFill>
                        </a:rPr>
                        <a:t>Context</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AI engines cannot access gated content</a:t>
                      </a:r>
                      <a:r>
                        <a:rPr lang="en-US" sz="1000">
                          <a:solidFill>
                            <a:schemeClr val="tx1"/>
                          </a:solidFill>
                        </a:rPr>
                        <a:t>.</a:t>
                      </a:r>
                      <a:endParaRPr lang="pl-PL" sz="100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en-US" sz="1000">
                        <a:solidFill>
                          <a:schemeClr val="tx1"/>
                        </a:solidFill>
                      </a:endParaRPr>
                    </a:p>
                    <a:p>
                      <a:pPr>
                        <a:spcBef>
                          <a:spcPts val="0"/>
                        </a:spcBef>
                        <a:spcAft>
                          <a:spcPts val="0"/>
                        </a:spcAft>
                        <a:buClr>
                          <a:srgbClr val="3DCD58"/>
                        </a:buClr>
                        <a:defRPr/>
                      </a:pPr>
                      <a:r>
                        <a:rPr lang="en-US" sz="1050" b="1">
                          <a:solidFill>
                            <a:schemeClr val="tx1"/>
                          </a:solidFill>
                        </a:rPr>
                        <a:t>Principle: </a:t>
                      </a:r>
                    </a:p>
                    <a:p>
                      <a:pPr>
                        <a:spcBef>
                          <a:spcPts val="0"/>
                        </a:spcBef>
                        <a:spcAft>
                          <a:spcPts val="0"/>
                        </a:spcAft>
                        <a:buClr>
                          <a:srgbClr val="3DCD58"/>
                        </a:buClr>
                        <a:defRPr/>
                      </a:pPr>
                      <a:r>
                        <a:rPr lang="en-US" sz="1000" b="0">
                          <a:solidFill>
                            <a:schemeClr val="tx1"/>
                          </a:solidFill>
                        </a:rPr>
                        <a:t>Gate the deep dive, not the knowledge</a:t>
                      </a:r>
                    </a:p>
                    <a:p>
                      <a:pPr>
                        <a:spcBef>
                          <a:spcPts val="0"/>
                        </a:spcBef>
                        <a:spcAft>
                          <a:spcPts val="0"/>
                        </a:spcAft>
                        <a:buClr>
                          <a:srgbClr val="3DCD58"/>
                        </a:buClr>
                        <a:defRPr/>
                      </a:pPr>
                      <a:endParaRPr lang="pl-PL" sz="1000" b="1">
                        <a:solidFill>
                          <a:schemeClr val="tx1"/>
                        </a:solidFill>
                      </a:endParaRPr>
                    </a:p>
                    <a:p>
                      <a:pPr>
                        <a:spcBef>
                          <a:spcPts val="0"/>
                        </a:spcBef>
                        <a:spcAft>
                          <a:spcPts val="0"/>
                        </a:spcAft>
                        <a:buClr>
                          <a:srgbClr val="3DCD58"/>
                        </a:buClr>
                        <a:defRPr/>
                      </a:pPr>
                      <a:r>
                        <a:rPr lang="en-US" sz="1000" b="1">
                          <a:solidFill>
                            <a:schemeClr val="tx1"/>
                          </a:solidFill>
                        </a:rPr>
                        <a:t>Recommendation:</a:t>
                      </a:r>
                    </a:p>
                    <a:p>
                      <a:pPr marL="128588" indent="-128588" defTabSz="457172">
                        <a:lnSpc>
                          <a:spcPct val="100000"/>
                        </a:lnSpc>
                        <a:spcBef>
                          <a:spcPts val="0"/>
                        </a:spcBef>
                        <a:spcAft>
                          <a:spcPts val="0"/>
                        </a:spcAft>
                        <a:buClr>
                          <a:schemeClr val="tx1"/>
                        </a:buClr>
                        <a:buFont typeface="Arial" panose="020B0604020202020204" pitchFamily="34" charset="0"/>
                        <a:buChar char="•"/>
                        <a:defRPr/>
                      </a:pPr>
                      <a:r>
                        <a:rPr lang="en-US" sz="1000">
                          <a:solidFill>
                            <a:schemeClr val="tx1"/>
                          </a:solidFill>
                        </a:rPr>
                        <a:t>Create </a:t>
                      </a:r>
                      <a:r>
                        <a:rPr lang="en-US" sz="1000" b="1" kern="1200">
                          <a:solidFill>
                            <a:schemeClr val="tx1"/>
                          </a:solidFill>
                          <a:latin typeface="+mn-lt"/>
                          <a:ea typeface="+mn-ea"/>
                          <a:cs typeface="+mn-cs"/>
                        </a:rPr>
                        <a:t>ungated summary blocks</a:t>
                      </a:r>
                      <a:r>
                        <a:rPr lang="en-US" sz="1000" kern="1200">
                          <a:solidFill>
                            <a:schemeClr val="tx1"/>
                          </a:solidFill>
                          <a:latin typeface="+mn-lt"/>
                          <a:ea typeface="+mn-ea"/>
                          <a:cs typeface="+mn-cs"/>
                        </a:rPr>
                        <a:t>:</a:t>
                      </a:r>
                    </a:p>
                    <a:p>
                      <a:pPr marL="533379" lvl="1" indent="-171450" defTabSz="447648">
                        <a:lnSpc>
                          <a:spcPct val="100000"/>
                        </a:lnSpc>
                        <a:spcBef>
                          <a:spcPts val="0"/>
                        </a:spcBef>
                        <a:spcAft>
                          <a:spcPts val="0"/>
                        </a:spcAft>
                        <a:buClr>
                          <a:schemeClr val="tx1"/>
                        </a:buClr>
                        <a:buFont typeface="Courier New" panose="02070309020205020404" pitchFamily="49" charset="0"/>
                        <a:buChar char="o"/>
                        <a:defRPr/>
                      </a:pPr>
                      <a:r>
                        <a:rPr lang="en-US" sz="1000">
                          <a:solidFill>
                            <a:schemeClr val="tx1"/>
                          </a:solidFill>
                        </a:rPr>
                        <a:t>Key findings</a:t>
                      </a:r>
                    </a:p>
                    <a:p>
                      <a:pPr marL="533379" lvl="1" indent="-171450" defTabSz="447648">
                        <a:lnSpc>
                          <a:spcPct val="100000"/>
                        </a:lnSpc>
                        <a:spcBef>
                          <a:spcPts val="0"/>
                        </a:spcBef>
                        <a:spcAft>
                          <a:spcPts val="0"/>
                        </a:spcAft>
                        <a:buClr>
                          <a:schemeClr val="tx1"/>
                        </a:buClr>
                        <a:buFont typeface="Courier New" panose="02070309020205020404" pitchFamily="49" charset="0"/>
                        <a:buChar char="o"/>
                        <a:defRPr/>
                      </a:pPr>
                      <a:r>
                        <a:rPr lang="en-US" sz="1000">
                          <a:solidFill>
                            <a:schemeClr val="tx1"/>
                          </a:solidFill>
                        </a:rPr>
                        <a:t>Definitions</a:t>
                      </a:r>
                    </a:p>
                    <a:p>
                      <a:pPr marL="533379" lvl="1" indent="-171450" defTabSz="447648">
                        <a:lnSpc>
                          <a:spcPct val="100000"/>
                        </a:lnSpc>
                        <a:spcBef>
                          <a:spcPts val="0"/>
                        </a:spcBef>
                        <a:spcAft>
                          <a:spcPts val="0"/>
                        </a:spcAft>
                        <a:buClr>
                          <a:schemeClr val="tx1"/>
                        </a:buClr>
                        <a:buFont typeface="Courier New" panose="02070309020205020404" pitchFamily="49" charset="0"/>
                        <a:buChar char="o"/>
                        <a:defRPr/>
                      </a:pPr>
                      <a:r>
                        <a:rPr lang="en-US" sz="1000">
                          <a:solidFill>
                            <a:schemeClr val="tx1"/>
                          </a:solidFill>
                        </a:rPr>
                        <a:t>Frameworks</a:t>
                      </a:r>
                    </a:p>
                    <a:p>
                      <a:pPr marL="128588" indent="-128588" defTabSz="457172">
                        <a:lnSpc>
                          <a:spcPct val="100000"/>
                        </a:lnSpc>
                        <a:spcBef>
                          <a:spcPts val="0"/>
                        </a:spcBef>
                        <a:spcAft>
                          <a:spcPts val="0"/>
                        </a:spcAft>
                        <a:buClr>
                          <a:schemeClr val="tx1"/>
                        </a:buClr>
                        <a:buFont typeface="Arial" panose="020B0604020202020204" pitchFamily="34" charset="0"/>
                        <a:buChar char="•"/>
                        <a:defRPr/>
                      </a:pPr>
                      <a:r>
                        <a:rPr lang="en-US" sz="1000" b="0">
                          <a:solidFill>
                            <a:schemeClr val="tx1"/>
                          </a:solidFill>
                        </a:rPr>
                        <a:t>They must be:</a:t>
                      </a:r>
                    </a:p>
                    <a:p>
                      <a:pPr marL="533379" lvl="1" indent="-171450" defTabSz="457172">
                        <a:spcBef>
                          <a:spcPts val="0"/>
                        </a:spcBef>
                        <a:spcAft>
                          <a:spcPts val="0"/>
                        </a:spcAft>
                        <a:buClr>
                          <a:schemeClr val="tx1"/>
                        </a:buClr>
                        <a:buFont typeface="Courier New" panose="02070309020205020404" pitchFamily="49" charset="0"/>
                        <a:buChar char="o"/>
                        <a:defRPr/>
                      </a:pPr>
                      <a:r>
                        <a:rPr lang="en-US" sz="1000">
                          <a:solidFill>
                            <a:schemeClr val="tx1"/>
                          </a:solidFill>
                        </a:rPr>
                        <a:t>Visible</a:t>
                      </a:r>
                    </a:p>
                    <a:p>
                      <a:pPr marL="533379" lvl="1" indent="-171450" defTabSz="457172">
                        <a:spcBef>
                          <a:spcPts val="0"/>
                        </a:spcBef>
                        <a:spcAft>
                          <a:spcPts val="0"/>
                        </a:spcAft>
                        <a:buClr>
                          <a:schemeClr val="tx1"/>
                        </a:buClr>
                        <a:buFont typeface="Courier New" panose="02070309020205020404" pitchFamily="49" charset="0"/>
                        <a:buChar char="o"/>
                        <a:defRPr/>
                      </a:pPr>
                      <a:r>
                        <a:rPr lang="en-US" sz="1000">
                          <a:solidFill>
                            <a:schemeClr val="tx1"/>
                          </a:solidFill>
                        </a:rPr>
                        <a:t>Indexable</a:t>
                      </a:r>
                    </a:p>
                    <a:p>
                      <a:pPr marL="533379" lvl="1" indent="-171450" defTabSz="457172">
                        <a:spcBef>
                          <a:spcPts val="0"/>
                        </a:spcBef>
                        <a:spcAft>
                          <a:spcPts val="0"/>
                        </a:spcAft>
                        <a:buClr>
                          <a:schemeClr val="tx1"/>
                        </a:buClr>
                        <a:buFont typeface="Courier New" panose="02070309020205020404" pitchFamily="49" charset="0"/>
                        <a:buChar char="o"/>
                        <a:defRPr/>
                      </a:pPr>
                      <a:r>
                        <a:rPr lang="en-US" sz="1000">
                          <a:solidFill>
                            <a:schemeClr val="tx1"/>
                          </a:solidFill>
                        </a:rPr>
                        <a:t>Descriptive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cxnSp>
        <p:nvCxnSpPr>
          <p:cNvPr id="9" name="Straight Arrow Connector 8">
            <a:extLst>
              <a:ext uri="{FF2B5EF4-FFF2-40B4-BE49-F238E27FC236}">
                <a16:creationId xmlns:a16="http://schemas.microsoft.com/office/drawing/2014/main" id="{02C3779C-83B1-CD18-E5EB-1CEFBBEEBB07}"/>
              </a:ext>
            </a:extLst>
          </p:cNvPr>
          <p:cNvCxnSpPr>
            <a:cxnSpLocks/>
          </p:cNvCxnSpPr>
          <p:nvPr/>
        </p:nvCxnSpPr>
        <p:spPr>
          <a:xfrm>
            <a:off x="3201979" y="2406529"/>
            <a:ext cx="550684"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pic>
        <p:nvPicPr>
          <p:cNvPr id="13" name="Picture 12">
            <a:extLst>
              <a:ext uri="{FF2B5EF4-FFF2-40B4-BE49-F238E27FC236}">
                <a16:creationId xmlns:a16="http://schemas.microsoft.com/office/drawing/2014/main" id="{11034AD1-F46D-D366-1C6D-4BE26169E564}"/>
              </a:ext>
            </a:extLst>
          </p:cNvPr>
          <p:cNvPicPr>
            <a:picLocks noChangeAspect="1"/>
          </p:cNvPicPr>
          <p:nvPr/>
        </p:nvPicPr>
        <p:blipFill>
          <a:blip r:embed="rId3"/>
          <a:stretch>
            <a:fillRect/>
          </a:stretch>
        </p:blipFill>
        <p:spPr>
          <a:xfrm>
            <a:off x="5329162" y="4174742"/>
            <a:ext cx="1654477" cy="921370"/>
          </a:xfrm>
          <a:prstGeom prst="rect">
            <a:avLst/>
          </a:prstGeom>
          <a:ln w="28575">
            <a:solidFill>
              <a:schemeClr val="tx2"/>
            </a:solidFill>
          </a:ln>
        </p:spPr>
      </p:pic>
      <p:pic>
        <p:nvPicPr>
          <p:cNvPr id="14" name="Picture 13">
            <a:extLst>
              <a:ext uri="{FF2B5EF4-FFF2-40B4-BE49-F238E27FC236}">
                <a16:creationId xmlns:a16="http://schemas.microsoft.com/office/drawing/2014/main" id="{21FEDA1C-6303-F4FB-A6CA-053DE1EB7BE8}"/>
              </a:ext>
            </a:extLst>
          </p:cNvPr>
          <p:cNvPicPr>
            <a:picLocks noChangeAspect="1"/>
          </p:cNvPicPr>
          <p:nvPr/>
        </p:nvPicPr>
        <p:blipFill>
          <a:blip r:embed="rId4"/>
          <a:stretch>
            <a:fillRect/>
          </a:stretch>
        </p:blipFill>
        <p:spPr>
          <a:xfrm>
            <a:off x="3471590" y="4174741"/>
            <a:ext cx="1654477" cy="921370"/>
          </a:xfrm>
          <a:prstGeom prst="rect">
            <a:avLst/>
          </a:prstGeom>
          <a:ln w="28575">
            <a:solidFill>
              <a:srgbClr val="C00000"/>
            </a:solidFill>
          </a:ln>
        </p:spPr>
      </p:pic>
      <p:sp>
        <p:nvSpPr>
          <p:cNvPr id="20" name="TextBox 19">
            <a:extLst>
              <a:ext uri="{FF2B5EF4-FFF2-40B4-BE49-F238E27FC236}">
                <a16:creationId xmlns:a16="http://schemas.microsoft.com/office/drawing/2014/main" id="{21B212F8-A736-6BEC-E87C-763DF471B4A9}"/>
              </a:ext>
            </a:extLst>
          </p:cNvPr>
          <p:cNvSpPr txBox="1"/>
          <p:nvPr/>
        </p:nvSpPr>
        <p:spPr>
          <a:xfrm>
            <a:off x="7186734" y="3727704"/>
            <a:ext cx="1926343" cy="1323439"/>
          </a:xfrm>
          <a:prstGeom prst="rect">
            <a:avLst/>
          </a:prstGeom>
          <a:solidFill>
            <a:srgbClr val="FFFFFF"/>
          </a:solidFill>
          <a:ln>
            <a:solidFill>
              <a:schemeClr val="tx1"/>
            </a:solidFill>
          </a:ln>
        </p:spPr>
        <p:txBody>
          <a:bodyPr wrap="square">
            <a:spAutoFit/>
          </a:bodyPr>
          <a:lstStyle/>
          <a:p>
            <a:pPr>
              <a:buClr>
                <a:srgbClr val="3DCD58"/>
              </a:buClr>
              <a:defRPr/>
            </a:pPr>
            <a:r>
              <a:rPr lang="en-US" sz="1000" b="1">
                <a:latin typeface="Poppins"/>
              </a:rPr>
              <a:t>Benefits:</a:t>
            </a:r>
            <a:endParaRPr lang="pl-PL" sz="1000" b="1">
              <a:latin typeface="Poppins"/>
            </a:endParaRPr>
          </a:p>
          <a:p>
            <a:pPr marL="171450" indent="-171450">
              <a:buClr>
                <a:schemeClr val="tx1"/>
              </a:buClr>
              <a:buFont typeface="Arial" panose="020B0604020202020204" pitchFamily="34" charset="0"/>
              <a:buChar char="•"/>
              <a:defRPr/>
            </a:pPr>
            <a:r>
              <a:rPr lang="en-US" sz="1000"/>
              <a:t>Clear explanation of value before registration</a:t>
            </a:r>
          </a:p>
          <a:p>
            <a:pPr marL="171450" indent="-171450">
              <a:buClr>
                <a:schemeClr val="tx1"/>
              </a:buClr>
              <a:buFont typeface="Arial" panose="020B0604020202020204" pitchFamily="34" charset="0"/>
              <a:buChar char="•"/>
              <a:defRPr/>
            </a:pPr>
            <a:r>
              <a:rPr lang="en-US" sz="1000"/>
              <a:t>Search engines can index the description text</a:t>
            </a:r>
          </a:p>
          <a:p>
            <a:pPr marL="171450" indent="-171450">
              <a:buClr>
                <a:schemeClr val="tx1"/>
              </a:buClr>
              <a:buFont typeface="Arial" panose="020B0604020202020204" pitchFamily="34" charset="0"/>
              <a:buChar char="•"/>
              <a:defRPr/>
            </a:pPr>
            <a:r>
              <a:rPr lang="en-US" sz="1000"/>
              <a:t>Content is not hidden without context</a:t>
            </a:r>
          </a:p>
        </p:txBody>
      </p:sp>
      <p:cxnSp>
        <p:nvCxnSpPr>
          <p:cNvPr id="16" name="Straight Arrow Connector 15">
            <a:extLst>
              <a:ext uri="{FF2B5EF4-FFF2-40B4-BE49-F238E27FC236}">
                <a16:creationId xmlns:a16="http://schemas.microsoft.com/office/drawing/2014/main" id="{67B1D284-B5A5-CACE-5B14-E24DBA6B5931}"/>
              </a:ext>
            </a:extLst>
          </p:cNvPr>
          <p:cNvCxnSpPr>
            <a:cxnSpLocks/>
          </p:cNvCxnSpPr>
          <p:nvPr/>
        </p:nvCxnSpPr>
        <p:spPr>
          <a:xfrm>
            <a:off x="4923443" y="4573792"/>
            <a:ext cx="550684"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07E7458A-3359-4838-D95C-71ED3405973A}"/>
              </a:ext>
            </a:extLst>
          </p:cNvPr>
          <p:cNvSpPr txBox="1"/>
          <p:nvPr/>
        </p:nvSpPr>
        <p:spPr>
          <a:xfrm>
            <a:off x="622266" y="4004702"/>
            <a:ext cx="2263711" cy="723275"/>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en-US" sz="1000">
                <a:solidFill>
                  <a:schemeClr val="accent5"/>
                </a:solidFill>
              </a:rPr>
              <a:t>AI cannot see gated content—make the knowledge visible first, and gate only the detailed depth.</a:t>
            </a:r>
            <a:endParaRPr lang="en-US" sz="1100">
              <a:solidFill>
                <a:schemeClr val="accent5"/>
              </a:solidFill>
            </a:endParaRPr>
          </a:p>
        </p:txBody>
      </p:sp>
    </p:spTree>
    <p:extLst>
      <p:ext uri="{BB962C8B-B14F-4D97-AF65-F5344CB8AC3E}">
        <p14:creationId xmlns:p14="http://schemas.microsoft.com/office/powerpoint/2010/main" val="2901706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F460-D0EE-0465-E398-5CFC4B91E177}"/>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C8BA4D3E-25EA-25D3-44B9-D0C15147E392}"/>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FA531704-C658-DD1A-1B93-000D528BE414}"/>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GEO </a:t>
            </a:r>
            <a:r>
              <a:rPr lang="pl-PL" sz="2200">
                <a:solidFill>
                  <a:schemeClr val="accent5"/>
                </a:solidFill>
                <a:cs typeface="Arial"/>
              </a:rPr>
              <a:t>Dos and Don’ts</a:t>
            </a:r>
            <a:endParaRPr lang="en-US" sz="2200">
              <a:solidFill>
                <a:schemeClr val="accent5"/>
              </a:solidFill>
              <a:cs typeface="Arial"/>
            </a:endParaRPr>
          </a:p>
        </p:txBody>
      </p:sp>
      <p:sp>
        <p:nvSpPr>
          <p:cNvPr id="12" name="Text 2">
            <a:extLst>
              <a:ext uri="{FF2B5EF4-FFF2-40B4-BE49-F238E27FC236}">
                <a16:creationId xmlns:a16="http://schemas.microsoft.com/office/drawing/2014/main" id="{15835AE7-4843-D3AE-3434-B5BB73726EDB}"/>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Short list of content principles to keep in mind any time you create content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A112521E-929F-E9A9-EE5F-3B09F8E4083E}"/>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C61044E0-CF25-3A80-FEAB-8F242FAFCA15}"/>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35</a:t>
            </a:fld>
            <a:endParaRPr lang="en-US">
              <a:solidFill>
                <a:srgbClr val="3DCD58"/>
              </a:solidFill>
            </a:endParaRPr>
          </a:p>
        </p:txBody>
      </p:sp>
      <p:graphicFrame>
        <p:nvGraphicFramePr>
          <p:cNvPr id="9" name="Table 8">
            <a:extLst>
              <a:ext uri="{FF2B5EF4-FFF2-40B4-BE49-F238E27FC236}">
                <a16:creationId xmlns:a16="http://schemas.microsoft.com/office/drawing/2014/main" id="{BA2A74A3-0BE3-0A67-715F-AE49EC0B453D}"/>
              </a:ext>
            </a:extLst>
          </p:cNvPr>
          <p:cNvGraphicFramePr>
            <a:graphicFrameLocks noGrp="1"/>
          </p:cNvGraphicFramePr>
          <p:nvPr>
            <p:extLst>
              <p:ext uri="{D42A27DB-BD31-4B8C-83A1-F6EECF244321}">
                <p14:modId xmlns:p14="http://schemas.microsoft.com/office/powerpoint/2010/main" val="459860168"/>
              </p:ext>
            </p:extLst>
          </p:nvPr>
        </p:nvGraphicFramePr>
        <p:xfrm>
          <a:off x="3073919" y="1133699"/>
          <a:ext cx="2895714" cy="20421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Do</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rgbClr val="626469">
                              <a:lumMod val="75000"/>
                            </a:srgbClr>
                          </a:solidFill>
                        </a:rPr>
                        <a:t>Write for AI answers</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Write for answers, not campaigns</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Make context explicit</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Structure for extraction (lists, tables, short sections)</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Write for reuse, not persuasion</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Update content every 6–12 months</a:t>
                      </a:r>
                      <a:r>
                        <a:rPr lang="pl-PL" sz="1000" b="0">
                          <a:solidFill>
                            <a:srgbClr val="626469">
                              <a:lumMod val="75000"/>
                            </a:srgbClr>
                          </a:solidFill>
                        </a:rPr>
                        <a:t> for content freshness</a:t>
                      </a:r>
                    </a:p>
                    <a:p>
                      <a:pPr marL="0" indent="0">
                        <a:spcBef>
                          <a:spcPts val="0"/>
                        </a:spcBef>
                        <a:spcAft>
                          <a:spcPts val="0"/>
                        </a:spcAft>
                        <a:buClr>
                          <a:srgbClr val="3DCD58"/>
                        </a:buClr>
                        <a:buFont typeface="Arial" panose="020B0604020202020204" pitchFamily="34" charset="0"/>
                        <a:buNone/>
                        <a:defRPr/>
                      </a:pPr>
                      <a:endParaRPr lang="pl-PL" sz="1000" b="0">
                        <a:solidFill>
                          <a:srgbClr val="626469">
                            <a:lumMod val="75000"/>
                          </a:srgbClr>
                        </a:solidFill>
                      </a:endParaRPr>
                    </a:p>
                    <a:p>
                      <a:pPr marL="0" indent="0">
                        <a:spcBef>
                          <a:spcPts val="0"/>
                        </a:spcBef>
                        <a:spcAft>
                          <a:spcPts val="0"/>
                        </a:spcAft>
                        <a:buClr>
                          <a:srgbClr val="3DCD58"/>
                        </a:buClr>
                        <a:buFont typeface="Arial" panose="020B0604020202020204" pitchFamily="34" charset="0"/>
                        <a:buNone/>
                        <a:defRPr/>
                      </a:pPr>
                      <a:r>
                        <a:rPr lang="en-US" sz="1000" b="1">
                          <a:solidFill>
                            <a:srgbClr val="626469">
                              <a:lumMod val="75000"/>
                            </a:srgbClr>
                          </a:solidFill>
                        </a:rPr>
                        <a:t>Think: </a:t>
                      </a:r>
                      <a:r>
                        <a:rPr lang="en-US" sz="1000" b="0">
                          <a:solidFill>
                            <a:srgbClr val="626469">
                              <a:lumMod val="75000"/>
                            </a:srgbClr>
                          </a:solidFill>
                        </a:rPr>
                        <a:t>“Would an AI confidently quote this sentence?”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0" name="Table 9">
            <a:extLst>
              <a:ext uri="{FF2B5EF4-FFF2-40B4-BE49-F238E27FC236}">
                <a16:creationId xmlns:a16="http://schemas.microsoft.com/office/drawing/2014/main" id="{0DFEB18B-1AC4-6344-B15E-79BF2448885B}"/>
              </a:ext>
            </a:extLst>
          </p:cNvPr>
          <p:cNvGraphicFramePr>
            <a:graphicFrameLocks noGrp="1"/>
          </p:cNvGraphicFramePr>
          <p:nvPr>
            <p:extLst>
              <p:ext uri="{D42A27DB-BD31-4B8C-83A1-F6EECF244321}">
                <p14:modId xmlns:p14="http://schemas.microsoft.com/office/powerpoint/2010/main" val="378955179"/>
              </p:ext>
            </p:extLst>
          </p:nvPr>
        </p:nvGraphicFramePr>
        <p:xfrm>
          <a:off x="1494313" y="3231340"/>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tx1"/>
                          </a:solidFill>
                        </a:rPr>
                        <a:t>Don’ts</a:t>
                      </a:r>
                      <a:endParaRPr lang="pl-PL"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rgbClr val="626469">
                              <a:lumMod val="75000"/>
                            </a:srgbClr>
                          </a:solidFill>
                        </a:rPr>
                        <a:t>Create AI friction</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Bury meaning in storytelling</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Assume AI “figures it out”</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Hide core information in PDFs or gated assets</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Rename sections creatively at the cost of clarity</a:t>
                      </a:r>
                    </a:p>
                    <a:p>
                      <a:pPr marL="171450" indent="-171450">
                        <a:spcBef>
                          <a:spcPts val="0"/>
                        </a:spcBef>
                        <a:spcAft>
                          <a:spcPts val="0"/>
                        </a:spcAft>
                        <a:buClr>
                          <a:srgbClr val="3DCD58"/>
                        </a:buClr>
                        <a:buFont typeface="Arial" panose="020B0604020202020204" pitchFamily="34" charset="0"/>
                        <a:buChar char="•"/>
                        <a:defRPr/>
                      </a:pPr>
                      <a:r>
                        <a:rPr lang="en-US" sz="1000" b="0">
                          <a:solidFill>
                            <a:srgbClr val="626469">
                              <a:lumMod val="75000"/>
                            </a:srgbClr>
                          </a:solidFill>
                        </a:rPr>
                        <a:t>Rely on vague value claims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graphicFrame>
        <p:nvGraphicFramePr>
          <p:cNvPr id="13" name="Table 12">
            <a:extLst>
              <a:ext uri="{FF2B5EF4-FFF2-40B4-BE49-F238E27FC236}">
                <a16:creationId xmlns:a16="http://schemas.microsoft.com/office/drawing/2014/main" id="{013746C8-E603-08D9-16FA-011C715AEFEF}"/>
              </a:ext>
            </a:extLst>
          </p:cNvPr>
          <p:cNvGraphicFramePr>
            <a:graphicFrameLocks noGrp="1"/>
          </p:cNvGraphicFramePr>
          <p:nvPr/>
        </p:nvGraphicFramePr>
        <p:xfrm>
          <a:off x="4751995" y="3231340"/>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tx1"/>
                          </a:solidFill>
                        </a:rPr>
                        <a:t>GEO Gate</a:t>
                      </a:r>
                      <a:endParaRPr lang="pl-PL"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Before publishing </a:t>
                      </a:r>
                      <a:r>
                        <a:rPr lang="pl-PL" sz="1000" b="0">
                          <a:solidFill>
                            <a:schemeClr val="tx1"/>
                          </a:solidFill>
                        </a:rPr>
                        <a:t>content</a:t>
                      </a:r>
                      <a:r>
                        <a:rPr lang="en-US" sz="1000" b="0">
                          <a:solidFill>
                            <a:schemeClr val="tx1"/>
                          </a:solidFill>
                        </a:rPr>
                        <a:t>, </a:t>
                      </a:r>
                      <a:r>
                        <a:rPr lang="pl-PL" sz="1000" b="0">
                          <a:solidFill>
                            <a:schemeClr val="tx1"/>
                          </a:solidFill>
                        </a:rPr>
                        <a:t>be sure that you have</a:t>
                      </a:r>
                      <a:r>
                        <a:rPr lang="en-US" sz="1000" b="0">
                          <a:solidFill>
                            <a:schemeClr val="tx1"/>
                          </a:solidFill>
                        </a:rPr>
                        <a:t>:</a:t>
                      </a:r>
                    </a:p>
                    <a:p>
                      <a:pPr marL="0" indent="0">
                        <a:spcBef>
                          <a:spcPts val="0"/>
                        </a:spcBef>
                        <a:spcAft>
                          <a:spcPts val="0"/>
                        </a:spcAft>
                        <a:buClr>
                          <a:srgbClr val="3DCD58"/>
                        </a:buClr>
                        <a:buFont typeface="Wingdings" panose="05000000000000000000" pitchFamily="2" charset="2"/>
                        <a:buNone/>
                        <a:defRPr/>
                      </a:pPr>
                      <a:endParaRPr lang="en-US" sz="1000" b="1">
                        <a:solidFill>
                          <a:schemeClr val="tx1"/>
                        </a:solidFill>
                      </a:endParaRPr>
                    </a:p>
                    <a:p>
                      <a:pPr marL="171450" indent="-171450">
                        <a:spcBef>
                          <a:spcPts val="0"/>
                        </a:spcBef>
                        <a:spcAft>
                          <a:spcPts val="0"/>
                        </a:spcAft>
                        <a:buClr>
                          <a:srgbClr val="3DCD58"/>
                        </a:buClr>
                        <a:buFont typeface="Arial" panose="020B0604020202020204" pitchFamily="34" charset="0"/>
                        <a:buChar char="•"/>
                        <a:defRPr/>
                      </a:pPr>
                      <a:r>
                        <a:rPr lang="en-US" sz="1000" b="0">
                          <a:solidFill>
                            <a:schemeClr val="tx1"/>
                          </a:solidFill>
                        </a:rPr>
                        <a:t>Clear </a:t>
                      </a:r>
                      <a:r>
                        <a:rPr lang="pl-PL" sz="1000" b="0">
                          <a:solidFill>
                            <a:schemeClr val="tx1"/>
                          </a:solidFill>
                        </a:rPr>
                        <a:t>page definition on the top</a:t>
                      </a:r>
                      <a:endParaRPr lang="en-US" sz="1000" b="0">
                        <a:solidFill>
                          <a:schemeClr val="tx1"/>
                        </a:solidFill>
                      </a:endParaRPr>
                    </a:p>
                    <a:p>
                      <a:pPr marL="171450" indent="-171450">
                        <a:spcBef>
                          <a:spcPts val="0"/>
                        </a:spcBef>
                        <a:spcAft>
                          <a:spcPts val="0"/>
                        </a:spcAft>
                        <a:buClr>
                          <a:srgbClr val="3DCD58"/>
                        </a:buClr>
                        <a:buFont typeface="Arial" panose="020B0604020202020204" pitchFamily="34" charset="0"/>
                        <a:buChar char="•"/>
                        <a:defRPr/>
                      </a:pPr>
                      <a:r>
                        <a:rPr lang="en-US" sz="1000" b="0">
                          <a:solidFill>
                            <a:schemeClr val="tx1"/>
                          </a:solidFill>
                        </a:rPr>
                        <a:t>Audience </a:t>
                      </a:r>
                      <a:r>
                        <a:rPr lang="pl-PL" sz="1000" b="0">
                          <a:solidFill>
                            <a:schemeClr val="tx1"/>
                          </a:solidFill>
                        </a:rPr>
                        <a:t>and</a:t>
                      </a:r>
                      <a:r>
                        <a:rPr lang="en-US" sz="1000" b="0">
                          <a:solidFill>
                            <a:schemeClr val="tx1"/>
                          </a:solidFill>
                        </a:rPr>
                        <a:t> scenario explicitly stated</a:t>
                      </a:r>
                    </a:p>
                    <a:p>
                      <a:pPr marL="171450" indent="-171450">
                        <a:spcBef>
                          <a:spcPts val="0"/>
                        </a:spcBef>
                        <a:spcAft>
                          <a:spcPts val="0"/>
                        </a:spcAft>
                        <a:buClr>
                          <a:srgbClr val="3DCD58"/>
                        </a:buClr>
                        <a:buFont typeface="Arial" panose="020B0604020202020204" pitchFamily="34" charset="0"/>
                        <a:buChar char="•"/>
                        <a:defRPr/>
                      </a:pPr>
                      <a:r>
                        <a:rPr lang="en-US" sz="1000" b="0">
                          <a:solidFill>
                            <a:schemeClr val="tx1"/>
                          </a:solidFill>
                        </a:rPr>
                        <a:t>Outcomes clearly listed</a:t>
                      </a:r>
                    </a:p>
                    <a:p>
                      <a:pPr marL="171450" indent="-171450">
                        <a:spcBef>
                          <a:spcPts val="0"/>
                        </a:spcBef>
                        <a:spcAft>
                          <a:spcPts val="0"/>
                        </a:spcAft>
                        <a:buClr>
                          <a:srgbClr val="3DCD58"/>
                        </a:buClr>
                        <a:buFont typeface="Arial" panose="020B0604020202020204" pitchFamily="34" charset="0"/>
                        <a:buChar char="•"/>
                        <a:defRPr/>
                      </a:pPr>
                      <a:r>
                        <a:rPr lang="en-US" sz="1000" b="0">
                          <a:solidFill>
                            <a:schemeClr val="tx1"/>
                          </a:solidFill>
                        </a:rPr>
                        <a:t>Content is fact‑based and extractable</a:t>
                      </a:r>
                    </a:p>
                    <a:p>
                      <a:pPr marL="171450" indent="-171450">
                        <a:spcBef>
                          <a:spcPts val="0"/>
                        </a:spcBef>
                        <a:spcAft>
                          <a:spcPts val="0"/>
                        </a:spcAft>
                        <a:buClr>
                          <a:srgbClr val="3DCD58"/>
                        </a:buClr>
                        <a:buFont typeface="Arial" panose="020B0604020202020204" pitchFamily="34" charset="0"/>
                        <a:buChar char="•"/>
                        <a:defRPr/>
                      </a:pPr>
                      <a:r>
                        <a:rPr lang="en-US" sz="1000" b="0">
                          <a:solidFill>
                            <a:schemeClr val="tx1"/>
                          </a:solidFill>
                        </a:rPr>
                        <a:t>No critical info locked behind forms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1486063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231B1-72EE-28CA-9379-9B019550A5C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30993C73-BB39-D455-63C2-44CD2BA7486D}"/>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D8F64B4D-D0B8-BFB4-0FB2-D6939D93A6A2}"/>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GEO Writing Checklist - Onepager</a:t>
            </a:r>
            <a:endParaRPr lang="en-US" sz="2200">
              <a:solidFill>
                <a:schemeClr val="accent5"/>
              </a:solidFill>
              <a:cs typeface="Arial"/>
            </a:endParaRPr>
          </a:p>
        </p:txBody>
      </p:sp>
      <p:sp>
        <p:nvSpPr>
          <p:cNvPr id="12" name="Text 2">
            <a:extLst>
              <a:ext uri="{FF2B5EF4-FFF2-40B4-BE49-F238E27FC236}">
                <a16:creationId xmlns:a16="http://schemas.microsoft.com/office/drawing/2014/main" id="{35170250-B3AF-E19E-4265-FC81E8E74E54}"/>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One‑page GEO writing checklist for </a:t>
            </a:r>
            <a:r>
              <a:rPr lang="pl-PL" sz="1100">
                <a:solidFill>
                  <a:schemeClr val="accent5"/>
                </a:solidFill>
                <a:cs typeface="Arial"/>
              </a:rPr>
              <a:t>content creation.</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AF62A79D-DF89-F05F-B8F8-C33B181B8150}"/>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CB3D6BD8-FD6B-BF80-8A02-3D677F865065}"/>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36</a:t>
            </a:fld>
            <a:endParaRPr lang="en-US">
              <a:solidFill>
                <a:srgbClr val="3DCD58"/>
              </a:solidFill>
            </a:endParaRPr>
          </a:p>
        </p:txBody>
      </p:sp>
      <p:graphicFrame>
        <p:nvGraphicFramePr>
          <p:cNvPr id="9" name="Table 8">
            <a:extLst>
              <a:ext uri="{FF2B5EF4-FFF2-40B4-BE49-F238E27FC236}">
                <a16:creationId xmlns:a16="http://schemas.microsoft.com/office/drawing/2014/main" id="{44EF8B12-75A9-3BD7-48EE-16231F5CE67E}"/>
              </a:ext>
            </a:extLst>
          </p:cNvPr>
          <p:cNvGraphicFramePr>
            <a:graphicFrameLocks noGrp="1"/>
          </p:cNvGraphicFramePr>
          <p:nvPr>
            <p:extLst>
              <p:ext uri="{D42A27DB-BD31-4B8C-83A1-F6EECF244321}">
                <p14:modId xmlns:p14="http://schemas.microsoft.com/office/powerpoint/2010/main" val="1266247062"/>
              </p:ext>
            </p:extLst>
          </p:nvPr>
        </p:nvGraphicFramePr>
        <p:xfrm>
          <a:off x="182236" y="1304726"/>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Answer first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Does the page answer the primary question in the first few lines?</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Is the definition or explanation immediate and self‑contained?</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Can the answer be lifted out without additional context?</a:t>
                      </a:r>
                      <a:endParaRPr kumimoji="0" lang="en-US" sz="1000" b="0" i="0" u="none" strike="noStrike" kern="1200" cap="none" spc="0" normalizeH="0" baseline="0" noProof="0">
                        <a:ln>
                          <a:noFill/>
                        </a:ln>
                        <a:solidFill>
                          <a:srgbClr val="0A2F24"/>
                        </a:solidFill>
                        <a:effectLst/>
                        <a:uLnTx/>
                        <a:uFillTx/>
                        <a:latin typeface="+mn-lt"/>
                        <a:ea typeface="+mn-ea"/>
                        <a:cs typeface="Poppin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6" name="Table 15">
            <a:extLst>
              <a:ext uri="{FF2B5EF4-FFF2-40B4-BE49-F238E27FC236}">
                <a16:creationId xmlns:a16="http://schemas.microsoft.com/office/drawing/2014/main" id="{2A1BF7CF-3057-8136-3E9E-6DC0E2950016}"/>
              </a:ext>
            </a:extLst>
          </p:cNvPr>
          <p:cNvGraphicFramePr>
            <a:graphicFrameLocks noGrp="1"/>
          </p:cNvGraphicFramePr>
          <p:nvPr>
            <p:extLst>
              <p:ext uri="{D42A27DB-BD31-4B8C-83A1-F6EECF244321}">
                <p14:modId xmlns:p14="http://schemas.microsoft.com/office/powerpoint/2010/main" val="3193926327"/>
              </p:ext>
            </p:extLst>
          </p:nvPr>
        </p:nvGraphicFramePr>
        <p:xfrm>
          <a:off x="6064840" y="3042087"/>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Final GEO check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7FFD9"/>
                          </a:solidFill>
                          <a:effectLst/>
                          <a:uLnTx/>
                          <a:uFillTx/>
                          <a:latin typeface="+mn-lt"/>
                          <a:ea typeface="+mn-ea"/>
                          <a:cs typeface="+mn-cs"/>
                        </a:rPr>
                        <a:t>If an AI had to summarize this page in 3–4 sentences, would it clearly understand:</a:t>
                      </a:r>
                    </a:p>
                    <a:p>
                      <a:pPr marL="213995" marR="0" lvl="0" indent="-213995" algn="l" defTabSz="457184" rtl="0" eaLnBrk="1" fontAlgn="auto" latinLnBrk="0" hangingPunct="1">
                        <a:lnSpc>
                          <a:spcPct val="100000"/>
                        </a:lnSpc>
                        <a:spcBef>
                          <a:spcPts val="0"/>
                        </a:spcBef>
                        <a:spcAft>
                          <a:spcPts val="0"/>
                        </a:spcAft>
                        <a:buClr>
                          <a:schemeClr val="accent5"/>
                        </a:buClr>
                        <a:buSzTx/>
                        <a:buFont typeface="Arial" panose="020B0604020202020204" pitchFamily="34" charset="0"/>
                        <a:buChar char="•"/>
                        <a:tabLst/>
                        <a:defRPr/>
                      </a:pPr>
                      <a:r>
                        <a:rPr kumimoji="0" lang="en-US" sz="1000" b="1" i="0" u="none" strike="noStrike" kern="1200" cap="none" spc="0" normalizeH="0" baseline="0" noProof="0">
                          <a:ln>
                            <a:noFill/>
                          </a:ln>
                          <a:solidFill>
                            <a:srgbClr val="E7FFD9"/>
                          </a:solidFill>
                          <a:effectLst/>
                          <a:uLnTx/>
                          <a:uFillTx/>
                          <a:latin typeface="+mn-lt"/>
                          <a:ea typeface="+mn-ea"/>
                          <a:cs typeface="+mn-cs"/>
                        </a:rPr>
                        <a:t>What</a:t>
                      </a:r>
                      <a:r>
                        <a:rPr kumimoji="0" lang="en-US" sz="1000" b="0" i="0" u="none" strike="noStrike" kern="1200" cap="none" spc="0" normalizeH="0" baseline="0" noProof="0">
                          <a:ln>
                            <a:noFill/>
                          </a:ln>
                          <a:solidFill>
                            <a:srgbClr val="E7FFD9"/>
                          </a:solidFill>
                          <a:effectLst/>
                          <a:uLnTx/>
                          <a:uFillTx/>
                          <a:latin typeface="+mn-lt"/>
                          <a:ea typeface="+mn-ea"/>
                          <a:cs typeface="+mn-cs"/>
                        </a:rPr>
                        <a:t> it is</a:t>
                      </a:r>
                      <a:endParaRPr kumimoji="0" lang="en-US" sz="1000" b="0" i="0" u="none" strike="noStrike" kern="1200" cap="none" spc="0" normalizeH="0" baseline="0" noProof="0">
                        <a:ln>
                          <a:noFill/>
                        </a:ln>
                        <a:solidFill>
                          <a:srgbClr val="E7FFD9"/>
                        </a:solidFill>
                        <a:effectLst/>
                        <a:uLnTx/>
                        <a:uFillTx/>
                        <a:latin typeface="+mn-lt"/>
                        <a:ea typeface="+mn-ea"/>
                        <a:cs typeface="Poppins"/>
                      </a:endParaRPr>
                    </a:p>
                    <a:p>
                      <a:pPr marL="213995" marR="0" lvl="0" indent="-213995" algn="l" defTabSz="457184" rtl="0" eaLnBrk="1" fontAlgn="auto" latinLnBrk="0" hangingPunct="1">
                        <a:lnSpc>
                          <a:spcPct val="100000"/>
                        </a:lnSpc>
                        <a:spcBef>
                          <a:spcPts val="0"/>
                        </a:spcBef>
                        <a:spcAft>
                          <a:spcPts val="0"/>
                        </a:spcAft>
                        <a:buClr>
                          <a:schemeClr val="accent5"/>
                        </a:buClr>
                        <a:buSzTx/>
                        <a:buFont typeface="Arial" panose="020B0604020202020204" pitchFamily="34" charset="0"/>
                        <a:buChar char="•"/>
                        <a:tabLst/>
                        <a:defRPr/>
                      </a:pPr>
                      <a:r>
                        <a:rPr kumimoji="0" lang="en-US" sz="1000" b="1" i="0" u="none" strike="noStrike" kern="1200" cap="none" spc="0" normalizeH="0" baseline="0" noProof="0">
                          <a:ln>
                            <a:noFill/>
                          </a:ln>
                          <a:solidFill>
                            <a:srgbClr val="E7FFD9"/>
                          </a:solidFill>
                          <a:effectLst/>
                          <a:uLnTx/>
                          <a:uFillTx/>
                          <a:latin typeface="+mn-lt"/>
                          <a:ea typeface="+mn-ea"/>
                          <a:cs typeface="+mn-cs"/>
                        </a:rPr>
                        <a:t>Who</a:t>
                      </a:r>
                      <a:r>
                        <a:rPr kumimoji="0" lang="en-US" sz="1000" b="0" i="0" u="none" strike="noStrike" kern="1200" cap="none" spc="0" normalizeH="0" baseline="0" noProof="0">
                          <a:ln>
                            <a:noFill/>
                          </a:ln>
                          <a:solidFill>
                            <a:srgbClr val="E7FFD9"/>
                          </a:solidFill>
                          <a:effectLst/>
                          <a:uLnTx/>
                          <a:uFillTx/>
                          <a:latin typeface="+mn-lt"/>
                          <a:ea typeface="+mn-ea"/>
                          <a:cs typeface="+mn-cs"/>
                        </a:rPr>
                        <a:t> it is for</a:t>
                      </a:r>
                      <a:endParaRPr kumimoji="0" lang="en-US" sz="1000" b="0" i="0" u="none" strike="noStrike" kern="1200" cap="none" spc="0" normalizeH="0" baseline="0" noProof="0">
                        <a:ln>
                          <a:noFill/>
                        </a:ln>
                        <a:solidFill>
                          <a:srgbClr val="E7FFD9"/>
                        </a:solidFill>
                        <a:effectLst/>
                        <a:uLnTx/>
                        <a:uFillTx/>
                        <a:latin typeface="+mn-lt"/>
                        <a:ea typeface="+mn-ea"/>
                        <a:cs typeface="Poppins"/>
                      </a:endParaRPr>
                    </a:p>
                    <a:p>
                      <a:pPr marL="213995" marR="0" lvl="0" indent="-213995" algn="l" defTabSz="457184" rtl="0" eaLnBrk="1" fontAlgn="auto" latinLnBrk="0" hangingPunct="1">
                        <a:lnSpc>
                          <a:spcPct val="100000"/>
                        </a:lnSpc>
                        <a:spcBef>
                          <a:spcPts val="0"/>
                        </a:spcBef>
                        <a:spcAft>
                          <a:spcPts val="0"/>
                        </a:spcAft>
                        <a:buClr>
                          <a:schemeClr val="accent5"/>
                        </a:buClr>
                        <a:buSzTx/>
                        <a:buFont typeface="Arial" panose="020B0604020202020204" pitchFamily="34" charset="0"/>
                        <a:buChar char="•"/>
                        <a:tabLst/>
                        <a:defRPr/>
                      </a:pPr>
                      <a:r>
                        <a:rPr kumimoji="0" lang="en-US" sz="1000" b="1" i="0" u="none" strike="noStrike" kern="1200" cap="none" spc="0" normalizeH="0" baseline="0" noProof="0">
                          <a:ln>
                            <a:noFill/>
                          </a:ln>
                          <a:solidFill>
                            <a:srgbClr val="E7FFD9"/>
                          </a:solidFill>
                          <a:effectLst/>
                          <a:uLnTx/>
                          <a:uFillTx/>
                          <a:latin typeface="+mn-lt"/>
                          <a:ea typeface="+mn-ea"/>
                          <a:cs typeface="+mn-cs"/>
                        </a:rPr>
                        <a:t>When</a:t>
                      </a:r>
                      <a:r>
                        <a:rPr kumimoji="0" lang="en-US" sz="1000" b="0" i="0" u="none" strike="noStrike" kern="1200" cap="none" spc="0" normalizeH="0" baseline="0" noProof="0">
                          <a:ln>
                            <a:noFill/>
                          </a:ln>
                          <a:solidFill>
                            <a:srgbClr val="E7FFD9"/>
                          </a:solidFill>
                          <a:effectLst/>
                          <a:uLnTx/>
                          <a:uFillTx/>
                          <a:latin typeface="+mn-lt"/>
                          <a:ea typeface="+mn-ea"/>
                          <a:cs typeface="+mn-cs"/>
                        </a:rPr>
                        <a:t> it applies</a:t>
                      </a:r>
                      <a:endParaRPr kumimoji="0" lang="en-US" sz="1000" b="0" i="0" u="none" strike="noStrike" kern="1200" cap="none" spc="0" normalizeH="0" baseline="0" noProof="0">
                        <a:ln>
                          <a:noFill/>
                        </a:ln>
                        <a:solidFill>
                          <a:srgbClr val="E7FFD9"/>
                        </a:solidFill>
                        <a:effectLst/>
                        <a:uLnTx/>
                        <a:uFillTx/>
                        <a:latin typeface="+mn-lt"/>
                        <a:ea typeface="+mn-ea"/>
                        <a:cs typeface="Poppins"/>
                      </a:endParaRPr>
                    </a:p>
                    <a:p>
                      <a:pPr marL="213995" marR="0" lvl="0" indent="-213995" algn="l" defTabSz="457184" rtl="0" eaLnBrk="1" fontAlgn="auto" latinLnBrk="0" hangingPunct="1">
                        <a:lnSpc>
                          <a:spcPct val="100000"/>
                        </a:lnSpc>
                        <a:spcBef>
                          <a:spcPts val="0"/>
                        </a:spcBef>
                        <a:spcAft>
                          <a:spcPts val="0"/>
                        </a:spcAft>
                        <a:buClr>
                          <a:schemeClr val="accent5"/>
                        </a:buClr>
                        <a:buSzTx/>
                        <a:buFont typeface="Arial" panose="020B0604020202020204" pitchFamily="34" charset="0"/>
                        <a:buChar char="•"/>
                        <a:tabLst/>
                        <a:defRPr/>
                      </a:pPr>
                      <a:r>
                        <a:rPr kumimoji="0" lang="en-US" sz="1000" b="1" i="0" u="none" strike="noStrike" kern="1200" cap="none" spc="0" normalizeH="0" baseline="0" noProof="0">
                          <a:ln>
                            <a:noFill/>
                          </a:ln>
                          <a:solidFill>
                            <a:srgbClr val="E7FFD9"/>
                          </a:solidFill>
                          <a:effectLst/>
                          <a:uLnTx/>
                          <a:uFillTx/>
                          <a:latin typeface="+mn-lt"/>
                          <a:ea typeface="+mn-ea"/>
                          <a:cs typeface="+mn-cs"/>
                        </a:rPr>
                        <a:t>What outcome </a:t>
                      </a:r>
                      <a:r>
                        <a:rPr kumimoji="0" lang="en-US" sz="1000" b="0" i="0" u="none" strike="noStrike" kern="1200" cap="none" spc="0" normalizeH="0" baseline="0" noProof="0">
                          <a:ln>
                            <a:noFill/>
                          </a:ln>
                          <a:solidFill>
                            <a:srgbClr val="E7FFD9"/>
                          </a:solidFill>
                          <a:effectLst/>
                          <a:uLnTx/>
                          <a:uFillTx/>
                          <a:latin typeface="+mn-lt"/>
                          <a:ea typeface="+mn-ea"/>
                          <a:cs typeface="+mn-cs"/>
                        </a:rPr>
                        <a:t>it delivers</a:t>
                      </a:r>
                      <a:endParaRPr kumimoji="0" lang="en-US" sz="1000" b="0" i="0" u="none" strike="noStrike" kern="1200" cap="none" spc="0" normalizeH="0" baseline="0" noProof="0">
                        <a:ln>
                          <a:noFill/>
                        </a:ln>
                        <a:solidFill>
                          <a:srgbClr val="E7FFD9"/>
                        </a:solidFill>
                        <a:effectLst/>
                        <a:uLnTx/>
                        <a:uFillTx/>
                        <a:latin typeface="+mn-lt"/>
                        <a:ea typeface="+mn-ea"/>
                        <a:cs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E7FFD9"/>
                        </a:solidFill>
                        <a:effectLst/>
                        <a:uLnTx/>
                        <a:uFillTx/>
                        <a:latin typeface="+mn-lt"/>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7FFD9"/>
                          </a:solidFill>
                          <a:effectLst/>
                          <a:uLnTx/>
                          <a:uFillTx/>
                          <a:latin typeface="+mn-lt"/>
                          <a:ea typeface="+mn-ea"/>
                          <a:cs typeface="+mn-cs"/>
                        </a:rPr>
                        <a:t>If not, the content is not yet GEO‑ready.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083675175"/>
                  </a:ext>
                </a:extLst>
              </a:tr>
            </a:tbl>
          </a:graphicData>
        </a:graphic>
      </p:graphicFrame>
      <p:graphicFrame>
        <p:nvGraphicFramePr>
          <p:cNvPr id="17" name="Table 16">
            <a:extLst>
              <a:ext uri="{FF2B5EF4-FFF2-40B4-BE49-F238E27FC236}">
                <a16:creationId xmlns:a16="http://schemas.microsoft.com/office/drawing/2014/main" id="{8B37809A-79A6-2F04-064A-4A0D3567C40C}"/>
              </a:ext>
            </a:extLst>
          </p:cNvPr>
          <p:cNvGraphicFramePr>
            <a:graphicFrameLocks noGrp="1"/>
          </p:cNvGraphicFramePr>
          <p:nvPr>
            <p:extLst>
              <p:ext uri="{D42A27DB-BD31-4B8C-83A1-F6EECF244321}">
                <p14:modId xmlns:p14="http://schemas.microsoft.com/office/powerpoint/2010/main" val="3759902362"/>
              </p:ext>
            </p:extLst>
          </p:nvPr>
        </p:nvGraphicFramePr>
        <p:xfrm>
          <a:off x="3124143" y="3042086"/>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72886">
                <a:tc>
                  <a:txBody>
                    <a:bodyPr/>
                    <a:lstStyle/>
                    <a:p>
                      <a:pPr algn="ctr"/>
                      <a:r>
                        <a:rPr lang="pl-PL" sz="1200" b="1">
                          <a:solidFill>
                            <a:schemeClr val="accent5"/>
                          </a:solidFill>
                        </a:rPr>
                        <a:t>Trust and clarity signals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308783">
                <a:tc>
                  <a:txBody>
                    <a:bodyPr/>
                    <a:lstStyle/>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Is the content current and </a:t>
                      </a:r>
                      <a:r>
                        <a:rPr kumimoji="0" lang="pl-PL" sz="1000" b="0" i="0" u="none" strike="noStrike" kern="1200" cap="none" spc="0" normalizeH="0" baseline="0" noProof="0">
                          <a:ln>
                            <a:noFill/>
                          </a:ln>
                          <a:solidFill>
                            <a:srgbClr val="0A2F24"/>
                          </a:solidFill>
                          <a:effectLst/>
                          <a:uLnTx/>
                          <a:uFillTx/>
                          <a:latin typeface="+mn-lt"/>
                          <a:ea typeface="+mn-ea"/>
                          <a:cs typeface="+mn-cs"/>
                        </a:rPr>
                        <a:t>well </a:t>
                      </a:r>
                      <a:r>
                        <a:rPr kumimoji="0" lang="en-US" sz="1000" b="0" i="0" u="none" strike="noStrike" kern="1200" cap="none" spc="0" normalizeH="0" baseline="0" noProof="0">
                          <a:ln>
                            <a:noFill/>
                          </a:ln>
                          <a:solidFill>
                            <a:srgbClr val="0A2F24"/>
                          </a:solidFill>
                          <a:effectLst/>
                          <a:uLnTx/>
                          <a:uFillTx/>
                          <a:latin typeface="+mn-lt"/>
                          <a:ea typeface="+mn-ea"/>
                          <a:cs typeface="+mn-cs"/>
                        </a:rPr>
                        <a:t>maintained?</a:t>
                      </a: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Are claims verifiable, concrete, and non‑exaggerated?</a:t>
                      </a: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Is the language clear, neutral, and informational (not marketing‑heavy)?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8" name="Table 17">
            <a:extLst>
              <a:ext uri="{FF2B5EF4-FFF2-40B4-BE49-F238E27FC236}">
                <a16:creationId xmlns:a16="http://schemas.microsoft.com/office/drawing/2014/main" id="{282D1CDD-ABDA-9A78-CCC7-99A922AAEC33}"/>
              </a:ext>
            </a:extLst>
          </p:cNvPr>
          <p:cNvGraphicFramePr>
            <a:graphicFrameLocks noGrp="1"/>
          </p:cNvGraphicFramePr>
          <p:nvPr>
            <p:extLst>
              <p:ext uri="{D42A27DB-BD31-4B8C-83A1-F6EECF244321}">
                <p14:modId xmlns:p14="http://schemas.microsoft.com/office/powerpoint/2010/main" val="967968931"/>
              </p:ext>
            </p:extLst>
          </p:nvPr>
        </p:nvGraphicFramePr>
        <p:xfrm>
          <a:off x="182236" y="3042087"/>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Clear context and segmentation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Is the audience clearly defined (role, persona, user)?</a:t>
                      </a:r>
                      <a:endParaRPr lang="en-US" sz="1000" b="0" i="0" u="none" strike="noStrike" kern="1200" cap="none" spc="0" normalizeH="0" baseline="0" noProof="0">
                        <a:ln>
                          <a:noFill/>
                        </a:ln>
                        <a:solidFill>
                          <a:srgbClr val="0A2F24"/>
                        </a:solidFill>
                        <a:effectLst/>
                        <a:uLnTx/>
                        <a:uFillTx/>
                        <a:latin typeface="+mn-lt"/>
                        <a:cs typeface="Poppins"/>
                      </a:endParaRP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Is the scenario or trigger explicitly stated?</a:t>
                      </a:r>
                      <a:endParaRPr lang="en-US" sz="1000" b="0" i="0" u="none" strike="noStrike" kern="1200" cap="none" spc="0" normalizeH="0" baseline="0" noProof="0">
                        <a:ln>
                          <a:noFill/>
                        </a:ln>
                        <a:solidFill>
                          <a:srgbClr val="0A2F24"/>
                        </a:solidFill>
                        <a:effectLst/>
                        <a:uLnTx/>
                        <a:uFillTx/>
                        <a:latin typeface="+mn-lt"/>
                        <a:cs typeface="Poppins"/>
                      </a:endParaRP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Would an AI know which query or situation this content applies to?</a:t>
                      </a:r>
                      <a:endParaRPr lang="en-US" sz="1000" b="0" i="0" u="none" strike="noStrike" kern="1200" cap="none" spc="0" normalizeH="0" baseline="0" noProof="0">
                        <a:ln>
                          <a:noFill/>
                        </a:ln>
                        <a:solidFill>
                          <a:srgbClr val="0A2F24"/>
                        </a:solidFill>
                        <a:effectLst/>
                        <a:uLnTx/>
                        <a:uFillTx/>
                        <a:latin typeface="+mn-lt"/>
                        <a:cs typeface="Poppin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9" name="Table 18">
            <a:extLst>
              <a:ext uri="{FF2B5EF4-FFF2-40B4-BE49-F238E27FC236}">
                <a16:creationId xmlns:a16="http://schemas.microsoft.com/office/drawing/2014/main" id="{6D756819-D592-9EC5-16B1-07248007D054}"/>
              </a:ext>
            </a:extLst>
          </p:cNvPr>
          <p:cNvGraphicFramePr>
            <a:graphicFrameLocks noGrp="1"/>
          </p:cNvGraphicFramePr>
          <p:nvPr>
            <p:extLst>
              <p:ext uri="{D42A27DB-BD31-4B8C-83A1-F6EECF244321}">
                <p14:modId xmlns:p14="http://schemas.microsoft.com/office/powerpoint/2010/main" val="605070496"/>
              </p:ext>
            </p:extLst>
          </p:nvPr>
        </p:nvGraphicFramePr>
        <p:xfrm>
          <a:off x="6064840" y="1304726"/>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Outcome‑led clarity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Are outcomes stated explicitly (not implied)?</a:t>
                      </a: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Are benefits specific enough to judge relevance?</a:t>
                      </a: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Would AI know why and when to recommend this content?</a:t>
                      </a:r>
                      <a:endParaRPr kumimoji="0" lang="pl-PL" sz="1000" b="0" i="0" u="none" strike="noStrike" kern="1200" cap="none" spc="0" normalizeH="0" baseline="0" noProof="0">
                        <a:ln>
                          <a:noFill/>
                        </a:ln>
                        <a:solidFill>
                          <a:srgbClr val="0A2F24"/>
                        </a:solidFill>
                        <a:effectLst/>
                        <a:uLnTx/>
                        <a:uFillTx/>
                        <a:latin typeface="+mn-lt"/>
                        <a:ea typeface="+mn-ea"/>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0" name="Table 19">
            <a:extLst>
              <a:ext uri="{FF2B5EF4-FFF2-40B4-BE49-F238E27FC236}">
                <a16:creationId xmlns:a16="http://schemas.microsoft.com/office/drawing/2014/main" id="{193A1235-E968-6BB0-3552-A614457FCEC2}"/>
              </a:ext>
            </a:extLst>
          </p:cNvPr>
          <p:cNvGraphicFramePr>
            <a:graphicFrameLocks noGrp="1"/>
          </p:cNvGraphicFramePr>
          <p:nvPr>
            <p:extLst>
              <p:ext uri="{D42A27DB-BD31-4B8C-83A1-F6EECF244321}">
                <p14:modId xmlns:p14="http://schemas.microsoft.com/office/powerpoint/2010/main" val="1380067195"/>
              </p:ext>
            </p:extLst>
          </p:nvPr>
        </p:nvGraphicFramePr>
        <p:xfrm>
          <a:off x="3124143" y="1304725"/>
          <a:ext cx="2895714" cy="15849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58560">
                <a:tc>
                  <a:txBody>
                    <a:bodyPr/>
                    <a:lstStyle/>
                    <a:p>
                      <a:pPr algn="ctr"/>
                      <a:r>
                        <a:rPr lang="pl-PL" sz="1200" b="1">
                          <a:solidFill>
                            <a:schemeClr val="accent5"/>
                          </a:solidFill>
                        </a:rPr>
                        <a:t>Write extractable content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307349">
                <a:tc>
                  <a:txBody>
                    <a:bodyPr/>
                    <a:lstStyle/>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Are key points written as facts, not narrative prose?</a:t>
                      </a: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Are lists, tables, or short statements used where possible?</a:t>
                      </a:r>
                    </a:p>
                    <a:p>
                      <a:pPr marL="213995" marR="0" lvl="0" indent="-182880" algn="l" defTabSz="457184" rtl="0" eaLnBrk="1" fontAlgn="auto" latinLnBrk="0" hangingPunct="1">
                        <a:lnSpc>
                          <a:spcPct val="100000"/>
                        </a:lnSpc>
                        <a:spcBef>
                          <a:spcPts val="600"/>
                        </a:spcBef>
                        <a:spcAft>
                          <a:spcPts val="600"/>
                        </a:spcAft>
                        <a:buClr>
                          <a:srgbClr val="009530"/>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Arial"/>
                        </a:rPr>
                        <a:t>Can each statement be independently extracted and reused by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2" name="Shape 3">
            <a:extLst>
              <a:ext uri="{FF2B5EF4-FFF2-40B4-BE49-F238E27FC236}">
                <a16:creationId xmlns:a16="http://schemas.microsoft.com/office/drawing/2014/main" id="{B2B109AA-7628-CF2E-984F-47B10CD6591D}"/>
              </a:ext>
            </a:extLst>
          </p:cNvPr>
          <p:cNvSpPr/>
          <p:nvPr/>
        </p:nvSpPr>
        <p:spPr>
          <a:xfrm>
            <a:off x="226313" y="1644340"/>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3" name="Shape 5">
            <a:extLst>
              <a:ext uri="{FF2B5EF4-FFF2-40B4-BE49-F238E27FC236}">
                <a16:creationId xmlns:a16="http://schemas.microsoft.com/office/drawing/2014/main" id="{8276E1E6-EF50-0014-240B-05A8FCB7F5F9}"/>
              </a:ext>
            </a:extLst>
          </p:cNvPr>
          <p:cNvSpPr/>
          <p:nvPr/>
        </p:nvSpPr>
        <p:spPr>
          <a:xfrm>
            <a:off x="226313" y="210360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4" name="Shape 7">
            <a:extLst>
              <a:ext uri="{FF2B5EF4-FFF2-40B4-BE49-F238E27FC236}">
                <a16:creationId xmlns:a16="http://schemas.microsoft.com/office/drawing/2014/main" id="{F321F0E3-47CB-2630-F70B-BE55E8418825}"/>
              </a:ext>
            </a:extLst>
          </p:cNvPr>
          <p:cNvSpPr/>
          <p:nvPr/>
        </p:nvSpPr>
        <p:spPr>
          <a:xfrm>
            <a:off x="226313" y="256286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0" name="Shape 3">
            <a:extLst>
              <a:ext uri="{FF2B5EF4-FFF2-40B4-BE49-F238E27FC236}">
                <a16:creationId xmlns:a16="http://schemas.microsoft.com/office/drawing/2014/main" id="{84EDC61E-FD67-33BB-E8C9-A329C55F3929}"/>
              </a:ext>
            </a:extLst>
          </p:cNvPr>
          <p:cNvSpPr/>
          <p:nvPr/>
        </p:nvSpPr>
        <p:spPr>
          <a:xfrm>
            <a:off x="3169652" y="164215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3" name="Shape 5">
            <a:extLst>
              <a:ext uri="{FF2B5EF4-FFF2-40B4-BE49-F238E27FC236}">
                <a16:creationId xmlns:a16="http://schemas.microsoft.com/office/drawing/2014/main" id="{C2E67A47-E388-7360-8804-9451BF362651}"/>
              </a:ext>
            </a:extLst>
          </p:cNvPr>
          <p:cNvSpPr/>
          <p:nvPr/>
        </p:nvSpPr>
        <p:spPr>
          <a:xfrm>
            <a:off x="3169652" y="210141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4" name="Shape 7">
            <a:extLst>
              <a:ext uri="{FF2B5EF4-FFF2-40B4-BE49-F238E27FC236}">
                <a16:creationId xmlns:a16="http://schemas.microsoft.com/office/drawing/2014/main" id="{92DC5576-EB80-0D60-E3A2-52F1BDFF13D6}"/>
              </a:ext>
            </a:extLst>
          </p:cNvPr>
          <p:cNvSpPr/>
          <p:nvPr/>
        </p:nvSpPr>
        <p:spPr>
          <a:xfrm>
            <a:off x="3169652" y="2560676"/>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5" name="Shape 3">
            <a:extLst>
              <a:ext uri="{FF2B5EF4-FFF2-40B4-BE49-F238E27FC236}">
                <a16:creationId xmlns:a16="http://schemas.microsoft.com/office/drawing/2014/main" id="{7C6478D0-904B-834B-38E9-74874E421680}"/>
              </a:ext>
            </a:extLst>
          </p:cNvPr>
          <p:cNvSpPr/>
          <p:nvPr/>
        </p:nvSpPr>
        <p:spPr>
          <a:xfrm>
            <a:off x="226313" y="3406978"/>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1" name="Shape 5">
            <a:extLst>
              <a:ext uri="{FF2B5EF4-FFF2-40B4-BE49-F238E27FC236}">
                <a16:creationId xmlns:a16="http://schemas.microsoft.com/office/drawing/2014/main" id="{574C7AC3-6BA4-3328-706D-31ED8350C697}"/>
              </a:ext>
            </a:extLst>
          </p:cNvPr>
          <p:cNvSpPr/>
          <p:nvPr/>
        </p:nvSpPr>
        <p:spPr>
          <a:xfrm>
            <a:off x="226313" y="3866239"/>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2" name="Shape 7">
            <a:extLst>
              <a:ext uri="{FF2B5EF4-FFF2-40B4-BE49-F238E27FC236}">
                <a16:creationId xmlns:a16="http://schemas.microsoft.com/office/drawing/2014/main" id="{709A9EFA-8C1B-2EC6-4603-2D52814B3C06}"/>
              </a:ext>
            </a:extLst>
          </p:cNvPr>
          <p:cNvSpPr/>
          <p:nvPr/>
        </p:nvSpPr>
        <p:spPr>
          <a:xfrm>
            <a:off x="226313" y="432550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3" name="Shape 3">
            <a:extLst>
              <a:ext uri="{FF2B5EF4-FFF2-40B4-BE49-F238E27FC236}">
                <a16:creationId xmlns:a16="http://schemas.microsoft.com/office/drawing/2014/main" id="{D1FE0822-9EC0-7FAB-D649-E4C18033C65E}"/>
              </a:ext>
            </a:extLst>
          </p:cNvPr>
          <p:cNvSpPr/>
          <p:nvPr/>
        </p:nvSpPr>
        <p:spPr>
          <a:xfrm>
            <a:off x="6108917" y="164215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4" name="Shape 5">
            <a:extLst>
              <a:ext uri="{FF2B5EF4-FFF2-40B4-BE49-F238E27FC236}">
                <a16:creationId xmlns:a16="http://schemas.microsoft.com/office/drawing/2014/main" id="{E8C0F4B4-3682-FA84-EDBF-3E58C1FECD05}"/>
              </a:ext>
            </a:extLst>
          </p:cNvPr>
          <p:cNvSpPr/>
          <p:nvPr/>
        </p:nvSpPr>
        <p:spPr>
          <a:xfrm>
            <a:off x="6108917" y="210141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5" name="Shape 7">
            <a:extLst>
              <a:ext uri="{FF2B5EF4-FFF2-40B4-BE49-F238E27FC236}">
                <a16:creationId xmlns:a16="http://schemas.microsoft.com/office/drawing/2014/main" id="{FC60F4E1-7442-CEB9-1679-258DB556BE59}"/>
              </a:ext>
            </a:extLst>
          </p:cNvPr>
          <p:cNvSpPr/>
          <p:nvPr/>
        </p:nvSpPr>
        <p:spPr>
          <a:xfrm>
            <a:off x="6108917" y="2560676"/>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9" name="Shape 3">
            <a:extLst>
              <a:ext uri="{FF2B5EF4-FFF2-40B4-BE49-F238E27FC236}">
                <a16:creationId xmlns:a16="http://schemas.microsoft.com/office/drawing/2014/main" id="{730554B6-1217-ECCA-02CD-6C7B9092A32C}"/>
              </a:ext>
            </a:extLst>
          </p:cNvPr>
          <p:cNvSpPr/>
          <p:nvPr/>
        </p:nvSpPr>
        <p:spPr>
          <a:xfrm>
            <a:off x="3169652" y="3406978"/>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30" name="Shape 5">
            <a:extLst>
              <a:ext uri="{FF2B5EF4-FFF2-40B4-BE49-F238E27FC236}">
                <a16:creationId xmlns:a16="http://schemas.microsoft.com/office/drawing/2014/main" id="{DE8BC6B1-23B0-2995-D897-59269FB3BFFE}"/>
              </a:ext>
            </a:extLst>
          </p:cNvPr>
          <p:cNvSpPr/>
          <p:nvPr/>
        </p:nvSpPr>
        <p:spPr>
          <a:xfrm>
            <a:off x="3169652" y="3866239"/>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31" name="Shape 7">
            <a:extLst>
              <a:ext uri="{FF2B5EF4-FFF2-40B4-BE49-F238E27FC236}">
                <a16:creationId xmlns:a16="http://schemas.microsoft.com/office/drawing/2014/main" id="{DE4C7D04-8D11-AF4C-B987-60B790597DCC}"/>
              </a:ext>
            </a:extLst>
          </p:cNvPr>
          <p:cNvSpPr/>
          <p:nvPr/>
        </p:nvSpPr>
        <p:spPr>
          <a:xfrm>
            <a:off x="3169652" y="432550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Tree>
    <p:extLst>
      <p:ext uri="{BB962C8B-B14F-4D97-AF65-F5344CB8AC3E}">
        <p14:creationId xmlns:p14="http://schemas.microsoft.com/office/powerpoint/2010/main" val="1902351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6490-C143-516A-6CC8-384CCA6675D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45741BBE-D288-5940-0508-91D66A19EE37}"/>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6" name="Title 5">
            <a:extLst>
              <a:ext uri="{FF2B5EF4-FFF2-40B4-BE49-F238E27FC236}">
                <a16:creationId xmlns:a16="http://schemas.microsoft.com/office/drawing/2014/main" id="{B8AF1AA4-91FA-1BF4-74CA-C2F9CCF21900}"/>
              </a:ext>
            </a:extLst>
          </p:cNvPr>
          <p:cNvSpPr>
            <a:spLocks noGrp="1"/>
          </p:cNvSpPr>
          <p:nvPr>
            <p:ph type="title"/>
          </p:nvPr>
        </p:nvSpPr>
        <p:spPr>
          <a:xfrm>
            <a:off x="1191488" y="1341120"/>
            <a:ext cx="6352312" cy="2520255"/>
          </a:xfrm>
        </p:spPr>
        <p:txBody>
          <a:bodyPr/>
          <a:lstStyle/>
          <a:p>
            <a:r>
              <a:rPr lang="pl-PL"/>
              <a:t>Today we should w</a:t>
            </a:r>
            <a:r>
              <a:rPr lang="en-US"/>
              <a:t>rite to </a:t>
            </a:r>
            <a:r>
              <a:rPr lang="pl-PL"/>
              <a:t>b</a:t>
            </a:r>
            <a:r>
              <a:rPr lang="en-US"/>
              <a:t>e </a:t>
            </a:r>
            <a:r>
              <a:rPr lang="pl-PL"/>
              <a:t>q</a:t>
            </a:r>
            <a:r>
              <a:rPr lang="en-US" err="1"/>
              <a:t>uoted</a:t>
            </a:r>
            <a:r>
              <a:rPr lang="en-US"/>
              <a:t>, </a:t>
            </a:r>
            <a:r>
              <a:rPr lang="pl-PL"/>
              <a:t>n</a:t>
            </a:r>
            <a:r>
              <a:rPr lang="en-US" err="1"/>
              <a:t>ot</a:t>
            </a:r>
            <a:r>
              <a:rPr lang="en-US"/>
              <a:t> </a:t>
            </a:r>
            <a:r>
              <a:rPr lang="pl-PL"/>
              <a:t>j</a:t>
            </a:r>
            <a:r>
              <a:rPr lang="en-US" err="1"/>
              <a:t>ust</a:t>
            </a:r>
            <a:r>
              <a:rPr lang="en-US"/>
              <a:t> </a:t>
            </a:r>
            <a:r>
              <a:rPr lang="pl-PL"/>
              <a:t>r</a:t>
            </a:r>
            <a:r>
              <a:rPr lang="en-US" err="1"/>
              <a:t>ea</a:t>
            </a:r>
            <a:r>
              <a:rPr lang="pl-PL"/>
              <a:t>d.</a:t>
            </a:r>
          </a:p>
        </p:txBody>
      </p:sp>
    </p:spTree>
    <p:extLst>
      <p:ext uri="{BB962C8B-B14F-4D97-AF65-F5344CB8AC3E}">
        <p14:creationId xmlns:p14="http://schemas.microsoft.com/office/powerpoint/2010/main" val="2965717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A1F0-5758-6104-8F42-B20D3647C58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BE37DF8-6A62-512E-C395-0104C54D5DE8}"/>
              </a:ext>
            </a:extLst>
          </p:cNvPr>
          <p:cNvSpPr/>
          <p:nvPr/>
        </p:nvSpPr>
        <p:spPr>
          <a:xfrm>
            <a:off x="742950" y="1820791"/>
            <a:ext cx="7659831" cy="1107996"/>
          </a:xfrm>
          <a:prstGeom prst="rect">
            <a:avLst/>
          </a:prstGeom>
          <a:noFill/>
          <a:ln/>
        </p:spPr>
        <p:txBody>
          <a:bodyPr wrap="square" lIns="0" tIns="0" rIns="0" bIns="0" rtlCol="0" anchor="t">
            <a:spAutoFit/>
          </a:bodyPr>
          <a:lstStyle/>
          <a:p>
            <a:r>
              <a:rPr lang="pl-PL" sz="3600">
                <a:solidFill>
                  <a:schemeClr val="accent5"/>
                </a:solidFill>
              </a:rPr>
              <a:t>Chapter 4: GEO Optimized Images</a:t>
            </a:r>
            <a:endParaRPr lang="en-US" sz="3600">
              <a:solidFill>
                <a:schemeClr val="accent5"/>
              </a:solidFill>
            </a:endParaRPr>
          </a:p>
        </p:txBody>
      </p:sp>
      <p:sp>
        <p:nvSpPr>
          <p:cNvPr id="5" name="Text 2">
            <a:extLst>
              <a:ext uri="{FF2B5EF4-FFF2-40B4-BE49-F238E27FC236}">
                <a16:creationId xmlns:a16="http://schemas.microsoft.com/office/drawing/2014/main" id="{5CC790C6-AE8B-D08E-E532-48E1CE95E527}"/>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DD00EBD4-FE46-3AD8-9510-7D95504934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E922660A-2DE1-AEC7-1407-798D5BF4B3FD}"/>
              </a:ext>
            </a:extLst>
          </p:cNvPr>
          <p:cNvSpPr>
            <a:spLocks noGrp="1"/>
          </p:cNvSpPr>
          <p:nvPr>
            <p:ph type="body" sz="quarter" idx="4294967295"/>
          </p:nvPr>
        </p:nvSpPr>
        <p:spPr>
          <a:xfrm>
            <a:off x="742950" y="4108450"/>
            <a:ext cx="3371850" cy="215900"/>
          </a:xfrm>
        </p:spPr>
        <p:txBody>
          <a:bodyPr/>
          <a:lstStyle/>
          <a:p>
            <a:r>
              <a:rPr lang="pl-PL"/>
              <a:t>Jakub Falkowski</a:t>
            </a:r>
          </a:p>
        </p:txBody>
      </p:sp>
    </p:spTree>
    <p:extLst>
      <p:ext uri="{BB962C8B-B14F-4D97-AF65-F5344CB8AC3E}">
        <p14:creationId xmlns:p14="http://schemas.microsoft.com/office/powerpoint/2010/main" val="437205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AE7C2-30F7-A6BF-9A4D-AC5D026B111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29E1E05D-32EE-DD92-A8EE-156825D0F6CD}"/>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E2AFA282-C457-FEF9-8F74-A41362EF7B75}"/>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Why images need a </a:t>
            </a:r>
            <a:r>
              <a:rPr lang="pl-PL" sz="2200">
                <a:solidFill>
                  <a:schemeClr val="accent5"/>
                </a:solidFill>
                <a:cs typeface="Arial"/>
              </a:rPr>
              <a:t>specific chapter in this playbook?</a:t>
            </a:r>
            <a:endParaRPr lang="en-US" sz="2200">
              <a:solidFill>
                <a:schemeClr val="accent5"/>
              </a:solidFill>
              <a:cs typeface="Arial"/>
            </a:endParaRPr>
          </a:p>
        </p:txBody>
      </p:sp>
      <p:sp>
        <p:nvSpPr>
          <p:cNvPr id="12" name="Text 2">
            <a:extLst>
              <a:ext uri="{FF2B5EF4-FFF2-40B4-BE49-F238E27FC236}">
                <a16:creationId xmlns:a16="http://schemas.microsoft.com/office/drawing/2014/main" id="{8445EF14-E051-8626-C890-0EB36EC12B9B}"/>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CED43CB7-140E-ED2C-1982-6E9700FEACC4}"/>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8041A31-A11D-0225-4ED6-0B93C6981983}"/>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39</a:t>
            </a:fld>
            <a:endParaRPr lang="en-US">
              <a:solidFill>
                <a:srgbClr val="3DCD58"/>
              </a:solidFill>
            </a:endParaRPr>
          </a:p>
        </p:txBody>
      </p:sp>
      <p:sp>
        <p:nvSpPr>
          <p:cNvPr id="3" name="TextBox 2">
            <a:extLst>
              <a:ext uri="{FF2B5EF4-FFF2-40B4-BE49-F238E27FC236}">
                <a16:creationId xmlns:a16="http://schemas.microsoft.com/office/drawing/2014/main" id="{0743A853-F615-B6CB-4D93-89AB00518682}"/>
              </a:ext>
            </a:extLst>
          </p:cNvPr>
          <p:cNvSpPr txBox="1"/>
          <p:nvPr/>
        </p:nvSpPr>
        <p:spPr>
          <a:xfrm>
            <a:off x="3001719" y="4253630"/>
            <a:ext cx="2962884" cy="569387"/>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en-US" sz="1000">
                <a:solidFill>
                  <a:schemeClr val="accent5"/>
                </a:solidFill>
              </a:rPr>
              <a:t>GEO for images is really “textual context engineering” for visual assets.</a:t>
            </a:r>
            <a:endParaRPr lang="en-US" sz="1100">
              <a:solidFill>
                <a:schemeClr val="accent5"/>
              </a:solidFill>
            </a:endParaRPr>
          </a:p>
        </p:txBody>
      </p:sp>
      <p:graphicFrame>
        <p:nvGraphicFramePr>
          <p:cNvPr id="28" name="Table 27">
            <a:extLst>
              <a:ext uri="{FF2B5EF4-FFF2-40B4-BE49-F238E27FC236}">
                <a16:creationId xmlns:a16="http://schemas.microsoft.com/office/drawing/2014/main" id="{153461AE-9E17-B18A-D3AC-E3EF98E79019}"/>
              </a:ext>
            </a:extLst>
          </p:cNvPr>
          <p:cNvGraphicFramePr>
            <a:graphicFrameLocks noGrp="1"/>
          </p:cNvGraphicFramePr>
          <p:nvPr>
            <p:extLst>
              <p:ext uri="{D42A27DB-BD31-4B8C-83A1-F6EECF244321}">
                <p14:modId xmlns:p14="http://schemas.microsoft.com/office/powerpoint/2010/main" val="2394719299"/>
              </p:ext>
            </p:extLst>
          </p:nvPr>
        </p:nvGraphicFramePr>
        <p:xfrm>
          <a:off x="705771" y="1220724"/>
          <a:ext cx="3130899" cy="2439470"/>
        </p:xfrm>
        <a:graphic>
          <a:graphicData uri="http://schemas.openxmlformats.org/drawingml/2006/table">
            <a:tbl>
              <a:tblPr firstRow="1" bandRow="1">
                <a:tableStyleId>{5C22544A-7EE6-4342-B048-85BDC9FD1C3A}</a:tableStyleId>
              </a:tblPr>
              <a:tblGrid>
                <a:gridCol w="3130899">
                  <a:extLst>
                    <a:ext uri="{9D8B030D-6E8A-4147-A177-3AD203B41FA5}">
                      <a16:colId xmlns:a16="http://schemas.microsoft.com/office/drawing/2014/main" val="896702349"/>
                    </a:ext>
                  </a:extLst>
                </a:gridCol>
              </a:tblGrid>
              <a:tr h="312220">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lnSpc>
                          <a:spcPct val="150000"/>
                        </a:lnSpc>
                        <a:spcBef>
                          <a:spcPts val="0"/>
                        </a:spcBef>
                        <a:spcAft>
                          <a:spcPts val="0"/>
                        </a:spcAft>
                        <a:buClr>
                          <a:schemeClr val="tx2"/>
                        </a:buClr>
                        <a:defRPr/>
                      </a:pPr>
                      <a:r>
                        <a:rPr lang="en-US" sz="1000" b="1"/>
                        <a:t>AI assistants mostly don't “see” your images </a:t>
                      </a:r>
                      <a:r>
                        <a:rPr lang="en-US" sz="1000" b="0"/>
                        <a:t>the way a human does. In typical browsing and citation flows, they read the text around the image — and decide whether to reference the page based on that.</a:t>
                      </a:r>
                      <a:endParaRPr lang="pl-PL" sz="1000" b="0"/>
                    </a:p>
                    <a:p>
                      <a:pPr>
                        <a:lnSpc>
                          <a:spcPct val="150000"/>
                        </a:lnSpc>
                        <a:spcBef>
                          <a:spcPts val="0"/>
                        </a:spcBef>
                        <a:spcAft>
                          <a:spcPts val="0"/>
                        </a:spcAft>
                        <a:buClr>
                          <a:schemeClr val="tx2"/>
                        </a:buClr>
                        <a:defRPr/>
                      </a:pPr>
                      <a:endParaRPr lang="pl-PL" sz="1000" b="0"/>
                    </a:p>
                    <a:p>
                      <a:pPr>
                        <a:lnSpc>
                          <a:spcPct val="150000"/>
                        </a:lnSpc>
                        <a:spcBef>
                          <a:spcPts val="0"/>
                        </a:spcBef>
                        <a:spcAft>
                          <a:spcPts val="0"/>
                        </a:spcAft>
                        <a:buClr>
                          <a:schemeClr val="tx2"/>
                        </a:buClr>
                        <a:defRPr/>
                      </a:pPr>
                      <a:r>
                        <a:rPr lang="pl-PL" sz="1000" b="0" i="1"/>
                        <a:t>Additional note: v</a:t>
                      </a:r>
                      <a:r>
                        <a:rPr lang="en-US" sz="1000" b="0" i="1" err="1"/>
                        <a:t>ision</a:t>
                      </a:r>
                      <a:r>
                        <a:rPr lang="en-US" sz="1000" b="0" i="1"/>
                        <a:t> models exist (GPT-4V, Claude Vision) — but textual context still dominates relevance scoring in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2" name="Table 1">
            <a:extLst>
              <a:ext uri="{FF2B5EF4-FFF2-40B4-BE49-F238E27FC236}">
                <a16:creationId xmlns:a16="http://schemas.microsoft.com/office/drawing/2014/main" id="{6906EFD0-DF29-DB7E-3D67-C7EC5C863EDA}"/>
              </a:ext>
            </a:extLst>
          </p:cNvPr>
          <p:cNvGraphicFramePr>
            <a:graphicFrameLocks noGrp="1"/>
          </p:cNvGraphicFramePr>
          <p:nvPr>
            <p:extLst>
              <p:ext uri="{D42A27DB-BD31-4B8C-83A1-F6EECF244321}">
                <p14:modId xmlns:p14="http://schemas.microsoft.com/office/powerpoint/2010/main" val="1423483136"/>
              </p:ext>
            </p:extLst>
          </p:nvPr>
        </p:nvGraphicFramePr>
        <p:xfrm>
          <a:off x="5009229" y="1433007"/>
          <a:ext cx="3429000" cy="2014903"/>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082219581"/>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What AI Assistant can actually read?</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HTML alt attribute</a:t>
                      </a:r>
                      <a:r>
                        <a:rPr kumimoji="0" lang="pl-PL" sz="1000" b="0" i="0" u="none" strike="noStrike" kern="1200" cap="none" spc="0" normalizeH="0" baseline="0" noProof="0">
                          <a:ln>
                            <a:noFill/>
                          </a:ln>
                          <a:solidFill>
                            <a:srgbClr val="0A2F24"/>
                          </a:solidFill>
                          <a:effectLst/>
                          <a:uLnTx/>
                          <a:uFillTx/>
                          <a:latin typeface="+mn-lt"/>
                          <a:ea typeface="+mn-ea"/>
                          <a:cs typeface="+mn-cs"/>
                        </a:rPr>
                        <a:t> (Alt tag)</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Surrounding paragraph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Filenames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Structured data (schema - technical GEO)</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bl>
          </a:graphicData>
        </a:graphic>
      </p:graphicFrame>
      <p:sp>
        <p:nvSpPr>
          <p:cNvPr id="10" name="TextBox 9">
            <a:extLst>
              <a:ext uri="{FF2B5EF4-FFF2-40B4-BE49-F238E27FC236}">
                <a16:creationId xmlns:a16="http://schemas.microsoft.com/office/drawing/2014/main" id="{69F12BB9-C76E-0D34-60FC-1DD4F991140A}"/>
              </a:ext>
            </a:extLst>
          </p:cNvPr>
          <p:cNvSpPr txBox="1"/>
          <p:nvPr/>
        </p:nvSpPr>
        <p:spPr>
          <a:xfrm>
            <a:off x="398463" y="4599466"/>
            <a:ext cx="2072640" cy="215444"/>
          </a:xfrm>
          <a:prstGeom prst="rect">
            <a:avLst/>
          </a:prstGeom>
        </p:spPr>
        <p:txBody>
          <a:bodyPr vert="horz" wrap="square" lIns="0" tIns="0" rIns="0" bIns="0" rtlCol="0">
            <a:spAutoFit/>
          </a:bodyPr>
          <a:lstStyle/>
          <a:p>
            <a:pPr algn="l"/>
            <a:r>
              <a:rPr lang="pl-PL" sz="700"/>
              <a:t>*For schema markup explenation please visit </a:t>
            </a:r>
            <a:r>
              <a:rPr lang="pl-PL" sz="700">
                <a:hlinkClick r:id="rId3"/>
              </a:rPr>
              <a:t>Chapter 14 </a:t>
            </a:r>
            <a:r>
              <a:rPr lang="pl-PL" sz="700"/>
              <a:t>of this Toolkit.</a:t>
            </a:r>
          </a:p>
        </p:txBody>
      </p:sp>
    </p:spTree>
    <p:extLst>
      <p:ext uri="{BB962C8B-B14F-4D97-AF65-F5344CB8AC3E}">
        <p14:creationId xmlns:p14="http://schemas.microsoft.com/office/powerpoint/2010/main" val="44604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3E3C8-4F63-69C7-CADB-0BDFFEC7CC3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06F905A0-44F3-FE4A-9068-F8F5284971F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C5B07D13-83ED-9F29-06EA-4CF319AA3143}"/>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Alt Text: highest-leverage signal</a:t>
            </a:r>
          </a:p>
        </p:txBody>
      </p:sp>
      <p:sp>
        <p:nvSpPr>
          <p:cNvPr id="12" name="Text 2">
            <a:extLst>
              <a:ext uri="{FF2B5EF4-FFF2-40B4-BE49-F238E27FC236}">
                <a16:creationId xmlns:a16="http://schemas.microsoft.com/office/drawing/2014/main" id="{7BE3A02E-F1CF-8DA0-E751-C7A781EC1317}"/>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Every AI assistant that processes page HTML</a:t>
            </a:r>
            <a:r>
              <a:rPr lang="pl-PL" sz="1100">
                <a:solidFill>
                  <a:schemeClr val="accent5"/>
                </a:solidFill>
                <a:cs typeface="Arial"/>
              </a:rPr>
              <a:t> code will „see” on the image what you tell it to see.</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F55FC47D-CB90-0305-B03F-DFA7810F06EF}"/>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A3C7AFE-F4DA-6746-5D25-B6359998196D}"/>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40</a:t>
            </a:fld>
            <a:endParaRPr lang="en-US">
              <a:solidFill>
                <a:srgbClr val="3DCD58"/>
              </a:solidFill>
            </a:endParaRPr>
          </a:p>
        </p:txBody>
      </p:sp>
      <p:sp>
        <p:nvSpPr>
          <p:cNvPr id="13" name="TextBox 12">
            <a:extLst>
              <a:ext uri="{FF2B5EF4-FFF2-40B4-BE49-F238E27FC236}">
                <a16:creationId xmlns:a16="http://schemas.microsoft.com/office/drawing/2014/main" id="{42C23943-F87C-6606-E561-3412D0385574}"/>
              </a:ext>
            </a:extLst>
          </p:cNvPr>
          <p:cNvSpPr txBox="1"/>
          <p:nvPr/>
        </p:nvSpPr>
        <p:spPr>
          <a:xfrm>
            <a:off x="7109280" y="4222823"/>
            <a:ext cx="1973444" cy="861774"/>
          </a:xfrm>
          <a:prstGeom prst="rect">
            <a:avLst/>
          </a:prstGeom>
          <a:solidFill>
            <a:schemeClr val="accent4">
              <a:lumMod val="40000"/>
              <a:lumOff val="60000"/>
            </a:schemeClr>
          </a:solidFill>
          <a:ln>
            <a:solidFill>
              <a:schemeClr val="tx1"/>
            </a:solidFill>
          </a:ln>
        </p:spPr>
        <p:txBody>
          <a:bodyPr wrap="square" lIns="91440" tIns="45720" rIns="91440" bIns="45720" anchor="t">
            <a:spAutoFit/>
          </a:bodyPr>
          <a:lstStyle/>
          <a:p>
            <a:r>
              <a:rPr lang="pl-PL" sz="1000" b="1"/>
              <a:t>GEO tips &amp; tricks</a:t>
            </a:r>
            <a:endParaRPr lang="en-US" sz="1000" b="1"/>
          </a:p>
          <a:p>
            <a:r>
              <a:rPr lang="pl-PL" sz="1000"/>
              <a:t>I</a:t>
            </a:r>
            <a:r>
              <a:rPr lang="en-US" sz="1000"/>
              <a:t>f your target keyword fits naturally, include it. If it forces the sentence, leave it out.</a:t>
            </a:r>
          </a:p>
        </p:txBody>
      </p:sp>
      <p:graphicFrame>
        <p:nvGraphicFramePr>
          <p:cNvPr id="15" name="Table 14">
            <a:extLst>
              <a:ext uri="{FF2B5EF4-FFF2-40B4-BE49-F238E27FC236}">
                <a16:creationId xmlns:a16="http://schemas.microsoft.com/office/drawing/2014/main" id="{25F2088F-6D4B-4166-D2EB-97FF2B581086}"/>
              </a:ext>
            </a:extLst>
          </p:cNvPr>
          <p:cNvGraphicFramePr>
            <a:graphicFrameLocks noGrp="1"/>
          </p:cNvGraphicFramePr>
          <p:nvPr>
            <p:extLst>
              <p:ext uri="{D42A27DB-BD31-4B8C-83A1-F6EECF244321}">
                <p14:modId xmlns:p14="http://schemas.microsoft.com/office/powerpoint/2010/main" val="935873491"/>
              </p:ext>
            </p:extLst>
          </p:nvPr>
        </p:nvGraphicFramePr>
        <p:xfrm>
          <a:off x="191708" y="1783353"/>
          <a:ext cx="3130899" cy="2439470"/>
        </p:xfrm>
        <a:graphic>
          <a:graphicData uri="http://schemas.openxmlformats.org/drawingml/2006/table">
            <a:tbl>
              <a:tblPr firstRow="1" bandRow="1">
                <a:tableStyleId>{5C22544A-7EE6-4342-B048-85BDC9FD1C3A}</a:tableStyleId>
              </a:tblPr>
              <a:tblGrid>
                <a:gridCol w="3130899">
                  <a:extLst>
                    <a:ext uri="{9D8B030D-6E8A-4147-A177-3AD203B41FA5}">
                      <a16:colId xmlns:a16="http://schemas.microsoft.com/office/drawing/2014/main" val="896702349"/>
                    </a:ext>
                  </a:extLst>
                </a:gridCol>
              </a:tblGrid>
              <a:tr h="312220">
                <a:tc>
                  <a:txBody>
                    <a:bodyPr/>
                    <a:lstStyle/>
                    <a:p>
                      <a:pPr algn="ctr"/>
                      <a:r>
                        <a:rPr lang="en-US" sz="1200" b="1">
                          <a:solidFill>
                            <a:schemeClr val="accent5"/>
                          </a:solidFill>
                        </a:rPr>
                        <a:t>Context</a:t>
                      </a:r>
                      <a:r>
                        <a:rPr lang="pl-PL" sz="1200" b="1">
                          <a:solidFill>
                            <a:schemeClr val="accent5"/>
                          </a:solidFill>
                        </a:rPr>
                        <a:t> and rules</a:t>
                      </a:r>
                      <a:endParaRPr lang="en-US" sz="1200" b="1">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marL="0" indent="0">
                        <a:lnSpc>
                          <a:spcPct val="150000"/>
                        </a:lnSpc>
                        <a:spcBef>
                          <a:spcPts val="0"/>
                        </a:spcBef>
                        <a:spcAft>
                          <a:spcPts val="0"/>
                        </a:spcAft>
                        <a:buClr>
                          <a:schemeClr val="tx2"/>
                        </a:buClr>
                        <a:buFont typeface="Arial" panose="020B0604020202020204" pitchFamily="34" charset="0"/>
                        <a:buNone/>
                        <a:defRPr/>
                      </a:pPr>
                      <a:r>
                        <a:rPr lang="en-US" sz="1000" b="1"/>
                        <a:t>Every informative image gets alt text — no exceptions, no empty strings</a:t>
                      </a:r>
                      <a:r>
                        <a:rPr lang="pl-PL" sz="1000" b="1"/>
                        <a:t>:</a:t>
                      </a:r>
                      <a:endParaRPr lang="en-US" sz="1000" b="1"/>
                    </a:p>
                    <a:p>
                      <a:pPr marL="171450" indent="-171450">
                        <a:lnSpc>
                          <a:spcPct val="150000"/>
                        </a:lnSpc>
                        <a:spcBef>
                          <a:spcPts val="0"/>
                        </a:spcBef>
                        <a:spcAft>
                          <a:spcPts val="0"/>
                        </a:spcAft>
                        <a:buClr>
                          <a:schemeClr val="tx2"/>
                        </a:buClr>
                        <a:buFont typeface="Arial" panose="020B0604020202020204" pitchFamily="34" charset="0"/>
                        <a:buChar char="•"/>
                        <a:defRPr/>
                      </a:pPr>
                      <a:r>
                        <a:rPr lang="en-US" sz="1000" b="0"/>
                        <a:t>Aim for 80–140 characters: descriptive but concise</a:t>
                      </a:r>
                    </a:p>
                    <a:p>
                      <a:pPr marL="171450" indent="-171450">
                        <a:lnSpc>
                          <a:spcPct val="150000"/>
                        </a:lnSpc>
                        <a:spcBef>
                          <a:spcPts val="0"/>
                        </a:spcBef>
                        <a:spcAft>
                          <a:spcPts val="0"/>
                        </a:spcAft>
                        <a:buClr>
                          <a:schemeClr val="tx2"/>
                        </a:buClr>
                        <a:buFont typeface="Arial" panose="020B0604020202020204" pitchFamily="34" charset="0"/>
                        <a:buChar char="•"/>
                        <a:defRPr/>
                      </a:pPr>
                      <a:r>
                        <a:rPr lang="en-US" sz="1000" b="0"/>
                        <a:t>Describe purpose in context, not just contents</a:t>
                      </a:r>
                    </a:p>
                    <a:p>
                      <a:pPr marL="171450" indent="-171450">
                        <a:lnSpc>
                          <a:spcPct val="150000"/>
                        </a:lnSpc>
                        <a:spcBef>
                          <a:spcPts val="0"/>
                        </a:spcBef>
                        <a:spcAft>
                          <a:spcPts val="0"/>
                        </a:spcAft>
                        <a:buClr>
                          <a:schemeClr val="tx2"/>
                        </a:buClr>
                        <a:buFont typeface="Arial" panose="020B0604020202020204" pitchFamily="34" charset="0"/>
                        <a:buChar char="•"/>
                        <a:defRPr/>
                      </a:pPr>
                      <a:r>
                        <a:rPr lang="en-US" sz="1000" b="0"/>
                        <a:t>Work keywords in naturally — never stuff</a:t>
                      </a:r>
                    </a:p>
                    <a:p>
                      <a:pPr marL="171450" indent="-171450">
                        <a:lnSpc>
                          <a:spcPct val="150000"/>
                        </a:lnSpc>
                        <a:spcBef>
                          <a:spcPts val="0"/>
                        </a:spcBef>
                        <a:spcAft>
                          <a:spcPts val="0"/>
                        </a:spcAft>
                        <a:buClr>
                          <a:schemeClr val="tx2"/>
                        </a:buClr>
                        <a:buFont typeface="Arial" panose="020B0604020202020204" pitchFamily="34" charset="0"/>
                        <a:buChar char="•"/>
                        <a:defRPr/>
                      </a:pPr>
                      <a:r>
                        <a:rPr lang="en-US" sz="1000" b="0"/>
                        <a:t>Keep alt text consistent and unique across product variants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pic>
        <p:nvPicPr>
          <p:cNvPr id="16" name="Picture 15">
            <a:extLst>
              <a:ext uri="{FF2B5EF4-FFF2-40B4-BE49-F238E27FC236}">
                <a16:creationId xmlns:a16="http://schemas.microsoft.com/office/drawing/2014/main" id="{A27E2BB0-8AFB-4083-C976-33BB8D2F9F03}"/>
              </a:ext>
            </a:extLst>
          </p:cNvPr>
          <p:cNvPicPr>
            <a:picLocks noChangeAspect="1"/>
          </p:cNvPicPr>
          <p:nvPr/>
        </p:nvPicPr>
        <p:blipFill>
          <a:blip r:embed="rId2"/>
          <a:stretch>
            <a:fillRect/>
          </a:stretch>
        </p:blipFill>
        <p:spPr>
          <a:xfrm>
            <a:off x="6636515" y="2424566"/>
            <a:ext cx="2315777" cy="1084265"/>
          </a:xfrm>
          <a:prstGeom prst="rect">
            <a:avLst/>
          </a:prstGeom>
        </p:spPr>
      </p:pic>
      <p:graphicFrame>
        <p:nvGraphicFramePr>
          <p:cNvPr id="2" name="Table 1">
            <a:extLst>
              <a:ext uri="{FF2B5EF4-FFF2-40B4-BE49-F238E27FC236}">
                <a16:creationId xmlns:a16="http://schemas.microsoft.com/office/drawing/2014/main" id="{43B0BC94-267D-3A0F-C39F-CDF9BE90E735}"/>
              </a:ext>
            </a:extLst>
          </p:cNvPr>
          <p:cNvGraphicFramePr>
            <a:graphicFrameLocks noGrp="1"/>
          </p:cNvGraphicFramePr>
          <p:nvPr>
            <p:extLst>
              <p:ext uri="{D42A27DB-BD31-4B8C-83A1-F6EECF244321}">
                <p14:modId xmlns:p14="http://schemas.microsoft.com/office/powerpoint/2010/main" val="3260920668"/>
              </p:ext>
            </p:extLst>
          </p:nvPr>
        </p:nvGraphicFramePr>
        <p:xfrm>
          <a:off x="3548412" y="3150108"/>
          <a:ext cx="2895714" cy="17373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Correct alt text 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Courier New" panose="02070309020205020404" pitchFamily="49" charset="0"/>
                          <a:ea typeface="+mn-ea"/>
                          <a:cs typeface="Courier New" panose="02070309020205020404" pitchFamily="49" charset="0"/>
                        </a:rPr>
                        <a:t>alt="Seven construction engineers in hard hats and safety vests reviewing blueprints together at a table</a:t>
                      </a:r>
                      <a:r>
                        <a:rPr kumimoji="0" lang="pl-PL" sz="1000" b="0" i="0" u="none" strike="noStrike" kern="1200" cap="none" spc="0" normalizeH="0" baseline="0" noProof="0">
                          <a:ln>
                            <a:noFill/>
                          </a:ln>
                          <a:solidFill>
                            <a:srgbClr val="0A2F24"/>
                          </a:solidFill>
                          <a:effectLst/>
                          <a:uLnTx/>
                          <a:uFillTx/>
                          <a:latin typeface="Courier New" panose="02070309020205020404" pitchFamily="49" charset="0"/>
                          <a:ea typeface="+mn-ea"/>
                          <a:cs typeface="Courier New" panose="02070309020205020404" pitchFamily="49" charset="0"/>
                        </a:rPr>
                        <a:t>”</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000" b="1"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Poppins"/>
                        </a:rPr>
                        <a:t>Specific, natural, and describes the actual content and purpose of the image — who's there, what they're wearing, and what they're 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3" name="Table 2">
            <a:extLst>
              <a:ext uri="{FF2B5EF4-FFF2-40B4-BE49-F238E27FC236}">
                <a16:creationId xmlns:a16="http://schemas.microsoft.com/office/drawing/2014/main" id="{249994C4-619A-5E91-E8DC-46A2E8CCBF82}"/>
              </a:ext>
            </a:extLst>
          </p:cNvPr>
          <p:cNvGraphicFramePr>
            <a:graphicFrameLocks noGrp="1"/>
          </p:cNvGraphicFramePr>
          <p:nvPr>
            <p:extLst>
              <p:ext uri="{D42A27DB-BD31-4B8C-83A1-F6EECF244321}">
                <p14:modId xmlns:p14="http://schemas.microsoft.com/office/powerpoint/2010/main" val="1683604579"/>
              </p:ext>
            </p:extLst>
          </p:nvPr>
        </p:nvGraphicFramePr>
        <p:xfrm>
          <a:off x="3548412" y="1220724"/>
          <a:ext cx="2895714" cy="1737360"/>
        </p:xfrm>
        <a:graphic>
          <a:graphicData uri="http://schemas.openxmlformats.org/drawingml/2006/table">
            <a:tbl>
              <a:tblPr firstRow="1" bandRow="1">
                <a:tableStyleId>{5C22544A-7EE6-4342-B048-85BDC9FD1C3A}</a:tableStyleId>
              </a:tblPr>
              <a:tblGrid>
                <a:gridCol w="2895714">
                  <a:extLst>
                    <a:ext uri="{9D8B030D-6E8A-4147-A177-3AD203B41FA5}">
                      <a16:colId xmlns:a16="http://schemas.microsoft.com/office/drawing/2014/main" val="3037676781"/>
                    </a:ext>
                  </a:extLst>
                </a:gridCol>
              </a:tblGrid>
              <a:tr h="260914">
                <a:tc>
                  <a:txBody>
                    <a:bodyPr/>
                    <a:lstStyle/>
                    <a:p>
                      <a:pPr algn="ctr"/>
                      <a:r>
                        <a:rPr lang="pl-PL" sz="1200" b="1">
                          <a:solidFill>
                            <a:schemeClr val="tx1"/>
                          </a:solidFill>
                        </a:rPr>
                        <a:t>Incorrect alt text example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92716372"/>
                  </a:ext>
                </a:extLst>
              </a:tr>
              <a:tr h="37084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Courier New" panose="02070309020205020404" pitchFamily="49" charset="0"/>
                          <a:ea typeface="+mn-ea"/>
                          <a:cs typeface="Courier New" panose="02070309020205020404" pitchFamily="49" charset="0"/>
                        </a:rPr>
                        <a:t>alt="construction workers engineers hard hats safety vests meeting team builders contractors sit</a:t>
                      </a:r>
                      <a:r>
                        <a:rPr kumimoji="0" lang="pl-PL" sz="1000" b="0" i="0" u="none" strike="noStrike" kern="1200" cap="none" spc="0" normalizeH="0" baseline="0" noProof="0">
                          <a:ln>
                            <a:noFill/>
                          </a:ln>
                          <a:solidFill>
                            <a:srgbClr val="0A2F24"/>
                          </a:solidFill>
                          <a:effectLst/>
                          <a:uLnTx/>
                          <a:uFillTx/>
                          <a:latin typeface="Courier New" panose="02070309020205020404" pitchFamily="49" charset="0"/>
                          <a:ea typeface="+mn-ea"/>
                          <a:cs typeface="Courier New" panose="02070309020205020404" pitchFamily="49" charset="0"/>
                        </a:rPr>
                        <a:t>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000" b="1" i="0" u="none" strike="noStrike" kern="1200" cap="none" spc="0" normalizeH="0" baseline="0" noProof="0">
                        <a:ln>
                          <a:noFill/>
                        </a:ln>
                        <a:solidFill>
                          <a:srgbClr val="0A2F24"/>
                        </a:solidFill>
                        <a:effectLst/>
                        <a:uLnTx/>
                        <a:uFillTx/>
                        <a:latin typeface="+mn-lt"/>
                        <a:ea typeface="+mn-ea"/>
                        <a:cs typeface="Poppins"/>
                      </a:endParaRPr>
                    </a:p>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Poppins"/>
                        </a:rPr>
                        <a:t>Reads as a keyword dump, not a description. Unnatural phrasing, hostile to screen readers, and gets discounted by AI/search systems the same way Google discounts stuffing</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4101163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97164-6F68-B36E-0E67-4B4C317B401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1916BE2A-0D06-D31E-650D-4935D2282910}"/>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F2AA85A-7826-BBD0-0E5A-EBE306856736}"/>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Surrounding Text and Placement</a:t>
            </a:r>
            <a:endParaRPr lang="en-US" sz="2200">
              <a:solidFill>
                <a:schemeClr val="accent5"/>
              </a:solidFill>
              <a:cs typeface="Arial"/>
            </a:endParaRPr>
          </a:p>
        </p:txBody>
      </p:sp>
      <p:sp>
        <p:nvSpPr>
          <p:cNvPr id="12" name="Text 2">
            <a:extLst>
              <a:ext uri="{FF2B5EF4-FFF2-40B4-BE49-F238E27FC236}">
                <a16:creationId xmlns:a16="http://schemas.microsoft.com/office/drawing/2014/main" id="{F8E2D243-9B0D-F714-94F2-2CA09B3441BD}"/>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91799547-5DF4-4268-D025-355B5EED328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BE21013C-1B27-A3DB-51A0-D15C983FF64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41</a:t>
            </a:fld>
            <a:endParaRPr lang="en-US">
              <a:solidFill>
                <a:srgbClr val="3DCD58"/>
              </a:solidFill>
            </a:endParaRPr>
          </a:p>
        </p:txBody>
      </p:sp>
      <p:graphicFrame>
        <p:nvGraphicFramePr>
          <p:cNvPr id="28" name="Table 27">
            <a:extLst>
              <a:ext uri="{FF2B5EF4-FFF2-40B4-BE49-F238E27FC236}">
                <a16:creationId xmlns:a16="http://schemas.microsoft.com/office/drawing/2014/main" id="{463F3D1A-47B3-BA5D-2597-58F3C016B13C}"/>
              </a:ext>
            </a:extLst>
          </p:cNvPr>
          <p:cNvGraphicFramePr>
            <a:graphicFrameLocks noGrp="1"/>
          </p:cNvGraphicFramePr>
          <p:nvPr>
            <p:extLst>
              <p:ext uri="{D42A27DB-BD31-4B8C-83A1-F6EECF244321}">
                <p14:modId xmlns:p14="http://schemas.microsoft.com/office/powerpoint/2010/main" val="1862154491"/>
              </p:ext>
            </p:extLst>
          </p:nvPr>
        </p:nvGraphicFramePr>
        <p:xfrm>
          <a:off x="954701" y="1101755"/>
          <a:ext cx="4041764" cy="1287780"/>
        </p:xfrm>
        <a:graphic>
          <a:graphicData uri="http://schemas.openxmlformats.org/drawingml/2006/table">
            <a:tbl>
              <a:tblPr firstRow="1" bandRow="1">
                <a:tableStyleId>{5C22544A-7EE6-4342-B048-85BDC9FD1C3A}</a:tableStyleId>
              </a:tblPr>
              <a:tblGrid>
                <a:gridCol w="4041764">
                  <a:extLst>
                    <a:ext uri="{9D8B030D-6E8A-4147-A177-3AD203B41FA5}">
                      <a16:colId xmlns:a16="http://schemas.microsoft.com/office/drawing/2014/main" val="896702349"/>
                    </a:ext>
                  </a:extLst>
                </a:gridCol>
              </a:tblGrid>
              <a:tr h="260914">
                <a:tc>
                  <a:txBody>
                    <a:bodyPr/>
                    <a:lstStyle/>
                    <a:p>
                      <a:pPr algn="ctr"/>
                      <a:r>
                        <a:rPr lang="en-US" sz="1200" b="1">
                          <a:solidFill>
                            <a:schemeClr val="accent5"/>
                          </a:solidFill>
                        </a:rPr>
                        <a:t>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spcBef>
                          <a:spcPts val="0"/>
                        </a:spcBef>
                        <a:spcAft>
                          <a:spcPts val="0"/>
                        </a:spcAft>
                        <a:buClr>
                          <a:srgbClr val="3DCD58"/>
                        </a:buClr>
                        <a:defRPr/>
                      </a:pPr>
                      <a:r>
                        <a:rPr lang="en-US" sz="1050" b="1"/>
                        <a:t>GEO rules for </a:t>
                      </a:r>
                      <a:r>
                        <a:rPr lang="pl-PL" sz="1050" b="1"/>
                        <a:t>image description</a:t>
                      </a:r>
                      <a:r>
                        <a:rPr lang="en-US" sz="1050" b="1"/>
                        <a:t> content</a:t>
                      </a:r>
                      <a:r>
                        <a:rPr lang="pl-PL" sz="1050" b="1"/>
                        <a:t>:</a:t>
                      </a:r>
                      <a:endParaRPr lang="en-US" sz="1050" b="1"/>
                    </a:p>
                    <a:p>
                      <a:pPr marL="128270" indent="-128270">
                        <a:spcBef>
                          <a:spcPts val="0"/>
                        </a:spcBef>
                        <a:spcAft>
                          <a:spcPts val="0"/>
                        </a:spcAft>
                        <a:buClr>
                          <a:srgbClr val="3DCD58"/>
                        </a:buClr>
                        <a:buFont typeface="Arial" panose="020B0604020202020204" pitchFamily="34" charset="0"/>
                        <a:buChar char="•"/>
                        <a:defRPr/>
                      </a:pPr>
                      <a:r>
                        <a:rPr lang="en-US" sz="1000"/>
                        <a:t>Never rely on video</a:t>
                      </a:r>
                      <a:r>
                        <a:rPr lang="pl-PL" sz="1000"/>
                        <a:t>/image</a:t>
                      </a:r>
                      <a:r>
                        <a:rPr lang="en-US" sz="1000"/>
                        <a:t> alone</a:t>
                      </a:r>
                    </a:p>
                    <a:p>
                      <a:pPr marL="128270" indent="-128270" defTabSz="457172">
                        <a:lnSpc>
                          <a:spcPct val="100000"/>
                        </a:lnSpc>
                        <a:spcBef>
                          <a:spcPts val="0"/>
                        </a:spcBef>
                        <a:spcAft>
                          <a:spcPts val="0"/>
                        </a:spcAft>
                        <a:buClr>
                          <a:srgbClr val="3DCD58"/>
                        </a:buClr>
                        <a:buFont typeface="Arial" panose="020B0604020202020204" pitchFamily="34" charset="0"/>
                        <a:buChar char="•"/>
                        <a:defRPr/>
                      </a:pPr>
                      <a:r>
                        <a:rPr lang="en-US" sz="1000"/>
                        <a:t>Always add: </a:t>
                      </a:r>
                    </a:p>
                    <a:p>
                      <a:pPr marL="533400" lvl="1" indent="-171450" defTabSz="447648">
                        <a:lnSpc>
                          <a:spcPct val="100000"/>
                        </a:lnSpc>
                        <a:spcBef>
                          <a:spcPts val="0"/>
                        </a:spcBef>
                        <a:spcAft>
                          <a:spcPts val="0"/>
                        </a:spcAft>
                        <a:buClr>
                          <a:srgbClr val="3DCD58"/>
                        </a:buClr>
                        <a:buFont typeface="Arial" panose="020B0604020202020204" pitchFamily="34" charset="0"/>
                        <a:buChar char="•"/>
                        <a:defRPr/>
                      </a:pPr>
                      <a:r>
                        <a:rPr lang="pl-PL" sz="1000"/>
                        <a:t>Video title</a:t>
                      </a:r>
                    </a:p>
                    <a:p>
                      <a:pPr marL="533400" lvl="1" indent="-171450" defTabSz="447648">
                        <a:lnSpc>
                          <a:spcPct val="100000"/>
                        </a:lnSpc>
                        <a:spcBef>
                          <a:spcPts val="0"/>
                        </a:spcBef>
                        <a:spcAft>
                          <a:spcPts val="0"/>
                        </a:spcAft>
                        <a:buClr>
                          <a:srgbClr val="3DCD58"/>
                        </a:buClr>
                        <a:buFont typeface="Arial" panose="020B0604020202020204" pitchFamily="34" charset="0"/>
                        <a:buChar char="•"/>
                        <a:defRPr/>
                      </a:pPr>
                      <a:r>
                        <a:rPr lang="en-US" sz="1000"/>
                        <a:t>3–4 bullet takeaway summary</a:t>
                      </a:r>
                    </a:p>
                    <a:p>
                      <a:pPr marL="128270" indent="-128270" defTabSz="457172">
                        <a:lnSpc>
                          <a:spcPct val="100000"/>
                        </a:lnSpc>
                        <a:spcBef>
                          <a:spcPts val="0"/>
                        </a:spcBef>
                        <a:spcAft>
                          <a:spcPts val="0"/>
                        </a:spcAft>
                        <a:buClr>
                          <a:srgbClr val="3DCD58"/>
                        </a:buClr>
                        <a:buFont typeface="Arial" panose="020B0604020202020204" pitchFamily="34" charset="0"/>
                        <a:buChar char="•"/>
                        <a:defRPr/>
                      </a:pPr>
                      <a:r>
                        <a:rPr lang="en-US" sz="1000"/>
                        <a:t>Use descriptive </a:t>
                      </a:r>
                      <a:r>
                        <a:rPr lang="pl-PL" sz="1000"/>
                        <a:t>content</a:t>
                      </a:r>
                      <a:r>
                        <a:rPr lang="en-US" sz="1000"/>
                        <a:t>, not campaign 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sp>
        <p:nvSpPr>
          <p:cNvPr id="15" name="Text 2">
            <a:extLst>
              <a:ext uri="{FF2B5EF4-FFF2-40B4-BE49-F238E27FC236}">
                <a16:creationId xmlns:a16="http://schemas.microsoft.com/office/drawing/2014/main" id="{59665BEB-10E4-B6D2-34BE-55F6257064F3}"/>
              </a:ext>
            </a:extLst>
          </p:cNvPr>
          <p:cNvSpPr/>
          <p:nvPr/>
        </p:nvSpPr>
        <p:spPr>
          <a:xfrm>
            <a:off x="342900" y="589787"/>
            <a:ext cx="7886700" cy="274320"/>
          </a:xfrm>
          <a:prstGeom prst="rect">
            <a:avLst/>
          </a:prstGeom>
          <a:noFill/>
          <a:ln/>
        </p:spPr>
        <p:txBody>
          <a:bodyPr wrap="square" lIns="0" tIns="0" rIns="0" bIns="0" rtlCol="0" anchor="ctr"/>
          <a:lstStyle/>
          <a:p>
            <a:r>
              <a:rPr lang="pl-PL" sz="1100">
                <a:solidFill>
                  <a:schemeClr val="accent5"/>
                </a:solidFill>
                <a:cs typeface="Arial"/>
              </a:rPr>
              <a:t>The content</a:t>
            </a:r>
            <a:r>
              <a:rPr lang="en-US" sz="1100">
                <a:solidFill>
                  <a:schemeClr val="accent5"/>
                </a:solidFill>
                <a:cs typeface="Arial"/>
              </a:rPr>
              <a:t> around an image</a:t>
            </a:r>
            <a:r>
              <a:rPr lang="pl-PL" sz="1100">
                <a:solidFill>
                  <a:schemeClr val="accent5"/>
                </a:solidFill>
                <a:cs typeface="Arial"/>
              </a:rPr>
              <a:t> is</a:t>
            </a:r>
            <a:r>
              <a:rPr lang="en-US" sz="1100">
                <a:solidFill>
                  <a:schemeClr val="accent5"/>
                </a:solidFill>
                <a:cs typeface="Arial"/>
              </a:rPr>
              <a:t> almost as </a:t>
            </a:r>
            <a:r>
              <a:rPr lang="pl-PL" sz="1100">
                <a:solidFill>
                  <a:schemeClr val="accent5"/>
                </a:solidFill>
                <a:cs typeface="Arial"/>
              </a:rPr>
              <a:t>important</a:t>
            </a:r>
            <a:r>
              <a:rPr lang="en-US" sz="1100">
                <a:solidFill>
                  <a:schemeClr val="accent5"/>
                </a:solidFill>
                <a:cs typeface="Arial"/>
              </a:rPr>
              <a:t> as the alt attribute.</a:t>
            </a:r>
          </a:p>
        </p:txBody>
      </p:sp>
      <p:graphicFrame>
        <p:nvGraphicFramePr>
          <p:cNvPr id="2" name="Table 1">
            <a:extLst>
              <a:ext uri="{FF2B5EF4-FFF2-40B4-BE49-F238E27FC236}">
                <a16:creationId xmlns:a16="http://schemas.microsoft.com/office/drawing/2014/main" id="{9FEC9FF7-2B31-3B68-D9D2-8441DF675522}"/>
              </a:ext>
            </a:extLst>
          </p:cNvPr>
          <p:cNvGraphicFramePr>
            <a:graphicFrameLocks noGrp="1"/>
          </p:cNvGraphicFramePr>
          <p:nvPr>
            <p:extLst>
              <p:ext uri="{D42A27DB-BD31-4B8C-83A1-F6EECF244321}">
                <p14:modId xmlns:p14="http://schemas.microsoft.com/office/powerpoint/2010/main" val="1507195313"/>
              </p:ext>
            </p:extLst>
          </p:nvPr>
        </p:nvGraphicFramePr>
        <p:xfrm>
          <a:off x="954701" y="2701955"/>
          <a:ext cx="4041764" cy="1944370"/>
        </p:xfrm>
        <a:graphic>
          <a:graphicData uri="http://schemas.openxmlformats.org/drawingml/2006/table">
            <a:tbl>
              <a:tblPr firstRow="1" bandRow="1">
                <a:tableStyleId>{5C22544A-7EE6-4342-B048-85BDC9FD1C3A}</a:tableStyleId>
              </a:tblPr>
              <a:tblGrid>
                <a:gridCol w="4041764">
                  <a:extLst>
                    <a:ext uri="{9D8B030D-6E8A-4147-A177-3AD203B41FA5}">
                      <a16:colId xmlns:a16="http://schemas.microsoft.com/office/drawing/2014/main" val="896702349"/>
                    </a:ext>
                  </a:extLst>
                </a:gridCol>
              </a:tblGrid>
              <a:tr h="260118">
                <a:tc>
                  <a:txBody>
                    <a:bodyPr/>
                    <a:lstStyle/>
                    <a:p>
                      <a:pPr algn="ctr"/>
                      <a:r>
                        <a:rPr lang="en-US" sz="1200" b="1">
                          <a:solidFill>
                            <a:schemeClr val="accent5"/>
                          </a:solidFill>
                        </a:rPr>
                        <a:t>Content around </a:t>
                      </a:r>
                      <a:r>
                        <a:rPr lang="en-US" sz="1200" b="1" err="1">
                          <a:solidFill>
                            <a:schemeClr val="accent5"/>
                          </a:solidFill>
                        </a:rPr>
                        <a:t>imag</a:t>
                      </a:r>
                      <a:r>
                        <a:rPr lang="pl-PL" sz="1200" b="1">
                          <a:solidFill>
                            <a:schemeClr val="accent5"/>
                          </a:solidFill>
                        </a:rPr>
                        <a:t>e - layout</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1626145">
                <a:tc>
                  <a:txBody>
                    <a:bodyPr/>
                    <a:lstStyle/>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pl-PL" sz="1000" b="1" i="0" u="none" strike="noStrike" kern="1200" cap="none" spc="0" normalizeH="0" baseline="0" noProof="0">
                          <a:ln>
                            <a:noFill/>
                          </a:ln>
                          <a:solidFill>
                            <a:srgbClr val="0A2F24"/>
                          </a:solidFill>
                          <a:effectLst/>
                          <a:uLnTx/>
                          <a:uFillTx/>
                          <a:latin typeface="+mn-lt"/>
                          <a:ea typeface="+mn-ea"/>
                          <a:cs typeface="+mn-cs"/>
                        </a:rPr>
                        <a:t>Image title: </a:t>
                      </a:r>
                      <a:r>
                        <a:rPr kumimoji="0" lang="en-US" sz="1000" b="0" i="0" u="none" strike="noStrike" kern="1200" cap="none" spc="0" normalizeH="0" baseline="0" noProof="0">
                          <a:ln>
                            <a:noFill/>
                          </a:ln>
                          <a:solidFill>
                            <a:srgbClr val="0A2F24"/>
                          </a:solidFill>
                          <a:effectLst/>
                          <a:uLnTx/>
                          <a:uFillTx/>
                          <a:latin typeface="+mn-lt"/>
                          <a:ea typeface="+mn-ea"/>
                          <a:cs typeface="+mn-cs"/>
                        </a:rPr>
                        <a:t>Explanatory</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paragraph sits right next to</a:t>
                      </a:r>
                      <a:r>
                        <a:rPr kumimoji="0" lang="pl-PL" sz="1000" b="0" i="0" u="none" strike="noStrike" kern="1200" cap="none" spc="0" normalizeH="0" baseline="0" noProof="0">
                          <a:ln>
                            <a:noFill/>
                          </a:ln>
                          <a:solidFill>
                            <a:srgbClr val="0A2F24"/>
                          </a:solidFill>
                          <a:effectLst/>
                          <a:uLnTx/>
                          <a:uFillTx/>
                          <a:latin typeface="+mn-lt"/>
                          <a:ea typeface="+mn-ea"/>
                          <a:cs typeface="+mn-cs"/>
                        </a:rPr>
                        <a:t>/at the bottom of</a:t>
                      </a:r>
                      <a:r>
                        <a:rPr kumimoji="0" lang="en-US" sz="1000" b="0" i="0" u="none" strike="noStrike" kern="1200" cap="none" spc="0" normalizeH="0" baseline="0" noProof="0">
                          <a:ln>
                            <a:noFill/>
                          </a:ln>
                          <a:solidFill>
                            <a:srgbClr val="0A2F24"/>
                          </a:solidFill>
                          <a:effectLst/>
                          <a:uLnTx/>
                          <a:uFillTx/>
                          <a:latin typeface="+mn-lt"/>
                          <a:ea typeface="+mn-ea"/>
                          <a:cs typeface="+mn-cs"/>
                        </a:rPr>
                        <a:t> the image it</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illustrates.</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pl-PL" sz="1000" b="1" i="0" u="none" strike="noStrike" kern="1200" cap="none" spc="0" normalizeH="0" baseline="0" noProof="0">
                          <a:ln>
                            <a:noFill/>
                          </a:ln>
                          <a:solidFill>
                            <a:srgbClr val="0A2F24"/>
                          </a:solidFill>
                          <a:effectLst/>
                          <a:uLnTx/>
                          <a:uFillTx/>
                          <a:latin typeface="+mn-lt"/>
                          <a:ea typeface="+mn-ea"/>
                          <a:cs typeface="+mn-cs"/>
                        </a:rPr>
                        <a:t>Description (w</a:t>
                      </a:r>
                      <a:r>
                        <a:rPr kumimoji="0" lang="en-US" sz="1000" b="1" i="0" u="none" strike="noStrike" kern="1200" cap="none" spc="0" normalizeH="0" baseline="0" noProof="0">
                          <a:ln>
                            <a:noFill/>
                          </a:ln>
                          <a:solidFill>
                            <a:srgbClr val="0A2F24"/>
                          </a:solidFill>
                          <a:effectLst/>
                          <a:uLnTx/>
                          <a:uFillTx/>
                          <a:latin typeface="+mn-lt"/>
                          <a:ea typeface="+mn-ea"/>
                          <a:cs typeface="+mn-cs"/>
                        </a:rPr>
                        <a:t>hat the AI/user sees</a:t>
                      </a:r>
                      <a:r>
                        <a:rPr kumimoji="0" lang="pl-PL" sz="1000" b="1" i="0" u="none" strike="noStrike" kern="1200" cap="none" spc="0" normalizeH="0" baseline="0" noProof="0">
                          <a:ln>
                            <a:noFill/>
                          </a:ln>
                          <a:solidFill>
                            <a:srgbClr val="0A2F24"/>
                          </a:solidFill>
                          <a:effectLst/>
                          <a:uLnTx/>
                          <a:uFillTx/>
                          <a:latin typeface="+mn-lt"/>
                          <a:ea typeface="+mn-ea"/>
                          <a:cs typeface="+mn-cs"/>
                        </a:rPr>
                        <a:t>):</a:t>
                      </a:r>
                      <a:br>
                        <a:rPr kumimoji="0" lang="en-US" sz="1000" b="0" i="0" u="none" strike="noStrike" kern="1200" cap="none" spc="0" normalizeH="0" baseline="0" noProof="0">
                          <a:ln>
                            <a:noFill/>
                          </a:ln>
                          <a:solidFill>
                            <a:srgbClr val="0A2F24"/>
                          </a:solidFill>
                          <a:effectLst/>
                          <a:uLnTx/>
                          <a:uFillTx/>
                          <a:latin typeface="+mn-lt"/>
                          <a:ea typeface="+mn-ea"/>
                          <a:cs typeface="+mn-cs"/>
                        </a:rPr>
                      </a:br>
                      <a:r>
                        <a:rPr kumimoji="0" lang="en-US" sz="1000" b="0" i="0" u="none" strike="noStrike" kern="1200" cap="none" spc="0" normalizeH="0" baseline="0" noProof="0">
                          <a:ln>
                            <a:noFill/>
                          </a:ln>
                          <a:solidFill>
                            <a:srgbClr val="0A2F24"/>
                          </a:solidFill>
                          <a:effectLst/>
                          <a:uLnTx/>
                          <a:uFillTx/>
                          <a:latin typeface="+mn-lt"/>
                          <a:ea typeface="+mn-ea"/>
                          <a:cs typeface="+mn-cs"/>
                        </a:rPr>
                        <a:t>Caption underneath gives a second independent text signal</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CTA: </a:t>
                      </a:r>
                      <a:r>
                        <a:rPr kumimoji="0" lang="pl-PL" sz="1000" b="0" i="0" u="none" strike="noStrike" kern="1200" cap="none" spc="0" normalizeH="0" baseline="0" noProof="0">
                          <a:ln>
                            <a:noFill/>
                          </a:ln>
                          <a:solidFill>
                            <a:srgbClr val="0A2F24"/>
                          </a:solidFill>
                          <a:effectLst/>
                          <a:uLnTx/>
                          <a:uFillTx/>
                          <a:latin typeface="+mn-lt"/>
                          <a:ea typeface="+mn-ea"/>
                          <a:cs typeface="+mn-cs"/>
                        </a:rPr>
                        <a:t>clear indication on what the action is about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3" name="Table 2">
            <a:extLst>
              <a:ext uri="{FF2B5EF4-FFF2-40B4-BE49-F238E27FC236}">
                <a16:creationId xmlns:a16="http://schemas.microsoft.com/office/drawing/2014/main" id="{ABC1B40B-F299-7D43-5034-E48A9A62E4CE}"/>
              </a:ext>
            </a:extLst>
          </p:cNvPr>
          <p:cNvGraphicFramePr>
            <a:graphicFrameLocks noGrp="1"/>
          </p:cNvGraphicFramePr>
          <p:nvPr>
            <p:extLst>
              <p:ext uri="{D42A27DB-BD31-4B8C-83A1-F6EECF244321}">
                <p14:modId xmlns:p14="http://schemas.microsoft.com/office/powerpoint/2010/main" val="2097651898"/>
              </p:ext>
            </p:extLst>
          </p:nvPr>
        </p:nvGraphicFramePr>
        <p:xfrm>
          <a:off x="5251257" y="1101755"/>
          <a:ext cx="2909785" cy="3544570"/>
        </p:xfrm>
        <a:graphic>
          <a:graphicData uri="http://schemas.openxmlformats.org/drawingml/2006/table">
            <a:tbl>
              <a:tblPr firstRow="1" bandRow="1">
                <a:tableStyleId>{5C22544A-7EE6-4342-B048-85BDC9FD1C3A}</a:tableStyleId>
              </a:tblPr>
              <a:tblGrid>
                <a:gridCol w="2909785">
                  <a:extLst>
                    <a:ext uri="{9D8B030D-6E8A-4147-A177-3AD203B41FA5}">
                      <a16:colId xmlns:a16="http://schemas.microsoft.com/office/drawing/2014/main" val="896702349"/>
                    </a:ext>
                  </a:extLst>
                </a:gridCol>
              </a:tblGrid>
              <a:tr h="260914">
                <a:tc>
                  <a:txBody>
                    <a:bodyPr/>
                    <a:lstStyle/>
                    <a:p>
                      <a:pPr algn="ctr"/>
                      <a:r>
                        <a:rPr lang="en-US" sz="1200" b="1">
                          <a:solidFill>
                            <a:schemeClr val="tx1"/>
                          </a:solidFill>
                        </a:rPr>
                        <a:t>Example of what AI will see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432616454"/>
                  </a:ext>
                </a:extLst>
              </a:tr>
              <a:tr h="370840">
                <a:tc>
                  <a:txBody>
                    <a:bodyPr/>
                    <a:lstStyle/>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pl-PL" sz="1000" b="1" i="0" u="none" strike="noStrike" kern="1200" cap="none" spc="0" normalizeH="0" baseline="0" noProof="0">
                          <a:ln>
                            <a:noFill/>
                          </a:ln>
                          <a:solidFill>
                            <a:srgbClr val="0A2F24"/>
                          </a:solidFill>
                          <a:effectLst/>
                          <a:uLnTx/>
                          <a:uFillTx/>
                          <a:latin typeface="+mn-lt"/>
                          <a:ea typeface="+mn-ea"/>
                          <a:cs typeface="+mn-cs"/>
                        </a:rPr>
                        <a:t>Image</a:t>
                      </a:r>
                      <a:r>
                        <a:rPr kumimoji="0" lang="en-US" sz="1000" b="1" i="0" u="none" strike="noStrike" kern="1200" cap="none" spc="0" normalizeH="0" baseline="0" noProof="0">
                          <a:ln>
                            <a:noFill/>
                          </a:ln>
                          <a:solidFill>
                            <a:srgbClr val="0A2F24"/>
                          </a:solidFill>
                          <a:effectLst/>
                          <a:uLnTx/>
                          <a:uFillTx/>
                          <a:latin typeface="+mn-lt"/>
                          <a:ea typeface="+mn-ea"/>
                          <a:cs typeface="+mn-cs"/>
                        </a:rPr>
                        <a:t> title: </a:t>
                      </a:r>
                      <a:r>
                        <a:rPr kumimoji="0" lang="en-US" sz="1000" b="0" i="0" u="none" strike="noStrike" kern="1200" cap="none" spc="0" normalizeH="0" baseline="0" noProof="0">
                          <a:ln>
                            <a:noFill/>
                          </a:ln>
                          <a:solidFill>
                            <a:srgbClr val="0A2F24"/>
                          </a:solidFill>
                          <a:effectLst/>
                          <a:uLnTx/>
                          <a:uFillTx/>
                          <a:latin typeface="+mn-lt"/>
                          <a:ea typeface="+mn-ea"/>
                          <a:cs typeface="+mn-cs"/>
                        </a:rPr>
                        <a:t>How </a:t>
                      </a:r>
                      <a:r>
                        <a:rPr kumimoji="0" lang="en-US" sz="1000" b="0" i="0" u="none" strike="noStrike" kern="1200" cap="none" spc="0" normalizeH="0" baseline="0" noProof="0" err="1">
                          <a:ln>
                            <a:noFill/>
                          </a:ln>
                          <a:solidFill>
                            <a:srgbClr val="0A2F24"/>
                          </a:solidFill>
                          <a:effectLst/>
                          <a:uLnTx/>
                          <a:uFillTx/>
                          <a:latin typeface="+mn-lt"/>
                          <a:ea typeface="+mn-ea"/>
                          <a:cs typeface="+mn-cs"/>
                        </a:rPr>
                        <a:t>EcoStruxure</a:t>
                      </a:r>
                      <a:r>
                        <a:rPr kumimoji="0" lang="en-US" sz="1000" b="0" i="0" u="none" strike="noStrike" kern="1200" cap="none" spc="0" normalizeH="0" baseline="0" noProof="0">
                          <a:ln>
                            <a:noFill/>
                          </a:ln>
                          <a:solidFill>
                            <a:srgbClr val="0A2F24"/>
                          </a:solidFill>
                          <a:effectLst/>
                          <a:uLnTx/>
                          <a:uFillTx/>
                          <a:latin typeface="+mn-lt"/>
                          <a:ea typeface="+mn-ea"/>
                          <a:cs typeface="+mn-cs"/>
                        </a:rPr>
                        <a:t>™</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Power</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Monitoring improves energy visibility</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Description (what the AI/user sees):</a:t>
                      </a:r>
                      <a:br>
                        <a:rPr kumimoji="0" lang="en-US" sz="1000" b="1" i="0" u="none" strike="noStrike" kern="1200" cap="none" spc="0" normalizeH="0" baseline="0" noProof="0">
                          <a:ln>
                            <a:noFill/>
                          </a:ln>
                          <a:solidFill>
                            <a:srgbClr val="0A2F24"/>
                          </a:solidFill>
                          <a:effectLst/>
                          <a:uLnTx/>
                          <a:uFillTx/>
                          <a:latin typeface="+mn-lt"/>
                          <a:ea typeface="+mn-ea"/>
                          <a:cs typeface="+mn-cs"/>
                        </a:rPr>
                      </a:br>
                      <a:r>
                        <a:rPr kumimoji="0" lang="en-US" sz="1000" b="0" i="0" u="none" strike="noStrike" kern="1200" cap="none" spc="0" normalizeH="0" baseline="0" noProof="0" err="1">
                          <a:ln>
                            <a:noFill/>
                          </a:ln>
                          <a:solidFill>
                            <a:srgbClr val="0A2F24"/>
                          </a:solidFill>
                          <a:effectLst/>
                          <a:uLnTx/>
                          <a:uFillTx/>
                          <a:latin typeface="+mn-lt"/>
                          <a:ea typeface="+mn-ea"/>
                          <a:cs typeface="+mn-cs"/>
                        </a:rPr>
                        <a:t>EcoStruxure</a:t>
                      </a:r>
                      <a:r>
                        <a:rPr kumimoji="0" lang="en-US" sz="1000" b="0" i="0" u="none" strike="noStrike" kern="1200" cap="none" spc="0" normalizeH="0" baseline="0" noProof="0">
                          <a:ln>
                            <a:noFill/>
                          </a:ln>
                          <a:solidFill>
                            <a:srgbClr val="0A2F24"/>
                          </a:solidFill>
                          <a:effectLst/>
                          <a:uLnTx/>
                          <a:uFillTx/>
                          <a:latin typeface="+mn-lt"/>
                          <a:ea typeface="+mn-ea"/>
                          <a:cs typeface="+mn-cs"/>
                        </a:rPr>
                        <a:t> Power Monitoring gives facility teams visibility into consumption, performance issues, and efficiency opportunities.</a:t>
                      </a:r>
                    </a:p>
                    <a:p>
                      <a:pPr marL="171450" marR="0" lvl="0" indent="-17145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Real-time, granular data collection</a:t>
                      </a:r>
                    </a:p>
                    <a:p>
                      <a:pPr marL="171450" marR="0" lvl="0" indent="-17145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Centralized dashboards and analytics</a:t>
                      </a:r>
                    </a:p>
                    <a:p>
                      <a:pPr marL="171450" marR="0" lvl="0" indent="-171450" algn="l" defTabSz="457184" rtl="0" eaLnBrk="1" fontAlgn="auto" latinLnBrk="0" hangingPunct="1">
                        <a:lnSpc>
                          <a:spcPct val="150000"/>
                        </a:lnSpc>
                        <a:spcBef>
                          <a:spcPts val="0"/>
                        </a:spcBef>
                        <a:spcAft>
                          <a:spcPts val="0"/>
                        </a:spcAft>
                        <a:buClr>
                          <a:srgbClr val="3DCD58"/>
                        </a:buClr>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Actionable alerts and reporting </a:t>
                      </a: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84" rtl="0" eaLnBrk="1" fontAlgn="auto" latinLnBrk="0" hangingPunct="1">
                        <a:lnSpc>
                          <a:spcPct val="150000"/>
                        </a:lnSpc>
                        <a:spcBef>
                          <a:spcPts val="0"/>
                        </a:spcBef>
                        <a:spcAft>
                          <a:spcPts val="0"/>
                        </a:spcAft>
                        <a:buClr>
                          <a:srgbClr val="3DCD58"/>
                        </a:buClr>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CTA: </a:t>
                      </a:r>
                      <a:r>
                        <a:rPr kumimoji="0" lang="en-US" sz="1000" b="0" i="0" u="none" strike="noStrike" kern="1200" cap="none" spc="0" normalizeH="0" baseline="0" noProof="0">
                          <a:ln>
                            <a:noFill/>
                          </a:ln>
                          <a:solidFill>
                            <a:srgbClr val="0A2F24"/>
                          </a:solidFill>
                          <a:effectLst/>
                          <a:uLnTx/>
                          <a:uFillTx/>
                          <a:latin typeface="+mn-lt"/>
                          <a:ea typeface="+mn-ea"/>
                          <a:cs typeface="+mn-cs"/>
                        </a:rPr>
                        <a:t>Watch the energy monitoring walkthrough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28453341"/>
                  </a:ext>
                </a:extLst>
              </a:tr>
            </a:tbl>
          </a:graphicData>
        </a:graphic>
      </p:graphicFrame>
      <p:cxnSp>
        <p:nvCxnSpPr>
          <p:cNvPr id="7" name="Straight Arrow Connector 6">
            <a:extLst>
              <a:ext uri="{FF2B5EF4-FFF2-40B4-BE49-F238E27FC236}">
                <a16:creationId xmlns:a16="http://schemas.microsoft.com/office/drawing/2014/main" id="{E7143906-DEC4-54E6-020F-0D43CD2695CF}"/>
              </a:ext>
            </a:extLst>
          </p:cNvPr>
          <p:cNvCxnSpPr>
            <a:cxnSpLocks/>
            <a:stCxn id="2" idx="3"/>
          </p:cNvCxnSpPr>
          <p:nvPr/>
        </p:nvCxnSpPr>
        <p:spPr>
          <a:xfrm>
            <a:off x="4996465" y="3674140"/>
            <a:ext cx="254792"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79B21DEA-B78D-2686-BF1B-96BFB5EF9700}"/>
              </a:ext>
            </a:extLst>
          </p:cNvPr>
          <p:cNvCxnSpPr>
            <a:cxnSpLocks/>
            <a:stCxn id="28" idx="2"/>
            <a:endCxn id="2" idx="0"/>
          </p:cNvCxnSpPr>
          <p:nvPr/>
        </p:nvCxnSpPr>
        <p:spPr>
          <a:xfrm>
            <a:off x="2975583" y="2389535"/>
            <a:ext cx="0" cy="31242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7078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89CE0-5B6A-89FA-2F39-D201ED21CFD2}"/>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CF76756-5216-9813-758B-0BAF689CFCA6}"/>
              </a:ext>
            </a:extLst>
          </p:cNvPr>
          <p:cNvGraphicFramePr>
            <a:graphicFrameLocks noGrp="1"/>
          </p:cNvGraphicFramePr>
          <p:nvPr>
            <p:extLst>
              <p:ext uri="{D42A27DB-BD31-4B8C-83A1-F6EECF244321}">
                <p14:modId xmlns:p14="http://schemas.microsoft.com/office/powerpoint/2010/main" val="2751494441"/>
              </p:ext>
            </p:extLst>
          </p:nvPr>
        </p:nvGraphicFramePr>
        <p:xfrm>
          <a:off x="342899" y="2957945"/>
          <a:ext cx="5440109" cy="1066800"/>
        </p:xfrm>
        <a:graphic>
          <a:graphicData uri="http://schemas.openxmlformats.org/drawingml/2006/table">
            <a:tbl>
              <a:tblPr firstRow="1" bandRow="1">
                <a:tableStyleId>{5C22544A-7EE6-4342-B048-85BDC9FD1C3A}</a:tableStyleId>
              </a:tblPr>
              <a:tblGrid>
                <a:gridCol w="5440109">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Filename with 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algn="ctr"/>
                      <a:endParaRPr lang="pl-PL" sz="1000">
                        <a:latin typeface="Courier New" panose="02070309020205020404" pitchFamily="49" charset="0"/>
                        <a:cs typeface="Courier New" panose="02070309020205020404" pitchFamily="49" charset="0"/>
                      </a:endParaRPr>
                    </a:p>
                    <a:p>
                      <a:pPr algn="l"/>
                      <a:r>
                        <a:rPr lang="pl-PL" sz="1600">
                          <a:latin typeface="Courier New" panose="02070309020205020404" pitchFamily="49" charset="0"/>
                          <a:cs typeface="Courier New" panose="02070309020205020404" pitchFamily="49" charset="0"/>
                        </a:rPr>
                        <a:t>engineer-in-power-plant</a:t>
                      </a:r>
                      <a:r>
                        <a:rPr lang="en-US" sz="1600">
                          <a:latin typeface="Courier New" panose="02070309020205020404" pitchFamily="49" charset="0"/>
                          <a:cs typeface="Courier New" panose="02070309020205020404" pitchFamily="49" charset="0"/>
                        </a:rPr>
                        <a:t>.jpg</a:t>
                      </a:r>
                    </a:p>
                    <a:p>
                      <a:endParaRPr lang="pl-PL" sz="1000" b="1"/>
                    </a:p>
                    <a:p>
                      <a:r>
                        <a:rPr lang="en-US" sz="1000">
                          <a:cs typeface="Poppins"/>
                        </a:rPr>
                        <a:t>Descriptive, hyphenated, includes product/model naturally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8" name="Shape 0">
            <a:extLst>
              <a:ext uri="{FF2B5EF4-FFF2-40B4-BE49-F238E27FC236}">
                <a16:creationId xmlns:a16="http://schemas.microsoft.com/office/drawing/2014/main" id="{0239DC41-482E-5928-69CE-C0CF16B0E178}"/>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4B03B25B-48EB-482D-93AF-3569320F788C}"/>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Filenames</a:t>
            </a:r>
            <a:endParaRPr lang="en-US" sz="2200">
              <a:solidFill>
                <a:schemeClr val="accent5"/>
              </a:solidFill>
              <a:cs typeface="Arial"/>
            </a:endParaRPr>
          </a:p>
        </p:txBody>
      </p:sp>
      <p:sp>
        <p:nvSpPr>
          <p:cNvPr id="12" name="Text 2">
            <a:extLst>
              <a:ext uri="{FF2B5EF4-FFF2-40B4-BE49-F238E27FC236}">
                <a16:creationId xmlns:a16="http://schemas.microsoft.com/office/drawing/2014/main" id="{72AA13C0-69CD-293F-4CB9-D50AA6413C72}"/>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3FE647BC-911E-92AD-2AC1-728BB01DB24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0B941BE0-981C-57E1-01EA-8E797107E583}"/>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42</a:t>
            </a:fld>
            <a:endParaRPr lang="en-US">
              <a:solidFill>
                <a:srgbClr val="3DCD58"/>
              </a:solidFill>
            </a:endParaRPr>
          </a:p>
        </p:txBody>
      </p:sp>
      <p:sp>
        <p:nvSpPr>
          <p:cNvPr id="15" name="Text 2">
            <a:extLst>
              <a:ext uri="{FF2B5EF4-FFF2-40B4-BE49-F238E27FC236}">
                <a16:creationId xmlns:a16="http://schemas.microsoft.com/office/drawing/2014/main" id="{ACCD6147-FA5C-7C74-E4B2-D48ECA14151F}"/>
              </a:ext>
            </a:extLst>
          </p:cNvPr>
          <p:cNvSpPr/>
          <p:nvPr/>
        </p:nvSpPr>
        <p:spPr>
          <a:xfrm>
            <a:off x="342900" y="589787"/>
            <a:ext cx="7886700" cy="274320"/>
          </a:xfrm>
          <a:prstGeom prst="rect">
            <a:avLst/>
          </a:prstGeom>
          <a:noFill/>
          <a:ln/>
        </p:spPr>
        <p:txBody>
          <a:bodyPr wrap="square" lIns="0" tIns="0" rIns="0" bIns="0" rtlCol="0" anchor="ctr"/>
          <a:lstStyle/>
          <a:p>
            <a:r>
              <a:rPr lang="pl-PL" sz="1100">
                <a:solidFill>
                  <a:schemeClr val="accent5"/>
                </a:solidFill>
                <a:cs typeface="Arial"/>
              </a:rPr>
              <a:t>Secondary item but easy win.</a:t>
            </a:r>
            <a:endParaRPr lang="en-US" sz="1100">
              <a:solidFill>
                <a:schemeClr val="accent5"/>
              </a:solidFill>
              <a:cs typeface="Arial"/>
            </a:endParaRPr>
          </a:p>
        </p:txBody>
      </p:sp>
      <p:sp>
        <p:nvSpPr>
          <p:cNvPr id="4" name="TextBox 3">
            <a:extLst>
              <a:ext uri="{FF2B5EF4-FFF2-40B4-BE49-F238E27FC236}">
                <a16:creationId xmlns:a16="http://schemas.microsoft.com/office/drawing/2014/main" id="{9AF559DA-4F47-0C71-90DE-7619A7AFA8FF}"/>
              </a:ext>
            </a:extLst>
          </p:cNvPr>
          <p:cNvSpPr txBox="1"/>
          <p:nvPr/>
        </p:nvSpPr>
        <p:spPr>
          <a:xfrm>
            <a:off x="6124533" y="2571750"/>
            <a:ext cx="2408481" cy="569387"/>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en-US" sz="1000">
                <a:solidFill>
                  <a:schemeClr val="accent5"/>
                </a:solidFill>
              </a:rPr>
              <a:t>the filename's subject shouldn't contradict what the alt text says.</a:t>
            </a:r>
            <a:endParaRPr lang="en-US" sz="1100">
              <a:solidFill>
                <a:schemeClr val="accent5"/>
              </a:solidFill>
            </a:endParaRPr>
          </a:p>
        </p:txBody>
      </p:sp>
      <p:graphicFrame>
        <p:nvGraphicFramePr>
          <p:cNvPr id="9" name="Table 8">
            <a:extLst>
              <a:ext uri="{FF2B5EF4-FFF2-40B4-BE49-F238E27FC236}">
                <a16:creationId xmlns:a16="http://schemas.microsoft.com/office/drawing/2014/main" id="{D9AD319B-D294-A1FA-FBB6-22871C522E71}"/>
              </a:ext>
            </a:extLst>
          </p:cNvPr>
          <p:cNvGraphicFramePr>
            <a:graphicFrameLocks noGrp="1"/>
          </p:cNvGraphicFramePr>
          <p:nvPr>
            <p:extLst>
              <p:ext uri="{D42A27DB-BD31-4B8C-83A1-F6EECF244321}">
                <p14:modId xmlns:p14="http://schemas.microsoft.com/office/powerpoint/2010/main" val="3897814347"/>
              </p:ext>
            </p:extLst>
          </p:nvPr>
        </p:nvGraphicFramePr>
        <p:xfrm>
          <a:off x="342898" y="1726552"/>
          <a:ext cx="3137218" cy="1066800"/>
        </p:xfrm>
        <a:graphic>
          <a:graphicData uri="http://schemas.openxmlformats.org/drawingml/2006/table">
            <a:tbl>
              <a:tblPr firstRow="1" bandRow="1">
                <a:tableStyleId>{5C22544A-7EE6-4342-B048-85BDC9FD1C3A}</a:tableStyleId>
              </a:tblPr>
              <a:tblGrid>
                <a:gridCol w="3137218">
                  <a:extLst>
                    <a:ext uri="{9D8B030D-6E8A-4147-A177-3AD203B41FA5}">
                      <a16:colId xmlns:a16="http://schemas.microsoft.com/office/drawing/2014/main" val="3037676781"/>
                    </a:ext>
                  </a:extLst>
                </a:gridCol>
              </a:tblGrid>
              <a:tr h="260914">
                <a:tc>
                  <a:txBody>
                    <a:bodyPr/>
                    <a:lstStyle/>
                    <a:p>
                      <a:pPr algn="ctr"/>
                      <a:r>
                        <a:rPr lang="pl-PL" sz="1200" b="1">
                          <a:solidFill>
                            <a:schemeClr val="tx1"/>
                          </a:solidFill>
                        </a:rPr>
                        <a:t>Filename with zero 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92716372"/>
                  </a:ext>
                </a:extLst>
              </a:tr>
              <a:tr h="370840">
                <a:tc>
                  <a:txBody>
                    <a:bodyPr/>
                    <a:lstStyle/>
                    <a:p>
                      <a:pPr algn="ctr"/>
                      <a:endParaRPr lang="pl-PL" sz="1000">
                        <a:latin typeface="Courier New" panose="02070309020205020404" pitchFamily="49" charset="0"/>
                        <a:cs typeface="Courier New" panose="02070309020205020404" pitchFamily="49" charset="0"/>
                      </a:endParaRPr>
                    </a:p>
                    <a:p>
                      <a:pPr algn="l"/>
                      <a:r>
                        <a:rPr lang="en-US" sz="1600">
                          <a:latin typeface="Courier New" panose="02070309020205020404" pitchFamily="49" charset="0"/>
                          <a:cs typeface="Courier New" panose="02070309020205020404" pitchFamily="49" charset="0"/>
                        </a:rPr>
                        <a:t>IMG_</a:t>
                      </a:r>
                      <a:r>
                        <a:rPr lang="pl-PL" sz="1600">
                          <a:latin typeface="Courier New" panose="02070309020205020404" pitchFamily="49" charset="0"/>
                          <a:cs typeface="Courier New" panose="02070309020205020404" pitchFamily="49" charset="0"/>
                        </a:rPr>
                        <a:t>007</a:t>
                      </a:r>
                      <a:r>
                        <a:rPr lang="en-US" sz="1600">
                          <a:latin typeface="Courier New" panose="02070309020205020404" pitchFamily="49" charset="0"/>
                          <a:cs typeface="Courier New" panose="02070309020205020404" pitchFamily="49" charset="0"/>
                        </a:rPr>
                        <a:t>.jpg</a:t>
                      </a:r>
                    </a:p>
                    <a:p>
                      <a:endParaRPr lang="pl-PL" sz="1000" b="1">
                        <a:cs typeface="Poppins"/>
                      </a:endParaRPr>
                    </a:p>
                    <a:p>
                      <a:r>
                        <a:rPr lang="en-US" sz="1000">
                          <a:cs typeface="Poppins"/>
                        </a:rPr>
                        <a:t>Tells search engines and AI assistants nothing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24269279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61AF4-2917-A464-67F8-1F33DB1B72E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9D837854-49B7-B9BD-5863-2B5044CFCB72}"/>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81825EEB-227D-0CEC-20C0-268B80335398}"/>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Multimodal Content</a:t>
            </a:r>
            <a:endParaRPr lang="en-US" sz="2200">
              <a:solidFill>
                <a:schemeClr val="accent5"/>
              </a:solidFill>
              <a:cs typeface="Arial"/>
            </a:endParaRPr>
          </a:p>
        </p:txBody>
      </p:sp>
      <p:sp>
        <p:nvSpPr>
          <p:cNvPr id="12" name="Text 2">
            <a:extLst>
              <a:ext uri="{FF2B5EF4-FFF2-40B4-BE49-F238E27FC236}">
                <a16:creationId xmlns:a16="http://schemas.microsoft.com/office/drawing/2014/main" id="{36F0155C-98E6-12F1-B72F-D605B674B991}"/>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09BD8E05-1EB5-0A7E-1D38-D1A994DBC0AD}"/>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5DC8BCA4-93BE-4148-8C79-027C6B5C566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43</a:t>
            </a:fld>
            <a:endParaRPr lang="en-US">
              <a:solidFill>
                <a:srgbClr val="3DCD58"/>
              </a:solidFill>
            </a:endParaRPr>
          </a:p>
        </p:txBody>
      </p:sp>
      <p:sp>
        <p:nvSpPr>
          <p:cNvPr id="15" name="Text 2">
            <a:extLst>
              <a:ext uri="{FF2B5EF4-FFF2-40B4-BE49-F238E27FC236}">
                <a16:creationId xmlns:a16="http://schemas.microsoft.com/office/drawing/2014/main" id="{C87CB7DD-001C-DA87-34AF-71A83B008BBE}"/>
              </a:ext>
            </a:extLst>
          </p:cNvPr>
          <p:cNvSpPr/>
          <p:nvPr/>
        </p:nvSpPr>
        <p:spPr>
          <a:xfrm>
            <a:off x="342900" y="589787"/>
            <a:ext cx="7886700" cy="274320"/>
          </a:xfrm>
          <a:prstGeom prst="rect">
            <a:avLst/>
          </a:prstGeom>
          <a:noFill/>
          <a:ln/>
        </p:spPr>
        <p:txBody>
          <a:bodyPr wrap="square" lIns="0" tIns="0" rIns="0" bIns="0" rtlCol="0" anchor="ctr"/>
          <a:lstStyle/>
          <a:p>
            <a:r>
              <a:rPr lang="pl-PL" sz="1100">
                <a:solidFill>
                  <a:schemeClr val="accent5"/>
                </a:solidFill>
                <a:cs typeface="Arial"/>
              </a:rPr>
              <a:t>Pages </a:t>
            </a:r>
            <a:r>
              <a:rPr lang="en-US" sz="1100">
                <a:solidFill>
                  <a:schemeClr val="accent5"/>
                </a:solidFill>
                <a:cs typeface="Arial"/>
              </a:rPr>
              <a:t>that explain concepts in more than one modality</a:t>
            </a:r>
            <a:r>
              <a:rPr lang="pl-PL" sz="1100">
                <a:solidFill>
                  <a:schemeClr val="accent5"/>
                </a:solidFill>
                <a:cs typeface="Arial"/>
              </a:rPr>
              <a:t> get more recognition among AI engines.</a:t>
            </a:r>
            <a:endParaRPr lang="en-US" sz="1100">
              <a:solidFill>
                <a:schemeClr val="accent5"/>
              </a:solidFill>
              <a:cs typeface="Arial"/>
            </a:endParaRPr>
          </a:p>
        </p:txBody>
      </p:sp>
      <p:sp>
        <p:nvSpPr>
          <p:cNvPr id="2" name="TextBox 1">
            <a:extLst>
              <a:ext uri="{FF2B5EF4-FFF2-40B4-BE49-F238E27FC236}">
                <a16:creationId xmlns:a16="http://schemas.microsoft.com/office/drawing/2014/main" id="{1F7252C7-5F50-52DE-E189-3EB3934E02C9}"/>
              </a:ext>
            </a:extLst>
          </p:cNvPr>
          <p:cNvSpPr txBox="1"/>
          <p:nvPr/>
        </p:nvSpPr>
        <p:spPr>
          <a:xfrm>
            <a:off x="444912" y="1229725"/>
            <a:ext cx="3877056" cy="3323987"/>
          </a:xfrm>
          <a:prstGeom prst="rect">
            <a:avLst/>
          </a:prstGeom>
          <a:solidFill>
            <a:schemeClr val="accent5"/>
          </a:solidFill>
          <a:ln>
            <a:solidFill>
              <a:schemeClr val="tx1"/>
            </a:solidFill>
          </a:ln>
        </p:spPr>
        <p:txBody>
          <a:bodyPr wrap="square" lIns="91440" tIns="45720" rIns="91440" bIns="45720" anchor="t">
            <a:spAutoFit/>
          </a:bodyPr>
          <a:lstStyle>
            <a:defPPr>
              <a:defRPr lang="en-US"/>
            </a:defPPr>
            <a:lvl1pPr>
              <a:defRPr sz="1000" b="1"/>
            </a:lvl1pPr>
          </a:lstStyle>
          <a:p>
            <a:r>
              <a:rPr lang="pl-PL"/>
              <a:t>Diagrams, infographics (example below), charts </a:t>
            </a:r>
            <a:r>
              <a:rPr lang="pl-PL" b="0"/>
              <a:t>- e</a:t>
            </a:r>
            <a:r>
              <a:rPr lang="en-US" b="0"/>
              <a:t>ach with its own descriptive alt text</a:t>
            </a:r>
            <a:r>
              <a:rPr lang="pl-PL" b="0"/>
              <a:t> - </a:t>
            </a:r>
            <a:r>
              <a:rPr lang="en-US" b="0"/>
              <a:t>not a shared generic tag</a:t>
            </a:r>
            <a:r>
              <a:rPr lang="pl-PL" b="0"/>
              <a:t>.</a:t>
            </a:r>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a:p>
            <a:endParaRPr lang="pl-PL"/>
          </a:p>
        </p:txBody>
      </p:sp>
      <p:sp>
        <p:nvSpPr>
          <p:cNvPr id="3" name="TextBox 2">
            <a:extLst>
              <a:ext uri="{FF2B5EF4-FFF2-40B4-BE49-F238E27FC236}">
                <a16:creationId xmlns:a16="http://schemas.microsoft.com/office/drawing/2014/main" id="{6415EE71-1BD8-E447-2C50-25E8EA847C19}"/>
              </a:ext>
            </a:extLst>
          </p:cNvPr>
          <p:cNvSpPr txBox="1"/>
          <p:nvPr/>
        </p:nvSpPr>
        <p:spPr>
          <a:xfrm>
            <a:off x="4822033" y="1229725"/>
            <a:ext cx="3878621" cy="3323987"/>
          </a:xfrm>
          <a:prstGeom prst="rect">
            <a:avLst/>
          </a:prstGeom>
          <a:solidFill>
            <a:schemeClr val="accent5"/>
          </a:solidFill>
          <a:ln>
            <a:solidFill>
              <a:schemeClr val="tx1"/>
            </a:solidFill>
          </a:ln>
        </p:spPr>
        <p:txBody>
          <a:bodyPr wrap="square" lIns="91440" tIns="45720" rIns="91440" bIns="45720" anchor="t">
            <a:spAutoFit/>
          </a:bodyPr>
          <a:lstStyle/>
          <a:p>
            <a:r>
              <a:rPr lang="pl-PL" sz="1000" b="1"/>
              <a:t>Comparison tables </a:t>
            </a:r>
            <a:r>
              <a:rPr lang="pl-PL" sz="1000"/>
              <a:t>- f</a:t>
            </a:r>
            <a:r>
              <a:rPr lang="en-US" sz="1000"/>
              <a:t>or anything evaluative: specs, pricing tiers, before/after</a:t>
            </a:r>
            <a:r>
              <a:rPr lang="pl-PL" sz="1000"/>
              <a:t>.</a:t>
            </a:r>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pl-PL" sz="1000"/>
          </a:p>
          <a:p>
            <a:endParaRPr lang="en-US" sz="1000"/>
          </a:p>
          <a:p>
            <a:endParaRPr lang="pl-PL" sz="1000" b="1"/>
          </a:p>
          <a:p>
            <a:endParaRPr lang="pl-PL" sz="1000" b="1"/>
          </a:p>
        </p:txBody>
      </p:sp>
      <p:pic>
        <p:nvPicPr>
          <p:cNvPr id="9" name="Picture 8">
            <a:extLst>
              <a:ext uri="{FF2B5EF4-FFF2-40B4-BE49-F238E27FC236}">
                <a16:creationId xmlns:a16="http://schemas.microsoft.com/office/drawing/2014/main" id="{C9B9AA7D-06B6-3A27-6DA7-2B30E0F1B18D}"/>
              </a:ext>
            </a:extLst>
          </p:cNvPr>
          <p:cNvPicPr>
            <a:picLocks noChangeAspect="1"/>
          </p:cNvPicPr>
          <p:nvPr/>
        </p:nvPicPr>
        <p:blipFill>
          <a:blip r:embed="rId3"/>
          <a:stretch>
            <a:fillRect/>
          </a:stretch>
        </p:blipFill>
        <p:spPr>
          <a:xfrm>
            <a:off x="746308" y="1632521"/>
            <a:ext cx="2951227" cy="2849996"/>
          </a:xfrm>
          <a:prstGeom prst="rect">
            <a:avLst/>
          </a:prstGeom>
          <a:ln>
            <a:solidFill>
              <a:schemeClr val="tx1"/>
            </a:solidFill>
          </a:ln>
        </p:spPr>
      </p:pic>
      <p:pic>
        <p:nvPicPr>
          <p:cNvPr id="2050" name="Picture 2" descr="PM5000 product comparison guide | Schneider Electric USA">
            <a:extLst>
              <a:ext uri="{FF2B5EF4-FFF2-40B4-BE49-F238E27FC236}">
                <a16:creationId xmlns:a16="http://schemas.microsoft.com/office/drawing/2014/main" id="{14176E33-CA8E-0240-3960-7952299884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0630" y="1632521"/>
            <a:ext cx="3034717" cy="2849996"/>
          </a:xfrm>
          <a:prstGeom prst="rect">
            <a:avLst/>
          </a:prstGeom>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71491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E6D3-50E6-E565-84EA-1962831A487C}"/>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807A54DE-3892-5AF6-F9AD-E2551405ED87}"/>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A84E78C4-E210-07BA-DB1A-939BBDE39818}"/>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Common Mistakes to Avoid</a:t>
            </a:r>
          </a:p>
        </p:txBody>
      </p:sp>
      <p:sp>
        <p:nvSpPr>
          <p:cNvPr id="12" name="Text 2">
            <a:extLst>
              <a:ext uri="{FF2B5EF4-FFF2-40B4-BE49-F238E27FC236}">
                <a16:creationId xmlns:a16="http://schemas.microsoft.com/office/drawing/2014/main" id="{D380E0DC-68AB-5504-4514-66A1CF85ECAE}"/>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E2084638-AE37-216A-2ADF-BD9CA3DEE435}"/>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BD481F7E-0591-651F-CCE3-445882D0228E}"/>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44</a:t>
            </a:fld>
            <a:endParaRPr lang="en-US">
              <a:solidFill>
                <a:srgbClr val="3DCD58"/>
              </a:solidFill>
            </a:endParaRPr>
          </a:p>
        </p:txBody>
      </p:sp>
      <p:sp>
        <p:nvSpPr>
          <p:cNvPr id="15" name="Text 2">
            <a:extLst>
              <a:ext uri="{FF2B5EF4-FFF2-40B4-BE49-F238E27FC236}">
                <a16:creationId xmlns:a16="http://schemas.microsoft.com/office/drawing/2014/main" id="{81B8D87A-FE71-4CB1-F231-C148B27FE4D5}"/>
              </a:ext>
            </a:extLst>
          </p:cNvPr>
          <p:cNvSpPr/>
          <p:nvPr/>
        </p:nvSpPr>
        <p:spPr>
          <a:xfrm>
            <a:off x="342900" y="589787"/>
            <a:ext cx="7886700" cy="274320"/>
          </a:xfrm>
          <a:prstGeom prst="rect">
            <a:avLst/>
          </a:prstGeom>
          <a:noFill/>
          <a:ln/>
        </p:spPr>
        <p:txBody>
          <a:bodyPr wrap="square" lIns="0" tIns="0" rIns="0" bIns="0" rtlCol="0" anchor="ctr"/>
          <a:lstStyle/>
          <a:p>
            <a:r>
              <a:rPr lang="pl-PL" sz="1100">
                <a:solidFill>
                  <a:schemeClr val="accent5"/>
                </a:solidFill>
                <a:cs typeface="Arial"/>
              </a:rPr>
              <a:t>Image’s donts.</a:t>
            </a:r>
            <a:endParaRPr lang="en-US" sz="1100">
              <a:solidFill>
                <a:schemeClr val="accent5"/>
              </a:solidFill>
              <a:cs typeface="Arial"/>
            </a:endParaRPr>
          </a:p>
        </p:txBody>
      </p:sp>
      <p:sp>
        <p:nvSpPr>
          <p:cNvPr id="4" name="TextBox 3">
            <a:extLst>
              <a:ext uri="{FF2B5EF4-FFF2-40B4-BE49-F238E27FC236}">
                <a16:creationId xmlns:a16="http://schemas.microsoft.com/office/drawing/2014/main" id="{EA04B880-B10F-5D11-A4A1-86092150C614}"/>
              </a:ext>
            </a:extLst>
          </p:cNvPr>
          <p:cNvSpPr txBox="1"/>
          <p:nvPr/>
        </p:nvSpPr>
        <p:spPr>
          <a:xfrm>
            <a:off x="4646468" y="1805090"/>
            <a:ext cx="2706624" cy="914400"/>
          </a:xfrm>
          <a:prstGeom prst="rect">
            <a:avLst/>
          </a:prstGeom>
          <a:solidFill>
            <a:schemeClr val="tx1"/>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500"/>
              </a:spcBef>
              <a:spcAft>
                <a:spcPts val="500"/>
              </a:spcAft>
              <a:buClr>
                <a:srgbClr val="009530"/>
              </a:buClr>
              <a:buSzTx/>
              <a:buFontTx/>
              <a:buNone/>
              <a:tabLst/>
              <a:defRPr/>
            </a:pPr>
            <a:r>
              <a:rPr kumimoji="0" lang="en-US" sz="1000" b="1" i="0" u="none" strike="noStrike" kern="1200" cap="none" spc="0" normalizeH="0" baseline="0" noProof="0">
                <a:ln>
                  <a:noFill/>
                </a:ln>
                <a:solidFill>
                  <a:schemeClr val="accent5"/>
                </a:solidFill>
                <a:effectLst/>
                <a:uLnTx/>
                <a:uFillTx/>
                <a:latin typeface="Poppins"/>
                <a:ea typeface="+mn-ea"/>
                <a:cs typeface="+mn-cs"/>
              </a:rPr>
              <a:t>Generic, duplicated alt text across variants</a:t>
            </a:r>
          </a:p>
          <a:p>
            <a:pPr marR="0" lvl="0" algn="l" defTabSz="457184" rtl="0" eaLnBrk="1" fontAlgn="auto" latinLnBrk="0" hangingPunct="1">
              <a:lnSpc>
                <a:spcPct val="100000"/>
              </a:lnSpc>
              <a:spcBef>
                <a:spcPts val="500"/>
              </a:spcBef>
              <a:spcAft>
                <a:spcPts val="500"/>
              </a:spcAft>
              <a:buClr>
                <a:srgbClr val="009530"/>
              </a:buClr>
              <a:buSzTx/>
              <a:tabLst/>
              <a:defRPr/>
            </a:pPr>
            <a:r>
              <a:rPr kumimoji="0" lang="en-US" sz="1000" b="0" i="0" u="none" strike="noStrike" kern="1200" cap="none" spc="0" normalizeH="0" baseline="0" noProof="0">
                <a:ln>
                  <a:noFill/>
                </a:ln>
                <a:solidFill>
                  <a:schemeClr val="accent5"/>
                </a:solidFill>
                <a:effectLst/>
                <a:uLnTx/>
                <a:uFillTx/>
                <a:latin typeface="Poppins"/>
                <a:ea typeface="+mn-ea"/>
                <a:cs typeface="+mn-cs"/>
              </a:rPr>
              <a:t>e.g. every color of a product using the same tag</a:t>
            </a:r>
          </a:p>
        </p:txBody>
      </p:sp>
      <p:sp>
        <p:nvSpPr>
          <p:cNvPr id="7" name="TextBox 6">
            <a:extLst>
              <a:ext uri="{FF2B5EF4-FFF2-40B4-BE49-F238E27FC236}">
                <a16:creationId xmlns:a16="http://schemas.microsoft.com/office/drawing/2014/main" id="{2A3A9C7B-EBF4-D393-C57A-BCC646446F0A}"/>
              </a:ext>
            </a:extLst>
          </p:cNvPr>
          <p:cNvSpPr txBox="1"/>
          <p:nvPr/>
        </p:nvSpPr>
        <p:spPr>
          <a:xfrm>
            <a:off x="4646468" y="2863997"/>
            <a:ext cx="2706624" cy="914400"/>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Poppins"/>
                <a:ea typeface="+mn-ea"/>
                <a:cs typeface="+mn-cs"/>
              </a:rPr>
              <a:t>Lazy-loading the hero image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A2F24"/>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0"/>
              </a:spcAft>
              <a:buClr>
                <a:srgbClr val="009530"/>
              </a:buClr>
              <a:buSzTx/>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A Core Web Vitals killer that indirectly hurts crawlability</a:t>
            </a:r>
          </a:p>
        </p:txBody>
      </p:sp>
      <p:sp>
        <p:nvSpPr>
          <p:cNvPr id="10" name="TextBox 9">
            <a:extLst>
              <a:ext uri="{FF2B5EF4-FFF2-40B4-BE49-F238E27FC236}">
                <a16:creationId xmlns:a16="http://schemas.microsoft.com/office/drawing/2014/main" id="{FCEAFB95-C9BE-5707-309A-8673E98B8199}"/>
              </a:ext>
            </a:extLst>
          </p:cNvPr>
          <p:cNvSpPr txBox="1"/>
          <p:nvPr/>
        </p:nvSpPr>
        <p:spPr>
          <a:xfrm>
            <a:off x="1687761" y="2863997"/>
            <a:ext cx="2706624" cy="914400"/>
          </a:xfrm>
          <a:prstGeom prst="rect">
            <a:avLst/>
          </a:prstGeom>
          <a:solidFill>
            <a:schemeClr val="tx1"/>
          </a:solidFill>
          <a:ln>
            <a:solidFill>
              <a:schemeClr val="tx1"/>
            </a:solidFill>
          </a:ln>
        </p:spPr>
        <p:txBody>
          <a:bodyPr wrap="square" lIns="91440" tIns="45720" rIns="91440" bIns="45720" anchor="t">
            <a:spAutoFit/>
          </a:bodyPr>
          <a:lstStyle/>
          <a:p>
            <a:pPr>
              <a:defRPr/>
            </a:pPr>
            <a:r>
              <a:rPr kumimoji="0" lang="en-US" sz="1000" b="1" i="0" u="none" strike="noStrike" kern="1200" cap="none" spc="0" normalizeH="0" baseline="0" noProof="0">
                <a:ln>
                  <a:noFill/>
                </a:ln>
                <a:solidFill>
                  <a:schemeClr val="accent5"/>
                </a:solidFill>
                <a:effectLst/>
                <a:uLnTx/>
                <a:uFillTx/>
                <a:latin typeface="Poppins"/>
                <a:ea typeface="+mn-ea"/>
                <a:cs typeface="+mn-cs"/>
              </a:rPr>
              <a:t>Keyword-stuffed alt text</a:t>
            </a:r>
          </a:p>
          <a:p>
            <a:pPr marL="31115" marR="0" lvl="0" algn="l" defTabSz="457184" rtl="0" eaLnBrk="1" fontAlgn="auto" latinLnBrk="0" hangingPunct="1">
              <a:lnSpc>
                <a:spcPct val="100000"/>
              </a:lnSpc>
              <a:spcBef>
                <a:spcPts val="600"/>
              </a:spcBef>
              <a:spcAft>
                <a:spcPts val="600"/>
              </a:spcAft>
              <a:buClr>
                <a:srgbClr val="009530"/>
              </a:buClr>
              <a:buSzTx/>
              <a:tabLst/>
              <a:defRPr/>
            </a:pPr>
            <a:r>
              <a:rPr kumimoji="0" lang="en-US" sz="1000" b="0" i="0" u="none" strike="noStrike" kern="1200" cap="none" spc="0" normalizeH="0" baseline="0" noProof="0">
                <a:ln>
                  <a:noFill/>
                </a:ln>
                <a:solidFill>
                  <a:schemeClr val="accent5"/>
                </a:solidFill>
                <a:effectLst/>
                <a:uLnTx/>
                <a:uFillTx/>
                <a:latin typeface="Poppins"/>
                <a:ea typeface="+mn-ea"/>
                <a:cs typeface="+mn-cs"/>
              </a:rPr>
              <a:t>Detected and discounted the same way Google discounts it; hostile to screen reader users</a:t>
            </a:r>
          </a:p>
        </p:txBody>
      </p:sp>
      <p:sp>
        <p:nvSpPr>
          <p:cNvPr id="13" name="TextBox 12">
            <a:extLst>
              <a:ext uri="{FF2B5EF4-FFF2-40B4-BE49-F238E27FC236}">
                <a16:creationId xmlns:a16="http://schemas.microsoft.com/office/drawing/2014/main" id="{C53838A3-AC86-5930-2204-3BBABCFF62CA}"/>
              </a:ext>
            </a:extLst>
          </p:cNvPr>
          <p:cNvSpPr txBox="1"/>
          <p:nvPr/>
        </p:nvSpPr>
        <p:spPr>
          <a:xfrm>
            <a:off x="1687761" y="1805090"/>
            <a:ext cx="2706624" cy="914400"/>
          </a:xfrm>
          <a:prstGeom prst="rect">
            <a:avLst/>
          </a:prstGeom>
          <a:solidFill>
            <a:schemeClr val="accent5"/>
          </a:solidFill>
          <a:ln>
            <a:solidFill>
              <a:schemeClr val="tx1"/>
            </a:solidFill>
          </a:ln>
        </p:spPr>
        <p:txBody>
          <a:bodyPr wrap="square" lIns="91440" tIns="45720" rIns="91440" bIns="45720" anchor="t">
            <a:spAutoFit/>
          </a:bodyPr>
          <a:lstStyle/>
          <a:p>
            <a:r>
              <a:rPr lang="en-US" sz="1000" b="1"/>
              <a:t>Empty alt on informative images</a:t>
            </a:r>
          </a:p>
          <a:p>
            <a:pPr marL="31115">
              <a:lnSpc>
                <a:spcPct val="100000"/>
              </a:lnSpc>
              <a:spcBef>
                <a:spcPts val="600"/>
              </a:spcBef>
              <a:spcAft>
                <a:spcPts val="600"/>
              </a:spcAft>
            </a:pPr>
            <a:r>
              <a:rPr lang="en-US" sz="1000"/>
              <a:t>AI assistants simply skip them — you lose the signal entirely</a:t>
            </a:r>
          </a:p>
        </p:txBody>
      </p:sp>
    </p:spTree>
    <p:extLst>
      <p:ext uri="{BB962C8B-B14F-4D97-AF65-F5344CB8AC3E}">
        <p14:creationId xmlns:p14="http://schemas.microsoft.com/office/powerpoint/2010/main" val="29077712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B4B75-65A5-6DAF-E8F4-7A40E7750AF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A61783A-7F6A-4F5F-ECE9-3382C9C47D52}"/>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6" name="Title 5">
            <a:extLst>
              <a:ext uri="{FF2B5EF4-FFF2-40B4-BE49-F238E27FC236}">
                <a16:creationId xmlns:a16="http://schemas.microsoft.com/office/drawing/2014/main" id="{15399A4A-3594-DD3A-9027-DD99422F6BBF}"/>
              </a:ext>
            </a:extLst>
          </p:cNvPr>
          <p:cNvSpPr>
            <a:spLocks noGrp="1"/>
          </p:cNvSpPr>
          <p:nvPr>
            <p:ph type="title"/>
          </p:nvPr>
        </p:nvSpPr>
        <p:spPr>
          <a:xfrm>
            <a:off x="1191488" y="1341120"/>
            <a:ext cx="6352312" cy="2520255"/>
          </a:xfrm>
        </p:spPr>
        <p:txBody>
          <a:bodyPr/>
          <a:lstStyle/>
          <a:p>
            <a:r>
              <a:rPr lang="pl-PL"/>
              <a:t>AI</a:t>
            </a:r>
            <a:r>
              <a:rPr lang="en-US"/>
              <a:t> today do</a:t>
            </a:r>
            <a:r>
              <a:rPr lang="pl-PL"/>
              <a:t>es</a:t>
            </a:r>
            <a:r>
              <a:rPr lang="en-US" err="1"/>
              <a:t>n’t</a:t>
            </a:r>
            <a:r>
              <a:rPr lang="en-US"/>
              <a:t> invest time to “see” the image</a:t>
            </a:r>
            <a:r>
              <a:rPr lang="pl-PL"/>
              <a:t>. AI</a:t>
            </a:r>
            <a:r>
              <a:rPr lang="en-US"/>
              <a:t> rely on us to explain what the image contains.</a:t>
            </a:r>
            <a:endParaRPr lang="pl-PL"/>
          </a:p>
        </p:txBody>
      </p:sp>
    </p:spTree>
    <p:extLst>
      <p:ext uri="{BB962C8B-B14F-4D97-AF65-F5344CB8AC3E}">
        <p14:creationId xmlns:p14="http://schemas.microsoft.com/office/powerpoint/2010/main" val="691937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89CB-74B8-B23E-5B83-AFC4A766117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33CF4F6-E751-763E-6F08-779446F18DF6}"/>
              </a:ext>
            </a:extLst>
          </p:cNvPr>
          <p:cNvSpPr/>
          <p:nvPr/>
        </p:nvSpPr>
        <p:spPr>
          <a:xfrm>
            <a:off x="742950" y="1820791"/>
            <a:ext cx="7659831" cy="553998"/>
          </a:xfrm>
          <a:prstGeom prst="rect">
            <a:avLst/>
          </a:prstGeom>
          <a:noFill/>
          <a:ln/>
        </p:spPr>
        <p:txBody>
          <a:bodyPr wrap="square" lIns="0" tIns="0" rIns="0" bIns="0" rtlCol="0" anchor="t">
            <a:spAutoFit/>
          </a:bodyPr>
          <a:lstStyle/>
          <a:p>
            <a:r>
              <a:rPr lang="pl-PL" sz="3600">
                <a:solidFill>
                  <a:schemeClr val="accent5"/>
                </a:solidFill>
              </a:rPr>
              <a:t>Chapter 5: GEO Optimized Videos</a:t>
            </a:r>
            <a:endParaRPr lang="en-US" sz="3600">
              <a:solidFill>
                <a:schemeClr val="accent5"/>
              </a:solidFill>
            </a:endParaRPr>
          </a:p>
        </p:txBody>
      </p:sp>
      <p:sp>
        <p:nvSpPr>
          <p:cNvPr id="5" name="Text 2">
            <a:extLst>
              <a:ext uri="{FF2B5EF4-FFF2-40B4-BE49-F238E27FC236}">
                <a16:creationId xmlns:a16="http://schemas.microsoft.com/office/drawing/2014/main" id="{0CAA0C6B-1A10-A3CC-2C3B-780B46815B5F}"/>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BF7ABEB6-FAA3-F8A6-F162-E2541CC2FA4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199B0FCE-6846-C442-EC77-C8CD39733925}"/>
              </a:ext>
            </a:extLst>
          </p:cNvPr>
          <p:cNvSpPr>
            <a:spLocks noGrp="1"/>
          </p:cNvSpPr>
          <p:nvPr>
            <p:ph type="body" sz="quarter" idx="4294967295"/>
          </p:nvPr>
        </p:nvSpPr>
        <p:spPr>
          <a:xfrm>
            <a:off x="742949" y="4108450"/>
            <a:ext cx="7659831" cy="215900"/>
          </a:xfrm>
        </p:spPr>
        <p:txBody>
          <a:bodyPr vert="horz" lIns="0" tIns="0" rIns="0" bIns="0" rtlCol="0" anchor="t">
            <a:noAutofit/>
          </a:bodyPr>
          <a:lstStyle/>
          <a:p>
            <a:r>
              <a:rPr lang="pl-PL"/>
              <a:t>Michel Page, Christophe Clerc, Jakub Falkowski – Digital Marketing Electrifiers (Chapter created as part of Digital Marketing Electrifier Program)</a:t>
            </a:r>
          </a:p>
        </p:txBody>
      </p:sp>
    </p:spTree>
    <p:extLst>
      <p:ext uri="{BB962C8B-B14F-4D97-AF65-F5344CB8AC3E}">
        <p14:creationId xmlns:p14="http://schemas.microsoft.com/office/powerpoint/2010/main" val="2970334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03CE0-98EA-FE0B-4568-D3AA60B51D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F10375-EB3E-B520-0326-608AEC502FDC}"/>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B4594880-C92A-4D2B-04DC-D93C885B0633}"/>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How Videos Enhance GEO</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F8911546-57EB-3796-71FF-3D9E8ABC1864}"/>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List of the chapters</a:t>
            </a:r>
            <a:endParaRPr lang="en-US" sz="1100">
              <a:solidFill>
                <a:schemeClr val="accent5"/>
              </a:solidFill>
              <a:cs typeface="Arial"/>
            </a:endParaRPr>
          </a:p>
        </p:txBody>
      </p:sp>
      <p:graphicFrame>
        <p:nvGraphicFramePr>
          <p:cNvPr id="5" name="Table 4">
            <a:extLst>
              <a:ext uri="{FF2B5EF4-FFF2-40B4-BE49-F238E27FC236}">
                <a16:creationId xmlns:a16="http://schemas.microsoft.com/office/drawing/2014/main" id="{A041292C-50F3-98EC-56B9-D998904B6295}"/>
              </a:ext>
            </a:extLst>
          </p:cNvPr>
          <p:cNvGraphicFramePr>
            <a:graphicFrameLocks noGrp="1"/>
          </p:cNvGraphicFramePr>
          <p:nvPr>
            <p:extLst>
              <p:ext uri="{D42A27DB-BD31-4B8C-83A1-F6EECF244321}">
                <p14:modId xmlns:p14="http://schemas.microsoft.com/office/powerpoint/2010/main" val="33598400"/>
              </p:ext>
            </p:extLst>
          </p:nvPr>
        </p:nvGraphicFramePr>
        <p:xfrm>
          <a:off x="342900" y="1220724"/>
          <a:ext cx="3130899" cy="3582470"/>
        </p:xfrm>
        <a:graphic>
          <a:graphicData uri="http://schemas.openxmlformats.org/drawingml/2006/table">
            <a:tbl>
              <a:tblPr firstRow="1" bandRow="1">
                <a:tableStyleId>{5C22544A-7EE6-4342-B048-85BDC9FD1C3A}</a:tableStyleId>
              </a:tblPr>
              <a:tblGrid>
                <a:gridCol w="3130899">
                  <a:extLst>
                    <a:ext uri="{9D8B030D-6E8A-4147-A177-3AD203B41FA5}">
                      <a16:colId xmlns:a16="http://schemas.microsoft.com/office/drawing/2014/main" val="896702349"/>
                    </a:ext>
                  </a:extLst>
                </a:gridCol>
              </a:tblGrid>
              <a:tr h="312220">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lnSpc>
                          <a:spcPct val="150000"/>
                        </a:lnSpc>
                        <a:spcBef>
                          <a:spcPts val="0"/>
                        </a:spcBef>
                        <a:spcAft>
                          <a:spcPts val="0"/>
                        </a:spcAft>
                        <a:buClr>
                          <a:schemeClr val="tx2"/>
                        </a:buClr>
                        <a:defRPr/>
                      </a:pPr>
                      <a:r>
                        <a:rPr lang="en-US" sz="1000" b="0"/>
                        <a:t>Videos strengthen GEO because AI engines pull from transcripts, captions, and metadata when assembling answers, giving optimized videos extra visibility beyond text search. They also generate strong engagement signals </a:t>
                      </a:r>
                      <a:r>
                        <a:rPr lang="pl-PL" sz="1000" b="0"/>
                        <a:t>-</a:t>
                      </a:r>
                      <a:r>
                        <a:rPr lang="en-US" sz="1000" b="0"/>
                        <a:t> watch time, comments, shares </a:t>
                      </a:r>
                      <a:r>
                        <a:rPr lang="pl-PL" sz="1000" b="0"/>
                        <a:t>-</a:t>
                      </a:r>
                      <a:r>
                        <a:rPr lang="en-US" sz="1000" b="0"/>
                        <a:t> that reinforce topical authority and trust, which generative engines weigh when choosing sources. Since transcripts are text-minable, they let you cover topics conversationally, matching how people query AI assistants. Video also adds perceived credibility that boosts your odds of being surfaced and quoted in AI-generated answers</a:t>
                      </a:r>
                      <a:endParaRPr lang="en-US" sz="1000" b="0" i="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6" name="Table 5">
            <a:extLst>
              <a:ext uri="{FF2B5EF4-FFF2-40B4-BE49-F238E27FC236}">
                <a16:creationId xmlns:a16="http://schemas.microsoft.com/office/drawing/2014/main" id="{7A21AE1E-03E1-C631-D025-FF9FA85AA93C}"/>
              </a:ext>
            </a:extLst>
          </p:cNvPr>
          <p:cNvGraphicFramePr>
            <a:graphicFrameLocks noGrp="1"/>
          </p:cNvGraphicFramePr>
          <p:nvPr>
            <p:extLst>
              <p:ext uri="{D42A27DB-BD31-4B8C-83A1-F6EECF244321}">
                <p14:modId xmlns:p14="http://schemas.microsoft.com/office/powerpoint/2010/main" val="3319580078"/>
              </p:ext>
            </p:extLst>
          </p:nvPr>
        </p:nvGraphicFramePr>
        <p:xfrm>
          <a:off x="4286250" y="1220724"/>
          <a:ext cx="4537364" cy="3445298"/>
        </p:xfrm>
        <a:graphic>
          <a:graphicData uri="http://schemas.openxmlformats.org/drawingml/2006/table">
            <a:tbl>
              <a:tblPr firstRow="1" bandRow="1">
                <a:tableStyleId>{5C22544A-7EE6-4342-B048-85BDC9FD1C3A}</a:tableStyleId>
              </a:tblPr>
              <a:tblGrid>
                <a:gridCol w="2268682">
                  <a:extLst>
                    <a:ext uri="{9D8B030D-6E8A-4147-A177-3AD203B41FA5}">
                      <a16:colId xmlns:a16="http://schemas.microsoft.com/office/drawing/2014/main" val="1082219581"/>
                    </a:ext>
                  </a:extLst>
                </a:gridCol>
                <a:gridCol w="2268682">
                  <a:extLst>
                    <a:ext uri="{9D8B030D-6E8A-4147-A177-3AD203B41FA5}">
                      <a16:colId xmlns:a16="http://schemas.microsoft.com/office/drawing/2014/main" val="1617026272"/>
                    </a:ext>
                  </a:extLst>
                </a:gridCol>
              </a:tblGrid>
              <a:tr h="316683">
                <a:tc gridSpan="2">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Structure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endParaRPr kumimoji="0" lang="pl-PL"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214570590"/>
                  </a:ext>
                </a:extLst>
              </a:tr>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Produce Videos </a:t>
                      </a:r>
                    </a:p>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for AI understanding</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7FFD9"/>
                          </a:solidFill>
                          <a:effectLst/>
                          <a:uLnTx/>
                          <a:uFillTx/>
                          <a:latin typeface="+mn-lt"/>
                          <a:ea typeface="+mn-ea"/>
                          <a:cs typeface="+mn-cs"/>
                        </a:rPr>
                        <a:t>Publish Videos </a:t>
                      </a:r>
                    </a:p>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7FFD9"/>
                          </a:solidFill>
                          <a:effectLst/>
                          <a:uLnTx/>
                          <a:uFillTx/>
                          <a:latin typeface="+mn-lt"/>
                          <a:ea typeface="+mn-ea"/>
                          <a:cs typeface="+mn-cs"/>
                        </a:rPr>
                        <a:t>for AI discovery</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How-to/FAQ/Expert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YouTube (YT) 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Answer-first narrative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Descriptive YT title </a:t>
                      </a:r>
                      <a:r>
                        <a:rPr kumimoji="0" lang="pl-PL" sz="1000" b="0" i="0" u="none" strike="noStrike" kern="1200" cap="none" spc="0" normalizeH="0" baseline="0" noProof="0">
                          <a:ln>
                            <a:noFill/>
                          </a:ln>
                          <a:solidFill>
                            <a:srgbClr val="0A2F24"/>
                          </a:solidFill>
                          <a:effectLst/>
                          <a:uLnTx/>
                          <a:uFillTx/>
                          <a:latin typeface="+mn-lt"/>
                          <a:ea typeface="+mn-ea"/>
                          <a:cs typeface="+mn-cs"/>
                        </a:rPr>
                        <a:t>&amp;</a:t>
                      </a:r>
                      <a:r>
                        <a:rPr kumimoji="0" lang="en-US" sz="1000" b="0" i="0" u="none" strike="noStrike" kern="1200" cap="none" spc="0" normalizeH="0" baseline="0" noProof="0">
                          <a:ln>
                            <a:noFill/>
                          </a:ln>
                          <a:solidFill>
                            <a:srgbClr val="0A2F24"/>
                          </a:solidFill>
                          <a:effectLst/>
                          <a:uLnTx/>
                          <a:uFillTx/>
                          <a:latin typeface="+mn-lt"/>
                          <a:ea typeface="+mn-ea"/>
                          <a:cs typeface="+mn-cs"/>
                        </a:rPr>
                        <a:t> rich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Structured chapters &amp; recap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Human-reviewed subtitles (.</a:t>
                      </a:r>
                      <a:r>
                        <a:rPr kumimoji="0" lang="pl-PL" sz="1000" b="0" i="1" u="none" strike="noStrike" kern="1200" cap="none" spc="0" normalizeH="0" baseline="0">
                          <a:ln>
                            <a:noFill/>
                          </a:ln>
                          <a:solidFill>
                            <a:srgbClr val="0A2F24"/>
                          </a:solidFill>
                          <a:effectLst/>
                          <a:uLnTx/>
                          <a:uFillTx/>
                          <a:latin typeface="+mn-lt"/>
                          <a:ea typeface="+mn-ea"/>
                          <a:cs typeface="+mn-cs"/>
                        </a:rPr>
                        <a:t>SRT</a:t>
                      </a:r>
                      <a:r>
                        <a:rPr kumimoji="0" lang="pl-PL" sz="1000" b="0" i="0" u="none" strike="noStrike" kern="1200" cap="none" spc="0" normalizeH="0" baseline="0">
                          <a:ln>
                            <a:noFill/>
                          </a:ln>
                          <a:solidFill>
                            <a:srgbClr val="0A2F24"/>
                          </a:solidFill>
                          <a:effectLst/>
                          <a:uLnTx/>
                          <a:uFillTx/>
                          <a:latin typeface="+mn-lt"/>
                          <a:ea typeface="+mn-ea"/>
                          <a:cs typeface="+mn-cs"/>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Natural language </a:t>
                      </a:r>
                      <a:r>
                        <a:rPr kumimoji="0" lang="pl-PL" sz="1000" b="0" i="0" u="none" strike="noStrike" kern="1200" cap="none" spc="0" normalizeH="0" baseline="0" noProof="0">
                          <a:ln>
                            <a:noFill/>
                          </a:ln>
                          <a:solidFill>
                            <a:srgbClr val="0A2F24"/>
                          </a:solidFill>
                          <a:effectLst/>
                          <a:uLnTx/>
                          <a:uFillTx/>
                          <a:latin typeface="+mn-lt"/>
                          <a:ea typeface="+mn-ea"/>
                          <a:cs typeface="+mn-cs"/>
                        </a:rPr>
                        <a:t>&amp;</a:t>
                      </a:r>
                      <a:r>
                        <a:rPr kumimoji="0" lang="en-US" sz="1000" b="0" i="0" u="none" strike="noStrike" kern="1200" cap="none" spc="0" normalizeH="0" baseline="0" noProof="0">
                          <a:ln>
                            <a:noFill/>
                          </a:ln>
                          <a:solidFill>
                            <a:srgbClr val="0A2F24"/>
                          </a:solidFill>
                          <a:effectLst/>
                          <a:uLnTx/>
                          <a:uFillTx/>
                          <a:latin typeface="+mn-lt"/>
                          <a:ea typeface="+mn-ea"/>
                          <a:cs typeface="+mn-cs"/>
                        </a:rPr>
                        <a:t> facts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Question-based chapters in the YT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Consistent terminology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Publish on SE.com, in a page that is crawlable by search engines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266593767"/>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Explicit visual entities &amp; readable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rgbClr val="0A2F24"/>
                          </a:solidFill>
                          <a:effectLst/>
                          <a:uLnTx/>
                          <a:uFillTx/>
                          <a:latin typeface="+mn-lt"/>
                          <a:ea typeface="+mn-ea"/>
                          <a:cs typeface="+mn-cs"/>
                        </a:rPr>
                        <a:t>VideoObject</a:t>
                      </a:r>
                      <a:r>
                        <a:rPr kumimoji="0" lang="en-US" sz="1000" b="0" i="0" u="none" strike="noStrike" kern="1200" cap="none" spc="0" normalizeH="0" baseline="0" noProof="0">
                          <a:ln>
                            <a:noFill/>
                          </a:ln>
                          <a:solidFill>
                            <a:srgbClr val="0A2F24"/>
                          </a:solidFill>
                          <a:effectLst/>
                          <a:uLnTx/>
                          <a:uFillTx/>
                          <a:latin typeface="+mn-lt"/>
                          <a:ea typeface="+mn-ea"/>
                          <a:cs typeface="+mn-cs"/>
                        </a:rPr>
                        <a:t> schema </a:t>
                      </a:r>
                      <a:r>
                        <a:rPr kumimoji="0" lang="pl-PL" sz="1000" b="0" i="0" u="none" strike="noStrike" kern="1200" cap="none" spc="0" normalizeH="0" baseline="0" noProof="0">
                          <a:ln>
                            <a:noFill/>
                          </a:ln>
                          <a:solidFill>
                            <a:srgbClr val="0A2F24"/>
                          </a:solidFill>
                          <a:effectLst/>
                          <a:uLnTx/>
                          <a:uFillTx/>
                          <a:latin typeface="+mn-lt"/>
                          <a:ea typeface="+mn-ea"/>
                          <a:cs typeface="+mn-cs"/>
                        </a:rPr>
                        <a:t>&amp;</a:t>
                      </a:r>
                      <a:r>
                        <a:rPr kumimoji="0" lang="en-US" sz="1000" b="0" i="0" u="none" strike="noStrike" kern="1200" cap="none" spc="0" normalizeH="0" baseline="0" noProof="0">
                          <a:ln>
                            <a:noFill/>
                          </a:ln>
                          <a:solidFill>
                            <a:srgbClr val="0A2F24"/>
                          </a:solidFill>
                          <a:effectLst/>
                          <a:uLnTx/>
                          <a:uFillTx/>
                          <a:latin typeface="+mn-lt"/>
                          <a:ea typeface="+mn-ea"/>
                          <a:cs typeface="+mn-cs"/>
                        </a:rPr>
                        <a:t> HTML transcript</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2948201"/>
                  </a:ext>
                </a:extLst>
              </a:tr>
            </a:tbl>
          </a:graphicData>
        </a:graphic>
      </p:graphicFrame>
      <p:sp>
        <p:nvSpPr>
          <p:cNvPr id="8" name="TextBox 7">
            <a:extLst>
              <a:ext uri="{FF2B5EF4-FFF2-40B4-BE49-F238E27FC236}">
                <a16:creationId xmlns:a16="http://schemas.microsoft.com/office/drawing/2014/main" id="{BD51D39B-7C9E-ACCA-9F75-0ECEB715CF51}"/>
              </a:ext>
            </a:extLst>
          </p:cNvPr>
          <p:cNvSpPr txBox="1"/>
          <p:nvPr/>
        </p:nvSpPr>
        <p:spPr>
          <a:xfrm>
            <a:off x="342899" y="4843754"/>
            <a:ext cx="5158741" cy="107722"/>
          </a:xfrm>
          <a:prstGeom prst="rect">
            <a:avLst/>
          </a:prstGeom>
        </p:spPr>
        <p:txBody>
          <a:bodyPr vert="horz" wrap="square" lIns="0" tIns="0" rIns="0" bIns="0" rtlCol="0">
            <a:spAutoFit/>
          </a:bodyPr>
          <a:lstStyle/>
          <a:p>
            <a:pPr algn="l"/>
            <a:r>
              <a:rPr lang="pl-PL" sz="700"/>
              <a:t>*For schema markup explenation and other Technical GEO activities please visit </a:t>
            </a:r>
            <a:r>
              <a:rPr lang="pl-PL" sz="700">
                <a:hlinkClick r:id="rId3"/>
              </a:rPr>
              <a:t>Chapter 14 </a:t>
            </a:r>
            <a:r>
              <a:rPr lang="pl-PL" sz="700"/>
              <a:t>of this Toolkit.</a:t>
            </a:r>
          </a:p>
        </p:txBody>
      </p:sp>
    </p:spTree>
    <p:extLst>
      <p:ext uri="{BB962C8B-B14F-4D97-AF65-F5344CB8AC3E}">
        <p14:creationId xmlns:p14="http://schemas.microsoft.com/office/powerpoint/2010/main" val="3174010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67A42-F4C5-4818-6630-754A99EB1E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FD5873-D0DA-1F7D-6F92-98E3B52127A3}"/>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411A8DAF-6607-FDEB-363A-C5C587A1291F}"/>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Video Production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75D792AA-AB46-A976-B03F-157C962B0BDB}"/>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Core best practices and strategies.</a:t>
            </a:r>
            <a:endParaRPr lang="en-US" sz="1100">
              <a:solidFill>
                <a:schemeClr val="accent5"/>
              </a:solidFill>
              <a:cs typeface="Arial"/>
            </a:endParaRPr>
          </a:p>
        </p:txBody>
      </p:sp>
      <p:graphicFrame>
        <p:nvGraphicFramePr>
          <p:cNvPr id="6" name="Table 5">
            <a:extLst>
              <a:ext uri="{FF2B5EF4-FFF2-40B4-BE49-F238E27FC236}">
                <a16:creationId xmlns:a16="http://schemas.microsoft.com/office/drawing/2014/main" id="{72B92CAA-A9E1-7D7C-6E41-10271E148BC5}"/>
              </a:ext>
            </a:extLst>
          </p:cNvPr>
          <p:cNvGraphicFramePr>
            <a:graphicFrameLocks noGrp="1"/>
          </p:cNvGraphicFramePr>
          <p:nvPr>
            <p:extLst>
              <p:ext uri="{D42A27DB-BD31-4B8C-83A1-F6EECF244321}">
                <p14:modId xmlns:p14="http://schemas.microsoft.com/office/powerpoint/2010/main" val="2147426302"/>
              </p:ext>
            </p:extLst>
          </p:nvPr>
        </p:nvGraphicFramePr>
        <p:xfrm>
          <a:off x="371361" y="1554099"/>
          <a:ext cx="8401050" cy="2816043"/>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1082219581"/>
                    </a:ext>
                  </a:extLst>
                </a:gridCol>
                <a:gridCol w="2800350">
                  <a:extLst>
                    <a:ext uri="{9D8B030D-6E8A-4147-A177-3AD203B41FA5}">
                      <a16:colId xmlns:a16="http://schemas.microsoft.com/office/drawing/2014/main" val="1617026272"/>
                    </a:ext>
                  </a:extLst>
                </a:gridCol>
                <a:gridCol w="2800350">
                  <a:extLst>
                    <a:ext uri="{9D8B030D-6E8A-4147-A177-3AD203B41FA5}">
                      <a16:colId xmlns:a16="http://schemas.microsoft.com/office/drawing/2014/main" val="3755517844"/>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Action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Definition</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Logic</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1" i="0" u="none" strike="noStrike" kern="1200" cap="none" spc="0" normalizeH="0" baseline="0" noProof="0">
                          <a:ln>
                            <a:noFill/>
                          </a:ln>
                          <a:solidFill>
                            <a:srgbClr val="0A2F24"/>
                          </a:solidFill>
                          <a:effectLst/>
                          <a:uLnTx/>
                          <a:uFillTx/>
                          <a:latin typeface="+mn-lt"/>
                          <a:ea typeface="+mn-ea"/>
                          <a:cs typeface="+mn-cs"/>
                        </a:rPr>
                        <a:t>Choose the right video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Prioritize: tutorials, how-to, FAQs, comparisons, case studies, expert insights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These formats match user intent and are easier for AI/LLMs to retrieve, summarize, and recommend</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Structure content (chapters </a:t>
                      </a:r>
                      <a:r>
                        <a:rPr kumimoji="0" lang="pl-PL" sz="1000" b="1" i="0" u="none" strike="noStrike" kern="1200" cap="none" spc="0" normalizeH="0" baseline="0" noProof="0">
                          <a:ln>
                            <a:noFill/>
                          </a:ln>
                          <a:solidFill>
                            <a:srgbClr val="0A2F24"/>
                          </a:solidFill>
                          <a:effectLst/>
                          <a:uLnTx/>
                          <a:uFillTx/>
                          <a:latin typeface="+mn-lt"/>
                          <a:ea typeface="+mn-ea"/>
                          <a:cs typeface="+mn-cs"/>
                        </a:rPr>
                        <a:t>and</a:t>
                      </a:r>
                      <a:r>
                        <a:rPr kumimoji="0" lang="en-US" sz="1000" b="1" i="0" u="none" strike="noStrike" kern="1200" cap="none" spc="0" normalizeH="0" baseline="0" noProof="0">
                          <a:ln>
                            <a:noFill/>
                          </a:ln>
                          <a:solidFill>
                            <a:srgbClr val="0A2F24"/>
                          </a:solidFill>
                          <a:effectLst/>
                          <a:uLnTx/>
                          <a:uFillTx/>
                          <a:latin typeface="+mn-lt"/>
                          <a:ea typeface="+mn-ea"/>
                          <a:cs typeface="+mn-cs"/>
                        </a:rPr>
                        <a:t> narrative)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Script videos with clear sections:</a:t>
                      </a:r>
                      <a:br>
                        <a:rPr kumimoji="0" lang="en-US" sz="1000" b="0" i="0" u="none" strike="noStrike" kern="1200" cap="none" spc="0" normalizeH="0" baseline="0" noProof="0">
                          <a:ln>
                            <a:noFill/>
                          </a:ln>
                          <a:solidFill>
                            <a:srgbClr val="0A2F24"/>
                          </a:solidFill>
                          <a:effectLst/>
                          <a:uLnTx/>
                          <a:uFillTx/>
                          <a:latin typeface="+mn-lt"/>
                          <a:ea typeface="+mn-ea"/>
                          <a:cs typeface="+mn-cs"/>
                        </a:rPr>
                      </a:br>
                      <a:r>
                        <a:rPr kumimoji="0" lang="en-US" sz="1000" b="0" i="0" u="none" strike="noStrike" kern="1200" cap="none" spc="0" normalizeH="0" baseline="0" noProof="0">
                          <a:ln>
                            <a:noFill/>
                          </a:ln>
                          <a:solidFill>
                            <a:srgbClr val="0A2F24"/>
                          </a:solidFill>
                          <a:effectLst/>
                          <a:uLnTx/>
                          <a:uFillTx/>
                          <a:latin typeface="+mn-lt"/>
                          <a:ea typeface="+mn-ea"/>
                          <a:cs typeface="+mn-cs"/>
                        </a:rPr>
                        <a:t>intro, problem, solution, recap.</a:t>
                      </a:r>
                      <a:br>
                        <a:rPr kumimoji="0" lang="en-US" sz="1000" b="0" i="0" u="none" strike="noStrike" kern="1200" cap="none" spc="0" normalizeH="0" baseline="0" noProof="0">
                          <a:ln>
                            <a:noFill/>
                          </a:ln>
                          <a:solidFill>
                            <a:srgbClr val="0A2F24"/>
                          </a:solidFill>
                          <a:effectLst/>
                          <a:uLnTx/>
                          <a:uFillTx/>
                          <a:latin typeface="+mn-lt"/>
                          <a:ea typeface="+mn-ea"/>
                          <a:cs typeface="+mn-cs"/>
                        </a:rPr>
                      </a:br>
                      <a:r>
                        <a:rPr kumimoji="0" lang="en-US" sz="1000" b="0" i="0" u="none" strike="noStrike" kern="1200" cap="none" spc="0" normalizeH="0" baseline="0" noProof="0">
                          <a:ln>
                            <a:noFill/>
                          </a:ln>
                          <a:solidFill>
                            <a:srgbClr val="0A2F24"/>
                          </a:solidFill>
                          <a:effectLst/>
                          <a:uLnTx/>
                          <a:uFillTx/>
                          <a:latin typeface="+mn-lt"/>
                          <a:ea typeface="+mn-ea"/>
                          <a:cs typeface="+mn-cs"/>
                        </a:rPr>
                        <a:t>Use chapters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Structured content improves AI comprehension, chunking, and citation in answers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1" i="0" u="none" strike="noStrike" kern="1200" cap="none" spc="0" normalizeH="0" baseline="0">
                          <a:ln>
                            <a:noFill/>
                          </a:ln>
                          <a:solidFill>
                            <a:srgbClr val="0A2F24"/>
                          </a:solidFill>
                          <a:effectLst/>
                          <a:uLnTx/>
                          <a:uFillTx/>
                          <a:latin typeface="+mn-lt"/>
                          <a:ea typeface="+mn-ea"/>
                          <a:cs typeface="+mn-cs"/>
                        </a:rPr>
                        <a:t>Answer First Introduction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State the problem </a:t>
                      </a:r>
                      <a:r>
                        <a:rPr kumimoji="0" lang="pl-PL" sz="1000" b="0" i="0" u="none" strike="noStrike" kern="1200" cap="none" spc="0" normalizeH="0" baseline="0">
                          <a:ln>
                            <a:noFill/>
                          </a:ln>
                          <a:solidFill>
                            <a:srgbClr val="0A2F24"/>
                          </a:solidFill>
                          <a:effectLst/>
                          <a:uLnTx/>
                          <a:uFillTx/>
                          <a:latin typeface="+mn-lt"/>
                          <a:ea typeface="+mn-ea"/>
                          <a:cs typeface="+mn-cs"/>
                        </a:rPr>
                        <a:t>and</a:t>
                      </a:r>
                      <a:r>
                        <a:rPr kumimoji="0" lang="en-US" sz="1000" b="0" i="0" u="none" strike="noStrike" kern="1200" cap="none" spc="0" normalizeH="0" baseline="0">
                          <a:ln>
                            <a:noFill/>
                          </a:ln>
                          <a:solidFill>
                            <a:srgbClr val="0A2F24"/>
                          </a:solidFill>
                          <a:effectLst/>
                          <a:uLnTx/>
                          <a:uFillTx/>
                          <a:latin typeface="+mn-lt"/>
                          <a:ea typeface="+mn-ea"/>
                          <a:cs typeface="+mn-cs"/>
                        </a:rPr>
                        <a:t> give a short answer within the first 30–90 seconds (depends on video duration)</a:t>
                      </a:r>
                      <a:r>
                        <a:rPr kumimoji="0" lang="pl-PL" sz="1000" b="0" i="0" u="none" strike="noStrike" kern="1200" cap="none" spc="0" normalizeH="0" baseline="0">
                          <a:ln>
                            <a:noFill/>
                          </a:ln>
                          <a:solidFill>
                            <a:srgbClr val="0A2F24"/>
                          </a:solidFill>
                          <a:effectLst/>
                          <a:uLnTx/>
                          <a:uFillTx/>
                          <a:latin typeface="+mn-lt"/>
                          <a:ea typeface="+mn-ea"/>
                          <a:cs typeface="+mn-cs"/>
                        </a:rPr>
                        <a:t>.</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Matches AI answer-first logic </a:t>
                      </a:r>
                      <a:r>
                        <a:rPr kumimoji="0" lang="pl-PL" sz="1000" b="0" i="0" u="none" strike="noStrike" kern="1200" cap="none" spc="0" normalizeH="0" baseline="0">
                          <a:ln>
                            <a:noFill/>
                          </a:ln>
                          <a:solidFill>
                            <a:srgbClr val="0A2F24"/>
                          </a:solidFill>
                          <a:effectLst/>
                          <a:uLnTx/>
                          <a:uFillTx/>
                          <a:latin typeface="+mn-lt"/>
                          <a:ea typeface="+mn-ea"/>
                          <a:cs typeface="+mn-cs"/>
                        </a:rPr>
                        <a:t>-</a:t>
                      </a:r>
                      <a:r>
                        <a:rPr kumimoji="0" lang="en-US" sz="1000" b="0" i="0" u="none" strike="noStrike" kern="1200" cap="none" spc="0" normalizeH="0" baseline="0">
                          <a:ln>
                            <a:noFill/>
                          </a:ln>
                          <a:solidFill>
                            <a:srgbClr val="0A2F24"/>
                          </a:solidFill>
                          <a:effectLst/>
                          <a:uLnTx/>
                          <a:uFillTx/>
                          <a:latin typeface="+mn-lt"/>
                          <a:ea typeface="+mn-ea"/>
                          <a:cs typeface="+mn-cs"/>
                        </a:rPr>
                        <a:t> increases chances of being surfaced in AI-generated answers</a:t>
                      </a:r>
                      <a:r>
                        <a:rPr kumimoji="0" lang="pl-PL" sz="1000" b="0" i="0" u="none" strike="noStrike" kern="1200" cap="none" spc="0" normalizeH="0" baseline="0">
                          <a:ln>
                            <a:noFill/>
                          </a:ln>
                          <a:solidFill>
                            <a:srgbClr val="0A2F24"/>
                          </a:solidFill>
                          <a:effectLst/>
                          <a:uLnTx/>
                          <a:uFillTx/>
                          <a:latin typeface="+mn-lt"/>
                          <a:ea typeface="+mn-ea"/>
                          <a:cs typeface="+mn-cs"/>
                        </a:rPr>
                        <a:t>.</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821531">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Add voice-over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Include spoken narration (human or AI)</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Voice over can generate subtitles automatically by You</a:t>
                      </a:r>
                      <a:r>
                        <a:rPr kumimoji="0" lang="pl-PL" sz="1000" b="0" i="0" u="none" strike="noStrike" kern="1200" cap="none" spc="0" normalizeH="0" baseline="0" noProof="0">
                          <a:ln>
                            <a:noFill/>
                          </a:ln>
                          <a:solidFill>
                            <a:srgbClr val="0A2F24"/>
                          </a:solidFill>
                          <a:effectLst/>
                          <a:uLnTx/>
                          <a:uFillTx/>
                          <a:latin typeface="+mn-lt"/>
                          <a:ea typeface="+mn-ea"/>
                          <a:cs typeface="+mn-cs"/>
                        </a:rPr>
                        <a:t>T</a:t>
                      </a:r>
                      <a:r>
                        <a:rPr kumimoji="0" lang="en-US" sz="1000" b="0" i="0" u="none" strike="noStrike" kern="1200" cap="none" spc="0" normalizeH="0" baseline="0" noProof="0">
                          <a:ln>
                            <a:noFill/>
                          </a:ln>
                          <a:solidFill>
                            <a:srgbClr val="0A2F24"/>
                          </a:solidFill>
                          <a:effectLst/>
                          <a:uLnTx/>
                          <a:uFillTx/>
                          <a:latin typeface="+mn-lt"/>
                          <a:ea typeface="+mn-ea"/>
                          <a:cs typeface="+mn-cs"/>
                        </a:rPr>
                        <a:t>ube or through </a:t>
                      </a:r>
                      <a:r>
                        <a:rPr kumimoji="0" lang="en-US" sz="1000" b="0" i="1" u="none" strike="noStrike" kern="1200" cap="none" spc="0" normalizeH="0" baseline="0" noProof="0">
                          <a:ln>
                            <a:noFill/>
                          </a:ln>
                          <a:solidFill>
                            <a:srgbClr val="0A2F24"/>
                          </a:solidFill>
                          <a:effectLst/>
                          <a:uLnTx/>
                          <a:uFillTx/>
                          <a:latin typeface="+mn-lt"/>
                          <a:ea typeface="+mn-ea"/>
                          <a:cs typeface="+mn-cs"/>
                        </a:rPr>
                        <a:t>.</a:t>
                      </a:r>
                      <a:r>
                        <a:rPr kumimoji="0" lang="en-US" sz="1000" b="0" i="1" u="none" strike="noStrike" kern="1200" cap="none" spc="0" normalizeH="0" baseline="0" noProof="0" err="1">
                          <a:ln>
                            <a:noFill/>
                          </a:ln>
                          <a:solidFill>
                            <a:srgbClr val="0A2F24"/>
                          </a:solidFill>
                          <a:effectLst/>
                          <a:uLnTx/>
                          <a:uFillTx/>
                          <a:latin typeface="+mn-lt"/>
                          <a:ea typeface="+mn-ea"/>
                          <a:cs typeface="+mn-cs"/>
                        </a:rPr>
                        <a:t>srt</a:t>
                      </a:r>
                      <a:r>
                        <a:rPr kumimoji="0" lang="en-US" sz="1000" b="0" i="1"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file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to be uploaded on You</a:t>
                      </a:r>
                      <a:r>
                        <a:rPr kumimoji="0" lang="pl-PL" sz="1000" b="0" i="0" u="none" strike="noStrike" kern="1200" cap="none" spc="0" normalizeH="0" baseline="0" noProof="0">
                          <a:ln>
                            <a:noFill/>
                          </a:ln>
                          <a:solidFill>
                            <a:srgbClr val="0A2F24"/>
                          </a:solidFill>
                          <a:effectLst/>
                          <a:uLnTx/>
                          <a:uFillTx/>
                          <a:latin typeface="+mn-lt"/>
                          <a:ea typeface="+mn-ea"/>
                          <a:cs typeface="+mn-cs"/>
                        </a:rPr>
                        <a:t>T</a:t>
                      </a:r>
                      <a:r>
                        <a:rPr kumimoji="0" lang="en-US" sz="1000" b="0" i="0" u="none" strike="noStrike" kern="1200" cap="none" spc="0" normalizeH="0" baseline="0" noProof="0">
                          <a:ln>
                            <a:noFill/>
                          </a:ln>
                          <a:solidFill>
                            <a:srgbClr val="0A2F24"/>
                          </a:solidFill>
                          <a:effectLst/>
                          <a:uLnTx/>
                          <a:uFillTx/>
                          <a:latin typeface="+mn-lt"/>
                          <a:ea typeface="+mn-ea"/>
                          <a:cs typeface="+mn-cs"/>
                        </a:rPr>
                        <a:t>ube). It makes content indexable by </a:t>
                      </a:r>
                      <a:r>
                        <a:rPr kumimoji="0" lang="pl-PL" sz="1000" b="0" i="0" u="none" strike="noStrike" kern="1200" cap="none" spc="0" normalizeH="0" baseline="0" noProof="0">
                          <a:ln>
                            <a:noFill/>
                          </a:ln>
                          <a:solidFill>
                            <a:srgbClr val="0A2F24"/>
                          </a:solidFill>
                          <a:effectLst/>
                          <a:uLnTx/>
                          <a:uFillTx/>
                          <a:latin typeface="+mn-lt"/>
                          <a:ea typeface="+mn-ea"/>
                          <a:cs typeface="+mn-cs"/>
                        </a:rPr>
                        <a:t>S</a:t>
                      </a:r>
                      <a:r>
                        <a:rPr kumimoji="0" lang="en-US" sz="1000" b="0" i="0" u="none" strike="noStrike" kern="1200" cap="none" spc="0" normalizeH="0" baseline="0" noProof="0" err="1">
                          <a:ln>
                            <a:noFill/>
                          </a:ln>
                          <a:solidFill>
                            <a:srgbClr val="0A2F24"/>
                          </a:solidFill>
                          <a:effectLst/>
                          <a:uLnTx/>
                          <a:uFillTx/>
                          <a:latin typeface="+mn-lt"/>
                          <a:ea typeface="+mn-ea"/>
                          <a:cs typeface="+mn-cs"/>
                        </a:rPr>
                        <a:t>earch</a:t>
                      </a:r>
                      <a:r>
                        <a:rPr kumimoji="0" lang="en-US" sz="1000" b="0"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E</a:t>
                      </a:r>
                      <a:r>
                        <a:rPr kumimoji="0" lang="en-US" sz="1000" b="0" i="0" u="none" strike="noStrike" kern="1200" cap="none" spc="0" normalizeH="0" baseline="0" noProof="0" err="1">
                          <a:ln>
                            <a:noFill/>
                          </a:ln>
                          <a:solidFill>
                            <a:srgbClr val="0A2F24"/>
                          </a:solidFill>
                          <a:effectLst/>
                          <a:uLnTx/>
                          <a:uFillTx/>
                          <a:latin typeface="+mn-lt"/>
                          <a:ea typeface="+mn-ea"/>
                          <a:cs typeface="+mn-cs"/>
                        </a:rPr>
                        <a:t>ngines</a:t>
                      </a:r>
                      <a:r>
                        <a:rPr kumimoji="0" lang="en-US" sz="1000" b="0"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and</a:t>
                      </a:r>
                      <a:r>
                        <a:rPr kumimoji="0" lang="en-US" sz="1000" b="0" i="0" u="none" strike="noStrike" kern="1200" cap="none" spc="0" normalizeH="0" baseline="0" noProof="0">
                          <a:ln>
                            <a:noFill/>
                          </a:ln>
                          <a:solidFill>
                            <a:srgbClr val="0A2F24"/>
                          </a:solidFill>
                          <a:effectLst/>
                          <a:uLnTx/>
                          <a:uFillTx/>
                          <a:latin typeface="+mn-lt"/>
                          <a:ea typeface="+mn-ea"/>
                          <a:cs typeface="+mn-cs"/>
                        </a:rPr>
                        <a:t> LLMs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bl>
          </a:graphicData>
        </a:graphic>
      </p:graphicFrame>
      <p:sp>
        <p:nvSpPr>
          <p:cNvPr id="5" name="Footer Placeholder 4">
            <a:extLst>
              <a:ext uri="{FF2B5EF4-FFF2-40B4-BE49-F238E27FC236}">
                <a16:creationId xmlns:a16="http://schemas.microsoft.com/office/drawing/2014/main" id="{37C45655-CEB4-55BD-AEC1-C0A16828C033}"/>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7" name="Slide Number Placeholder 5">
            <a:extLst>
              <a:ext uri="{FF2B5EF4-FFF2-40B4-BE49-F238E27FC236}">
                <a16:creationId xmlns:a16="http://schemas.microsoft.com/office/drawing/2014/main" id="{1EBF2292-146F-B594-E4C7-35D911CDD4BA}"/>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48</a:t>
            </a:fld>
            <a:endParaRPr lang="en-US"/>
          </a:p>
        </p:txBody>
      </p:sp>
    </p:spTree>
    <p:extLst>
      <p:ext uri="{BB962C8B-B14F-4D97-AF65-F5344CB8AC3E}">
        <p14:creationId xmlns:p14="http://schemas.microsoft.com/office/powerpoint/2010/main" val="14983117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CFBDD-750D-F093-F273-B18306FCB70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FDB72CA-8EDB-C7B7-2991-535929614712}"/>
              </a:ext>
            </a:extLst>
          </p:cNvPr>
          <p:cNvSpPr/>
          <p:nvPr/>
        </p:nvSpPr>
        <p:spPr>
          <a:xfrm>
            <a:off x="7481455" y="4537364"/>
            <a:ext cx="1662317" cy="606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F1666E9F-5845-C62B-EBDE-85F4BE7FAF84}"/>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40C9751F-333E-9AAF-35E7-B549B12D8545}"/>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Video Production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779BEAF2-122E-947D-B15F-02798FC088A3}"/>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Style of your narrative.</a:t>
            </a:r>
            <a:endParaRPr lang="en-US" sz="1100">
              <a:solidFill>
                <a:schemeClr val="accent5"/>
              </a:solidFill>
              <a:cs typeface="Arial"/>
            </a:endParaRPr>
          </a:p>
        </p:txBody>
      </p:sp>
      <p:graphicFrame>
        <p:nvGraphicFramePr>
          <p:cNvPr id="6" name="Table 5">
            <a:extLst>
              <a:ext uri="{FF2B5EF4-FFF2-40B4-BE49-F238E27FC236}">
                <a16:creationId xmlns:a16="http://schemas.microsoft.com/office/drawing/2014/main" id="{0E1B5318-9C39-D885-D0D7-B4C96D2A8EFC}"/>
              </a:ext>
            </a:extLst>
          </p:cNvPr>
          <p:cNvGraphicFramePr>
            <a:graphicFrameLocks noGrp="1"/>
          </p:cNvGraphicFramePr>
          <p:nvPr>
            <p:extLst>
              <p:ext uri="{D42A27DB-BD31-4B8C-83A1-F6EECF244321}">
                <p14:modId xmlns:p14="http://schemas.microsoft.com/office/powerpoint/2010/main" val="2205283246"/>
              </p:ext>
            </p:extLst>
          </p:nvPr>
        </p:nvGraphicFramePr>
        <p:xfrm>
          <a:off x="371361" y="1220724"/>
          <a:ext cx="8401050" cy="3689138"/>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1082219581"/>
                    </a:ext>
                  </a:extLst>
                </a:gridCol>
                <a:gridCol w="2800350">
                  <a:extLst>
                    <a:ext uri="{9D8B030D-6E8A-4147-A177-3AD203B41FA5}">
                      <a16:colId xmlns:a16="http://schemas.microsoft.com/office/drawing/2014/main" val="1617026272"/>
                    </a:ext>
                  </a:extLst>
                </a:gridCol>
                <a:gridCol w="2800350">
                  <a:extLst>
                    <a:ext uri="{9D8B030D-6E8A-4147-A177-3AD203B41FA5}">
                      <a16:colId xmlns:a16="http://schemas.microsoft.com/office/drawing/2014/main" val="3755517844"/>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Action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Definition</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Logic</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1" i="0" u="none" strike="noStrike" kern="1200" cap="none" spc="0" normalizeH="0" baseline="0" noProof="0">
                          <a:ln>
                            <a:noFill/>
                          </a:ln>
                          <a:solidFill>
                            <a:srgbClr val="0A2F24"/>
                          </a:solidFill>
                          <a:effectLst/>
                          <a:uLnTx/>
                          <a:uFillTx/>
                          <a:latin typeface="+mn-lt"/>
                          <a:ea typeface="+mn-ea"/>
                          <a:cs typeface="+mn-cs"/>
                        </a:rPr>
                        <a:t>Use conversational language (NEW)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Write as if answering a question naturally (</a:t>
                      </a:r>
                      <a:r>
                        <a:rPr kumimoji="0" lang="pl-PL" sz="1000" b="0" i="0" u="none" strike="noStrike" kern="1200" cap="none" spc="0" normalizeH="0" baseline="0" noProof="0">
                          <a:ln>
                            <a:noFill/>
                          </a:ln>
                          <a:solidFill>
                            <a:srgbClr val="0A2F24"/>
                          </a:solidFill>
                          <a:effectLst/>
                          <a:uLnTx/>
                          <a:uFillTx/>
                          <a:latin typeface="+mn-lt"/>
                          <a:ea typeface="+mn-ea"/>
                          <a:cs typeface="+mn-cs"/>
                        </a:rPr>
                        <a:t>neutral</a:t>
                      </a:r>
                      <a:r>
                        <a:rPr kumimoji="0" lang="en-US" sz="1000" b="0" i="0" u="none" strike="noStrike" kern="1200" cap="none" spc="0" normalizeH="0" baseline="0" noProof="0">
                          <a:ln>
                            <a:noFill/>
                          </a:ln>
                          <a:solidFill>
                            <a:srgbClr val="0A2F24"/>
                          </a:solidFill>
                          <a:effectLst/>
                          <a:uLnTx/>
                          <a:uFillTx/>
                          <a:latin typeface="+mn-lt"/>
                          <a:ea typeface="+mn-ea"/>
                          <a:cs typeface="+mn-cs"/>
                        </a:rPr>
                        <a:t> tone)</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To align with voice search &amp; AI queries (prompt-style interactions)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1" i="0" u="none" strike="noStrike" kern="1200" cap="none" spc="0" normalizeH="0" baseline="0" noProof="0">
                          <a:ln>
                            <a:noFill/>
                          </a:ln>
                          <a:solidFill>
                            <a:srgbClr val="0A2F24"/>
                          </a:solidFill>
                          <a:effectLst/>
                          <a:uLnTx/>
                          <a:uFillTx/>
                          <a:latin typeface="+mn-lt"/>
                          <a:ea typeface="+mn-ea"/>
                          <a:cs typeface="+mn-cs"/>
                        </a:rPr>
                        <a:t>Use natural language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Use simple, clear, everyday language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avoid jargon and complex sentences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AI understands better content that is easy to read and close to how people actually speak</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Create explicit &amp; self-contained sentences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Avoid implicit references (</a:t>
                      </a:r>
                      <a:r>
                        <a:rPr kumimoji="0" lang="pl-PL" sz="1000" b="0" i="0" u="none" strike="noStrike" kern="1200" cap="none" spc="0" normalizeH="0" baseline="0" noProof="0">
                          <a:ln>
                            <a:noFill/>
                          </a:ln>
                          <a:solidFill>
                            <a:srgbClr val="0A2F24"/>
                          </a:solidFill>
                          <a:effectLst/>
                          <a:uLnTx/>
                          <a:uFillTx/>
                          <a:latin typeface="+mn-lt"/>
                          <a:ea typeface="+mn-ea"/>
                          <a:cs typeface="+mn-cs"/>
                        </a:rPr>
                        <a:t>e.g. </a:t>
                      </a:r>
                      <a:r>
                        <a:rPr kumimoji="0" lang="en-US" sz="1000" b="0" i="0" u="none" strike="noStrike" kern="1200" cap="none" spc="0" normalizeH="0" baseline="0" noProof="0">
                          <a:ln>
                            <a:noFill/>
                          </a:ln>
                          <a:solidFill>
                            <a:srgbClr val="0A2F24"/>
                          </a:solidFill>
                          <a:effectLst/>
                          <a:uLnTx/>
                          <a:uFillTx/>
                          <a:latin typeface="+mn-lt"/>
                          <a:ea typeface="+mn-ea"/>
                          <a:cs typeface="+mn-cs"/>
                        </a:rPr>
                        <a:t>“</a:t>
                      </a:r>
                      <a:r>
                        <a:rPr kumimoji="0" lang="en-US" sz="1000" b="0" i="1" u="none" strike="noStrike" kern="1200" cap="none" spc="0" normalizeH="0" baseline="0" noProof="0">
                          <a:ln>
                            <a:noFill/>
                          </a:ln>
                          <a:solidFill>
                            <a:srgbClr val="0A2F24"/>
                          </a:solidFill>
                          <a:effectLst/>
                          <a:uLnTx/>
                          <a:uFillTx/>
                          <a:latin typeface="+mn-lt"/>
                          <a:ea typeface="+mn-ea"/>
                          <a:cs typeface="+mn-cs"/>
                        </a:rPr>
                        <a:t>as seen before</a:t>
                      </a:r>
                      <a:r>
                        <a:rPr kumimoji="0" lang="en-US" sz="1000" b="0" i="0" u="none" strike="noStrike" kern="1200" cap="none" spc="0" normalizeH="0" baseline="0" noProof="0">
                          <a:ln>
                            <a:noFill/>
                          </a:ln>
                          <a:solidFill>
                            <a:srgbClr val="0A2F24"/>
                          </a:solidFill>
                          <a:effectLst/>
                          <a:uLnTx/>
                          <a:uFillTx/>
                          <a:latin typeface="+mn-lt"/>
                          <a:ea typeface="+mn-ea"/>
                          <a:cs typeface="+mn-cs"/>
                        </a:rPr>
                        <a:t>”), be precise and standalone</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Helps LLMs extract clear, context-independent facts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Use fact-based messaging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Include data points, metrics, named examples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Improves credibility signals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boosts likelihood of being cited by AI</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Ensure terminology 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Use correct technical terms, product names, and spelling</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To avoid misinterpretation by AI models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127397572"/>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Include a clear summary/recap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End video with key takeaways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To help AI generate concise summaries and highlights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233675"/>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Avoid Clickbait titles/statements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Clickbait introduces misleading topic, exaggerated claims, vague or ambiguous wording. This content attracts clicks but does not deliver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To avoid mismatch between promise (metadata) and actual content</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and to not damage You</a:t>
                      </a:r>
                      <a:r>
                        <a:rPr kumimoji="0" lang="pl-PL" sz="1000" b="0" i="0" u="none" strike="noStrike" kern="1200" cap="none" spc="0" normalizeH="0" baseline="0" noProof="0">
                          <a:ln>
                            <a:noFill/>
                          </a:ln>
                          <a:solidFill>
                            <a:srgbClr val="0A2F24"/>
                          </a:solidFill>
                          <a:effectLst/>
                          <a:uLnTx/>
                          <a:uFillTx/>
                          <a:latin typeface="+mn-lt"/>
                          <a:ea typeface="+mn-ea"/>
                          <a:cs typeface="+mn-cs"/>
                        </a:rPr>
                        <a:t>T</a:t>
                      </a:r>
                      <a:r>
                        <a:rPr kumimoji="0" lang="en-US" sz="1000" b="0" i="0" u="none" strike="noStrike" kern="1200" cap="none" spc="0" normalizeH="0" baseline="0" noProof="0">
                          <a:ln>
                            <a:noFill/>
                          </a:ln>
                          <a:solidFill>
                            <a:srgbClr val="0A2F24"/>
                          </a:solidFill>
                          <a:effectLst/>
                          <a:uLnTx/>
                          <a:uFillTx/>
                          <a:latin typeface="+mn-lt"/>
                          <a:ea typeface="+mn-ea"/>
                          <a:cs typeface="+mn-cs"/>
                        </a:rPr>
                        <a:t>ube performance signal and Trust signal</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54457918"/>
                  </a:ext>
                </a:extLst>
              </a:tr>
            </a:tbl>
          </a:graphicData>
        </a:graphic>
      </p:graphicFrame>
    </p:spTree>
    <p:extLst>
      <p:ext uri="{BB962C8B-B14F-4D97-AF65-F5344CB8AC3E}">
        <p14:creationId xmlns:p14="http://schemas.microsoft.com/office/powerpoint/2010/main" val="23040199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F6B0-DF76-3E14-F9DF-6B7E74F649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6F01E6-96A3-A9A7-1553-3FD9B0C2069F}"/>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853F84E2-2F63-74E1-74A2-6D970942B2AA}"/>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Video Production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71F04069-7486-57BB-361D-8324448E9A2C}"/>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Actions only </a:t>
            </a:r>
            <a:r>
              <a:rPr lang="en-US" sz="1100">
                <a:solidFill>
                  <a:schemeClr val="accent5"/>
                </a:solidFill>
                <a:cs typeface="Arial"/>
              </a:rPr>
              <a:t>for LLM</a:t>
            </a:r>
            <a:r>
              <a:rPr lang="pl-PL" sz="1100">
                <a:solidFill>
                  <a:schemeClr val="accent5"/>
                </a:solidFill>
                <a:cs typeface="Arial"/>
              </a:rPr>
              <a:t>s*</a:t>
            </a:r>
            <a:r>
              <a:rPr lang="en-US" sz="1100">
                <a:solidFill>
                  <a:schemeClr val="accent5"/>
                </a:solidFill>
                <a:cs typeface="Arial"/>
              </a:rPr>
              <a:t> which can analyze video as images</a:t>
            </a:r>
            <a:r>
              <a:rPr lang="pl-PL" sz="1100">
                <a:solidFill>
                  <a:schemeClr val="accent5"/>
                </a:solidFill>
                <a:cs typeface="Arial"/>
              </a:rPr>
              <a:t>. </a:t>
            </a:r>
            <a:endParaRPr lang="en-US" sz="1100">
              <a:solidFill>
                <a:schemeClr val="accent5"/>
              </a:solidFill>
              <a:cs typeface="Arial"/>
            </a:endParaRPr>
          </a:p>
        </p:txBody>
      </p:sp>
      <p:graphicFrame>
        <p:nvGraphicFramePr>
          <p:cNvPr id="6" name="Table 5">
            <a:extLst>
              <a:ext uri="{FF2B5EF4-FFF2-40B4-BE49-F238E27FC236}">
                <a16:creationId xmlns:a16="http://schemas.microsoft.com/office/drawing/2014/main" id="{AE5082E5-70F6-65A1-F0F3-B28743C75D79}"/>
              </a:ext>
            </a:extLst>
          </p:cNvPr>
          <p:cNvGraphicFramePr>
            <a:graphicFrameLocks noGrp="1"/>
          </p:cNvGraphicFramePr>
          <p:nvPr>
            <p:extLst>
              <p:ext uri="{D42A27DB-BD31-4B8C-83A1-F6EECF244321}">
                <p14:modId xmlns:p14="http://schemas.microsoft.com/office/powerpoint/2010/main" val="936897869"/>
              </p:ext>
            </p:extLst>
          </p:nvPr>
        </p:nvGraphicFramePr>
        <p:xfrm>
          <a:off x="371361" y="1864960"/>
          <a:ext cx="8401050" cy="1866833"/>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1082219581"/>
                    </a:ext>
                  </a:extLst>
                </a:gridCol>
                <a:gridCol w="2800350">
                  <a:extLst>
                    <a:ext uri="{9D8B030D-6E8A-4147-A177-3AD203B41FA5}">
                      <a16:colId xmlns:a16="http://schemas.microsoft.com/office/drawing/2014/main" val="1617026272"/>
                    </a:ext>
                  </a:extLst>
                </a:gridCol>
                <a:gridCol w="2800350">
                  <a:extLst>
                    <a:ext uri="{9D8B030D-6E8A-4147-A177-3AD203B41FA5}">
                      <a16:colId xmlns:a16="http://schemas.microsoft.com/office/drawing/2014/main" val="3755517844"/>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Action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Definition</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Logic</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Entity-Mapped Context Wrapping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Always show clearly who/what/where/why (product, company, use case) on screen and in narration</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If entities are explicit: they are easier to identify, link together, reuse in answers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Slow TV rule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Avoid fast cuts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keep visuals stable long enough</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Vision models need time to detect objects, read text, understand scenes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High contrast text overlays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Text on screen should be large, clear, high contrast (white on dark, etc.)</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AI reads on-screen text: </a:t>
                      </a:r>
                      <a:r>
                        <a:rPr kumimoji="0" lang="pl-PL" sz="1000" b="0" i="0" u="none" strike="noStrike" kern="1200" cap="none" spc="0" normalizeH="0" baseline="0" noProof="0">
                          <a:ln>
                            <a:noFill/>
                          </a:ln>
                          <a:solidFill>
                            <a:srgbClr val="0A2F24"/>
                          </a:solidFill>
                          <a:effectLst/>
                          <a:uLnTx/>
                          <a:uFillTx/>
                          <a:latin typeface="+mn-lt"/>
                          <a:ea typeface="+mn-ea"/>
                          <a:cs typeface="+mn-cs"/>
                        </a:rPr>
                        <a:t>l</a:t>
                      </a:r>
                      <a:r>
                        <a:rPr kumimoji="0" lang="en-US" sz="1000" b="0" i="0" u="none" strike="noStrike" kern="1200" cap="none" spc="0" normalizeH="0" baseline="0" noProof="0">
                          <a:ln>
                            <a:noFill/>
                          </a:ln>
                          <a:solidFill>
                            <a:srgbClr val="0A2F24"/>
                          </a:solidFill>
                          <a:effectLst/>
                          <a:uLnTx/>
                          <a:uFillTx/>
                          <a:latin typeface="+mn-lt"/>
                          <a:ea typeface="+mn-ea"/>
                          <a:cs typeface="+mn-cs"/>
                        </a:rPr>
                        <a:t>ow contrast or small text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not readable</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bl>
          </a:graphicData>
        </a:graphic>
      </p:graphicFrame>
      <p:sp>
        <p:nvSpPr>
          <p:cNvPr id="7" name="TextBox 6">
            <a:extLst>
              <a:ext uri="{FF2B5EF4-FFF2-40B4-BE49-F238E27FC236}">
                <a16:creationId xmlns:a16="http://schemas.microsoft.com/office/drawing/2014/main" id="{A8005430-4000-66F7-E11E-5687CA124FE7}"/>
              </a:ext>
            </a:extLst>
          </p:cNvPr>
          <p:cNvSpPr txBox="1"/>
          <p:nvPr/>
        </p:nvSpPr>
        <p:spPr>
          <a:xfrm>
            <a:off x="398463" y="4748669"/>
            <a:ext cx="6512975" cy="107722"/>
          </a:xfrm>
          <a:prstGeom prst="rect">
            <a:avLst/>
          </a:prstGeom>
        </p:spPr>
        <p:txBody>
          <a:bodyPr vert="horz" wrap="square" lIns="0" tIns="0" rIns="0" bIns="0" rtlCol="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700"/>
              <a:t>*</a:t>
            </a:r>
            <a:r>
              <a:rPr lang="en-US" sz="700"/>
              <a:t>As of June 2026, we only identified </a:t>
            </a:r>
            <a:r>
              <a:rPr kumimoji="0" lang="en-US" sz="700" b="0" i="0" u="none" strike="noStrike" kern="1200" cap="none" spc="0" normalizeH="0" baseline="0" noProof="0">
                <a:ln>
                  <a:noFill/>
                </a:ln>
                <a:solidFill>
                  <a:srgbClr val="000000"/>
                </a:solidFill>
                <a:effectLst/>
                <a:uLnTx/>
                <a:uFillTx/>
                <a:latin typeface="Poppins (body)"/>
                <a:hlinkClick r:id="rId3"/>
              </a:rPr>
              <a:t>Gemini</a:t>
            </a:r>
            <a:r>
              <a:rPr kumimoji="0" lang="pl-PL" sz="700" b="0" i="0" u="none" strike="noStrike" kern="1200" cap="none" spc="0" normalizeH="0" baseline="0" noProof="0">
                <a:ln>
                  <a:noFill/>
                </a:ln>
                <a:solidFill>
                  <a:srgbClr val="000000"/>
                </a:solidFill>
                <a:effectLst/>
                <a:uLnTx/>
                <a:uFillTx/>
                <a:latin typeface="Poppins (body)"/>
              </a:rPr>
              <a:t> </a:t>
            </a:r>
            <a:r>
              <a:rPr lang="en-US" sz="700"/>
              <a:t>as public general LLM which can analyze video as images.</a:t>
            </a:r>
            <a:endParaRPr lang="pl-PL" sz="900"/>
          </a:p>
        </p:txBody>
      </p:sp>
      <p:sp>
        <p:nvSpPr>
          <p:cNvPr id="5" name="Footer Placeholder 4">
            <a:extLst>
              <a:ext uri="{FF2B5EF4-FFF2-40B4-BE49-F238E27FC236}">
                <a16:creationId xmlns:a16="http://schemas.microsoft.com/office/drawing/2014/main" id="{CAC14ED0-F742-BDAD-01DD-DDB0BA7FCE78}"/>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8" name="Slide Number Placeholder 5">
            <a:extLst>
              <a:ext uri="{FF2B5EF4-FFF2-40B4-BE49-F238E27FC236}">
                <a16:creationId xmlns:a16="http://schemas.microsoft.com/office/drawing/2014/main" id="{059EF5F0-5307-389F-41C0-0EEF9EE75B1E}"/>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50</a:t>
            </a:fld>
            <a:endParaRPr lang="en-US"/>
          </a:p>
        </p:txBody>
      </p:sp>
    </p:spTree>
    <p:extLst>
      <p:ext uri="{BB962C8B-B14F-4D97-AF65-F5344CB8AC3E}">
        <p14:creationId xmlns:p14="http://schemas.microsoft.com/office/powerpoint/2010/main" val="456337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DD2E-2838-B5C1-9F3D-B1A31D9D9C1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F5A1557-F52D-FAE7-7BEA-10B5E0F6E6B5}"/>
              </a:ext>
            </a:extLst>
          </p:cNvPr>
          <p:cNvSpPr/>
          <p:nvPr/>
        </p:nvSpPr>
        <p:spPr>
          <a:xfrm>
            <a:off x="7481455" y="4537364"/>
            <a:ext cx="1662317" cy="606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808206AC-6D2E-20DC-57D1-0038A3753430}"/>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0F45CC67-DF0A-2A12-F236-F33ED53A29B2}"/>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Video Publication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70ED22C9-455D-00AA-85C0-A2C5E4A2C868}"/>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Set of actions to properly publish your video on YouTube.</a:t>
            </a:r>
            <a:endParaRPr lang="en-US" sz="1100">
              <a:solidFill>
                <a:schemeClr val="accent5"/>
              </a:solidFill>
              <a:cs typeface="Arial"/>
            </a:endParaRPr>
          </a:p>
        </p:txBody>
      </p:sp>
      <p:graphicFrame>
        <p:nvGraphicFramePr>
          <p:cNvPr id="6" name="Table 5">
            <a:extLst>
              <a:ext uri="{FF2B5EF4-FFF2-40B4-BE49-F238E27FC236}">
                <a16:creationId xmlns:a16="http://schemas.microsoft.com/office/drawing/2014/main" id="{7C08F798-EF97-BFD0-4B4B-38E351EAD23D}"/>
              </a:ext>
            </a:extLst>
          </p:cNvPr>
          <p:cNvGraphicFramePr>
            <a:graphicFrameLocks noGrp="1"/>
          </p:cNvGraphicFramePr>
          <p:nvPr>
            <p:extLst>
              <p:ext uri="{D42A27DB-BD31-4B8C-83A1-F6EECF244321}">
                <p14:modId xmlns:p14="http://schemas.microsoft.com/office/powerpoint/2010/main" val="3309551336"/>
              </p:ext>
            </p:extLst>
          </p:nvPr>
        </p:nvGraphicFramePr>
        <p:xfrm>
          <a:off x="123710" y="1161288"/>
          <a:ext cx="8896351" cy="393192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1082219581"/>
                    </a:ext>
                  </a:extLst>
                </a:gridCol>
                <a:gridCol w="828675">
                  <a:extLst>
                    <a:ext uri="{9D8B030D-6E8A-4147-A177-3AD203B41FA5}">
                      <a16:colId xmlns:a16="http://schemas.microsoft.com/office/drawing/2014/main" val="1617026272"/>
                    </a:ext>
                  </a:extLst>
                </a:gridCol>
                <a:gridCol w="4514965">
                  <a:extLst>
                    <a:ext uri="{9D8B030D-6E8A-4147-A177-3AD203B41FA5}">
                      <a16:colId xmlns:a16="http://schemas.microsoft.com/office/drawing/2014/main" val="3755517844"/>
                    </a:ext>
                  </a:extLst>
                </a:gridCol>
                <a:gridCol w="2524011">
                  <a:extLst>
                    <a:ext uri="{9D8B030D-6E8A-4147-A177-3AD203B41FA5}">
                      <a16:colId xmlns:a16="http://schemas.microsoft.com/office/drawing/2014/main" val="633377243"/>
                    </a:ext>
                  </a:extLst>
                </a:gridCol>
              </a:tblGrid>
              <a:tr h="174701">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Action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Priority</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Definition</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Logic</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543514">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Publish on YouTube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171450" marR="0" lvl="0" indent="-171450" algn="l"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The video must be published on YT to maximize the chances of being cited by any LLM</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YT is cited 200X more than other platform videos, 30% of Google AI Overview citations come from YT (</a:t>
                      </a:r>
                      <a:r>
                        <a:rPr kumimoji="0" lang="en-US" sz="1000" b="0" i="0" u="sng" strike="noStrike" kern="1200" cap="none" spc="0" normalizeH="0" baseline="0" noProof="0">
                          <a:ln>
                            <a:noFill/>
                          </a:ln>
                          <a:solidFill>
                            <a:schemeClr val="accent3"/>
                          </a:solidFill>
                          <a:effectLst/>
                          <a:uLnTx/>
                          <a:uFillTx/>
                          <a:latin typeface="+mn-lt"/>
                          <a:ea typeface="+mn-ea"/>
                          <a:cs typeface="+mn-cs"/>
                          <a:hlinkClick r:id="rId3">
                            <a:extLst>
                              <a:ext uri="{A12FA001-AC4F-418D-AE19-62706E023703}">
                                <ahyp:hlinkClr xmlns:ahyp="http://schemas.microsoft.com/office/drawing/2018/hyperlinkcolor" val="tx"/>
                              </a:ext>
                            </a:extLst>
                          </a:hlinkClick>
                        </a:rPr>
                        <a:t>link</a:t>
                      </a:r>
                      <a:r>
                        <a:rPr kumimoji="0" lang="pl-PL" sz="1000" b="0" i="0" u="sng" strike="noStrike" kern="1200" cap="none" spc="0" normalizeH="0" baseline="0" noProof="0">
                          <a:ln>
                            <a:noFill/>
                          </a:ln>
                          <a:solidFill>
                            <a:schemeClr val="accent3"/>
                          </a:solidFill>
                          <a:effectLst/>
                          <a:uLnTx/>
                          <a:uFillTx/>
                          <a:latin typeface="+mn-lt"/>
                          <a:ea typeface="+mn-ea"/>
                          <a:cs typeface="+mn-cs"/>
                        </a:rPr>
                        <a:t> </a:t>
                      </a:r>
                      <a:r>
                        <a:rPr kumimoji="0" lang="pl-PL" sz="1000" b="0" i="0" u="sng" strike="noStrike" kern="1200" cap="none" spc="0" normalizeH="0" baseline="0" noProof="0">
                          <a:ln>
                            <a:noFill/>
                          </a:ln>
                          <a:solidFill>
                            <a:schemeClr val="accent3"/>
                          </a:solidFill>
                          <a:effectLst/>
                          <a:uLnTx/>
                          <a:uFillTx/>
                          <a:latin typeface="+mn-lt"/>
                          <a:ea typeface="+mn-ea"/>
                          <a:cs typeface="+mn-cs"/>
                          <a:hlinkClick r:id="rId3"/>
                        </a:rPr>
                        <a:t>to the report</a:t>
                      </a:r>
                      <a:r>
                        <a:rPr kumimoji="0" lang="en-US" sz="1000" b="0" i="0" u="none" strike="noStrike" kern="1200" cap="none" spc="0" normalizeH="0" baseline="0" noProof="0">
                          <a:ln>
                            <a:noFill/>
                          </a:ln>
                          <a:solidFill>
                            <a:srgbClr val="0A2F24"/>
                          </a:solidFill>
                          <a:effectLst/>
                          <a:uLnTx/>
                          <a:uFillTx/>
                          <a:latin typeface="+mn-lt"/>
                          <a:ea typeface="+mn-ea"/>
                          <a:cs typeface="+mn-cs"/>
                        </a:rPr>
                        <a:t>)</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102199639"/>
                  </a:ext>
                </a:extLst>
              </a:tr>
              <a:tr h="446458">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YouTube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defTabSz="457184" rtl="0" eaLnBrk="1" latinLnBrk="0" hangingPunct="1">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Factual and descriptive title</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The title is used by LLMs to figure out what the content of the video is about</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287643"/>
                  </a:ext>
                </a:extLst>
              </a:tr>
              <a:tr h="543514">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Transcription and captions (.</a:t>
                      </a:r>
                      <a:r>
                        <a:rPr kumimoji="0" lang="en-US" sz="1000" b="1" i="1" u="none" strike="noStrike" kern="1200" cap="none" spc="0" normalizeH="0" baseline="0" noProof="0">
                          <a:ln>
                            <a:noFill/>
                          </a:ln>
                          <a:solidFill>
                            <a:srgbClr val="0A2F24"/>
                          </a:solidFill>
                          <a:effectLst/>
                          <a:uLnTx/>
                          <a:uFillTx/>
                          <a:latin typeface="+mn-lt"/>
                          <a:ea typeface="+mn-ea"/>
                          <a:cs typeface="+mn-cs"/>
                        </a:rPr>
                        <a:t>SRT</a:t>
                      </a:r>
                      <a:r>
                        <a:rPr kumimoji="0" lang="en-US" sz="1000" b="1" i="0" u="none" strike="noStrike" kern="1200" cap="none" spc="0" normalizeH="0" baseline="0" noProof="0">
                          <a:ln>
                            <a:noFill/>
                          </a:ln>
                          <a:solidFill>
                            <a:srgbClr val="0A2F24"/>
                          </a:solidFill>
                          <a:effectLst/>
                          <a:uLnTx/>
                          <a:uFillTx/>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171450" lvl="0" indent="-171450" algn="l" rtl="0" eaLnBrk="1" latinLnBrk="0" hangingPunct="1">
                        <a:buFont typeface="Arial" panose="020B0604020202020204" pitchFamily="34" charset="0"/>
                        <a:buChar char="•"/>
                      </a:pPr>
                      <a:r>
                        <a:rPr lang="en-US" sz="1000" b="0" i="0" u="none" strike="noStrike" kern="1200" cap="none" spc="0" normalizeH="0" baseline="0" noProof="0">
                          <a:ln>
                            <a:noFill/>
                          </a:ln>
                          <a:solidFill>
                            <a:srgbClr val="0A2F24"/>
                          </a:solidFill>
                          <a:effectLst/>
                          <a:uLnTx/>
                          <a:uFillTx/>
                          <a:latin typeface="+mn-lt"/>
                          <a:ea typeface="+mn-ea"/>
                          <a:cs typeface="+mn-cs"/>
                        </a:rPr>
                        <a:t>Applicable</a:t>
                      </a:r>
                      <a:r>
                        <a:rPr kumimoji="0" lang="en-US" sz="1000" b="0" i="0" u="none" strike="noStrike" kern="1200" cap="none" spc="0" normalizeH="0" baseline="0" noProof="0">
                          <a:ln>
                            <a:noFill/>
                          </a:ln>
                          <a:solidFill>
                            <a:srgbClr val="0A2F24"/>
                          </a:solidFill>
                          <a:effectLst/>
                          <a:uLnTx/>
                          <a:uFillTx/>
                          <a:latin typeface="+mn-lt"/>
                          <a:ea typeface="+mn-ea"/>
                          <a:cs typeface="+mn-cs"/>
                        </a:rPr>
                        <a:t> whether there is or there is not a voice over.</a:t>
                      </a:r>
                      <a:endParaRPr lang="en-US"/>
                    </a:p>
                    <a:p>
                      <a:pPr marL="171450" lvl="0" indent="-171450" algn="l" defTabSz="457184">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Created or curated by humans, hard coded if necessary. Pay special attention to acronyms and product names when curating a transcript generated automatically by YT or by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pl-PL" sz="1000" b="0" i="0" u="none" strike="noStrike" kern="1200" cap="none" spc="0" normalizeH="0" baseline="0" noProof="0">
                          <a:ln>
                            <a:noFill/>
                          </a:ln>
                          <a:solidFill>
                            <a:srgbClr val="0A2F24"/>
                          </a:solidFill>
                          <a:effectLst/>
                          <a:uLnTx/>
                          <a:uFillTx/>
                          <a:latin typeface="+mn-lt"/>
                          <a:ea typeface="+mn-ea"/>
                          <a:cs typeface="+mn-cs"/>
                        </a:rPr>
                        <a:t>A</a:t>
                      </a:r>
                      <a:r>
                        <a:rPr kumimoji="0" lang="en-US" sz="1000" b="0" i="0" u="none" strike="noStrike" kern="1200" cap="none" spc="0" normalizeH="0" baseline="0" noProof="0" err="1">
                          <a:ln>
                            <a:noFill/>
                          </a:ln>
                          <a:solidFill>
                            <a:srgbClr val="0A2F24"/>
                          </a:solidFill>
                          <a:effectLst/>
                          <a:uLnTx/>
                          <a:uFillTx/>
                          <a:latin typeface="+mn-lt"/>
                          <a:ea typeface="+mn-ea"/>
                          <a:cs typeface="+mn-cs"/>
                        </a:rPr>
                        <a:t>ll</a:t>
                      </a:r>
                      <a:r>
                        <a:rPr kumimoji="0" lang="pl-PL" sz="1000" b="0" i="0" u="none" strike="noStrike" kern="1200" cap="none" spc="0" normalizeH="0" baseline="0" noProof="0">
                          <a:ln>
                            <a:noFill/>
                          </a:ln>
                          <a:solidFill>
                            <a:srgbClr val="0A2F24"/>
                          </a:solidFill>
                          <a:effectLst/>
                          <a:uLnTx/>
                          <a:uFillTx/>
                          <a:latin typeface="+mn-lt"/>
                          <a:ea typeface="+mn-ea"/>
                          <a:cs typeface="+mn-cs"/>
                        </a:rPr>
                        <a:t> LLMs</a:t>
                      </a:r>
                      <a:r>
                        <a:rPr kumimoji="0" lang="en-US" sz="1000" b="0" i="0" u="none" strike="noStrike" kern="1200" cap="none" spc="0" normalizeH="0" baseline="0" noProof="0">
                          <a:ln>
                            <a:noFill/>
                          </a:ln>
                          <a:solidFill>
                            <a:srgbClr val="0A2F24"/>
                          </a:solidFill>
                          <a:effectLst/>
                          <a:uLnTx/>
                          <a:uFillTx/>
                          <a:latin typeface="+mn-lt"/>
                          <a:ea typeface="+mn-ea"/>
                          <a:cs typeface="+mn-cs"/>
                        </a:rPr>
                        <a:t> read the transcription</a:t>
                      </a:r>
                      <a:r>
                        <a:rPr kumimoji="0" lang="pl-PL" sz="1000" b="0" i="0" u="none" strike="noStrike" kern="1200" cap="none" spc="0" normalizeH="0" baseline="0" noProof="0">
                          <a:ln>
                            <a:noFill/>
                          </a:ln>
                          <a:solidFill>
                            <a:srgbClr val="0A2F24"/>
                          </a:solidFill>
                          <a:effectLst/>
                          <a:uLnTx/>
                          <a:uFillTx/>
                          <a:latin typeface="+mn-lt"/>
                          <a:ea typeface="+mn-ea"/>
                          <a:cs typeface="+mn-cs"/>
                        </a:rPr>
                        <a:t> (o</a:t>
                      </a:r>
                      <a:r>
                        <a:rPr kumimoji="0" lang="en-US" sz="1000" b="0" i="0" u="none" strike="noStrike" kern="1200" cap="none" spc="0" normalizeH="0" baseline="0" noProof="0" err="1">
                          <a:ln>
                            <a:noFill/>
                          </a:ln>
                          <a:solidFill>
                            <a:srgbClr val="0A2F24"/>
                          </a:solidFill>
                          <a:effectLst/>
                          <a:uLnTx/>
                          <a:uFillTx/>
                          <a:latin typeface="+mn-lt"/>
                          <a:ea typeface="+mn-ea"/>
                          <a:cs typeface="+mn-cs"/>
                        </a:rPr>
                        <a:t>nly</a:t>
                      </a:r>
                      <a:r>
                        <a:rPr kumimoji="0" lang="en-US" sz="1000" b="0" i="0" u="none" strike="noStrike" kern="1200" cap="none" spc="0" normalizeH="0" baseline="0" noProof="0">
                          <a:ln>
                            <a:noFill/>
                          </a:ln>
                          <a:solidFill>
                            <a:srgbClr val="0A2F24"/>
                          </a:solidFill>
                          <a:effectLst/>
                          <a:uLnTx/>
                          <a:uFillTx/>
                          <a:latin typeface="+mn-lt"/>
                          <a:ea typeface="+mn-ea"/>
                          <a:cs typeface="+mn-cs"/>
                        </a:rPr>
                        <a:t> few LLMs can “read” videos</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This enables LLMs to parse and quote from.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72781955"/>
                  </a:ext>
                </a:extLst>
              </a:tr>
              <a:tr h="834682">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defTabSz="457184" rtl="0" eaLnBrk="1" latinLnBrk="0" hangingPunct="1">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Start with a 2-paragraph summary including the questions the  video answers to and the target keywords.</a:t>
                      </a:r>
                      <a:r>
                        <a:rPr kumimoji="0" lang="pl-PL" sz="1000" b="0" i="0" u="none" strike="noStrike" kern="1200" cap="none" spc="0" normalizeH="0" baseline="0" noProof="0">
                          <a:ln>
                            <a:noFill/>
                          </a:ln>
                          <a:solidFill>
                            <a:srgbClr val="0A2F24"/>
                          </a:solidFill>
                          <a:effectLst/>
                          <a:uLnTx/>
                          <a:uFillTx/>
                          <a:latin typeface="+mn-lt"/>
                          <a:ea typeface="+mn-ea"/>
                          <a:cs typeface="+mn-cs"/>
                        </a:rPr>
                        <a:t> </a:t>
                      </a:r>
                    </a:p>
                    <a:p>
                      <a:pPr marL="171450" lvl="0" indent="-171450" algn="l" defTabSz="457184" rtl="0" eaLnBrk="1" latinLnBrk="0" hangingPunct="1">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Break up long block of texts, use bulleted lists, numbered steps.</a:t>
                      </a:r>
                    </a:p>
                    <a:p>
                      <a:pPr marL="171450" marR="0" lvl="0" indent="-171450" algn="l"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Include a link to the page on SE.com or the local SE website,  where the video is also published - Select the local SE website that is aligned with the language of the video.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LLMs heavily rely on the meta data such as description.</a:t>
                      </a:r>
                      <a:endParaRPr kumimoji="0" lang="pl-PL" sz="1000" b="0" i="0" u="none" strike="noStrike" kern="1200" cap="none" spc="0" normalizeH="0" baseline="0" noProof="0">
                        <a:ln>
                          <a:noFill/>
                        </a:ln>
                        <a:solidFill>
                          <a:srgbClr val="0A2F24"/>
                        </a:solidFill>
                        <a:effectLst/>
                        <a:uLnTx/>
                        <a:uFillTx/>
                        <a:latin typeface="+mn-lt"/>
                        <a:ea typeface="+mn-ea"/>
                        <a:cs typeface="+mn-cs"/>
                      </a:endParaRPr>
                    </a:p>
                    <a:p>
                      <a:pPr marL="0" lvl="0" algn="ctr" defTabSz="457184" rtl="0" eaLnBrk="1" latinLnBrk="0" hangingPunct="1"/>
                      <a:endParaRPr kumimoji="0" lang="en-US" sz="1000" b="0" i="0" u="none" strike="noStrike" kern="1200" cap="none" spc="0" normalizeH="0" baseline="0" noProof="0">
                        <a:ln>
                          <a:noFill/>
                        </a:ln>
                        <a:solidFill>
                          <a:srgbClr val="0A2F24"/>
                        </a:solidFill>
                        <a:effectLst/>
                        <a:uLnTx/>
                        <a:uFillTx/>
                        <a:latin typeface="+mn-lt"/>
                        <a:ea typeface="+mn-ea"/>
                        <a:cs typeface="+mn-cs"/>
                      </a:endParaRPr>
                    </a:p>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Drive the citation back to SE domain</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7397572"/>
                  </a:ext>
                </a:extLst>
              </a:tr>
              <a:tr h="446458">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Chapters structure (part of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171450" lvl="0" indent="-171450" algn="l" defTabSz="457184" rtl="0" eaLnBrk="1" latinLnBrk="0" hangingPunct="1">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Chapters titles written in question-based style, using target keywords</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Chapter timestamps</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and f</a:t>
                      </a:r>
                      <a:r>
                        <a:rPr kumimoji="0" lang="en-US" sz="1000" b="0" i="0" u="none" strike="noStrike" kern="1200" cap="none" spc="0" normalizeH="0" baseline="0" noProof="0">
                          <a:ln>
                            <a:noFill/>
                          </a:ln>
                          <a:solidFill>
                            <a:srgbClr val="0A2F24"/>
                          </a:solidFill>
                          <a:effectLst/>
                          <a:uLnTx/>
                          <a:uFillTx/>
                          <a:latin typeface="+mn-lt"/>
                          <a:ea typeface="+mn-ea"/>
                          <a:cs typeface="+mn-cs"/>
                        </a:rPr>
                        <a:t>ollow YouTube </a:t>
                      </a:r>
                      <a:r>
                        <a:rPr lang="en-US" sz="1000" kern="1200" noProof="0">
                          <a:solidFill>
                            <a:schemeClr val="dk1"/>
                          </a:solidFill>
                          <a:effectLst/>
                          <a:latin typeface="+mn-lt"/>
                          <a:ea typeface="+mn-ea"/>
                          <a:cs typeface="+mn-cs"/>
                          <a:hlinkClick r:id="rId4"/>
                        </a:rPr>
                        <a:t>rules</a:t>
                      </a:r>
                      <a:r>
                        <a:rPr kumimoji="0" lang="en-US" sz="1000" b="0" i="0" u="none" strike="noStrike" kern="1200" cap="none" spc="0" normalizeH="0" baseline="0" noProof="0">
                          <a:ln>
                            <a:noFill/>
                          </a:ln>
                          <a:solidFill>
                            <a:srgbClr val="0A2F24"/>
                          </a:solidFill>
                          <a:effectLst/>
                          <a:uLnTx/>
                          <a:uFillTx/>
                          <a:latin typeface="+mn-lt"/>
                          <a:ea typeface="+mn-ea"/>
                          <a:cs typeface="+mn-cs"/>
                        </a:rPr>
                        <a:t> (start with 00:00, minimum chapter length is 10 s, minimum 3 </a:t>
                      </a:r>
                      <a:r>
                        <a:rPr lang="en-US" sz="1000" b="0" i="0" u="none" strike="noStrike" kern="1200" cap="none" spc="0" normalizeH="0" baseline="0" noProof="0">
                          <a:ln>
                            <a:noFill/>
                          </a:ln>
                          <a:solidFill>
                            <a:srgbClr val="0A2F24"/>
                          </a:solidFill>
                          <a:effectLst/>
                          <a:uLnTx/>
                          <a:uFillTx/>
                          <a:latin typeface="+mn-lt"/>
                          <a:ea typeface="+mn-ea"/>
                          <a:cs typeface="+mn-cs"/>
                        </a:rPr>
                        <a:t>timestamps</a:t>
                      </a:r>
                      <a:r>
                        <a:rPr kumimoji="0" lang="en-US" sz="1000" b="0" i="0" u="none" strike="noStrike" kern="1200" cap="none" spc="0" normalizeH="0" baseline="0" noProof="0">
                          <a:ln>
                            <a:noFill/>
                          </a:ln>
                          <a:solidFill>
                            <a:srgbClr val="0A2F24"/>
                          </a:solidFill>
                          <a:effectLst/>
                          <a:uLnTx/>
                          <a:uFillTx/>
                          <a:latin typeface="+mn-lt"/>
                          <a:ea typeface="+mn-ea"/>
                          <a:cs typeface="+mn-cs"/>
                        </a:rPr>
                        <a:t> in the description)</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Helps the LLMs to parse the content even if not able to read the video.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981233675"/>
                  </a:ext>
                </a:extLst>
              </a:tr>
            </a:tbl>
          </a:graphicData>
        </a:graphic>
      </p:graphicFrame>
    </p:spTree>
    <p:extLst>
      <p:ext uri="{BB962C8B-B14F-4D97-AF65-F5344CB8AC3E}">
        <p14:creationId xmlns:p14="http://schemas.microsoft.com/office/powerpoint/2010/main" val="2258567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73894-FE04-506A-21DE-0783DABE40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1089B8-2671-66A9-ABEE-E667D1337D12}"/>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7F7F9421-2786-75CB-3365-97750C8C8D11}"/>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Video Publication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1FB83474-7457-0ECB-DB32-84A135F3B708}"/>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Set of actions to properly publish your video on se.com.</a:t>
            </a:r>
            <a:endParaRPr lang="en-US" sz="1100">
              <a:solidFill>
                <a:schemeClr val="accent5"/>
              </a:solidFill>
              <a:cs typeface="Arial"/>
            </a:endParaRPr>
          </a:p>
        </p:txBody>
      </p:sp>
      <p:graphicFrame>
        <p:nvGraphicFramePr>
          <p:cNvPr id="6" name="Table 5">
            <a:extLst>
              <a:ext uri="{FF2B5EF4-FFF2-40B4-BE49-F238E27FC236}">
                <a16:creationId xmlns:a16="http://schemas.microsoft.com/office/drawing/2014/main" id="{17E37BD0-65CF-559C-BE4F-1B4E385B4882}"/>
              </a:ext>
            </a:extLst>
          </p:cNvPr>
          <p:cNvGraphicFramePr>
            <a:graphicFrameLocks noGrp="1"/>
          </p:cNvGraphicFramePr>
          <p:nvPr>
            <p:extLst>
              <p:ext uri="{D42A27DB-BD31-4B8C-83A1-F6EECF244321}">
                <p14:modId xmlns:p14="http://schemas.microsoft.com/office/powerpoint/2010/main" val="4240845608"/>
              </p:ext>
            </p:extLst>
          </p:nvPr>
        </p:nvGraphicFramePr>
        <p:xfrm>
          <a:off x="123710" y="1447834"/>
          <a:ext cx="8896351" cy="2987040"/>
        </p:xfrm>
        <a:graphic>
          <a:graphicData uri="http://schemas.openxmlformats.org/drawingml/2006/table">
            <a:tbl>
              <a:tblPr firstRow="1" bandRow="1">
                <a:tableStyleId>{5C22544A-7EE6-4342-B048-85BDC9FD1C3A}</a:tableStyleId>
              </a:tblPr>
              <a:tblGrid>
                <a:gridCol w="2419465">
                  <a:extLst>
                    <a:ext uri="{9D8B030D-6E8A-4147-A177-3AD203B41FA5}">
                      <a16:colId xmlns:a16="http://schemas.microsoft.com/office/drawing/2014/main" val="1082219581"/>
                    </a:ext>
                  </a:extLst>
                </a:gridCol>
                <a:gridCol w="781050">
                  <a:extLst>
                    <a:ext uri="{9D8B030D-6E8A-4147-A177-3AD203B41FA5}">
                      <a16:colId xmlns:a16="http://schemas.microsoft.com/office/drawing/2014/main" val="1617026272"/>
                    </a:ext>
                  </a:extLst>
                </a:gridCol>
                <a:gridCol w="3209925">
                  <a:extLst>
                    <a:ext uri="{9D8B030D-6E8A-4147-A177-3AD203B41FA5}">
                      <a16:colId xmlns:a16="http://schemas.microsoft.com/office/drawing/2014/main" val="3755517844"/>
                    </a:ext>
                  </a:extLst>
                </a:gridCol>
                <a:gridCol w="2485911">
                  <a:extLst>
                    <a:ext uri="{9D8B030D-6E8A-4147-A177-3AD203B41FA5}">
                      <a16:colId xmlns:a16="http://schemas.microsoft.com/office/drawing/2014/main" val="633377243"/>
                    </a:ext>
                  </a:extLst>
                </a:gridCol>
              </a:tblGrid>
              <a:tr h="2737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Action</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Priority</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Definition</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Logic</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699596">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Publish on SE.com (or other relevant SE web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171450" lvl="0" indent="-171450" algn="l" defTabSz="457184" rtl="0" eaLnBrk="1" latinLnBrk="0" hangingPunct="1">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The video is embedded in a SE owned webpage </a:t>
                      </a:r>
                      <a:r>
                        <a:rPr kumimoji="0" lang="pl-PL" sz="1000" b="0" i="0" u="none" strike="noStrike" kern="1200" cap="none" spc="0" normalizeH="0" baseline="0" noProof="0">
                          <a:ln>
                            <a:noFill/>
                          </a:ln>
                          <a:solidFill>
                            <a:srgbClr val="0A2F24"/>
                          </a:solidFill>
                          <a:effectLst/>
                          <a:uLnTx/>
                          <a:uFillTx/>
                          <a:latin typeface="+mn-lt"/>
                          <a:ea typeface="+mn-ea"/>
                          <a:cs typeface="+mn-cs"/>
                        </a:rPr>
                        <a:t>t</a:t>
                      </a:r>
                      <a:r>
                        <a:rPr kumimoji="0" lang="en-US" sz="1000" b="0" i="0" u="none" strike="noStrike" kern="1200" cap="none" spc="0" normalizeH="0" baseline="0" noProof="0" err="1">
                          <a:ln>
                            <a:noFill/>
                          </a:ln>
                          <a:solidFill>
                            <a:srgbClr val="0A2F24"/>
                          </a:solidFill>
                          <a:effectLst/>
                          <a:uLnTx/>
                          <a:uFillTx/>
                          <a:latin typeface="+mn-lt"/>
                          <a:ea typeface="+mn-ea"/>
                          <a:cs typeface="+mn-cs"/>
                        </a:rPr>
                        <a:t>hrough</a:t>
                      </a:r>
                      <a:r>
                        <a:rPr kumimoji="0" lang="en-US" sz="1000" b="0" i="0" u="none" strike="noStrike" kern="1200" cap="none" spc="0" normalizeH="0" baseline="0" noProof="0">
                          <a:ln>
                            <a:noFill/>
                          </a:ln>
                          <a:solidFill>
                            <a:srgbClr val="0A2F24"/>
                          </a:solidFill>
                          <a:effectLst/>
                          <a:uLnTx/>
                          <a:uFillTx/>
                          <a:latin typeface="+mn-lt"/>
                          <a:ea typeface="+mn-ea"/>
                          <a:cs typeface="+mn-cs"/>
                        </a:rPr>
                        <a:t> Offer DAM publication (</a:t>
                      </a:r>
                      <a:r>
                        <a:rPr kumimoji="0" lang="pl-PL" sz="1000" b="0" i="0" u="none" strike="noStrike" kern="1200" cap="none" spc="0" normalizeH="0" baseline="0" noProof="0">
                          <a:ln>
                            <a:noFill/>
                          </a:ln>
                          <a:solidFill>
                            <a:srgbClr val="0A2F24"/>
                          </a:solidFill>
                          <a:effectLst/>
                          <a:uLnTx/>
                          <a:uFillTx/>
                          <a:latin typeface="+mn-lt"/>
                          <a:ea typeface="+mn-ea"/>
                          <a:cs typeface="+mn-cs"/>
                        </a:rPr>
                        <a:t>for example on </a:t>
                      </a:r>
                      <a:r>
                        <a:rPr kumimoji="0" lang="en-US" sz="1000" b="0" i="0" u="none" strike="noStrike" kern="1200" cap="none" spc="0" normalizeH="0" baseline="0" noProof="0">
                          <a:ln>
                            <a:noFill/>
                          </a:ln>
                          <a:solidFill>
                            <a:srgbClr val="0A2F24"/>
                          </a:solidFill>
                          <a:effectLst/>
                          <a:uLnTx/>
                          <a:uFillTx/>
                          <a:latin typeface="+mn-lt"/>
                          <a:ea typeface="+mn-ea"/>
                          <a:cs typeface="+mn-cs"/>
                        </a:rPr>
                        <a:t>Product Detailed Page) or directly (</a:t>
                      </a:r>
                      <a:r>
                        <a:rPr kumimoji="0" lang="pl-PL" sz="1000" b="0" i="0" u="none" strike="noStrike" kern="1200" cap="none" spc="0" normalizeH="0" baseline="0" noProof="0">
                          <a:ln>
                            <a:noFill/>
                          </a:ln>
                          <a:solidFill>
                            <a:srgbClr val="0A2F24"/>
                          </a:solidFill>
                          <a:effectLst/>
                          <a:uLnTx/>
                          <a:uFillTx/>
                          <a:latin typeface="+mn-lt"/>
                          <a:ea typeface="+mn-ea"/>
                          <a:cs typeface="+mn-cs"/>
                        </a:rPr>
                        <a:t>for example on </a:t>
                      </a:r>
                      <a:r>
                        <a:rPr kumimoji="0" lang="en-US" sz="1000" b="0" i="0" u="none" strike="noStrike" kern="1200" cap="none" spc="0" normalizeH="0" baseline="0" noProof="0">
                          <a:ln>
                            <a:noFill/>
                          </a:ln>
                          <a:solidFill>
                            <a:srgbClr val="0A2F24"/>
                          </a:solidFill>
                          <a:effectLst/>
                          <a:uLnTx/>
                          <a:uFillTx/>
                          <a:latin typeface="+mn-lt"/>
                          <a:ea typeface="+mn-ea"/>
                          <a:cs typeface="+mn-cs"/>
                        </a:rPr>
                        <a:t>Range Page)</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Drive the citation back to SE domain</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9287643"/>
                  </a:ext>
                </a:extLst>
              </a:tr>
              <a:tr h="699596">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Ensure that the SE webpage where the video is embedded is crawlable by search engines and LLMs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MUST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171450" marR="0" lvl="0" indent="-171450" algn="l"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If AI can’t index the content – it is invisible (for example if the content is gated – users needs to provide information to pass through the gate).</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Only crawlable pages get fetched and have a chance to be cited.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650547395"/>
                  </a:ext>
                </a:extLst>
              </a:tr>
              <a:tr h="547510">
                <a:tc>
                  <a:txBody>
                    <a:bodyPr/>
                    <a:lstStyle/>
                    <a:p>
                      <a:pPr marL="0" lvl="0" algn="ctr" defTabSz="457184" rtl="0" eaLnBrk="1" latinLnBrk="0" hangingPunct="1"/>
                      <a:r>
                        <a:rPr kumimoji="0" lang="en-US" sz="1000" b="1" i="0" u="none" strike="noStrike" kern="1200" cap="none" spc="0" normalizeH="0" baseline="0" noProof="0">
                          <a:ln>
                            <a:noFill/>
                          </a:ln>
                          <a:solidFill>
                            <a:srgbClr val="0A2F24"/>
                          </a:solidFill>
                          <a:effectLst/>
                          <a:uLnTx/>
                          <a:uFillTx/>
                          <a:latin typeface="+mn-lt"/>
                          <a:ea typeface="+mn-ea"/>
                          <a:cs typeface="+mn-cs"/>
                        </a:rPr>
                        <a:t>Visible HTML Transcript</a:t>
                      </a:r>
                      <a:r>
                        <a:rPr kumimoji="0" lang="pl-PL" sz="1000" b="1" i="0" u="none" strike="noStrike" kern="1200" cap="none" spc="0" normalizeH="0" baseline="0" noProof="0">
                          <a:ln>
                            <a:noFill/>
                          </a:ln>
                          <a:solidFill>
                            <a:srgbClr val="0A2F24"/>
                          </a:solidFill>
                          <a:effectLst/>
                          <a:uLnTx/>
                          <a:uFillTx/>
                          <a:latin typeface="+mn-lt"/>
                          <a:ea typeface="+mn-ea"/>
                          <a:cs typeface="+mn-cs"/>
                        </a:rPr>
                        <a:t>*</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algn="ctr" defTabSz="457184" rtl="0" eaLnBrk="1" latinLnBrk="0" hangingPunct="1"/>
                      <a:r>
                        <a:rPr kumimoji="0" lang="pl-PL" sz="1000" b="1" i="0" u="none" strike="noStrike" kern="1200" cap="none" spc="0" normalizeH="0" baseline="0" noProof="0">
                          <a:ln>
                            <a:noFill/>
                          </a:ln>
                          <a:solidFill>
                            <a:srgbClr val="0A2F24"/>
                          </a:solidFill>
                          <a:effectLst/>
                          <a:uLnTx/>
                          <a:uFillTx/>
                          <a:latin typeface="+mn-lt"/>
                          <a:ea typeface="+mn-ea"/>
                          <a:cs typeface="+mn-cs"/>
                        </a:rPr>
                        <a:t>Optional</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171450" lvl="0" indent="-171450" algn="l" defTabSz="457184" rtl="0" eaLnBrk="1" latinLnBrk="0" hangingPunct="1">
                        <a:buFont typeface="Arial" panose="020B0604020202020204" pitchFamily="34" charset="0"/>
                        <a:buChar char="•"/>
                      </a:pPr>
                      <a:r>
                        <a:rPr kumimoji="0" lang="en-US" sz="1000" b="0" i="0" u="none" strike="noStrike" kern="1200" cap="none" spc="0" normalizeH="0" baseline="0" noProof="0">
                          <a:ln>
                            <a:noFill/>
                          </a:ln>
                          <a:solidFill>
                            <a:srgbClr val="0A2F24"/>
                          </a:solidFill>
                          <a:effectLst/>
                          <a:uLnTx/>
                          <a:uFillTx/>
                          <a:latin typeface="+mn-lt"/>
                          <a:ea typeface="+mn-ea"/>
                          <a:cs typeface="+mn-cs"/>
                        </a:rPr>
                        <a:t>Full text of the transcription below the video embed</a:t>
                      </a:r>
                      <a:r>
                        <a:rPr kumimoji="0" lang="pl-PL" sz="1000" b="0" i="0" u="none" strike="noStrike" kern="1200" cap="none" spc="0" normalizeH="0" baseline="0" noProof="0">
                          <a:ln>
                            <a:noFill/>
                          </a:ln>
                          <a:solidFill>
                            <a:srgbClr val="0A2F24"/>
                          </a:solidFill>
                          <a:effectLst/>
                          <a:uLnTx/>
                          <a:uFillTx/>
                          <a:latin typeface="+mn-lt"/>
                          <a:ea typeface="+mn-ea"/>
                          <a:cs typeface="+mn-cs"/>
                        </a:rPr>
                        <a:t>ed</a:t>
                      </a:r>
                      <a:r>
                        <a:rPr kumimoji="0" lang="en-US" sz="1000" b="0"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(it may not always be possible).</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lvl="0" algn="ctr" defTabSz="457184" rtl="0" eaLnBrk="1" latinLnBrk="0" hangingPunct="1"/>
                      <a:r>
                        <a:rPr kumimoji="0" lang="pl-PL" sz="1000" b="0" i="0" u="none" strike="noStrike" kern="1200" cap="none" spc="0" normalizeH="0" baseline="0" noProof="0">
                          <a:ln>
                            <a:noFill/>
                          </a:ln>
                          <a:solidFill>
                            <a:srgbClr val="0A2F24"/>
                          </a:solidFill>
                          <a:effectLst/>
                          <a:uLnTx/>
                          <a:uFillTx/>
                          <a:latin typeface="+mn-lt"/>
                          <a:ea typeface="+mn-ea"/>
                          <a:cs typeface="+mn-cs"/>
                        </a:rPr>
                        <a:t>AI looks for the interesting information extracting all headings and content from the first 30-40% pf the page. If your video is one of the key content on the page, it should be fully visibile on the top/mid of the page, and it should have transcript embeded.</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84723565"/>
                  </a:ext>
                </a:extLst>
              </a:tr>
            </a:tbl>
          </a:graphicData>
        </a:graphic>
      </p:graphicFrame>
      <p:sp>
        <p:nvSpPr>
          <p:cNvPr id="10" name="TextBox 9">
            <a:extLst>
              <a:ext uri="{FF2B5EF4-FFF2-40B4-BE49-F238E27FC236}">
                <a16:creationId xmlns:a16="http://schemas.microsoft.com/office/drawing/2014/main" id="{88282694-0005-027F-FA62-E0033CD31A98}"/>
              </a:ext>
            </a:extLst>
          </p:cNvPr>
          <p:cNvSpPr txBox="1"/>
          <p:nvPr/>
        </p:nvSpPr>
        <p:spPr>
          <a:xfrm>
            <a:off x="398462" y="4599466"/>
            <a:ext cx="3838257" cy="215444"/>
          </a:xfrm>
          <a:prstGeom prst="rect">
            <a:avLst/>
          </a:prstGeom>
        </p:spPr>
        <p:txBody>
          <a:bodyPr vert="horz" wrap="square" lIns="0" tIns="0" rIns="0" bIns="0" rtlCol="0">
            <a:spAutoFit/>
          </a:bodyPr>
          <a:lstStyle/>
          <a:p>
            <a:pPr algn="l"/>
            <a:r>
              <a:rPr lang="pl-PL" sz="700"/>
              <a:t>*This element is part of ongoing Technical GEO enhancements done by Schneider Electric Digital. For schema markup explenation please visit </a:t>
            </a:r>
            <a:r>
              <a:rPr lang="pl-PL" sz="700">
                <a:hlinkClick r:id="rId3"/>
              </a:rPr>
              <a:t>Chapter 14 </a:t>
            </a:r>
            <a:r>
              <a:rPr lang="pl-PL" sz="700"/>
              <a:t>of this Toolkit.</a:t>
            </a:r>
          </a:p>
        </p:txBody>
      </p:sp>
      <p:sp>
        <p:nvSpPr>
          <p:cNvPr id="5" name="Footer Placeholder 4">
            <a:extLst>
              <a:ext uri="{FF2B5EF4-FFF2-40B4-BE49-F238E27FC236}">
                <a16:creationId xmlns:a16="http://schemas.microsoft.com/office/drawing/2014/main" id="{5CB03CC5-12F6-B3DE-9E21-326AE2C0C1F4}"/>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7" name="Slide Number Placeholder 5">
            <a:extLst>
              <a:ext uri="{FF2B5EF4-FFF2-40B4-BE49-F238E27FC236}">
                <a16:creationId xmlns:a16="http://schemas.microsoft.com/office/drawing/2014/main" id="{DAADB1EF-33CC-2983-79FB-547ECD810F6E}"/>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52</a:t>
            </a:fld>
            <a:endParaRPr lang="en-US"/>
          </a:p>
        </p:txBody>
      </p:sp>
    </p:spTree>
    <p:extLst>
      <p:ext uri="{BB962C8B-B14F-4D97-AF65-F5344CB8AC3E}">
        <p14:creationId xmlns:p14="http://schemas.microsoft.com/office/powerpoint/2010/main" val="74755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D5E02-33C9-B674-E630-D91780D9722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6E8B4A1-FD4D-54B1-A429-01FAD94C0B6D}"/>
              </a:ext>
            </a:extLst>
          </p:cNvPr>
          <p:cNvSpPr/>
          <p:nvPr/>
        </p:nvSpPr>
        <p:spPr>
          <a:xfrm>
            <a:off x="7481455" y="4537364"/>
            <a:ext cx="1662317" cy="606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8724B44D-265B-9BF1-1049-7B91C0AE6B5B}"/>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9632B07A-D3A6-1965-FB13-74540AAC2C5B}"/>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Schneider Electric YouTube Videos - Analysis</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A784DF42-7E56-EFB3-D909-983CD10107B7}"/>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Analysis example of </a:t>
            </a:r>
            <a:r>
              <a:rPr lang="en-US" sz="1100">
                <a:solidFill>
                  <a:schemeClr val="accent3"/>
                </a:solidFill>
                <a:cs typeface="Arial"/>
                <a:hlinkClick r:id="rId3">
                  <a:extLst>
                    <a:ext uri="{A12FA001-AC4F-418D-AE19-62706E023703}">
                      <ahyp:hlinkClr xmlns:ahyp="http://schemas.microsoft.com/office/drawing/2018/hyperlinkcolor" val="tx"/>
                    </a:ext>
                  </a:extLst>
                </a:hlinkClick>
              </a:rPr>
              <a:t>Altivar ATV350 Drive</a:t>
            </a:r>
            <a:endParaRPr lang="en-US" sz="1100">
              <a:solidFill>
                <a:schemeClr val="accent3"/>
              </a:solidFill>
              <a:cs typeface="Arial"/>
            </a:endParaRPr>
          </a:p>
        </p:txBody>
      </p:sp>
      <p:graphicFrame>
        <p:nvGraphicFramePr>
          <p:cNvPr id="6" name="Table 5">
            <a:extLst>
              <a:ext uri="{FF2B5EF4-FFF2-40B4-BE49-F238E27FC236}">
                <a16:creationId xmlns:a16="http://schemas.microsoft.com/office/drawing/2014/main" id="{77879764-3DF2-B630-34F8-DDED9E397339}"/>
              </a:ext>
            </a:extLst>
          </p:cNvPr>
          <p:cNvGraphicFramePr>
            <a:graphicFrameLocks noGrp="1"/>
          </p:cNvGraphicFramePr>
          <p:nvPr>
            <p:extLst>
              <p:ext uri="{D42A27DB-BD31-4B8C-83A1-F6EECF244321}">
                <p14:modId xmlns:p14="http://schemas.microsoft.com/office/powerpoint/2010/main" val="3989020804"/>
              </p:ext>
            </p:extLst>
          </p:nvPr>
        </p:nvGraphicFramePr>
        <p:xfrm>
          <a:off x="342900" y="1114268"/>
          <a:ext cx="8401050" cy="3837208"/>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082219581"/>
                    </a:ext>
                  </a:extLst>
                </a:gridCol>
                <a:gridCol w="723900">
                  <a:extLst>
                    <a:ext uri="{9D8B030D-6E8A-4147-A177-3AD203B41FA5}">
                      <a16:colId xmlns:a16="http://schemas.microsoft.com/office/drawing/2014/main" val="1617026272"/>
                    </a:ext>
                  </a:extLst>
                </a:gridCol>
                <a:gridCol w="5543550">
                  <a:extLst>
                    <a:ext uri="{9D8B030D-6E8A-4147-A177-3AD203B41FA5}">
                      <a16:colId xmlns:a16="http://schemas.microsoft.com/office/drawing/2014/main" val="3755517844"/>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GEO item checked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Score</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Why this score</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marL="0" lvl="0" algn="ctr" defTabSz="457184" rtl="0" eaLnBrk="1" latinLnBrk="0" hangingPunct="1"/>
                      <a:r>
                        <a:rPr kumimoji="0" lang="fr-FR" sz="1000" b="1" i="0" u="none" strike="noStrike" kern="1200" cap="none" spc="0" normalizeH="0" baseline="0" noProof="0" err="1">
                          <a:ln>
                            <a:noFill/>
                          </a:ln>
                          <a:solidFill>
                            <a:srgbClr val="0A2F24"/>
                          </a:solidFill>
                          <a:effectLst/>
                          <a:uLnTx/>
                          <a:uFillTx/>
                          <a:latin typeface="+mn-lt"/>
                          <a:ea typeface="+mn-ea"/>
                          <a:cs typeface="+mn-cs"/>
                        </a:rPr>
                        <a:t>Video</a:t>
                      </a:r>
                      <a:r>
                        <a:rPr kumimoji="0" lang="fr-FR" sz="1000" b="1" i="0" u="none" strike="noStrike" kern="1200" cap="none" spc="0" normalizeH="0" baseline="0" noProof="0">
                          <a:ln>
                            <a:noFill/>
                          </a:ln>
                          <a:solidFill>
                            <a:srgbClr val="0A2F24"/>
                          </a:solidFill>
                          <a:effectLst/>
                          <a:uLnTx/>
                          <a:uFillTx/>
                          <a:latin typeface="+mn-lt"/>
                          <a:ea typeface="+mn-ea"/>
                          <a:cs typeface="+mn-cs"/>
                        </a:rPr>
                        <a:t> type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b="0" i="0" u="none" strike="noStrike" kern="1200" cap="none" spc="0" normalizeH="0" baseline="0">
                          <a:ln>
                            <a:noFill/>
                          </a:ln>
                          <a:solidFill>
                            <a:srgbClr val="0A2F24"/>
                          </a:solidFill>
                          <a:effectLst/>
                          <a:uLnTx/>
                          <a:uFillTx/>
                          <a:latin typeface="+mn-lt"/>
                          <a:ea typeface="+mn-ea"/>
                          <a:cs typeface="+mn-cs"/>
                        </a:rPr>
                        <a:t>2/5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Good for brand and product discovery. Provides key product information. Less likely to answer detailed user questions or 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102199639"/>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Title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2/5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Clear product branding. Could be enhanced by framing it around a target search intent (e.g. </a:t>
                      </a:r>
                      <a:r>
                        <a:rPr kumimoji="0" lang="pl-PL" sz="1000" b="0" i="0" u="none" strike="noStrike" kern="1200" cap="none" spc="0" normalizeH="0" baseline="0">
                          <a:ln>
                            <a:noFill/>
                          </a:ln>
                          <a:solidFill>
                            <a:srgbClr val="0A2F24"/>
                          </a:solidFill>
                          <a:effectLst/>
                          <a:uLnTx/>
                          <a:uFillTx/>
                          <a:latin typeface="+mn-lt"/>
                          <a:ea typeface="+mn-ea"/>
                          <a:cs typeface="+mn-cs"/>
                        </a:rPr>
                        <a:t>„</a:t>
                      </a:r>
                      <a:r>
                        <a:rPr kumimoji="0" lang="en-US" sz="1000" b="0" i="1" u="none" strike="noStrike" kern="1200" cap="none" spc="0" normalizeH="0" baseline="0">
                          <a:ln>
                            <a:noFill/>
                          </a:ln>
                          <a:solidFill>
                            <a:srgbClr val="0A2F24"/>
                          </a:solidFill>
                          <a:effectLst/>
                          <a:uLnTx/>
                          <a:uFillTx/>
                          <a:latin typeface="+mn-lt"/>
                          <a:ea typeface="+mn-ea"/>
                          <a:cs typeface="+mn-cs"/>
                        </a:rPr>
                        <a:t>What is...</a:t>
                      </a:r>
                      <a:r>
                        <a:rPr kumimoji="0" lang="pl-PL" sz="1000" b="0" i="1" u="none" strike="noStrike" kern="1200" cap="none" spc="0" normalizeH="0" baseline="0">
                          <a:ln>
                            <a:noFill/>
                          </a:ln>
                          <a:solidFill>
                            <a:srgbClr val="0A2F24"/>
                          </a:solidFill>
                          <a:effectLst/>
                          <a:uLnTx/>
                          <a:uFillTx/>
                          <a:latin typeface="+mn-lt"/>
                          <a:ea typeface="+mn-ea"/>
                          <a:cs typeface="+mn-cs"/>
                        </a:rPr>
                        <a:t>”</a:t>
                      </a:r>
                      <a:r>
                        <a:rPr kumimoji="0" lang="en-US" sz="1000" b="0" i="1" u="none" strike="noStrike" kern="1200" cap="none" spc="0" normalizeH="0" baseline="0">
                          <a:ln>
                            <a:noFill/>
                          </a:ln>
                          <a:solidFill>
                            <a:srgbClr val="0A2F24"/>
                          </a:solidFill>
                          <a:effectLst/>
                          <a:uLnTx/>
                          <a:uFillTx/>
                          <a:latin typeface="+mn-lt"/>
                          <a:ea typeface="+mn-ea"/>
                          <a:cs typeface="+mn-cs"/>
                        </a:rPr>
                        <a:t> </a:t>
                      </a:r>
                      <a:r>
                        <a:rPr kumimoji="0" lang="en-US" sz="1000" b="0" i="0" u="none" strike="noStrike" kern="1200" cap="none" spc="0" normalizeH="0" baseline="0">
                          <a:ln>
                            <a:noFill/>
                          </a:ln>
                          <a:solidFill>
                            <a:srgbClr val="0A2F24"/>
                          </a:solidFill>
                          <a:effectLst/>
                          <a:uLnTx/>
                          <a:uFillTx/>
                          <a:latin typeface="+mn-lt"/>
                          <a:ea typeface="+mn-ea"/>
                          <a:cs typeface="+mn-cs"/>
                        </a:rPr>
                        <a:t>or </a:t>
                      </a:r>
                      <a:r>
                        <a:rPr kumimoji="0" lang="pl-PL" sz="1000" b="0" i="0" u="none" strike="noStrike" kern="1200" cap="none" spc="0" normalizeH="0" baseline="0">
                          <a:ln>
                            <a:noFill/>
                          </a:ln>
                          <a:solidFill>
                            <a:srgbClr val="0A2F24"/>
                          </a:solidFill>
                          <a:effectLst/>
                          <a:uLnTx/>
                          <a:uFillTx/>
                          <a:latin typeface="+mn-lt"/>
                          <a:ea typeface="+mn-ea"/>
                          <a:cs typeface="+mn-cs"/>
                        </a:rPr>
                        <a:t>„</a:t>
                      </a:r>
                      <a:r>
                        <a:rPr kumimoji="0" lang="en-US" sz="1000" b="0" i="1" u="none" strike="noStrike" kern="1200" cap="none" spc="0" normalizeH="0" baseline="0">
                          <a:ln>
                            <a:noFill/>
                          </a:ln>
                          <a:solidFill>
                            <a:srgbClr val="0A2F24"/>
                          </a:solidFill>
                          <a:effectLst/>
                          <a:uLnTx/>
                          <a:uFillTx/>
                          <a:latin typeface="+mn-lt"/>
                          <a:ea typeface="+mn-ea"/>
                          <a:cs typeface="+mn-cs"/>
                        </a:rPr>
                        <a:t>Key Benefits of...</a:t>
                      </a:r>
                      <a:r>
                        <a:rPr kumimoji="0" lang="pl-PL" sz="1000" b="0" i="0" u="none" strike="noStrike" kern="1200" cap="none" spc="0" normalizeH="0" baseline="0">
                          <a:ln>
                            <a:noFill/>
                          </a:ln>
                          <a:solidFill>
                            <a:srgbClr val="0A2F24"/>
                          </a:solidFill>
                          <a:effectLst/>
                          <a:uLnTx/>
                          <a:uFillTx/>
                          <a:latin typeface="+mn-lt"/>
                          <a:ea typeface="+mn-ea"/>
                          <a:cs typeface="+mn-cs"/>
                        </a:rPr>
                        <a:t>”).</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287643"/>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Description</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3/5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Could include customer problems addressed by the solution, practical use case examples, and the key questions answered by the video.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989539289"/>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Voice-over</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Clear spoken narration enables automatic speech-to-text (ASR) indexing by search engines.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235331"/>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Subtitles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a:ln>
                            <a:noFill/>
                          </a:ln>
                          <a:solidFill>
                            <a:srgbClr val="0A2F24"/>
                          </a:solidFill>
                          <a:effectLst/>
                          <a:uLnTx/>
                          <a:uFillTx/>
                          <a:latin typeface="+mn-lt"/>
                          <a:ea typeface="+mn-ea"/>
                          <a:cs typeface="+mn-cs"/>
                        </a:rPr>
                        <a:t>Native closed captions ensure accurate technical terminology extraction by AI crawlers.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036112665"/>
                  </a:ext>
                </a:extLst>
              </a:tr>
              <a:tr h="424555">
                <a:tc>
                  <a:txBody>
                    <a:bodyPr/>
                    <a:lstStyle/>
                    <a:p>
                      <a:pPr marL="0" lvl="0" algn="ctr" defTabSz="457184" rtl="0" eaLnBrk="1" latinLnBrk="0" hangingPunct="1"/>
                      <a:r>
                        <a:rPr kumimoji="0" lang="fr-FR" sz="1000" b="1" i="0" u="none" strike="noStrike" kern="1200" cap="none" spc="0" normalizeH="0" baseline="0" noProof="0">
                          <a:ln>
                            <a:noFill/>
                          </a:ln>
                          <a:solidFill>
                            <a:srgbClr val="0A2F24"/>
                          </a:solidFill>
                          <a:effectLst/>
                          <a:uLnTx/>
                          <a:uFillTx/>
                          <a:latin typeface="+mn-lt"/>
                          <a:ea typeface="+mn-ea"/>
                          <a:cs typeface="+mn-cs"/>
                        </a:rPr>
                        <a:t>Link to SE web page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Direct link included: driving cross-domain authority between YouTube and the web.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5794579"/>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Chapters &amp; Timestamps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Missing micro-timestamps which could highlight key feature segments for LLMs (even in a short video)</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510443722"/>
                  </a:ext>
                </a:extLst>
              </a:tr>
              <a:tr h="424555">
                <a:tc>
                  <a:txBody>
                    <a:bodyPr/>
                    <a:lstStyle/>
                    <a:p>
                      <a:pPr marL="0" lvl="0" algn="ctr" defTabSz="457184" rtl="0" eaLnBrk="1" latinLnBrk="0" hangingPunct="1"/>
                      <a:r>
                        <a:rPr kumimoji="0" lang="fr-FR" sz="1000" b="1" i="0" u="none" strike="noStrike" kern="1200" cap="none" spc="0" normalizeH="0" baseline="0" noProof="0">
                          <a:ln>
                            <a:noFill/>
                          </a:ln>
                          <a:solidFill>
                            <a:srgbClr val="0A2F24"/>
                          </a:solidFill>
                          <a:effectLst/>
                          <a:uLnTx/>
                          <a:uFillTx/>
                          <a:latin typeface="+mn-lt"/>
                          <a:ea typeface="+mn-ea"/>
                          <a:cs typeface="+mn-cs"/>
                        </a:rPr>
                        <a:t>Publication on SE web pages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Published on the official SE </a:t>
                      </a:r>
                      <a:r>
                        <a:rPr kumimoji="0" lang="en-US" sz="1000" b="0" i="0" u="none" strike="noStrike" kern="1200" cap="none" spc="0" normalizeH="0" baseline="0" noProof="0">
                          <a:ln>
                            <a:noFill/>
                          </a:ln>
                          <a:solidFill>
                            <a:schemeClr val="accent3"/>
                          </a:solidFill>
                          <a:effectLst/>
                          <a:uLnTx/>
                          <a:uFillTx/>
                          <a:latin typeface="+mn-lt"/>
                          <a:ea typeface="+mn-ea"/>
                          <a:cs typeface="+mn-cs"/>
                          <a:hlinkClick r:id="rId4">
                            <a:extLst>
                              <a:ext uri="{A12FA001-AC4F-418D-AE19-62706E023703}">
                                <ahyp:hlinkClr xmlns:ahyp="http://schemas.microsoft.com/office/drawing/2018/hyperlinkcolor" val="tx"/>
                              </a:ext>
                            </a:extLst>
                          </a:hlinkClick>
                        </a:rPr>
                        <a:t>web page</a:t>
                      </a:r>
                      <a:r>
                        <a:rPr kumimoji="0" lang="en-US" sz="1000" b="0" i="0" u="none" strike="noStrike" kern="1200" cap="none" spc="0" normalizeH="0" baseline="0" noProof="0">
                          <a:ln>
                            <a:noFill/>
                          </a:ln>
                          <a:solidFill>
                            <a:srgbClr val="0A2F24"/>
                          </a:solidFill>
                          <a:effectLst/>
                          <a:uLnTx/>
                          <a:uFillTx/>
                          <a:latin typeface="+mn-lt"/>
                          <a:ea typeface="+mn-ea"/>
                          <a:cs typeface="+mn-cs"/>
                        </a:rPr>
                        <a:t>, creating strong cross-domain trust. Multi-channel footprint reinforces brand entity authority and maximizes indexation by LLM crawlers.</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6923110"/>
                  </a:ext>
                </a:extLst>
              </a:tr>
            </a:tbl>
          </a:graphicData>
        </a:graphic>
      </p:graphicFrame>
      <p:pic>
        <p:nvPicPr>
          <p:cNvPr id="7" name="Picture 2">
            <a:hlinkClick r:id="rId5"/>
            <a:extLst>
              <a:ext uri="{FF2B5EF4-FFF2-40B4-BE49-F238E27FC236}">
                <a16:creationId xmlns:a16="http://schemas.microsoft.com/office/drawing/2014/main" id="{316C736F-D770-93EF-5CD2-957C75331AC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1790" b="12160"/>
          <a:stretch>
            <a:fillRect/>
          </a:stretch>
        </p:blipFill>
        <p:spPr bwMode="auto">
          <a:xfrm>
            <a:off x="7003592" y="192024"/>
            <a:ext cx="2017404" cy="1107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112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BC7B5-DA3F-5EE4-9758-50D8AA53528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B8C418B-EC75-D93F-1CE2-7F240261E046}"/>
              </a:ext>
            </a:extLst>
          </p:cNvPr>
          <p:cNvSpPr/>
          <p:nvPr/>
        </p:nvSpPr>
        <p:spPr>
          <a:xfrm>
            <a:off x="7481455" y="4537364"/>
            <a:ext cx="1662317" cy="606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165C625D-ABBB-1AF9-C9AB-F8B180F8D4F3}"/>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1BE8AAC6-E7CE-6111-263D-173B7E38D4D5}"/>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Schneider Electric YouTube Videos - </a:t>
            </a:r>
            <a:r>
              <a:rPr lang="pl-PL" sz="2200">
                <a:solidFill>
                  <a:schemeClr val="accent5"/>
                </a:solidFill>
                <a:cs typeface="Arial"/>
              </a:rPr>
              <a:t>Analysis</a:t>
            </a:r>
            <a:r>
              <a:rPr lang="pl-PL" sz="2200">
                <a:solidFill>
                  <a:schemeClr val="accent5"/>
                </a:solidFill>
                <a:latin typeface="+mj-lt"/>
                <a:ea typeface="+mj-ea"/>
                <a:cs typeface="Arial"/>
              </a:rPr>
              <a:t>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2860D238-04CC-AEAD-0955-B08274F8C3A4}"/>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Analysis example of </a:t>
            </a:r>
            <a:r>
              <a:rPr lang="en-US" sz="1100">
                <a:solidFill>
                  <a:schemeClr val="accent3"/>
                </a:solidFill>
                <a:cs typeface="Arial"/>
                <a:hlinkClick r:id="rId3">
                  <a:extLst>
                    <a:ext uri="{A12FA001-AC4F-418D-AE19-62706E023703}">
                      <ahyp:hlinkClr xmlns:ahyp="http://schemas.microsoft.com/office/drawing/2018/hyperlinkcolor" val="tx"/>
                    </a:ext>
                  </a:extLst>
                </a:hlinkClick>
              </a:rPr>
              <a:t>Galaxy VXL 3-Phase UPS Explained in 60 Seconds </a:t>
            </a:r>
            <a:endParaRPr lang="en-US" sz="1100">
              <a:solidFill>
                <a:schemeClr val="accent3"/>
              </a:solidFill>
              <a:cs typeface="Arial"/>
            </a:endParaRPr>
          </a:p>
        </p:txBody>
      </p:sp>
      <p:graphicFrame>
        <p:nvGraphicFramePr>
          <p:cNvPr id="6" name="Table 5">
            <a:extLst>
              <a:ext uri="{FF2B5EF4-FFF2-40B4-BE49-F238E27FC236}">
                <a16:creationId xmlns:a16="http://schemas.microsoft.com/office/drawing/2014/main" id="{C571FCE6-DC9D-5321-C06E-07A6A153E007}"/>
              </a:ext>
            </a:extLst>
          </p:cNvPr>
          <p:cNvGraphicFramePr>
            <a:graphicFrameLocks noGrp="1"/>
          </p:cNvGraphicFramePr>
          <p:nvPr>
            <p:extLst>
              <p:ext uri="{D42A27DB-BD31-4B8C-83A1-F6EECF244321}">
                <p14:modId xmlns:p14="http://schemas.microsoft.com/office/powerpoint/2010/main" val="487051652"/>
              </p:ext>
            </p:extLst>
          </p:nvPr>
        </p:nvGraphicFramePr>
        <p:xfrm>
          <a:off x="342900" y="1114268"/>
          <a:ext cx="8401050" cy="3713123"/>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082219581"/>
                    </a:ext>
                  </a:extLst>
                </a:gridCol>
                <a:gridCol w="723900">
                  <a:extLst>
                    <a:ext uri="{9D8B030D-6E8A-4147-A177-3AD203B41FA5}">
                      <a16:colId xmlns:a16="http://schemas.microsoft.com/office/drawing/2014/main" val="1617026272"/>
                    </a:ext>
                  </a:extLst>
                </a:gridCol>
                <a:gridCol w="5543550">
                  <a:extLst>
                    <a:ext uri="{9D8B030D-6E8A-4147-A177-3AD203B41FA5}">
                      <a16:colId xmlns:a16="http://schemas.microsoft.com/office/drawing/2014/main" val="3755517844"/>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GEO item checked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Score</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Why this score</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marL="0" lvl="0" algn="ctr" defTabSz="457184" rtl="0" eaLnBrk="1" latinLnBrk="0" hangingPunct="1"/>
                      <a:r>
                        <a:rPr kumimoji="0" lang="fr-FR" sz="1000" b="1" i="0" u="none" strike="noStrike" kern="1200" cap="none" spc="0" normalizeH="0" baseline="0" noProof="0" err="1">
                          <a:ln>
                            <a:noFill/>
                          </a:ln>
                          <a:solidFill>
                            <a:srgbClr val="0A2F24"/>
                          </a:solidFill>
                          <a:effectLst/>
                          <a:uLnTx/>
                          <a:uFillTx/>
                          <a:latin typeface="+mn-lt"/>
                          <a:ea typeface="+mn-ea"/>
                          <a:cs typeface="+mn-cs"/>
                        </a:rPr>
                        <a:t>Video</a:t>
                      </a:r>
                      <a:r>
                        <a:rPr kumimoji="0" lang="fr-FR" sz="1000" b="1" i="0" u="none" strike="noStrike" kern="1200" cap="none" spc="0" normalizeH="0" baseline="0" noProof="0">
                          <a:ln>
                            <a:noFill/>
                          </a:ln>
                          <a:solidFill>
                            <a:srgbClr val="0A2F24"/>
                          </a:solidFill>
                          <a:effectLst/>
                          <a:uLnTx/>
                          <a:uFillTx/>
                          <a:latin typeface="+mn-lt"/>
                          <a:ea typeface="+mn-ea"/>
                          <a:cs typeface="+mn-cs"/>
                        </a:rPr>
                        <a:t> type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4/5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Provides key product information and some problem solving information</a:t>
                      </a:r>
                      <a:r>
                        <a:rPr kumimoji="0" lang="pl-PL" sz="1000" b="0" i="0" u="none" strike="noStrike" kern="1200" cap="none" spc="0" normalizeH="0" baseline="0">
                          <a:ln>
                            <a:noFill/>
                          </a:ln>
                          <a:solidFill>
                            <a:srgbClr val="0A2F24"/>
                          </a:solidFill>
                          <a:effectLst/>
                          <a:uLnTx/>
                          <a:uFillTx/>
                          <a:latin typeface="+mn-lt"/>
                          <a:ea typeface="+mn-ea"/>
                          <a:cs typeface="+mn-cs"/>
                        </a:rPr>
                        <a:t>.</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Title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4/5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err="1">
                          <a:ln>
                            <a:noFill/>
                          </a:ln>
                          <a:solidFill>
                            <a:srgbClr val="0A2F24"/>
                          </a:solidFill>
                          <a:effectLst/>
                          <a:uLnTx/>
                          <a:uFillTx/>
                          <a:latin typeface="+mn-lt"/>
                          <a:ea typeface="+mn-ea"/>
                          <a:cs typeface="+mn-cs"/>
                        </a:rPr>
                        <a:t>Could</a:t>
                      </a:r>
                      <a:r>
                        <a:rPr kumimoji="0" lang="fr-FR" sz="1000" b="0" i="0" u="none" strike="noStrike" kern="1200" cap="none" spc="0" normalizeH="0" baseline="0">
                          <a:ln>
                            <a:noFill/>
                          </a:ln>
                          <a:solidFill>
                            <a:srgbClr val="0A2F24"/>
                          </a:solidFill>
                          <a:effectLst/>
                          <a:uLnTx/>
                          <a:uFillTx/>
                          <a:latin typeface="+mn-lt"/>
                          <a:ea typeface="+mn-ea"/>
                          <a:cs typeface="+mn-cs"/>
                        </a:rPr>
                        <a:t> </a:t>
                      </a:r>
                      <a:r>
                        <a:rPr kumimoji="0" lang="fr-FR" sz="1000" b="0" i="0" u="none" strike="noStrike" kern="1200" cap="none" spc="0" normalizeH="0" baseline="0" err="1">
                          <a:ln>
                            <a:noFill/>
                          </a:ln>
                          <a:solidFill>
                            <a:srgbClr val="0A2F24"/>
                          </a:solidFill>
                          <a:effectLst/>
                          <a:uLnTx/>
                          <a:uFillTx/>
                          <a:latin typeface="+mn-lt"/>
                          <a:ea typeface="+mn-ea"/>
                          <a:cs typeface="+mn-cs"/>
                        </a:rPr>
                        <a:t>be</a:t>
                      </a:r>
                      <a:r>
                        <a:rPr kumimoji="0" lang="fr-FR" sz="1000" b="0" i="0" u="none" strike="noStrike" kern="1200" cap="none" spc="0" normalizeH="0" baseline="0">
                          <a:ln>
                            <a:noFill/>
                          </a:ln>
                          <a:solidFill>
                            <a:srgbClr val="0A2F24"/>
                          </a:solidFill>
                          <a:effectLst/>
                          <a:uLnTx/>
                          <a:uFillTx/>
                          <a:latin typeface="+mn-lt"/>
                          <a:ea typeface="+mn-ea"/>
                          <a:cs typeface="+mn-cs"/>
                        </a:rPr>
                        <a:t> in a question format</a:t>
                      </a:r>
                      <a:r>
                        <a:rPr kumimoji="0" lang="pl-PL" sz="1000" b="0" i="0" u="none" strike="noStrike" kern="1200" cap="none" spc="0" normalizeH="0" baseline="0">
                          <a:ln>
                            <a:noFill/>
                          </a:ln>
                          <a:solidFill>
                            <a:srgbClr val="0A2F24"/>
                          </a:solidFill>
                          <a:effectLst/>
                          <a:uLnTx/>
                          <a:uFillTx/>
                          <a:latin typeface="+mn-lt"/>
                          <a:ea typeface="+mn-ea"/>
                          <a:cs typeface="+mn-cs"/>
                        </a:rPr>
                        <a:t>.</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9539289"/>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Description</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4/5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0A2F24"/>
                          </a:solidFill>
                          <a:effectLst/>
                          <a:uLnTx/>
                          <a:uFillTx/>
                          <a:latin typeface="+mn-lt"/>
                          <a:ea typeface="+mn-ea"/>
                          <a:cs typeface="+mn-cs"/>
                        </a:rPr>
                        <a:t>“</a:t>
                      </a:r>
                      <a:r>
                        <a:rPr kumimoji="0" lang="fr-FR" sz="1000" b="0" i="1" u="none" strike="noStrike" kern="1200" cap="none" spc="0" normalizeH="0" baseline="0" noProof="0">
                          <a:ln>
                            <a:noFill/>
                          </a:ln>
                          <a:solidFill>
                            <a:srgbClr val="0A2F24"/>
                          </a:solidFill>
                          <a:effectLst/>
                          <a:uLnTx/>
                          <a:uFillTx/>
                          <a:latin typeface="+mn-lt"/>
                          <a:ea typeface="+mn-ea"/>
                          <a:cs typeface="+mn-cs"/>
                        </a:rPr>
                        <a:t>What you’ll learn</a:t>
                      </a:r>
                      <a:r>
                        <a:rPr kumimoji="0" lang="pl-PL" sz="1000" b="0" i="1" u="none" strike="noStrike" kern="1200" cap="none" spc="0" normalizeH="0" baseline="0" noProof="0">
                          <a:ln>
                            <a:noFill/>
                          </a:ln>
                          <a:solidFill>
                            <a:srgbClr val="0A2F24"/>
                          </a:solidFill>
                          <a:effectLst/>
                          <a:uLnTx/>
                          <a:uFillTx/>
                          <a:latin typeface="+mn-lt"/>
                          <a:ea typeface="+mn-ea"/>
                          <a:cs typeface="+mn-cs"/>
                        </a:rPr>
                        <a:t>”</a:t>
                      </a:r>
                      <a:r>
                        <a:rPr kumimoji="0" lang="fr-FR" sz="1000" b="0" i="1"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a:ln>
                            <a:noFill/>
                          </a:ln>
                          <a:solidFill>
                            <a:srgbClr val="0A2F24"/>
                          </a:solidFill>
                          <a:effectLst/>
                          <a:uLnTx/>
                          <a:uFillTx/>
                          <a:latin typeface="+mn-lt"/>
                          <a:ea typeface="+mn-ea"/>
                          <a:cs typeface="+mn-cs"/>
                        </a:rPr>
                        <a:t>section is a best practice.</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a:ln>
                            <a:noFill/>
                          </a:ln>
                          <a:solidFill>
                            <a:srgbClr val="0A2F24"/>
                          </a:solidFill>
                          <a:effectLst/>
                          <a:uLnTx/>
                          <a:uFillTx/>
                          <a:latin typeface="+mn-lt"/>
                          <a:ea typeface="+mn-ea"/>
                          <a:cs typeface="+mn-cs"/>
                        </a:rPr>
                        <a:t>Could include explicitly customer‘s challenges, pain points in question format and provide data points as answers.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288235331"/>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Voice-over</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No spoken audio track, missing an opportunity for automatic speech-to-text indexing.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6112665"/>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Subtitles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fr-FR" sz="1000" b="0" i="0" u="none" strike="noStrike" kern="1200" cap="none" spc="0" normalizeH="0" baseline="0" noProof="0">
                          <a:ln>
                            <a:noFill/>
                          </a:ln>
                          <a:solidFill>
                            <a:srgbClr val="0A2F24"/>
                          </a:solidFill>
                          <a:effectLst/>
                          <a:uLnTx/>
                          <a:uFillTx/>
                          <a:latin typeface="+mn-lt"/>
                          <a:ea typeface="+mn-ea"/>
                          <a:cs typeface="+mn-cs"/>
                        </a:rPr>
                        <a:t>Even </a:t>
                      </a:r>
                      <a:r>
                        <a:rPr kumimoji="0" lang="fr-FR" sz="1000" b="0" i="0" u="none" strike="noStrike" kern="1200" cap="none" spc="0" normalizeH="0" baseline="0" noProof="0" err="1">
                          <a:ln>
                            <a:noFill/>
                          </a:ln>
                          <a:solidFill>
                            <a:srgbClr val="0A2F24"/>
                          </a:solidFill>
                          <a:effectLst/>
                          <a:uLnTx/>
                          <a:uFillTx/>
                          <a:latin typeface="+mn-lt"/>
                          <a:ea typeface="+mn-ea"/>
                          <a:cs typeface="+mn-cs"/>
                        </a:rPr>
                        <a:t>without</a:t>
                      </a:r>
                      <a:r>
                        <a:rPr kumimoji="0" lang="fr-FR" sz="1000" b="0" i="0" u="none" strike="noStrike" kern="1200" cap="none" spc="0" normalizeH="0" baseline="0" noProof="0">
                          <a:ln>
                            <a:noFill/>
                          </a:ln>
                          <a:solidFill>
                            <a:srgbClr val="0A2F24"/>
                          </a:solidFill>
                          <a:effectLst/>
                          <a:uLnTx/>
                          <a:uFillTx/>
                          <a:latin typeface="+mn-lt"/>
                          <a:ea typeface="+mn-ea"/>
                          <a:cs typeface="+mn-cs"/>
                        </a:rPr>
                        <a:t> a </a:t>
                      </a:r>
                      <a:r>
                        <a:rPr kumimoji="0" lang="fr-FR" sz="1000" b="0" i="0" u="none" strike="noStrike" kern="1200" cap="none" spc="0" normalizeH="0" baseline="0" noProof="0" err="1">
                          <a:ln>
                            <a:noFill/>
                          </a:ln>
                          <a:solidFill>
                            <a:srgbClr val="0A2F24"/>
                          </a:solidFill>
                          <a:effectLst/>
                          <a:uLnTx/>
                          <a:uFillTx/>
                          <a:latin typeface="+mn-lt"/>
                          <a:ea typeface="+mn-ea"/>
                          <a:cs typeface="+mn-cs"/>
                        </a:rPr>
                        <a:t>voice</a:t>
                      </a:r>
                      <a:r>
                        <a:rPr kumimoji="0" lang="fr-FR" sz="1000" b="0" i="0" u="none" strike="noStrike" kern="1200" cap="none" spc="0" normalizeH="0" baseline="0" noProof="0">
                          <a:ln>
                            <a:noFill/>
                          </a:ln>
                          <a:solidFill>
                            <a:srgbClr val="0A2F24"/>
                          </a:solidFill>
                          <a:effectLst/>
                          <a:uLnTx/>
                          <a:uFillTx/>
                          <a:latin typeface="+mn-lt"/>
                          <a:ea typeface="+mn-ea"/>
                          <a:cs typeface="+mn-cs"/>
                        </a:rPr>
                        <a:t>-over, </a:t>
                      </a:r>
                      <a:r>
                        <a:rPr kumimoji="0" lang="fr-FR" sz="1000" b="0" i="0" u="none" strike="noStrike" kern="1200" cap="none" spc="0" normalizeH="0" baseline="0" noProof="0" err="1">
                          <a:ln>
                            <a:noFill/>
                          </a:ln>
                          <a:solidFill>
                            <a:srgbClr val="0A2F24"/>
                          </a:solidFill>
                          <a:effectLst/>
                          <a:uLnTx/>
                          <a:uFillTx/>
                          <a:latin typeface="+mn-lt"/>
                          <a:ea typeface="+mn-ea"/>
                          <a:cs typeface="+mn-cs"/>
                        </a:rPr>
                        <a:t>it</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could</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be</a:t>
                      </a:r>
                      <a:r>
                        <a:rPr kumimoji="0" lang="fr-FR" sz="1000" b="0" i="0" u="none" strike="noStrike" kern="1200" cap="none" spc="0" normalizeH="0" baseline="0" noProof="0">
                          <a:ln>
                            <a:noFill/>
                          </a:ln>
                          <a:solidFill>
                            <a:srgbClr val="0A2F24"/>
                          </a:solidFill>
                          <a:effectLst/>
                          <a:uLnTx/>
                          <a:uFillTx/>
                          <a:latin typeface="+mn-lt"/>
                          <a:ea typeface="+mn-ea"/>
                          <a:cs typeface="+mn-cs"/>
                        </a:rPr>
                        <a:t> possible to </a:t>
                      </a:r>
                      <a:r>
                        <a:rPr kumimoji="0" lang="fr-FR" sz="1000" b="0" i="0" u="none" strike="noStrike" kern="1200" cap="none" spc="0" normalizeH="0" baseline="0" noProof="0" err="1">
                          <a:ln>
                            <a:noFill/>
                          </a:ln>
                          <a:solidFill>
                            <a:srgbClr val="0A2F24"/>
                          </a:solidFill>
                          <a:effectLst/>
                          <a:uLnTx/>
                          <a:uFillTx/>
                          <a:latin typeface="+mn-lt"/>
                          <a:ea typeface="+mn-ea"/>
                          <a:cs typeface="+mn-cs"/>
                        </a:rPr>
                        <a:t>add</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subtitles</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with</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some</a:t>
                      </a:r>
                      <a:r>
                        <a:rPr kumimoji="0" lang="fr-FR" sz="1000" b="0" i="0" u="none" strike="noStrike" kern="1200" cap="none" spc="0" normalizeH="0" baseline="0" noProof="0">
                          <a:ln>
                            <a:noFill/>
                          </a:ln>
                          <a:solidFill>
                            <a:srgbClr val="0A2F24"/>
                          </a:solidFill>
                          <a:effectLst/>
                          <a:uLnTx/>
                          <a:uFillTx/>
                          <a:latin typeface="+mn-lt"/>
                          <a:ea typeface="+mn-ea"/>
                          <a:cs typeface="+mn-cs"/>
                        </a:rPr>
                        <a:t> information (the one </a:t>
                      </a:r>
                      <a:r>
                        <a:rPr kumimoji="0" lang="fr-FR" sz="1000" b="0" i="0" u="none" strike="noStrike" kern="1200" cap="none" spc="0" normalizeH="0" baseline="0" noProof="0" err="1">
                          <a:ln>
                            <a:noFill/>
                          </a:ln>
                          <a:solidFill>
                            <a:srgbClr val="0A2F24"/>
                          </a:solidFill>
                          <a:effectLst/>
                          <a:uLnTx/>
                          <a:uFillTx/>
                          <a:latin typeface="+mn-lt"/>
                          <a:ea typeface="+mn-ea"/>
                          <a:cs typeface="+mn-cs"/>
                        </a:rPr>
                        <a:t>appearing</a:t>
                      </a:r>
                      <a:r>
                        <a:rPr kumimoji="0" lang="fr-FR" sz="1000" b="0" i="0" u="none" strike="noStrike" kern="1200" cap="none" spc="0" normalizeH="0" baseline="0" noProof="0">
                          <a:ln>
                            <a:noFill/>
                          </a:ln>
                          <a:solidFill>
                            <a:srgbClr val="0A2F24"/>
                          </a:solidFill>
                          <a:effectLst/>
                          <a:uLnTx/>
                          <a:uFillTx/>
                          <a:latin typeface="+mn-lt"/>
                          <a:ea typeface="+mn-ea"/>
                          <a:cs typeface="+mn-cs"/>
                        </a:rPr>
                        <a:t> in the </a:t>
                      </a:r>
                      <a:r>
                        <a:rPr kumimoji="0" lang="fr-FR" sz="1000" b="0" i="0" u="none" strike="noStrike" kern="1200" cap="none" spc="0" normalizeH="0" baseline="0" noProof="0" err="1">
                          <a:ln>
                            <a:noFill/>
                          </a:ln>
                          <a:solidFill>
                            <a:srgbClr val="0A2F24"/>
                          </a:solidFill>
                          <a:effectLst/>
                          <a:uLnTx/>
                          <a:uFillTx/>
                          <a:latin typeface="+mn-lt"/>
                          <a:ea typeface="+mn-ea"/>
                          <a:cs typeface="+mn-cs"/>
                        </a:rPr>
                        <a:t>video</a:t>
                      </a:r>
                      <a:r>
                        <a:rPr kumimoji="0" lang="fr-FR" sz="1000" b="0" i="0" u="none" strike="noStrike" kern="1200" cap="none" spc="0" normalizeH="0" baseline="0" noProof="0">
                          <a:ln>
                            <a:noFill/>
                          </a:ln>
                          <a:solidFill>
                            <a:srgbClr val="0A2F24"/>
                          </a:solidFill>
                          <a:effectLst/>
                          <a:uLnTx/>
                          <a:uFillTx/>
                          <a:latin typeface="+mn-lt"/>
                          <a:ea typeface="+mn-ea"/>
                          <a:cs typeface="+mn-cs"/>
                        </a:rPr>
                        <a:t> and </a:t>
                      </a:r>
                      <a:r>
                        <a:rPr kumimoji="0" lang="fr-FR" sz="1000" b="0" i="0" u="none" strike="noStrike" kern="1200" cap="none" spc="0" normalizeH="0" baseline="0" noProof="0" err="1">
                          <a:ln>
                            <a:noFill/>
                          </a:ln>
                          <a:solidFill>
                            <a:srgbClr val="0A2F24"/>
                          </a:solidFill>
                          <a:effectLst/>
                          <a:uLnTx/>
                          <a:uFillTx/>
                          <a:latin typeface="+mn-lt"/>
                          <a:ea typeface="+mn-ea"/>
                          <a:cs typeface="+mn-cs"/>
                        </a:rPr>
                        <a:t>also</a:t>
                      </a:r>
                      <a:r>
                        <a:rPr kumimoji="0" lang="fr-FR" sz="1000" b="0" i="0" u="none" strike="noStrike" kern="1200" cap="none" spc="0" normalizeH="0" baseline="0" noProof="0">
                          <a:ln>
                            <a:noFill/>
                          </a:ln>
                          <a:solidFill>
                            <a:srgbClr val="0A2F24"/>
                          </a:solidFill>
                          <a:effectLst/>
                          <a:uLnTx/>
                          <a:uFillTx/>
                          <a:latin typeface="+mn-lt"/>
                          <a:ea typeface="+mn-ea"/>
                          <a:cs typeface="+mn-cs"/>
                        </a:rPr>
                        <a:t> other information)</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845794579"/>
                  </a:ext>
                </a:extLst>
              </a:tr>
              <a:tr h="424555">
                <a:tc>
                  <a:txBody>
                    <a:bodyPr/>
                    <a:lstStyle/>
                    <a:p>
                      <a:pPr marL="0" lvl="0" algn="ctr" defTabSz="457184" rtl="0" eaLnBrk="1" latinLnBrk="0" hangingPunct="1"/>
                      <a:r>
                        <a:rPr kumimoji="0" lang="fr-FR" sz="1000" b="1" i="0" u="none" strike="noStrike" kern="1200" cap="none" spc="0" normalizeH="0" baseline="0" noProof="0">
                          <a:ln>
                            <a:noFill/>
                          </a:ln>
                          <a:solidFill>
                            <a:srgbClr val="0A2F24"/>
                          </a:solidFill>
                          <a:effectLst/>
                          <a:uLnTx/>
                          <a:uFillTx/>
                          <a:latin typeface="+mn-lt"/>
                          <a:ea typeface="+mn-ea"/>
                          <a:cs typeface="+mn-cs"/>
                        </a:rPr>
                        <a:t>Link to SE web page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fr-FR" sz="1000" b="0" i="0" u="none" strike="noStrike" kern="1200" cap="none" spc="0" normalizeH="0" baseline="0" noProof="0">
                          <a:ln>
                            <a:noFill/>
                          </a:ln>
                          <a:solidFill>
                            <a:srgbClr val="0A2F24"/>
                          </a:solidFill>
                          <a:effectLst/>
                          <a:uLnTx/>
                          <a:uFillTx/>
                          <a:latin typeface="+mn-lt"/>
                          <a:ea typeface="+mn-ea"/>
                          <a:cs typeface="+mn-cs"/>
                        </a:rPr>
                        <a:t>Link to SE range page </a:t>
                      </a:r>
                      <a:r>
                        <a:rPr kumimoji="0" lang="fr-FR" sz="1000" b="0" i="0" u="none" strike="noStrike" kern="1200" cap="none" spc="0" normalizeH="0" baseline="0" noProof="0" err="1">
                          <a:ln>
                            <a:noFill/>
                          </a:ln>
                          <a:solidFill>
                            <a:srgbClr val="0A2F24"/>
                          </a:solidFill>
                          <a:effectLst/>
                          <a:uLnTx/>
                          <a:uFillTx/>
                          <a:latin typeface="+mn-lt"/>
                          <a:ea typeface="+mn-ea"/>
                          <a:cs typeface="+mn-cs"/>
                        </a:rPr>
                        <a:t>is</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included</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0443722"/>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Chapters &amp; Timestamps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No chapters provided. Adding micro-timestamps would help LLMs index specific product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976923110"/>
                  </a:ext>
                </a:extLst>
              </a:tr>
              <a:tr h="424555">
                <a:tc>
                  <a:txBody>
                    <a:bodyPr/>
                    <a:lstStyle/>
                    <a:p>
                      <a:pPr marL="0" lvl="0" algn="ctr" defTabSz="457184" rtl="0" eaLnBrk="1" latinLnBrk="0" hangingPunct="1"/>
                      <a:r>
                        <a:rPr kumimoji="0" lang="fr-FR" sz="1000" b="1" i="0" u="none" strike="noStrike" kern="1200" cap="none" spc="0" normalizeH="0" baseline="0" noProof="0">
                          <a:ln>
                            <a:noFill/>
                          </a:ln>
                          <a:solidFill>
                            <a:srgbClr val="0A2F24"/>
                          </a:solidFill>
                          <a:effectLst/>
                          <a:uLnTx/>
                          <a:uFillTx/>
                          <a:latin typeface="+mn-lt"/>
                          <a:ea typeface="+mn-ea"/>
                          <a:cs typeface="+mn-cs"/>
                        </a:rPr>
                        <a:t>Publication on SE web pages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fr-FR" sz="1000" b="0" i="0" u="none" strike="noStrike" kern="1200" cap="none" spc="0" normalizeH="0" baseline="0" noProof="0">
                          <a:ln>
                            <a:noFill/>
                          </a:ln>
                          <a:solidFill>
                            <a:srgbClr val="0A2F24"/>
                          </a:solidFill>
                          <a:effectLst/>
                          <a:uLnTx/>
                          <a:uFillTx/>
                          <a:latin typeface="+mn-lt"/>
                          <a:ea typeface="+mn-ea"/>
                          <a:cs typeface="+mn-cs"/>
                        </a:rPr>
                        <a:t>Not visible on SE </a:t>
                      </a:r>
                      <a:r>
                        <a:rPr kumimoji="0" lang="fr-FR" sz="1000" b="0" i="0" u="none" strike="noStrike" kern="1200" cap="none" spc="0" normalizeH="0" baseline="0" noProof="0" err="1">
                          <a:ln>
                            <a:noFill/>
                          </a:ln>
                          <a:solidFill>
                            <a:schemeClr val="accent3"/>
                          </a:solidFill>
                          <a:effectLst/>
                          <a:uLnTx/>
                          <a:uFillTx/>
                          <a:latin typeface="+mn-lt"/>
                          <a:ea typeface="+mn-ea"/>
                          <a:cs typeface="+mn-cs"/>
                          <a:hlinkClick r:id="rId4">
                            <a:extLst>
                              <a:ext uri="{A12FA001-AC4F-418D-AE19-62706E023703}">
                                <ahyp:hlinkClr xmlns:ahyp="http://schemas.microsoft.com/office/drawing/2018/hyperlinkcolor" val="tx"/>
                              </a:ext>
                            </a:extLst>
                          </a:hlinkClick>
                        </a:rPr>
                        <a:t>product</a:t>
                      </a:r>
                      <a:r>
                        <a:rPr kumimoji="0" lang="fr-FR" sz="1000" b="0" i="0" u="none" strike="noStrike" kern="1200" cap="none" spc="0" normalizeH="0" baseline="0" noProof="0">
                          <a:ln>
                            <a:noFill/>
                          </a:ln>
                          <a:solidFill>
                            <a:schemeClr val="accent3"/>
                          </a:solidFill>
                          <a:effectLst/>
                          <a:uLnTx/>
                          <a:uFillTx/>
                          <a:latin typeface="+mn-lt"/>
                          <a:ea typeface="+mn-ea"/>
                          <a:cs typeface="+mn-cs"/>
                          <a:hlinkClick r:id="rId4">
                            <a:extLst>
                              <a:ext uri="{A12FA001-AC4F-418D-AE19-62706E023703}">
                                <ahyp:hlinkClr xmlns:ahyp="http://schemas.microsoft.com/office/drawing/2018/hyperlinkcolor" val="tx"/>
                              </a:ext>
                            </a:extLst>
                          </a:hlinkClick>
                        </a:rPr>
                        <a:t> web pages</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a:ln>
                            <a:noFill/>
                          </a:ln>
                          <a:solidFill>
                            <a:srgbClr val="0A2F24"/>
                          </a:solidFill>
                          <a:effectLst/>
                          <a:uLnTx/>
                          <a:uFillTx/>
                          <a:latin typeface="+mn-lt"/>
                          <a:ea typeface="+mn-ea"/>
                          <a:cs typeface="+mn-cs"/>
                        </a:rPr>
                        <a:t>Not linked to the official SE source of truth. </a:t>
                      </a:r>
                      <a:r>
                        <a:rPr kumimoji="0" lang="fr-FR" sz="1000" b="0" i="0" u="none" strike="noStrike" kern="1200" cap="none" spc="0" normalizeH="0" baseline="0" noProof="0" err="1">
                          <a:ln>
                            <a:noFill/>
                          </a:ln>
                          <a:solidFill>
                            <a:srgbClr val="0A2F24"/>
                          </a:solidFill>
                          <a:effectLst/>
                          <a:uLnTx/>
                          <a:uFillTx/>
                          <a:latin typeface="+mn-lt"/>
                          <a:ea typeface="+mn-ea"/>
                          <a:cs typeface="+mn-cs"/>
                        </a:rPr>
                        <a:t>Missing</a:t>
                      </a:r>
                      <a:r>
                        <a:rPr kumimoji="0" lang="fr-FR" sz="1000" b="0" i="0" u="none" strike="noStrike" kern="1200" cap="none" spc="0" normalizeH="0" baseline="0" noProof="0">
                          <a:ln>
                            <a:noFill/>
                          </a:ln>
                          <a:solidFill>
                            <a:srgbClr val="0A2F24"/>
                          </a:solidFill>
                          <a:effectLst/>
                          <a:uLnTx/>
                          <a:uFillTx/>
                          <a:latin typeface="+mn-lt"/>
                          <a:ea typeface="+mn-ea"/>
                          <a:cs typeface="+mn-cs"/>
                        </a:rPr>
                        <a:t> </a:t>
                      </a:r>
                      <a:r>
                        <a:rPr kumimoji="0" lang="fr-FR" sz="1000" b="0" i="0" u="none" strike="noStrike" kern="1200" cap="none" spc="0" normalizeH="0" baseline="0" noProof="0" err="1">
                          <a:ln>
                            <a:noFill/>
                          </a:ln>
                          <a:solidFill>
                            <a:srgbClr val="0A2F24"/>
                          </a:solidFill>
                          <a:effectLst/>
                          <a:uLnTx/>
                          <a:uFillTx/>
                          <a:latin typeface="+mn-lt"/>
                          <a:ea typeface="+mn-ea"/>
                          <a:cs typeface="+mn-cs"/>
                        </a:rPr>
                        <a:t>opportunity</a:t>
                      </a:r>
                      <a:r>
                        <a:rPr kumimoji="0" lang="fr-FR" sz="1000" b="0" i="0" u="none" strike="noStrike" kern="1200" cap="none" spc="0" normalizeH="0" baseline="0" noProof="0">
                          <a:ln>
                            <a:noFill/>
                          </a:ln>
                          <a:solidFill>
                            <a:srgbClr val="0A2F24"/>
                          </a:solidFill>
                          <a:effectLst/>
                          <a:uLnTx/>
                          <a:uFillTx/>
                          <a:latin typeface="+mn-lt"/>
                          <a:ea typeface="+mn-ea"/>
                          <a:cs typeface="+mn-cs"/>
                        </a:rPr>
                        <a:t> to </a:t>
                      </a:r>
                      <a:r>
                        <a:rPr kumimoji="0" lang="en-US" sz="1000" b="0" i="0" u="none" strike="noStrike" kern="1200" cap="none" spc="0" normalizeH="0" baseline="0">
                          <a:ln>
                            <a:noFill/>
                          </a:ln>
                          <a:solidFill>
                            <a:srgbClr val="0A2F24"/>
                          </a:solidFill>
                          <a:effectLst/>
                          <a:uLnTx/>
                          <a:uFillTx/>
                          <a:latin typeface="+mn-lt"/>
                          <a:ea typeface="+mn-ea"/>
                          <a:cs typeface="+mn-cs"/>
                        </a:rPr>
                        <a:t>strengthen brand authority and improve search indexation.</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923688"/>
                  </a:ext>
                </a:extLst>
              </a:tr>
            </a:tbl>
          </a:graphicData>
        </a:graphic>
      </p:graphicFrame>
      <p:pic>
        <p:nvPicPr>
          <p:cNvPr id="8" name="Picture 2">
            <a:hlinkClick r:id="rId5"/>
            <a:extLst>
              <a:ext uri="{FF2B5EF4-FFF2-40B4-BE49-F238E27FC236}">
                <a16:creationId xmlns:a16="http://schemas.microsoft.com/office/drawing/2014/main" id="{4097C6AA-9B43-3AFA-64DF-283DF9428D0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2811" b="13991"/>
          <a:stretch>
            <a:fillRect/>
          </a:stretch>
        </p:blipFill>
        <p:spPr bwMode="auto">
          <a:xfrm>
            <a:off x="7003591" y="192023"/>
            <a:ext cx="2017567" cy="1107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6400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1F61A-2362-C3BE-0163-4153070A79F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74C6293-CEF1-70A0-4F3C-4D2F8E4BEE37}"/>
              </a:ext>
            </a:extLst>
          </p:cNvPr>
          <p:cNvSpPr/>
          <p:nvPr/>
        </p:nvSpPr>
        <p:spPr>
          <a:xfrm>
            <a:off x="7481455" y="4537364"/>
            <a:ext cx="1662317" cy="6061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10A6E19C-109A-B74B-AAD4-E656FAFB8385}"/>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B839C857-9DB8-3E9B-0C7B-AFBDBD966DD4}"/>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Schneider Electric YouTube Videos - Analysis </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287E4FA9-6DDD-2ACF-B2BE-89680E93C631}"/>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Analysis example of </a:t>
            </a:r>
            <a:r>
              <a:rPr lang="en-US" sz="1100">
                <a:hlinkClick r:id="rId3"/>
              </a:rPr>
              <a:t>How to Install and Pair </a:t>
            </a:r>
            <a:r>
              <a:rPr lang="en-US" sz="1100" err="1">
                <a:hlinkClick r:id="rId3"/>
              </a:rPr>
              <a:t>PowerTag</a:t>
            </a:r>
            <a:r>
              <a:rPr lang="en-US" sz="1100">
                <a:hlinkClick r:id="rId3"/>
              </a:rPr>
              <a:t> Resi9 with Schneider Charge Pro</a:t>
            </a:r>
            <a:r>
              <a:rPr lang="en-US" sz="1100">
                <a:solidFill>
                  <a:schemeClr val="accent3"/>
                </a:solidFill>
                <a:cs typeface="Arial"/>
                <a:hlinkClick r:id="rId4">
                  <a:extLst>
                    <a:ext uri="{A12FA001-AC4F-418D-AE19-62706E023703}">
                      <ahyp:hlinkClr xmlns:ahyp="http://schemas.microsoft.com/office/drawing/2018/hyperlinkcolor" val="tx"/>
                    </a:ext>
                  </a:extLst>
                </a:hlinkClick>
              </a:rPr>
              <a:t> </a:t>
            </a:r>
            <a:endParaRPr lang="en-US" sz="1100">
              <a:solidFill>
                <a:schemeClr val="accent3"/>
              </a:solidFill>
              <a:cs typeface="Arial"/>
            </a:endParaRPr>
          </a:p>
        </p:txBody>
      </p:sp>
      <p:graphicFrame>
        <p:nvGraphicFramePr>
          <p:cNvPr id="6" name="Table 5">
            <a:extLst>
              <a:ext uri="{FF2B5EF4-FFF2-40B4-BE49-F238E27FC236}">
                <a16:creationId xmlns:a16="http://schemas.microsoft.com/office/drawing/2014/main" id="{9553E16B-0611-3300-13A4-DAE61FA1BDDB}"/>
              </a:ext>
            </a:extLst>
          </p:cNvPr>
          <p:cNvGraphicFramePr>
            <a:graphicFrameLocks noGrp="1"/>
          </p:cNvGraphicFramePr>
          <p:nvPr>
            <p:extLst>
              <p:ext uri="{D42A27DB-BD31-4B8C-83A1-F6EECF244321}">
                <p14:modId xmlns:p14="http://schemas.microsoft.com/office/powerpoint/2010/main" val="4203771065"/>
              </p:ext>
            </p:extLst>
          </p:nvPr>
        </p:nvGraphicFramePr>
        <p:xfrm>
          <a:off x="342900" y="1114268"/>
          <a:ext cx="8401050" cy="3837208"/>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082219581"/>
                    </a:ext>
                  </a:extLst>
                </a:gridCol>
                <a:gridCol w="723900">
                  <a:extLst>
                    <a:ext uri="{9D8B030D-6E8A-4147-A177-3AD203B41FA5}">
                      <a16:colId xmlns:a16="http://schemas.microsoft.com/office/drawing/2014/main" val="1617026272"/>
                    </a:ext>
                  </a:extLst>
                </a:gridCol>
                <a:gridCol w="5543550">
                  <a:extLst>
                    <a:ext uri="{9D8B030D-6E8A-4147-A177-3AD203B41FA5}">
                      <a16:colId xmlns:a16="http://schemas.microsoft.com/office/drawing/2014/main" val="3755517844"/>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GEO item checked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Score</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Why this score</a:t>
                      </a:r>
                      <a:endParaRPr kumimoji="0" lang="en-US" sz="1200" b="1" i="0" u="none" strike="noStrike" kern="1200" cap="none" spc="0" normalizeH="0" baseline="0" noProof="0">
                        <a:ln>
                          <a:noFill/>
                        </a:ln>
                        <a:solidFill>
                          <a:srgbClr val="E7FFD9"/>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424555">
                <a:tc>
                  <a:txBody>
                    <a:bodyPr/>
                    <a:lstStyle/>
                    <a:p>
                      <a:pPr marL="0" lvl="0" algn="ctr" defTabSz="457184" rtl="0" eaLnBrk="1" latinLnBrk="0" hangingPunct="1"/>
                      <a:r>
                        <a:rPr kumimoji="0" lang="fr-FR" sz="1000" b="1" i="0" u="none" strike="noStrike" kern="1200" cap="none" spc="0" normalizeH="0" baseline="0" noProof="0" err="1">
                          <a:ln>
                            <a:noFill/>
                          </a:ln>
                          <a:solidFill>
                            <a:srgbClr val="0A2F24"/>
                          </a:solidFill>
                          <a:effectLst/>
                          <a:uLnTx/>
                          <a:uFillTx/>
                          <a:latin typeface="+mn-lt"/>
                          <a:ea typeface="+mn-ea"/>
                          <a:cs typeface="+mn-cs"/>
                        </a:rPr>
                        <a:t>Video</a:t>
                      </a:r>
                      <a:r>
                        <a:rPr kumimoji="0" lang="fr-FR" sz="1000" b="1" i="0" u="none" strike="noStrike" kern="1200" cap="none" spc="0" normalizeH="0" baseline="0" noProof="0">
                          <a:ln>
                            <a:noFill/>
                          </a:ln>
                          <a:solidFill>
                            <a:srgbClr val="0A2F24"/>
                          </a:solidFill>
                          <a:effectLst/>
                          <a:uLnTx/>
                          <a:uFillTx/>
                          <a:latin typeface="+mn-lt"/>
                          <a:ea typeface="+mn-ea"/>
                          <a:cs typeface="+mn-cs"/>
                        </a:rPr>
                        <a:t> type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LLMs heavily prioritize step-by-step technical guides to answer user installation queries.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989539289"/>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Title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a:ln>
                            <a:noFill/>
                          </a:ln>
                          <a:solidFill>
                            <a:srgbClr val="0A2F24"/>
                          </a:solidFill>
                          <a:effectLst/>
                          <a:uLnTx/>
                          <a:uFillTx/>
                          <a:latin typeface="+mn-lt"/>
                          <a:ea typeface="+mn-ea"/>
                          <a:cs typeface="+mn-cs"/>
                        </a:rPr>
                        <a:t>High-intent 'How-to' format including exact product and brand keywords.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8235331"/>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Description</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4/5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Could be enhanced with explicit Q&amp;A headers.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036112665"/>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Voice-over</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No spoken audio track, missing an opportunity for automatic speech-to-text indexing.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5794579"/>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Subtitles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4/5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Available in multiple languages. Good strategy even without voice over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b</a:t>
                      </a:r>
                      <a:r>
                        <a:rPr kumimoji="0" lang="en-US" sz="1000" b="0" i="0" u="none" strike="noStrike" kern="1200" cap="none" spc="0" normalizeH="0" baseline="0" noProof="0">
                          <a:ln>
                            <a:noFill/>
                          </a:ln>
                          <a:solidFill>
                            <a:srgbClr val="0A2F24"/>
                          </a:solidFill>
                          <a:effectLst/>
                          <a:uLnTx/>
                          <a:uFillTx/>
                          <a:latin typeface="+mn-lt"/>
                          <a:ea typeface="+mn-ea"/>
                          <a:cs typeface="+mn-cs"/>
                        </a:rPr>
                        <a:t>est practice!</a:t>
                      </a:r>
                      <a:r>
                        <a:rPr kumimoji="0" lang="pl-PL" sz="1000" b="0" i="0" u="none" strike="noStrike" kern="1200" cap="none" spc="0" normalizeH="0" baseline="0" noProof="0">
                          <a:ln>
                            <a:noFill/>
                          </a:ln>
                          <a:solidFill>
                            <a:srgbClr val="0A2F24"/>
                          </a:solidFill>
                          <a:effectLst/>
                          <a:uLnTx/>
                          <a:uFillTx/>
                          <a:latin typeface="+mn-lt"/>
                          <a:ea typeface="+mn-ea"/>
                          <a:cs typeface="+mn-cs"/>
                        </a:rPr>
                        <a:t> </a:t>
                      </a:r>
                      <a:r>
                        <a:rPr kumimoji="0" lang="en-US" sz="1000" b="0" i="0" u="none" strike="noStrike" kern="1200" cap="none" spc="0" normalizeH="0" baseline="0" noProof="0">
                          <a:ln>
                            <a:noFill/>
                          </a:ln>
                          <a:solidFill>
                            <a:srgbClr val="0A2F24"/>
                          </a:solidFill>
                          <a:effectLst/>
                          <a:uLnTx/>
                          <a:uFillTx/>
                          <a:latin typeface="+mn-lt"/>
                          <a:ea typeface="+mn-ea"/>
                          <a:cs typeface="+mn-cs"/>
                        </a:rPr>
                        <a:t>May be improved with dedicated English subtitles providing complementary technical context beyond on-screen text to maximize LLM indexing.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510443722"/>
                  </a:ext>
                </a:extLst>
              </a:tr>
              <a:tr h="424555">
                <a:tc>
                  <a:txBody>
                    <a:bodyPr/>
                    <a:lstStyle/>
                    <a:p>
                      <a:pPr marL="0" lvl="0" algn="ctr" defTabSz="457184" rtl="0" eaLnBrk="1" latinLnBrk="0" hangingPunct="1"/>
                      <a:r>
                        <a:rPr kumimoji="0" lang="fr-FR" sz="1000" b="1" i="0" u="none" strike="noStrike" kern="1200" cap="none" spc="0" normalizeH="0" baseline="0" noProof="0">
                          <a:ln>
                            <a:noFill/>
                          </a:ln>
                          <a:solidFill>
                            <a:srgbClr val="0A2F24"/>
                          </a:solidFill>
                          <a:effectLst/>
                          <a:uLnTx/>
                          <a:uFillTx/>
                          <a:latin typeface="+mn-lt"/>
                          <a:ea typeface="+mn-ea"/>
                          <a:cs typeface="+mn-cs"/>
                        </a:rPr>
                        <a:t>Link to SE web page</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Includes direct links to both the official product range page and technical connectivity guide</a:t>
                      </a:r>
                      <a:r>
                        <a:rPr kumimoji="0" lang="pl-PL" sz="1000" b="0" i="0" u="none" strike="noStrike" kern="1200" cap="none" spc="0" normalizeH="0" baseline="0" noProof="0">
                          <a:ln>
                            <a:noFill/>
                          </a:ln>
                          <a:solidFill>
                            <a:srgbClr val="0A2F24"/>
                          </a:solidFill>
                          <a:effectLst/>
                          <a:uLnTx/>
                          <a:uFillTx/>
                          <a:latin typeface="+mn-lt"/>
                          <a:ea typeface="+mn-ea"/>
                          <a:cs typeface="+mn-cs"/>
                        </a:rPr>
                        <a: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6923110"/>
                  </a:ext>
                </a:extLst>
              </a:tr>
              <a:tr h="424555">
                <a:tc>
                  <a:txBody>
                    <a:bodyPr/>
                    <a:lstStyle/>
                    <a:p>
                      <a:pPr marL="0" lvl="0" algn="ctr" defTabSz="457184" rtl="0" eaLnBrk="1" latinLnBrk="0" hangingPunct="1"/>
                      <a:r>
                        <a:rPr kumimoji="0" lang="en-US" sz="1000" b="1" i="0" u="none" strike="noStrike" kern="1200" cap="none" spc="0" normalizeH="0" baseline="0">
                          <a:ln>
                            <a:noFill/>
                          </a:ln>
                          <a:solidFill>
                            <a:srgbClr val="0A2F24"/>
                          </a:solidFill>
                          <a:effectLst/>
                          <a:uLnTx/>
                          <a:uFillTx/>
                          <a:latin typeface="+mn-lt"/>
                          <a:ea typeface="+mn-ea"/>
                          <a:cs typeface="+mn-cs"/>
                        </a:rPr>
                        <a:t>Chapters &amp; Timestamps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4/5</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Could be framed as search-intended questions. Essential to add a 00:00 timestamp to activate native YouTube chapters.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19923688"/>
                  </a:ext>
                </a:extLst>
              </a:tr>
              <a:tr h="424555">
                <a:tc>
                  <a:txBody>
                    <a:bodyPr/>
                    <a:lstStyle/>
                    <a:p>
                      <a:pPr marL="0" lvl="0" algn="ctr" defTabSz="457184" rtl="0" eaLnBrk="1" latinLnBrk="0" hangingPunct="1"/>
                      <a:r>
                        <a:rPr kumimoji="0" lang="fr-FR" sz="1000" b="1" i="0" u="none" strike="noStrike" kern="1200" cap="none" spc="0" normalizeH="0" baseline="0" noProof="0">
                          <a:ln>
                            <a:noFill/>
                          </a:ln>
                          <a:solidFill>
                            <a:srgbClr val="0A2F24"/>
                          </a:solidFill>
                          <a:effectLst/>
                          <a:uLnTx/>
                          <a:uFillTx/>
                          <a:latin typeface="+mn-lt"/>
                          <a:ea typeface="+mn-ea"/>
                          <a:cs typeface="+mn-cs"/>
                        </a:rPr>
                        <a:t>Publication on SE web pages</a:t>
                      </a:r>
                      <a:endParaRPr kumimoji="0" lang="en-US" sz="1000" b="1"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5/5</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457184" rtl="0" eaLnBrk="1" latinLnBrk="0" hangingPunct="1"/>
                      <a:r>
                        <a:rPr kumimoji="0" lang="en-US" sz="1000" b="0" i="0" u="none" strike="noStrike" kern="1200" cap="none" spc="0" normalizeH="0" baseline="0" noProof="0">
                          <a:ln>
                            <a:noFill/>
                          </a:ln>
                          <a:solidFill>
                            <a:srgbClr val="0A2F24"/>
                          </a:solidFill>
                          <a:effectLst/>
                          <a:uLnTx/>
                          <a:uFillTx/>
                          <a:latin typeface="+mn-lt"/>
                          <a:ea typeface="+mn-ea"/>
                          <a:cs typeface="+mn-cs"/>
                        </a:rPr>
                        <a:t>Published on the official </a:t>
                      </a:r>
                      <a:r>
                        <a:rPr kumimoji="0" lang="en-US" sz="1000" b="0" i="0" u="none" strike="noStrike" kern="1200" cap="none" spc="0" normalizeH="0" baseline="0" noProof="0">
                          <a:ln>
                            <a:noFill/>
                          </a:ln>
                          <a:solidFill>
                            <a:schemeClr val="accent3"/>
                          </a:solidFill>
                          <a:effectLst/>
                          <a:uLnTx/>
                          <a:uFillTx/>
                          <a:latin typeface="+mn-lt"/>
                          <a:ea typeface="+mn-ea"/>
                          <a:cs typeface="+mn-cs"/>
                          <a:hlinkClick r:id="rId5">
                            <a:extLst>
                              <a:ext uri="{A12FA001-AC4F-418D-AE19-62706E023703}">
                                <ahyp:hlinkClr xmlns:ahyp="http://schemas.microsoft.com/office/drawing/2018/hyperlinkcolor" val="tx"/>
                              </a:ext>
                            </a:extLst>
                          </a:hlinkClick>
                        </a:rPr>
                        <a:t>SE web page</a:t>
                      </a:r>
                      <a:r>
                        <a:rPr kumimoji="0" lang="en-US" sz="1000" b="0" i="0" u="none" strike="noStrike" kern="1200" cap="none" spc="0" normalizeH="0" baseline="0" noProof="0">
                          <a:ln>
                            <a:noFill/>
                          </a:ln>
                          <a:solidFill>
                            <a:srgbClr val="0A2F24"/>
                          </a:solidFill>
                          <a:effectLst/>
                          <a:uLnTx/>
                          <a:uFillTx/>
                          <a:latin typeface="+mn-lt"/>
                          <a:ea typeface="+mn-ea"/>
                          <a:cs typeface="+mn-cs"/>
                        </a:rPr>
                        <a:t>, anchoring the content directly to the brand's primary source of truth.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8667900"/>
                  </a:ext>
                </a:extLst>
              </a:tr>
            </a:tbl>
          </a:graphicData>
        </a:graphic>
      </p:graphicFrame>
      <p:pic>
        <p:nvPicPr>
          <p:cNvPr id="7" name="Picture 2">
            <a:hlinkClick r:id="rId3"/>
            <a:extLst>
              <a:ext uri="{FF2B5EF4-FFF2-40B4-BE49-F238E27FC236}">
                <a16:creationId xmlns:a16="http://schemas.microsoft.com/office/drawing/2014/main" id="{2CE9F0E6-CDE7-B322-FE04-A7FCC5C040F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2894" b="13901"/>
          <a:stretch>
            <a:fillRect/>
          </a:stretch>
        </p:blipFill>
        <p:spPr bwMode="auto">
          <a:xfrm>
            <a:off x="7003591" y="192022"/>
            <a:ext cx="2017402" cy="1107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31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D104B-5FDC-88D7-BC29-3D9F25185796}"/>
            </a:ext>
          </a:extLst>
        </p:cNvPr>
        <p:cNvGrpSpPr/>
        <p:nvPr/>
      </p:nvGrpSpPr>
      <p:grpSpPr>
        <a:xfrm>
          <a:off x="0" y="0"/>
          <a:ext cx="0" cy="0"/>
          <a:chOff x="0" y="0"/>
          <a:chExt cx="0" cy="0"/>
        </a:xfrm>
      </p:grpSpPr>
      <p:sp>
        <p:nvSpPr>
          <p:cNvPr id="81" name="Rectangle 80">
            <a:extLst>
              <a:ext uri="{FF2B5EF4-FFF2-40B4-BE49-F238E27FC236}">
                <a16:creationId xmlns:a16="http://schemas.microsoft.com/office/drawing/2014/main" id="{D2C15956-7C26-AF11-E23E-09AF40F5BA0B}"/>
              </a:ext>
            </a:extLst>
          </p:cNvPr>
          <p:cNvSpPr/>
          <p:nvPr/>
        </p:nvSpPr>
        <p:spPr>
          <a:xfrm>
            <a:off x="2475738" y="1546098"/>
            <a:ext cx="2036826" cy="3010662"/>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2" name="Rectangle 81">
            <a:extLst>
              <a:ext uri="{FF2B5EF4-FFF2-40B4-BE49-F238E27FC236}">
                <a16:creationId xmlns:a16="http://schemas.microsoft.com/office/drawing/2014/main" id="{3FF838CB-4481-E540-8CE2-B69A52178880}"/>
              </a:ext>
            </a:extLst>
          </p:cNvPr>
          <p:cNvSpPr/>
          <p:nvPr/>
        </p:nvSpPr>
        <p:spPr>
          <a:xfrm>
            <a:off x="4608576" y="1543050"/>
            <a:ext cx="2036826" cy="3010662"/>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3" name="Rectangle 82">
            <a:extLst>
              <a:ext uri="{FF2B5EF4-FFF2-40B4-BE49-F238E27FC236}">
                <a16:creationId xmlns:a16="http://schemas.microsoft.com/office/drawing/2014/main" id="{ED43823F-664B-65BF-26E5-CD3ACF9D9E6C}"/>
              </a:ext>
            </a:extLst>
          </p:cNvPr>
          <p:cNvSpPr/>
          <p:nvPr/>
        </p:nvSpPr>
        <p:spPr>
          <a:xfrm>
            <a:off x="6741414" y="1543050"/>
            <a:ext cx="2036826" cy="3010662"/>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0" name="Rectangle 79">
            <a:extLst>
              <a:ext uri="{FF2B5EF4-FFF2-40B4-BE49-F238E27FC236}">
                <a16:creationId xmlns:a16="http://schemas.microsoft.com/office/drawing/2014/main" id="{DD80EEC4-3D29-A593-54E1-17D4F3FAFB61}"/>
              </a:ext>
            </a:extLst>
          </p:cNvPr>
          <p:cNvSpPr/>
          <p:nvPr/>
        </p:nvSpPr>
        <p:spPr>
          <a:xfrm>
            <a:off x="342900" y="1543050"/>
            <a:ext cx="2036826" cy="3010662"/>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2BA050FF-6F88-4E8A-2B5A-D73E52168377}"/>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155B4583-C07B-F596-CAD9-24DE9F1CB7AD}"/>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GEO Optimized Videos - Checklist</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110702FC-EC10-846A-BAC3-837691A40341}"/>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The must-do essentials for making video content discoverable, retrievable, and citable by AI engines</a:t>
            </a:r>
            <a:r>
              <a:rPr lang="pl-PL" sz="1100">
                <a:solidFill>
                  <a:schemeClr val="accent5"/>
                </a:solidFill>
                <a:cs typeface="Arial"/>
              </a:rPr>
              <a:t>.</a:t>
            </a:r>
            <a:endParaRPr lang="en-US" sz="1100">
              <a:solidFill>
                <a:schemeClr val="accent5"/>
              </a:solidFill>
              <a:cs typeface="Arial"/>
            </a:endParaRPr>
          </a:p>
        </p:txBody>
      </p:sp>
      <p:sp>
        <p:nvSpPr>
          <p:cNvPr id="45" name="Shape 4">
            <a:extLst>
              <a:ext uri="{FF2B5EF4-FFF2-40B4-BE49-F238E27FC236}">
                <a16:creationId xmlns:a16="http://schemas.microsoft.com/office/drawing/2014/main" id="{8221FDA5-F8C2-17FB-2831-FE8F9363755C}"/>
              </a:ext>
            </a:extLst>
          </p:cNvPr>
          <p:cNvSpPr/>
          <p:nvPr/>
        </p:nvSpPr>
        <p:spPr>
          <a:xfrm>
            <a:off x="342900" y="1200150"/>
            <a:ext cx="2043684" cy="342900"/>
          </a:xfrm>
          <a:prstGeom prst="rect">
            <a:avLst/>
          </a:prstGeom>
          <a:solidFill>
            <a:schemeClr val="tx1"/>
          </a:solidFill>
          <a:ln/>
        </p:spPr>
        <p:txBody>
          <a:bodyPr/>
          <a:lstStyle/>
          <a:p>
            <a:pPr defTabSz="685800"/>
            <a:endParaRPr lang="pl-PL" sz="1000">
              <a:solidFill>
                <a:schemeClr val="accent5"/>
              </a:solidFill>
              <a:latin typeface="Poppins (body)"/>
            </a:endParaRPr>
          </a:p>
        </p:txBody>
      </p:sp>
      <p:sp>
        <p:nvSpPr>
          <p:cNvPr id="46" name="Text 5">
            <a:extLst>
              <a:ext uri="{FF2B5EF4-FFF2-40B4-BE49-F238E27FC236}">
                <a16:creationId xmlns:a16="http://schemas.microsoft.com/office/drawing/2014/main" id="{3F45250B-FB8D-0E3E-B3F4-90E1D8D80078}"/>
              </a:ext>
            </a:extLst>
          </p:cNvPr>
          <p:cNvSpPr/>
          <p:nvPr/>
        </p:nvSpPr>
        <p:spPr>
          <a:xfrm>
            <a:off x="445770" y="1200150"/>
            <a:ext cx="1837944" cy="342900"/>
          </a:xfrm>
          <a:prstGeom prst="rect">
            <a:avLst/>
          </a:prstGeom>
          <a:solidFill>
            <a:schemeClr val="tx1"/>
          </a:solidFill>
          <a:ln/>
        </p:spPr>
        <p:txBody>
          <a:bodyPr wrap="square" rtlCol="0" anchor="ctr"/>
          <a:lstStyle/>
          <a:p>
            <a:pPr defTabSz="685800"/>
            <a:r>
              <a:rPr lang="en-US" sz="1000" b="1" kern="0" spc="38">
                <a:solidFill>
                  <a:schemeClr val="accent5"/>
                </a:solidFill>
                <a:latin typeface="Poppins (body)"/>
                <a:ea typeface="Poppins" pitchFamily="34" charset="-122"/>
                <a:cs typeface="Poppins" pitchFamily="34" charset="-120"/>
              </a:rPr>
              <a:t>CONTENT &amp; STRUCTURE</a:t>
            </a:r>
            <a:endParaRPr lang="en-US" sz="1000">
              <a:solidFill>
                <a:schemeClr val="accent5"/>
              </a:solidFill>
              <a:latin typeface="Poppins (body)"/>
            </a:endParaRPr>
          </a:p>
        </p:txBody>
      </p:sp>
      <p:sp>
        <p:nvSpPr>
          <p:cNvPr id="47" name="Shape 6">
            <a:extLst>
              <a:ext uri="{FF2B5EF4-FFF2-40B4-BE49-F238E27FC236}">
                <a16:creationId xmlns:a16="http://schemas.microsoft.com/office/drawing/2014/main" id="{985AF243-2BC7-C34C-ECC1-5B9DC9AF8A39}"/>
              </a:ext>
            </a:extLst>
          </p:cNvPr>
          <p:cNvSpPr/>
          <p:nvPr/>
        </p:nvSpPr>
        <p:spPr>
          <a:xfrm>
            <a:off x="466344" y="168021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48" name="Text 7">
            <a:extLst>
              <a:ext uri="{FF2B5EF4-FFF2-40B4-BE49-F238E27FC236}">
                <a16:creationId xmlns:a16="http://schemas.microsoft.com/office/drawing/2014/main" id="{2A5709B8-1EAD-D98E-F4A0-74DB2A03C03D}"/>
              </a:ext>
            </a:extLst>
          </p:cNvPr>
          <p:cNvSpPr/>
          <p:nvPr/>
        </p:nvSpPr>
        <p:spPr>
          <a:xfrm>
            <a:off x="466344" y="1885950"/>
            <a:ext cx="1796796" cy="788670"/>
          </a:xfrm>
          <a:prstGeom prst="rect">
            <a:avLst/>
          </a:prstGeom>
          <a:noFill/>
          <a:ln/>
        </p:spPr>
        <p:txBody>
          <a:bodyPr wrap="square" rtlCol="0" anchor="t"/>
          <a:lstStyle/>
          <a:p>
            <a:pPr defTabSz="685800">
              <a:lnSpc>
                <a:spcPct val="108000"/>
              </a:lnSpc>
            </a:pPr>
            <a:r>
              <a:rPr lang="en-US" sz="1000">
                <a:latin typeface="Poppins (body)"/>
                <a:ea typeface="Poppins" pitchFamily="34" charset="-122"/>
                <a:cs typeface="Poppins" pitchFamily="34" charset="-120"/>
              </a:rPr>
              <a:t>Pick AI-friendly formats: tutorials, how-to, FAQs, comparisons, case studies</a:t>
            </a:r>
            <a:endParaRPr lang="en-US" sz="1000">
              <a:latin typeface="Poppins (body)"/>
            </a:endParaRPr>
          </a:p>
        </p:txBody>
      </p:sp>
      <p:sp>
        <p:nvSpPr>
          <p:cNvPr id="49" name="Shape 8">
            <a:extLst>
              <a:ext uri="{FF2B5EF4-FFF2-40B4-BE49-F238E27FC236}">
                <a16:creationId xmlns:a16="http://schemas.microsoft.com/office/drawing/2014/main" id="{BA2AFB9C-9375-9344-81F7-E24C8EBE5E18}"/>
              </a:ext>
            </a:extLst>
          </p:cNvPr>
          <p:cNvSpPr/>
          <p:nvPr/>
        </p:nvSpPr>
        <p:spPr>
          <a:xfrm>
            <a:off x="466344" y="264033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50" name="Text 9">
            <a:extLst>
              <a:ext uri="{FF2B5EF4-FFF2-40B4-BE49-F238E27FC236}">
                <a16:creationId xmlns:a16="http://schemas.microsoft.com/office/drawing/2014/main" id="{5A5B7130-990F-0587-C8E8-DC2095C88A21}"/>
              </a:ext>
            </a:extLst>
          </p:cNvPr>
          <p:cNvSpPr/>
          <p:nvPr/>
        </p:nvSpPr>
        <p:spPr>
          <a:xfrm>
            <a:off x="466344" y="2846070"/>
            <a:ext cx="1796796" cy="788670"/>
          </a:xfrm>
          <a:prstGeom prst="rect">
            <a:avLst/>
          </a:prstGeom>
          <a:noFill/>
          <a:ln/>
        </p:spPr>
        <p:txBody>
          <a:bodyPr wrap="square" lIns="91440" tIns="45720" rIns="91440" bIns="45720" rtlCol="0" anchor="t"/>
          <a:lstStyle/>
          <a:p>
            <a:pPr defTabSz="685800">
              <a:lnSpc>
                <a:spcPct val="108000"/>
              </a:lnSpc>
            </a:pPr>
            <a:r>
              <a:rPr lang="en-US" sz="1000" b="0" i="0" u="none" strike="noStrike" baseline="0">
                <a:solidFill>
                  <a:srgbClr val="0A2F24"/>
                </a:solidFill>
                <a:latin typeface="Poppins"/>
              </a:rPr>
              <a:t>Structure clearly: intro </a:t>
            </a:r>
            <a:r>
              <a:rPr lang="pl-PL" sz="1000" b="0" i="0" u="none" strike="noStrike" baseline="0">
                <a:solidFill>
                  <a:srgbClr val="0A2F24"/>
                </a:solidFill>
                <a:latin typeface="Poppins"/>
              </a:rPr>
              <a:t>&gt;</a:t>
            </a:r>
            <a:r>
              <a:rPr lang="en-US" sz="1000" b="0" i="0" u="none" strike="noStrike" baseline="0">
                <a:solidFill>
                  <a:srgbClr val="0A2F24"/>
                </a:solidFill>
                <a:latin typeface="Poppins"/>
              </a:rPr>
              <a:t> problem </a:t>
            </a:r>
            <a:r>
              <a:rPr lang="pl-PL" sz="1000" b="0" i="0" u="none" strike="noStrike" baseline="0">
                <a:solidFill>
                  <a:srgbClr val="0A2F24"/>
                </a:solidFill>
                <a:latin typeface="Poppins"/>
              </a:rPr>
              <a:t>&gt;</a:t>
            </a:r>
            <a:r>
              <a:rPr lang="en-US" sz="1000" b="0" i="0" u="none" strike="noStrike" baseline="0">
                <a:solidFill>
                  <a:srgbClr val="0A2F24"/>
                </a:solidFill>
                <a:latin typeface="Poppins"/>
              </a:rPr>
              <a:t> solution </a:t>
            </a:r>
            <a:r>
              <a:rPr lang="pl-PL" sz="1000">
                <a:solidFill>
                  <a:srgbClr val="0A2F24"/>
                </a:solidFill>
                <a:latin typeface="Poppins"/>
              </a:rPr>
              <a:t>&gt;</a:t>
            </a:r>
            <a:r>
              <a:rPr lang="en-US" sz="1000" b="0" i="0" u="none" strike="noStrike" baseline="0">
                <a:solidFill>
                  <a:srgbClr val="0A2F24"/>
                </a:solidFill>
                <a:latin typeface="Poppins"/>
              </a:rPr>
              <a:t> recap, with chapters</a:t>
            </a:r>
            <a:r>
              <a:rPr lang="en-US" sz="1000" b="0" i="0">
                <a:solidFill>
                  <a:srgbClr val="000000"/>
                </a:solidFill>
                <a:latin typeface="Poppins"/>
                <a:ea typeface="Poppins"/>
                <a:cs typeface="Poppins"/>
              </a:rPr>
              <a:t>​</a:t>
            </a:r>
            <a:endParaRPr lang="en-US" sz="1000">
              <a:latin typeface="Poppins (body)"/>
              <a:cs typeface="Poppins"/>
            </a:endParaRPr>
          </a:p>
        </p:txBody>
      </p:sp>
      <p:sp>
        <p:nvSpPr>
          <p:cNvPr id="51" name="Shape 10">
            <a:extLst>
              <a:ext uri="{FF2B5EF4-FFF2-40B4-BE49-F238E27FC236}">
                <a16:creationId xmlns:a16="http://schemas.microsoft.com/office/drawing/2014/main" id="{ED426399-7525-6526-FB86-6785B9B35852}"/>
              </a:ext>
            </a:extLst>
          </p:cNvPr>
          <p:cNvSpPr/>
          <p:nvPr/>
        </p:nvSpPr>
        <p:spPr>
          <a:xfrm>
            <a:off x="466344" y="360045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52" name="Text 11">
            <a:extLst>
              <a:ext uri="{FF2B5EF4-FFF2-40B4-BE49-F238E27FC236}">
                <a16:creationId xmlns:a16="http://schemas.microsoft.com/office/drawing/2014/main" id="{DF2FF13A-C9A6-7CBC-9F36-C1D58A505BBB}"/>
              </a:ext>
            </a:extLst>
          </p:cNvPr>
          <p:cNvSpPr/>
          <p:nvPr/>
        </p:nvSpPr>
        <p:spPr>
          <a:xfrm>
            <a:off x="466344" y="3806190"/>
            <a:ext cx="1796796" cy="788670"/>
          </a:xfrm>
          <a:prstGeom prst="rect">
            <a:avLst/>
          </a:prstGeom>
          <a:noFill/>
          <a:ln/>
        </p:spPr>
        <p:txBody>
          <a:bodyPr wrap="square" lIns="91440" tIns="45720" rIns="91440" bIns="45720" rtlCol="0" anchor="t"/>
          <a:lstStyle/>
          <a:p>
            <a:pPr defTabSz="685800"/>
            <a:r>
              <a:rPr lang="en-US" sz="1000">
                <a:latin typeface="Poppins"/>
                <a:ea typeface="Poppins" pitchFamily="34" charset="-122"/>
                <a:cs typeface="Poppins"/>
              </a:rPr>
              <a:t>Answer first </a:t>
            </a:r>
            <a:r>
              <a:rPr lang="pl-PL" sz="1000">
                <a:latin typeface="Poppins"/>
                <a:ea typeface="Poppins" pitchFamily="34" charset="-122"/>
                <a:cs typeface="Poppins"/>
              </a:rPr>
              <a:t>-</a:t>
            </a:r>
            <a:r>
              <a:rPr lang="en-US" sz="1000">
                <a:latin typeface="Poppins"/>
                <a:ea typeface="Poppins" pitchFamily="34" charset="-122"/>
                <a:cs typeface="Poppins"/>
              </a:rPr>
              <a:t> state the problem &amp; answer within 30</a:t>
            </a:r>
            <a:r>
              <a:rPr lang="pl-PL" sz="1000">
                <a:latin typeface="Poppins"/>
                <a:ea typeface="Poppins" pitchFamily="34" charset="-122"/>
                <a:cs typeface="Poppins"/>
              </a:rPr>
              <a:t>-</a:t>
            </a:r>
            <a:r>
              <a:rPr lang="en-US" sz="1000">
                <a:latin typeface="Poppins"/>
                <a:ea typeface="Poppins" pitchFamily="34" charset="-122"/>
                <a:cs typeface="Poppins"/>
              </a:rPr>
              <a:t>90 seconds</a:t>
            </a:r>
            <a:endParaRPr lang="en-US" sz="1000">
              <a:latin typeface="Poppins (body)"/>
              <a:cs typeface="Poppins"/>
            </a:endParaRPr>
          </a:p>
        </p:txBody>
      </p:sp>
      <p:sp>
        <p:nvSpPr>
          <p:cNvPr id="54" name="Shape 13">
            <a:extLst>
              <a:ext uri="{FF2B5EF4-FFF2-40B4-BE49-F238E27FC236}">
                <a16:creationId xmlns:a16="http://schemas.microsoft.com/office/drawing/2014/main" id="{EC6F1499-1642-A398-5ADF-FA5F7AB5E0F0}"/>
              </a:ext>
            </a:extLst>
          </p:cNvPr>
          <p:cNvSpPr/>
          <p:nvPr/>
        </p:nvSpPr>
        <p:spPr>
          <a:xfrm>
            <a:off x="2475738" y="1200150"/>
            <a:ext cx="2043684" cy="342900"/>
          </a:xfrm>
          <a:prstGeom prst="rect">
            <a:avLst/>
          </a:prstGeom>
          <a:solidFill>
            <a:schemeClr val="tx1"/>
          </a:solidFill>
          <a:ln/>
        </p:spPr>
        <p:txBody>
          <a:bodyPr/>
          <a:lstStyle/>
          <a:p>
            <a:pPr defTabSz="685800"/>
            <a:endParaRPr lang="pl-PL" sz="1000">
              <a:solidFill>
                <a:schemeClr val="accent5"/>
              </a:solidFill>
              <a:latin typeface="Poppins (body)"/>
            </a:endParaRPr>
          </a:p>
        </p:txBody>
      </p:sp>
      <p:sp>
        <p:nvSpPr>
          <p:cNvPr id="55" name="Text 14">
            <a:extLst>
              <a:ext uri="{FF2B5EF4-FFF2-40B4-BE49-F238E27FC236}">
                <a16:creationId xmlns:a16="http://schemas.microsoft.com/office/drawing/2014/main" id="{1F5C3244-32D6-6621-97EA-56B5C32F16B4}"/>
              </a:ext>
            </a:extLst>
          </p:cNvPr>
          <p:cNvSpPr/>
          <p:nvPr/>
        </p:nvSpPr>
        <p:spPr>
          <a:xfrm>
            <a:off x="2578608" y="1200150"/>
            <a:ext cx="1837944" cy="342900"/>
          </a:xfrm>
          <a:prstGeom prst="rect">
            <a:avLst/>
          </a:prstGeom>
          <a:solidFill>
            <a:schemeClr val="tx1"/>
          </a:solidFill>
          <a:ln/>
        </p:spPr>
        <p:txBody>
          <a:bodyPr wrap="square" rtlCol="0" anchor="ctr"/>
          <a:lstStyle/>
          <a:p>
            <a:pPr defTabSz="685800"/>
            <a:r>
              <a:rPr lang="en-US" sz="1000" b="1" kern="0" spc="38">
                <a:solidFill>
                  <a:schemeClr val="accent5"/>
                </a:solidFill>
                <a:latin typeface="Poppins (body)"/>
                <a:ea typeface="Poppins" pitchFamily="34" charset="-122"/>
                <a:cs typeface="Poppins" pitchFamily="34" charset="-120"/>
              </a:rPr>
              <a:t>LANGUAGE &amp; CLARITY</a:t>
            </a:r>
            <a:endParaRPr lang="en-US" sz="1000">
              <a:solidFill>
                <a:schemeClr val="accent5"/>
              </a:solidFill>
              <a:latin typeface="Poppins (body)"/>
            </a:endParaRPr>
          </a:p>
        </p:txBody>
      </p:sp>
      <p:sp>
        <p:nvSpPr>
          <p:cNvPr id="56" name="Shape 15">
            <a:extLst>
              <a:ext uri="{FF2B5EF4-FFF2-40B4-BE49-F238E27FC236}">
                <a16:creationId xmlns:a16="http://schemas.microsoft.com/office/drawing/2014/main" id="{C37A2BA8-9829-3FE6-E10A-CC92CB0C884E}"/>
              </a:ext>
            </a:extLst>
          </p:cNvPr>
          <p:cNvSpPr/>
          <p:nvPr/>
        </p:nvSpPr>
        <p:spPr>
          <a:xfrm>
            <a:off x="2599182" y="168021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57" name="Text 16">
            <a:extLst>
              <a:ext uri="{FF2B5EF4-FFF2-40B4-BE49-F238E27FC236}">
                <a16:creationId xmlns:a16="http://schemas.microsoft.com/office/drawing/2014/main" id="{65DC25C8-64AD-6365-0329-1E3EE02C6000}"/>
              </a:ext>
            </a:extLst>
          </p:cNvPr>
          <p:cNvSpPr/>
          <p:nvPr/>
        </p:nvSpPr>
        <p:spPr>
          <a:xfrm>
            <a:off x="2599182" y="1885950"/>
            <a:ext cx="1796796" cy="788670"/>
          </a:xfrm>
          <a:prstGeom prst="rect">
            <a:avLst/>
          </a:prstGeom>
          <a:noFill/>
          <a:ln/>
        </p:spPr>
        <p:txBody>
          <a:bodyPr wrap="square" lIns="91440" tIns="45720" rIns="91440" bIns="45720" rtlCol="0" anchor="t"/>
          <a:lstStyle/>
          <a:p>
            <a:pPr defTabSz="685800">
              <a:lnSpc>
                <a:spcPct val="108000"/>
              </a:lnSpc>
            </a:pPr>
            <a:r>
              <a:rPr lang="en-US" sz="1000">
                <a:latin typeface="Poppins (body)"/>
                <a:ea typeface="Poppins" pitchFamily="34" charset="-122"/>
                <a:cs typeface="Poppins"/>
              </a:rPr>
              <a:t>Add voice-over with accurate captions (auto or .</a:t>
            </a:r>
            <a:r>
              <a:rPr lang="en-US" sz="1000" err="1">
                <a:latin typeface="Poppins (body)"/>
                <a:ea typeface="Poppins" pitchFamily="34" charset="-122"/>
                <a:cs typeface="Poppins"/>
              </a:rPr>
              <a:t>srt</a:t>
            </a:r>
            <a:r>
              <a:rPr lang="en-US" sz="1000">
                <a:latin typeface="Poppins (body)"/>
                <a:ea typeface="Poppins" pitchFamily="34" charset="-122"/>
                <a:cs typeface="Poppins"/>
              </a:rPr>
              <a:t>)</a:t>
            </a:r>
            <a:endParaRPr lang="en-US" sz="1000">
              <a:latin typeface="Poppins (body)"/>
              <a:cs typeface="Poppins"/>
            </a:endParaRPr>
          </a:p>
        </p:txBody>
      </p:sp>
      <p:sp>
        <p:nvSpPr>
          <p:cNvPr id="58" name="Shape 17">
            <a:extLst>
              <a:ext uri="{FF2B5EF4-FFF2-40B4-BE49-F238E27FC236}">
                <a16:creationId xmlns:a16="http://schemas.microsoft.com/office/drawing/2014/main" id="{FB7EB511-9463-1D15-F309-9A8B640DE447}"/>
              </a:ext>
            </a:extLst>
          </p:cNvPr>
          <p:cNvSpPr/>
          <p:nvPr/>
        </p:nvSpPr>
        <p:spPr>
          <a:xfrm>
            <a:off x="2599182" y="264033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59" name="Text 18">
            <a:extLst>
              <a:ext uri="{FF2B5EF4-FFF2-40B4-BE49-F238E27FC236}">
                <a16:creationId xmlns:a16="http://schemas.microsoft.com/office/drawing/2014/main" id="{C846B122-3DE0-CBD9-56DB-363AD80EE102}"/>
              </a:ext>
            </a:extLst>
          </p:cNvPr>
          <p:cNvSpPr/>
          <p:nvPr/>
        </p:nvSpPr>
        <p:spPr>
          <a:xfrm>
            <a:off x="2599182" y="2846070"/>
            <a:ext cx="1796796" cy="788670"/>
          </a:xfrm>
          <a:prstGeom prst="rect">
            <a:avLst/>
          </a:prstGeom>
          <a:noFill/>
          <a:ln/>
        </p:spPr>
        <p:txBody>
          <a:bodyPr wrap="square" rtlCol="0" anchor="t"/>
          <a:lstStyle/>
          <a:p>
            <a:pPr defTabSz="685800">
              <a:lnSpc>
                <a:spcPct val="108000"/>
              </a:lnSpc>
            </a:pPr>
            <a:r>
              <a:rPr lang="en-US" sz="1000">
                <a:latin typeface="Poppins (body)"/>
                <a:ea typeface="Poppins" pitchFamily="34" charset="-122"/>
                <a:cs typeface="Poppins" pitchFamily="34" charset="-120"/>
              </a:rPr>
              <a:t>Use natural, conversational, jargon-free language</a:t>
            </a:r>
            <a:endParaRPr lang="en-US" sz="1000">
              <a:latin typeface="Poppins (body)"/>
            </a:endParaRPr>
          </a:p>
        </p:txBody>
      </p:sp>
      <p:sp>
        <p:nvSpPr>
          <p:cNvPr id="60" name="Shape 19">
            <a:extLst>
              <a:ext uri="{FF2B5EF4-FFF2-40B4-BE49-F238E27FC236}">
                <a16:creationId xmlns:a16="http://schemas.microsoft.com/office/drawing/2014/main" id="{C8829106-E347-87F4-00D9-233AC328822C}"/>
              </a:ext>
            </a:extLst>
          </p:cNvPr>
          <p:cNvSpPr/>
          <p:nvPr/>
        </p:nvSpPr>
        <p:spPr>
          <a:xfrm>
            <a:off x="2599182" y="360045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61" name="Text 20">
            <a:extLst>
              <a:ext uri="{FF2B5EF4-FFF2-40B4-BE49-F238E27FC236}">
                <a16:creationId xmlns:a16="http://schemas.microsoft.com/office/drawing/2014/main" id="{092A0EEE-9571-37FF-8276-9B9438C8DCDF}"/>
              </a:ext>
            </a:extLst>
          </p:cNvPr>
          <p:cNvSpPr/>
          <p:nvPr/>
        </p:nvSpPr>
        <p:spPr>
          <a:xfrm>
            <a:off x="2599182" y="3806190"/>
            <a:ext cx="1796796" cy="788670"/>
          </a:xfrm>
          <a:prstGeom prst="rect">
            <a:avLst/>
          </a:prstGeom>
          <a:noFill/>
          <a:ln/>
        </p:spPr>
        <p:txBody>
          <a:bodyPr wrap="square" rtlCol="0" anchor="t"/>
          <a:lstStyle/>
          <a:p>
            <a:pPr defTabSz="685800">
              <a:lnSpc>
                <a:spcPct val="108000"/>
              </a:lnSpc>
            </a:pPr>
            <a:r>
              <a:rPr lang="en-US" sz="1000">
                <a:latin typeface="Poppins (body)"/>
                <a:ea typeface="Poppins" pitchFamily="34" charset="-122"/>
                <a:cs typeface="Poppins" pitchFamily="34" charset="-120"/>
              </a:rPr>
              <a:t>Write explicit, self-contained sentences </a:t>
            </a:r>
            <a:r>
              <a:rPr lang="pl-PL" sz="1000">
                <a:latin typeface="Poppins (body)"/>
                <a:ea typeface="Poppins" pitchFamily="34" charset="-122"/>
                <a:cs typeface="Poppins" pitchFamily="34" charset="-120"/>
              </a:rPr>
              <a:t>-</a:t>
            </a:r>
            <a:r>
              <a:rPr lang="en-US" sz="1000">
                <a:latin typeface="Poppins (body)"/>
                <a:ea typeface="Poppins" pitchFamily="34" charset="-122"/>
                <a:cs typeface="Poppins" pitchFamily="34" charset="-120"/>
              </a:rPr>
              <a:t> no implicit references</a:t>
            </a:r>
            <a:endParaRPr lang="en-US" sz="1000">
              <a:latin typeface="Poppins (body)"/>
            </a:endParaRPr>
          </a:p>
        </p:txBody>
      </p:sp>
      <p:sp>
        <p:nvSpPr>
          <p:cNvPr id="63" name="Shape 22">
            <a:extLst>
              <a:ext uri="{FF2B5EF4-FFF2-40B4-BE49-F238E27FC236}">
                <a16:creationId xmlns:a16="http://schemas.microsoft.com/office/drawing/2014/main" id="{AEE75D70-20D7-A569-4E40-7B1F74CB74DA}"/>
              </a:ext>
            </a:extLst>
          </p:cNvPr>
          <p:cNvSpPr/>
          <p:nvPr/>
        </p:nvSpPr>
        <p:spPr>
          <a:xfrm>
            <a:off x="4608576" y="1200150"/>
            <a:ext cx="2043684" cy="342900"/>
          </a:xfrm>
          <a:prstGeom prst="rect">
            <a:avLst/>
          </a:prstGeom>
          <a:solidFill>
            <a:schemeClr val="tx1"/>
          </a:solidFill>
          <a:ln/>
        </p:spPr>
        <p:txBody>
          <a:bodyPr/>
          <a:lstStyle/>
          <a:p>
            <a:pPr defTabSz="685800"/>
            <a:endParaRPr lang="pl-PL" sz="1000">
              <a:solidFill>
                <a:schemeClr val="accent5"/>
              </a:solidFill>
              <a:latin typeface="Poppins (body)"/>
            </a:endParaRPr>
          </a:p>
        </p:txBody>
      </p:sp>
      <p:sp>
        <p:nvSpPr>
          <p:cNvPr id="64" name="Text 23">
            <a:extLst>
              <a:ext uri="{FF2B5EF4-FFF2-40B4-BE49-F238E27FC236}">
                <a16:creationId xmlns:a16="http://schemas.microsoft.com/office/drawing/2014/main" id="{409CCEB5-AA14-9DE1-16A3-56FDCD324D6C}"/>
              </a:ext>
            </a:extLst>
          </p:cNvPr>
          <p:cNvSpPr/>
          <p:nvPr/>
        </p:nvSpPr>
        <p:spPr>
          <a:xfrm>
            <a:off x="4711446" y="1200150"/>
            <a:ext cx="1837944" cy="342900"/>
          </a:xfrm>
          <a:prstGeom prst="rect">
            <a:avLst/>
          </a:prstGeom>
          <a:solidFill>
            <a:schemeClr val="tx1"/>
          </a:solidFill>
          <a:ln/>
        </p:spPr>
        <p:txBody>
          <a:bodyPr wrap="square" rtlCol="0" anchor="ctr"/>
          <a:lstStyle/>
          <a:p>
            <a:pPr defTabSz="685800"/>
            <a:r>
              <a:rPr lang="en-US" sz="1000" b="1" kern="0" spc="38">
                <a:solidFill>
                  <a:schemeClr val="accent5"/>
                </a:solidFill>
                <a:latin typeface="Poppins (body)"/>
                <a:ea typeface="Poppins" pitchFamily="34" charset="-122"/>
                <a:cs typeface="Poppins" pitchFamily="34" charset="-120"/>
              </a:rPr>
              <a:t>TRUST &amp; CREDIBILITY</a:t>
            </a:r>
            <a:endParaRPr lang="en-US" sz="1000">
              <a:solidFill>
                <a:schemeClr val="accent5"/>
              </a:solidFill>
              <a:latin typeface="Poppins (body)"/>
            </a:endParaRPr>
          </a:p>
        </p:txBody>
      </p:sp>
      <p:sp>
        <p:nvSpPr>
          <p:cNvPr id="65" name="Shape 24">
            <a:extLst>
              <a:ext uri="{FF2B5EF4-FFF2-40B4-BE49-F238E27FC236}">
                <a16:creationId xmlns:a16="http://schemas.microsoft.com/office/drawing/2014/main" id="{88AAB8B1-B5AB-ACE8-FB51-31092BC8FA08}"/>
              </a:ext>
            </a:extLst>
          </p:cNvPr>
          <p:cNvSpPr/>
          <p:nvPr/>
        </p:nvSpPr>
        <p:spPr>
          <a:xfrm>
            <a:off x="4732020" y="168021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66" name="Text 25">
            <a:extLst>
              <a:ext uri="{FF2B5EF4-FFF2-40B4-BE49-F238E27FC236}">
                <a16:creationId xmlns:a16="http://schemas.microsoft.com/office/drawing/2014/main" id="{63257B9E-CAF1-983D-47D3-0DA6DD79260A}"/>
              </a:ext>
            </a:extLst>
          </p:cNvPr>
          <p:cNvSpPr/>
          <p:nvPr/>
        </p:nvSpPr>
        <p:spPr>
          <a:xfrm>
            <a:off x="4732020" y="1885950"/>
            <a:ext cx="1796796" cy="788670"/>
          </a:xfrm>
          <a:prstGeom prst="rect">
            <a:avLst/>
          </a:prstGeom>
          <a:noFill/>
          <a:ln/>
        </p:spPr>
        <p:txBody>
          <a:bodyPr wrap="square" lIns="91440" tIns="45720" rIns="91440" bIns="45720" rtlCol="0" anchor="t"/>
          <a:lstStyle/>
          <a:p>
            <a:pPr defTabSz="685800">
              <a:lnSpc>
                <a:spcPct val="108000"/>
              </a:lnSpc>
            </a:pPr>
            <a:r>
              <a:rPr lang="en-US" sz="1000">
                <a:latin typeface="Poppins (body)"/>
                <a:ea typeface="Poppins" pitchFamily="34" charset="-122"/>
                <a:cs typeface="Poppins"/>
              </a:rPr>
              <a:t>Fact-based with data, metrics, and named examples</a:t>
            </a:r>
            <a:endParaRPr lang="en-US" sz="1000">
              <a:latin typeface="Poppins (body)"/>
              <a:cs typeface="Poppins"/>
            </a:endParaRPr>
          </a:p>
        </p:txBody>
      </p:sp>
      <p:sp>
        <p:nvSpPr>
          <p:cNvPr id="67" name="Shape 26">
            <a:extLst>
              <a:ext uri="{FF2B5EF4-FFF2-40B4-BE49-F238E27FC236}">
                <a16:creationId xmlns:a16="http://schemas.microsoft.com/office/drawing/2014/main" id="{8E4D2C48-436C-8C2F-FCA9-873234BCB99D}"/>
              </a:ext>
            </a:extLst>
          </p:cNvPr>
          <p:cNvSpPr/>
          <p:nvPr/>
        </p:nvSpPr>
        <p:spPr>
          <a:xfrm>
            <a:off x="4732020" y="264033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68" name="Text 27">
            <a:extLst>
              <a:ext uri="{FF2B5EF4-FFF2-40B4-BE49-F238E27FC236}">
                <a16:creationId xmlns:a16="http://schemas.microsoft.com/office/drawing/2014/main" id="{57F4DE48-70E9-CAB7-DDF0-92F15B2ABAD9}"/>
              </a:ext>
            </a:extLst>
          </p:cNvPr>
          <p:cNvSpPr/>
          <p:nvPr/>
        </p:nvSpPr>
        <p:spPr>
          <a:xfrm>
            <a:off x="4732020" y="2846070"/>
            <a:ext cx="1796796" cy="788670"/>
          </a:xfrm>
          <a:prstGeom prst="rect">
            <a:avLst/>
          </a:prstGeom>
          <a:noFill/>
          <a:ln/>
        </p:spPr>
        <p:txBody>
          <a:bodyPr wrap="square" rtlCol="0" anchor="t"/>
          <a:lstStyle/>
          <a:p>
            <a:pPr defTabSz="685800">
              <a:lnSpc>
                <a:spcPct val="108000"/>
              </a:lnSpc>
            </a:pPr>
            <a:r>
              <a:rPr lang="en-US" sz="1000">
                <a:latin typeface="Poppins (body)"/>
                <a:ea typeface="Poppins" pitchFamily="34" charset="-122"/>
                <a:cs typeface="Poppins" pitchFamily="34" charset="-120"/>
              </a:rPr>
              <a:t>Keep terminology, names, and spelling consistent throughout</a:t>
            </a:r>
            <a:endParaRPr lang="en-US" sz="1000">
              <a:latin typeface="Poppins (body)"/>
            </a:endParaRPr>
          </a:p>
        </p:txBody>
      </p:sp>
      <p:sp>
        <p:nvSpPr>
          <p:cNvPr id="69" name="Shape 28">
            <a:extLst>
              <a:ext uri="{FF2B5EF4-FFF2-40B4-BE49-F238E27FC236}">
                <a16:creationId xmlns:a16="http://schemas.microsoft.com/office/drawing/2014/main" id="{E9BF3EBB-24BD-20A3-DB47-7A17AAA6936C}"/>
              </a:ext>
            </a:extLst>
          </p:cNvPr>
          <p:cNvSpPr/>
          <p:nvPr/>
        </p:nvSpPr>
        <p:spPr>
          <a:xfrm>
            <a:off x="4732020" y="360045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70" name="Text 29">
            <a:extLst>
              <a:ext uri="{FF2B5EF4-FFF2-40B4-BE49-F238E27FC236}">
                <a16:creationId xmlns:a16="http://schemas.microsoft.com/office/drawing/2014/main" id="{224B10FC-15CE-97EB-288B-F6376E476859}"/>
              </a:ext>
            </a:extLst>
          </p:cNvPr>
          <p:cNvSpPr/>
          <p:nvPr/>
        </p:nvSpPr>
        <p:spPr>
          <a:xfrm>
            <a:off x="4732020" y="3806190"/>
            <a:ext cx="1796796" cy="788670"/>
          </a:xfrm>
          <a:prstGeom prst="rect">
            <a:avLst/>
          </a:prstGeom>
          <a:noFill/>
          <a:ln/>
        </p:spPr>
        <p:txBody>
          <a:bodyPr wrap="square" rtlCol="0" anchor="t"/>
          <a:lstStyle/>
          <a:p>
            <a:pPr defTabSz="685800">
              <a:lnSpc>
                <a:spcPct val="108000"/>
              </a:lnSpc>
            </a:pPr>
            <a:r>
              <a:rPr lang="en-US" sz="1000">
                <a:latin typeface="Poppins (body)"/>
                <a:ea typeface="Poppins" pitchFamily="34" charset="-122"/>
                <a:cs typeface="Poppins" pitchFamily="34" charset="-120"/>
              </a:rPr>
              <a:t>Close with a clear summary of key takeaways</a:t>
            </a:r>
            <a:endParaRPr lang="en-US" sz="1000">
              <a:latin typeface="Poppins (body)"/>
            </a:endParaRPr>
          </a:p>
        </p:txBody>
      </p:sp>
      <p:sp>
        <p:nvSpPr>
          <p:cNvPr id="72" name="Shape 31">
            <a:extLst>
              <a:ext uri="{FF2B5EF4-FFF2-40B4-BE49-F238E27FC236}">
                <a16:creationId xmlns:a16="http://schemas.microsoft.com/office/drawing/2014/main" id="{BE37A552-B743-1EE4-A2B2-213BFD313FCF}"/>
              </a:ext>
            </a:extLst>
          </p:cNvPr>
          <p:cNvSpPr/>
          <p:nvPr/>
        </p:nvSpPr>
        <p:spPr>
          <a:xfrm>
            <a:off x="6741414" y="1200150"/>
            <a:ext cx="2043684" cy="342900"/>
          </a:xfrm>
          <a:prstGeom prst="rect">
            <a:avLst/>
          </a:prstGeom>
          <a:solidFill>
            <a:schemeClr val="tx1"/>
          </a:solidFill>
          <a:ln/>
        </p:spPr>
        <p:txBody>
          <a:bodyPr/>
          <a:lstStyle/>
          <a:p>
            <a:pPr defTabSz="685800"/>
            <a:endParaRPr lang="pl-PL" sz="1000">
              <a:solidFill>
                <a:schemeClr val="accent5"/>
              </a:solidFill>
              <a:latin typeface="Poppins (body)"/>
            </a:endParaRPr>
          </a:p>
        </p:txBody>
      </p:sp>
      <p:sp>
        <p:nvSpPr>
          <p:cNvPr id="73" name="Text 32">
            <a:extLst>
              <a:ext uri="{FF2B5EF4-FFF2-40B4-BE49-F238E27FC236}">
                <a16:creationId xmlns:a16="http://schemas.microsoft.com/office/drawing/2014/main" id="{5BA44359-B35D-6BBE-4FDD-9A1780220691}"/>
              </a:ext>
            </a:extLst>
          </p:cNvPr>
          <p:cNvSpPr/>
          <p:nvPr/>
        </p:nvSpPr>
        <p:spPr>
          <a:xfrm>
            <a:off x="6844284" y="1200150"/>
            <a:ext cx="1837944" cy="342900"/>
          </a:xfrm>
          <a:prstGeom prst="rect">
            <a:avLst/>
          </a:prstGeom>
          <a:solidFill>
            <a:schemeClr val="tx1"/>
          </a:solidFill>
          <a:ln/>
        </p:spPr>
        <p:txBody>
          <a:bodyPr wrap="square" lIns="91440" tIns="45720" rIns="91440" bIns="45720" rtlCol="0" anchor="ctr"/>
          <a:lstStyle/>
          <a:p>
            <a:pPr defTabSz="685800"/>
            <a:r>
              <a:rPr lang="en-US" sz="1000" b="1" kern="0" spc="38">
                <a:solidFill>
                  <a:schemeClr val="accent5"/>
                </a:solidFill>
                <a:latin typeface="Poppins (body)"/>
                <a:cs typeface="Poppins"/>
              </a:rPr>
              <a:t>PUBLICATION</a:t>
            </a:r>
          </a:p>
        </p:txBody>
      </p:sp>
      <p:sp>
        <p:nvSpPr>
          <p:cNvPr id="74" name="Shape 33">
            <a:extLst>
              <a:ext uri="{FF2B5EF4-FFF2-40B4-BE49-F238E27FC236}">
                <a16:creationId xmlns:a16="http://schemas.microsoft.com/office/drawing/2014/main" id="{234907F5-3D33-DFA4-33AB-AEED06E95323}"/>
              </a:ext>
            </a:extLst>
          </p:cNvPr>
          <p:cNvSpPr/>
          <p:nvPr/>
        </p:nvSpPr>
        <p:spPr>
          <a:xfrm>
            <a:off x="6864858" y="168021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75" name="Text 34">
            <a:extLst>
              <a:ext uri="{FF2B5EF4-FFF2-40B4-BE49-F238E27FC236}">
                <a16:creationId xmlns:a16="http://schemas.microsoft.com/office/drawing/2014/main" id="{45550C53-D76B-64DB-17C9-85A6BFC012F6}"/>
              </a:ext>
            </a:extLst>
          </p:cNvPr>
          <p:cNvSpPr/>
          <p:nvPr/>
        </p:nvSpPr>
        <p:spPr>
          <a:xfrm>
            <a:off x="6864858" y="1885950"/>
            <a:ext cx="1796796" cy="788670"/>
          </a:xfrm>
          <a:prstGeom prst="rect">
            <a:avLst/>
          </a:prstGeom>
          <a:noFill/>
          <a:ln/>
        </p:spPr>
        <p:txBody>
          <a:bodyPr wrap="square" lIns="91440" tIns="45720" rIns="91440" bIns="45720" rtlCol="0" anchor="t"/>
          <a:lstStyle/>
          <a:p>
            <a:pPr defTabSz="685800">
              <a:lnSpc>
                <a:spcPct val="108000"/>
              </a:lnSpc>
            </a:pPr>
            <a:r>
              <a:rPr lang="en-US" sz="1000">
                <a:latin typeface="Poppins (body)"/>
                <a:cs typeface="Poppins"/>
              </a:rPr>
              <a:t>Publish on You</a:t>
            </a:r>
            <a:r>
              <a:rPr lang="pl-PL" sz="1000">
                <a:latin typeface="Poppins (body)"/>
                <a:cs typeface="Poppins"/>
              </a:rPr>
              <a:t>T</a:t>
            </a:r>
            <a:r>
              <a:rPr lang="en-US" sz="1000">
                <a:latin typeface="Poppins (body)"/>
                <a:cs typeface="Poppins"/>
              </a:rPr>
              <a:t>ube and embed the video on SE web site. Include a link into the YT description</a:t>
            </a:r>
          </a:p>
        </p:txBody>
      </p:sp>
      <p:sp>
        <p:nvSpPr>
          <p:cNvPr id="76" name="Shape 35">
            <a:extLst>
              <a:ext uri="{FF2B5EF4-FFF2-40B4-BE49-F238E27FC236}">
                <a16:creationId xmlns:a16="http://schemas.microsoft.com/office/drawing/2014/main" id="{83913D81-F8A7-3998-D92C-C3336B9C5AFE}"/>
              </a:ext>
            </a:extLst>
          </p:cNvPr>
          <p:cNvSpPr/>
          <p:nvPr/>
        </p:nvSpPr>
        <p:spPr>
          <a:xfrm>
            <a:off x="6864858" y="264033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77" name="Text 36">
            <a:extLst>
              <a:ext uri="{FF2B5EF4-FFF2-40B4-BE49-F238E27FC236}">
                <a16:creationId xmlns:a16="http://schemas.microsoft.com/office/drawing/2014/main" id="{B1E4D6BC-6C2E-7C04-7059-6F0BF4FAB3A6}"/>
              </a:ext>
            </a:extLst>
          </p:cNvPr>
          <p:cNvSpPr/>
          <p:nvPr/>
        </p:nvSpPr>
        <p:spPr>
          <a:xfrm>
            <a:off x="6864858" y="2846070"/>
            <a:ext cx="1796796" cy="788670"/>
          </a:xfrm>
          <a:prstGeom prst="rect">
            <a:avLst/>
          </a:prstGeom>
          <a:noFill/>
          <a:ln/>
        </p:spPr>
        <p:txBody>
          <a:bodyPr wrap="square" lIns="91440" tIns="45720" rIns="91440" bIns="45720" rtlCol="0" anchor="t"/>
          <a:lstStyle/>
          <a:p>
            <a:pPr defTabSz="685800">
              <a:lnSpc>
                <a:spcPct val="108000"/>
              </a:lnSpc>
            </a:pPr>
            <a:r>
              <a:rPr lang="en-US" sz="1000">
                <a:latin typeface="Poppins (body)"/>
                <a:cs typeface="Poppins"/>
              </a:rPr>
              <a:t>Create YT metadata (title, description, chapters) both for human &amp; LLM</a:t>
            </a:r>
          </a:p>
        </p:txBody>
      </p:sp>
      <p:sp>
        <p:nvSpPr>
          <p:cNvPr id="78" name="Shape 37">
            <a:extLst>
              <a:ext uri="{FF2B5EF4-FFF2-40B4-BE49-F238E27FC236}">
                <a16:creationId xmlns:a16="http://schemas.microsoft.com/office/drawing/2014/main" id="{A7127274-68B1-81A1-0F35-BDCFAC02AF3D}"/>
              </a:ext>
            </a:extLst>
          </p:cNvPr>
          <p:cNvSpPr/>
          <p:nvPr/>
        </p:nvSpPr>
        <p:spPr>
          <a:xfrm>
            <a:off x="6864858" y="3600450"/>
            <a:ext cx="150876" cy="150876"/>
          </a:xfrm>
          <a:prstGeom prst="roundRect">
            <a:avLst>
              <a:gd name="adj" fmla="val 13636"/>
            </a:avLst>
          </a:prstGeom>
          <a:solidFill>
            <a:srgbClr val="FFFFFF"/>
          </a:solidFill>
          <a:ln w="22225">
            <a:solidFill>
              <a:schemeClr val="tx1"/>
            </a:solidFill>
            <a:prstDash val="solid"/>
          </a:ln>
        </p:spPr>
        <p:txBody>
          <a:bodyPr/>
          <a:lstStyle/>
          <a:p>
            <a:pPr defTabSz="685800"/>
            <a:endParaRPr lang="pl-PL" sz="1000">
              <a:latin typeface="Poppins (body)"/>
            </a:endParaRPr>
          </a:p>
        </p:txBody>
      </p:sp>
      <p:sp>
        <p:nvSpPr>
          <p:cNvPr id="79" name="Text 38">
            <a:extLst>
              <a:ext uri="{FF2B5EF4-FFF2-40B4-BE49-F238E27FC236}">
                <a16:creationId xmlns:a16="http://schemas.microsoft.com/office/drawing/2014/main" id="{8802E492-29AA-D003-E121-E3BE18AB76C7}"/>
              </a:ext>
            </a:extLst>
          </p:cNvPr>
          <p:cNvSpPr/>
          <p:nvPr/>
        </p:nvSpPr>
        <p:spPr>
          <a:xfrm>
            <a:off x="6864858" y="3806190"/>
            <a:ext cx="1796796" cy="788670"/>
          </a:xfrm>
          <a:prstGeom prst="rect">
            <a:avLst/>
          </a:prstGeom>
          <a:noFill/>
          <a:ln/>
        </p:spPr>
        <p:txBody>
          <a:bodyPr wrap="square" lIns="91440" tIns="45720" rIns="91440" bIns="45720" rtlCol="0" anchor="t"/>
          <a:lstStyle/>
          <a:p>
            <a:pPr defTabSz="685800">
              <a:lnSpc>
                <a:spcPct val="108000"/>
              </a:lnSpc>
            </a:pPr>
            <a:r>
              <a:rPr lang="en-US" sz="1000">
                <a:latin typeface="Poppins (body)"/>
                <a:cs typeface="Poppins"/>
              </a:rPr>
              <a:t>Include subtitles (</a:t>
            </a:r>
            <a:r>
              <a:rPr lang="pl-PL" sz="1000">
                <a:latin typeface="Poppins"/>
                <a:cs typeface="Poppins"/>
              </a:rPr>
              <a:t>independently from </a:t>
            </a:r>
            <a:r>
              <a:rPr lang="en-US" sz="1000">
                <a:latin typeface="Poppins"/>
                <a:cs typeface="Poppins"/>
              </a:rPr>
              <a:t>a voice over</a:t>
            </a:r>
            <a:r>
              <a:rPr lang="pl-PL" sz="1000">
                <a:latin typeface="Poppins"/>
                <a:cs typeface="Poppins"/>
              </a:rPr>
              <a:t>)</a:t>
            </a:r>
            <a:endParaRPr lang="en-US" sz="1000">
              <a:latin typeface="Poppins"/>
              <a:cs typeface="Poppins"/>
            </a:endParaRPr>
          </a:p>
        </p:txBody>
      </p:sp>
      <p:sp>
        <p:nvSpPr>
          <p:cNvPr id="5" name="Footer Placeholder 4">
            <a:extLst>
              <a:ext uri="{FF2B5EF4-FFF2-40B4-BE49-F238E27FC236}">
                <a16:creationId xmlns:a16="http://schemas.microsoft.com/office/drawing/2014/main" id="{347719FB-1106-3B3C-53F9-6477EE6C6303}"/>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6" name="Slide Number Placeholder 5">
            <a:extLst>
              <a:ext uri="{FF2B5EF4-FFF2-40B4-BE49-F238E27FC236}">
                <a16:creationId xmlns:a16="http://schemas.microsoft.com/office/drawing/2014/main" id="{CE3714BE-F851-02C9-59EC-6ADF84510973}"/>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56</a:t>
            </a:fld>
            <a:endParaRPr lang="en-US"/>
          </a:p>
        </p:txBody>
      </p:sp>
    </p:spTree>
    <p:extLst>
      <p:ext uri="{BB962C8B-B14F-4D97-AF65-F5344CB8AC3E}">
        <p14:creationId xmlns:p14="http://schemas.microsoft.com/office/powerpoint/2010/main" val="20084102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E6D3-F31A-7DE5-D939-5795ED69E1C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B1D0619-5116-22EB-4E47-6B30CEE7FA6F}"/>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6" name="Title 5">
            <a:extLst>
              <a:ext uri="{FF2B5EF4-FFF2-40B4-BE49-F238E27FC236}">
                <a16:creationId xmlns:a16="http://schemas.microsoft.com/office/drawing/2014/main" id="{954F2426-708C-65CE-D1AC-589783460584}"/>
              </a:ext>
            </a:extLst>
          </p:cNvPr>
          <p:cNvSpPr>
            <a:spLocks noGrp="1"/>
          </p:cNvSpPr>
          <p:nvPr>
            <p:ph type="title"/>
          </p:nvPr>
        </p:nvSpPr>
        <p:spPr>
          <a:xfrm>
            <a:off x="1191488" y="1341120"/>
            <a:ext cx="6352312" cy="2520255"/>
          </a:xfrm>
        </p:spPr>
        <p:txBody>
          <a:bodyPr/>
          <a:lstStyle/>
          <a:p>
            <a:r>
              <a:rPr lang="en-US"/>
              <a:t>AI can't watch your video </a:t>
            </a:r>
            <a:r>
              <a:rPr lang="pl-PL"/>
              <a:t>-</a:t>
            </a:r>
            <a:r>
              <a:rPr lang="en-US"/>
              <a:t> but it reads every word around it.</a:t>
            </a:r>
            <a:endParaRPr lang="pl-PL"/>
          </a:p>
        </p:txBody>
      </p:sp>
    </p:spTree>
    <p:extLst>
      <p:ext uri="{BB962C8B-B14F-4D97-AF65-F5344CB8AC3E}">
        <p14:creationId xmlns:p14="http://schemas.microsoft.com/office/powerpoint/2010/main" val="3152019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3AFE9-9D40-4793-E857-F15A945430B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895BBA5-3BEB-9CF3-6AB5-86FAEF6569FE}"/>
              </a:ext>
            </a:extLst>
          </p:cNvPr>
          <p:cNvSpPr/>
          <p:nvPr/>
        </p:nvSpPr>
        <p:spPr>
          <a:xfrm>
            <a:off x="742950" y="1820791"/>
            <a:ext cx="7659831" cy="553998"/>
          </a:xfrm>
          <a:prstGeom prst="rect">
            <a:avLst/>
          </a:prstGeom>
          <a:noFill/>
          <a:ln/>
        </p:spPr>
        <p:txBody>
          <a:bodyPr wrap="square" lIns="0" tIns="0" rIns="0" bIns="0" rtlCol="0" anchor="t">
            <a:spAutoFit/>
          </a:bodyPr>
          <a:lstStyle/>
          <a:p>
            <a:r>
              <a:rPr lang="pl-PL" sz="3600">
                <a:solidFill>
                  <a:schemeClr val="accent5"/>
                </a:solidFill>
              </a:rPr>
              <a:t>Chapter 6: GEO optimized FAQ</a:t>
            </a:r>
            <a:endParaRPr lang="en-US" sz="3600">
              <a:solidFill>
                <a:schemeClr val="accent5"/>
              </a:solidFill>
            </a:endParaRPr>
          </a:p>
        </p:txBody>
      </p:sp>
      <p:sp>
        <p:nvSpPr>
          <p:cNvPr id="5" name="Text 2">
            <a:extLst>
              <a:ext uri="{FF2B5EF4-FFF2-40B4-BE49-F238E27FC236}">
                <a16:creationId xmlns:a16="http://schemas.microsoft.com/office/drawing/2014/main" id="{32D73CD2-B863-1F5D-82A7-D3A21BBF415E}"/>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B84DBB33-422C-A60B-E5C6-0D280C3DE82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A013A6D3-462E-C309-EAA3-A0CA06079D2C}"/>
              </a:ext>
            </a:extLst>
          </p:cNvPr>
          <p:cNvSpPr>
            <a:spLocks noGrp="1"/>
          </p:cNvSpPr>
          <p:nvPr>
            <p:ph type="body" sz="quarter" idx="4294967295"/>
          </p:nvPr>
        </p:nvSpPr>
        <p:spPr>
          <a:xfrm>
            <a:off x="742950" y="4108450"/>
            <a:ext cx="3371850" cy="215900"/>
          </a:xfrm>
        </p:spPr>
        <p:txBody>
          <a:bodyPr/>
          <a:lstStyle/>
          <a:p>
            <a:r>
              <a:rPr lang="pl-PL"/>
              <a:t>Jakub Falkowski</a:t>
            </a:r>
          </a:p>
        </p:txBody>
      </p:sp>
    </p:spTree>
    <p:extLst>
      <p:ext uri="{BB962C8B-B14F-4D97-AF65-F5344CB8AC3E}">
        <p14:creationId xmlns:p14="http://schemas.microsoft.com/office/powerpoint/2010/main" val="2212227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B310-D1BE-87DB-82F4-5562540B013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258B8163-D68C-0CD0-9B71-DB2F30BAAB7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D980D541-8D0C-D714-6C30-D6BDF8CCF9D1}"/>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The Answer-First Framework</a:t>
            </a:r>
          </a:p>
        </p:txBody>
      </p:sp>
      <p:sp>
        <p:nvSpPr>
          <p:cNvPr id="12" name="Text 2">
            <a:extLst>
              <a:ext uri="{FF2B5EF4-FFF2-40B4-BE49-F238E27FC236}">
                <a16:creationId xmlns:a16="http://schemas.microsoft.com/office/drawing/2014/main" id="{2E257085-2EFF-7988-4F9A-8D13DACED3D8}"/>
              </a:ext>
            </a:extLst>
          </p:cNvPr>
          <p:cNvSpPr/>
          <p:nvPr/>
        </p:nvSpPr>
        <p:spPr>
          <a:xfrm>
            <a:off x="342900" y="589788"/>
            <a:ext cx="7886700" cy="274320"/>
          </a:xfrm>
          <a:prstGeom prst="rect">
            <a:avLst/>
          </a:prstGeom>
          <a:noFill/>
          <a:ln/>
        </p:spPr>
        <p:txBody>
          <a:bodyPr wrap="square" lIns="0" tIns="0" rIns="0" bIns="0" rtlCol="0" anchor="ctr"/>
          <a:lstStyle/>
          <a:p>
            <a:r>
              <a:rPr lang="en-US" sz="1100" b="1">
                <a:solidFill>
                  <a:schemeClr val="accent5"/>
                </a:solidFill>
                <a:cs typeface="Arial"/>
              </a:rPr>
              <a:t>Question-and-answer content maps directly onto how AI assistants generate and cite responses</a:t>
            </a:r>
            <a:r>
              <a:rPr lang="pl-PL" sz="1100" b="1">
                <a:solidFill>
                  <a:schemeClr val="accent5"/>
                </a:solidFill>
                <a:cs typeface="Arial"/>
              </a:rPr>
              <a:t>.</a:t>
            </a:r>
          </a:p>
          <a:p>
            <a:r>
              <a:rPr lang="en-US" sz="1100">
                <a:solidFill>
                  <a:schemeClr val="accent5"/>
                </a:solidFill>
                <a:cs typeface="Arial"/>
              </a:rPr>
              <a:t>AI systems read the opening lines first to decide what a page </a:t>
            </a:r>
            <a:r>
              <a:rPr lang="pl-PL" sz="1100">
                <a:solidFill>
                  <a:schemeClr val="accent5"/>
                </a:solidFill>
                <a:cs typeface="Arial"/>
              </a:rPr>
              <a:t>covers</a:t>
            </a:r>
            <a:r>
              <a:rPr lang="en-US" sz="1100">
                <a:solidFill>
                  <a:schemeClr val="accent5"/>
                </a:solidFill>
                <a:cs typeface="Arial"/>
              </a:rPr>
              <a:t>.</a:t>
            </a:r>
          </a:p>
        </p:txBody>
      </p:sp>
      <p:sp>
        <p:nvSpPr>
          <p:cNvPr id="5" name="Footer Placeholder 4">
            <a:extLst>
              <a:ext uri="{FF2B5EF4-FFF2-40B4-BE49-F238E27FC236}">
                <a16:creationId xmlns:a16="http://schemas.microsoft.com/office/drawing/2014/main" id="{4E53FC93-423D-8771-EF60-C82E4DF895E7}"/>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934E8F17-ADC6-5160-ABC5-3F3A78ED63C6}"/>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59</a:t>
            </a:fld>
            <a:endParaRPr lang="en-US">
              <a:solidFill>
                <a:srgbClr val="3DCD58"/>
              </a:solidFill>
            </a:endParaRPr>
          </a:p>
        </p:txBody>
      </p:sp>
      <p:sp>
        <p:nvSpPr>
          <p:cNvPr id="2" name="TextBox 1">
            <a:extLst>
              <a:ext uri="{FF2B5EF4-FFF2-40B4-BE49-F238E27FC236}">
                <a16:creationId xmlns:a16="http://schemas.microsoft.com/office/drawing/2014/main" id="{F6ABCCA0-3920-AFF9-0670-7EF740102494}"/>
              </a:ext>
            </a:extLst>
          </p:cNvPr>
          <p:cNvSpPr txBox="1"/>
          <p:nvPr/>
        </p:nvSpPr>
        <p:spPr>
          <a:xfrm>
            <a:off x="3956464" y="3621231"/>
            <a:ext cx="4481765" cy="877163"/>
          </a:xfrm>
          <a:prstGeom prst="rect">
            <a:avLst/>
          </a:prstGeom>
          <a:solidFill>
            <a:schemeClr val="tx1"/>
          </a:solidFill>
          <a:ln>
            <a:noFill/>
          </a:ln>
        </p:spPr>
        <p:txBody>
          <a:bodyPr wrap="square" lIns="91440" tIns="45720" rIns="91440" bIns="45720" anchor="t">
            <a:spAutoFit/>
          </a:bodyPr>
          <a:lstStyle/>
          <a:p>
            <a:pPr lvl="0" algn="ctr">
              <a:defRPr/>
            </a:pPr>
            <a:r>
              <a:rPr lang="en-US" sz="1100" b="1">
                <a:solidFill>
                  <a:schemeClr val="accent5"/>
                </a:solidFill>
              </a:rPr>
              <a:t>Why this matters for Schneider Electric:  </a:t>
            </a:r>
            <a:r>
              <a:rPr lang="en-US" sz="1000">
                <a:solidFill>
                  <a:schemeClr val="accent5"/>
                </a:solidFill>
              </a:rPr>
              <a:t>buyers ask AI assistants highly specific product questions </a:t>
            </a:r>
            <a:r>
              <a:rPr lang="pl-PL" sz="1000">
                <a:solidFill>
                  <a:schemeClr val="accent5"/>
                </a:solidFill>
              </a:rPr>
              <a:t>-</a:t>
            </a:r>
            <a:r>
              <a:rPr lang="en-US" sz="1000">
                <a:solidFill>
                  <a:schemeClr val="accent5"/>
                </a:solidFill>
              </a:rPr>
              <a:t> breaker compatibility, UPS battery life, </a:t>
            </a:r>
            <a:r>
              <a:rPr lang="en-US" sz="1000" err="1">
                <a:solidFill>
                  <a:schemeClr val="accent5"/>
                </a:solidFill>
              </a:rPr>
              <a:t>EcoStruxure</a:t>
            </a:r>
            <a:r>
              <a:rPr lang="en-US" sz="1000">
                <a:solidFill>
                  <a:schemeClr val="accent5"/>
                </a:solidFill>
              </a:rPr>
              <a:t> integrations, sustainability commitments</a:t>
            </a:r>
            <a:r>
              <a:rPr lang="pl-PL" sz="1000">
                <a:solidFill>
                  <a:schemeClr val="accent5"/>
                </a:solidFill>
              </a:rPr>
              <a:t>, etc</a:t>
            </a:r>
            <a:r>
              <a:rPr lang="en-US" sz="1000">
                <a:solidFill>
                  <a:schemeClr val="accent5"/>
                </a:solidFill>
              </a:rPr>
              <a:t>. A well-built FAQ page is often the single most citable asset on a product or support page.</a:t>
            </a:r>
            <a:endParaRPr lang="en-US" sz="1100">
              <a:solidFill>
                <a:schemeClr val="accent5"/>
              </a:solidFill>
            </a:endParaRPr>
          </a:p>
        </p:txBody>
      </p:sp>
      <p:graphicFrame>
        <p:nvGraphicFramePr>
          <p:cNvPr id="3" name="Table 2">
            <a:extLst>
              <a:ext uri="{FF2B5EF4-FFF2-40B4-BE49-F238E27FC236}">
                <a16:creationId xmlns:a16="http://schemas.microsoft.com/office/drawing/2014/main" id="{BD34A88E-AB15-45AF-89AE-81B7CDF17C55}"/>
              </a:ext>
            </a:extLst>
          </p:cNvPr>
          <p:cNvGraphicFramePr>
            <a:graphicFrameLocks noGrp="1"/>
          </p:cNvGraphicFramePr>
          <p:nvPr>
            <p:extLst>
              <p:ext uri="{D42A27DB-BD31-4B8C-83A1-F6EECF244321}">
                <p14:modId xmlns:p14="http://schemas.microsoft.com/office/powerpoint/2010/main" val="1035742696"/>
              </p:ext>
            </p:extLst>
          </p:nvPr>
        </p:nvGraphicFramePr>
        <p:xfrm>
          <a:off x="290945" y="1144524"/>
          <a:ext cx="3545725" cy="3353870"/>
        </p:xfrm>
        <a:graphic>
          <a:graphicData uri="http://schemas.openxmlformats.org/drawingml/2006/table">
            <a:tbl>
              <a:tblPr firstRow="1" bandRow="1">
                <a:tableStyleId>{5C22544A-7EE6-4342-B048-85BDC9FD1C3A}</a:tableStyleId>
              </a:tblPr>
              <a:tblGrid>
                <a:gridCol w="3545725">
                  <a:extLst>
                    <a:ext uri="{9D8B030D-6E8A-4147-A177-3AD203B41FA5}">
                      <a16:colId xmlns:a16="http://schemas.microsoft.com/office/drawing/2014/main" val="896702349"/>
                    </a:ext>
                  </a:extLst>
                </a:gridCol>
              </a:tblGrid>
              <a:tr h="312220">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lnSpc>
                          <a:spcPct val="150000"/>
                        </a:lnSpc>
                        <a:spcBef>
                          <a:spcPts val="0"/>
                        </a:spcBef>
                        <a:spcAft>
                          <a:spcPts val="0"/>
                        </a:spcAft>
                        <a:buClr>
                          <a:schemeClr val="tx2"/>
                        </a:buClr>
                        <a:defRPr/>
                      </a:pPr>
                      <a:r>
                        <a:rPr lang="pl-PL" sz="1000" b="1"/>
                        <a:t>Anatomy of a GEO-ready answer:</a:t>
                      </a:r>
                      <a:endParaRPr lang="en-US" sz="1000" b="1"/>
                    </a:p>
                    <a:p>
                      <a:pPr>
                        <a:lnSpc>
                          <a:spcPct val="150000"/>
                        </a:lnSpc>
                        <a:spcBef>
                          <a:spcPts val="0"/>
                        </a:spcBef>
                        <a:spcAft>
                          <a:spcPts val="0"/>
                        </a:spcAft>
                        <a:buClr>
                          <a:schemeClr val="tx2"/>
                        </a:buClr>
                        <a:defRPr/>
                      </a:pPr>
                      <a:r>
                        <a:rPr lang="en-US" sz="1000" b="1">
                          <a:highlight>
                            <a:srgbClr val="00FFFF"/>
                          </a:highlight>
                        </a:rPr>
                        <a:t>Q: </a:t>
                      </a:r>
                      <a:r>
                        <a:rPr lang="en-US" sz="1000" b="0" i="1">
                          <a:highlight>
                            <a:srgbClr val="00FFFF"/>
                          </a:highlight>
                        </a:rPr>
                        <a:t>Can I mix Square D QO and </a:t>
                      </a:r>
                      <a:r>
                        <a:rPr lang="en-US" sz="1000" b="0" i="1" err="1">
                          <a:highlight>
                            <a:srgbClr val="00FFFF"/>
                          </a:highlight>
                        </a:rPr>
                        <a:t>Homeline</a:t>
                      </a:r>
                      <a:r>
                        <a:rPr lang="en-US" sz="1000" b="0" i="1">
                          <a:highlight>
                            <a:srgbClr val="00FFFF"/>
                          </a:highlight>
                        </a:rPr>
                        <a:t> breakers in the same panel?</a:t>
                      </a:r>
                    </a:p>
                    <a:p>
                      <a:pPr>
                        <a:lnSpc>
                          <a:spcPct val="150000"/>
                        </a:lnSpc>
                        <a:spcBef>
                          <a:spcPts val="0"/>
                        </a:spcBef>
                        <a:spcAft>
                          <a:spcPts val="0"/>
                        </a:spcAft>
                        <a:buClr>
                          <a:schemeClr val="tx2"/>
                        </a:buClr>
                        <a:defRPr/>
                      </a:pPr>
                      <a:endParaRPr lang="pl-PL" sz="1000" b="0">
                        <a:highlight>
                          <a:srgbClr val="00FFFF"/>
                        </a:highlight>
                      </a:endParaRPr>
                    </a:p>
                    <a:p>
                      <a:pPr>
                        <a:lnSpc>
                          <a:spcPct val="150000"/>
                        </a:lnSpc>
                        <a:spcBef>
                          <a:spcPts val="0"/>
                        </a:spcBef>
                        <a:spcAft>
                          <a:spcPts val="0"/>
                        </a:spcAft>
                        <a:buClr>
                          <a:schemeClr val="tx2"/>
                        </a:buClr>
                        <a:defRPr/>
                      </a:pPr>
                      <a:r>
                        <a:rPr lang="pl-PL" sz="1000" b="0"/>
                        <a:t>1. </a:t>
                      </a:r>
                      <a:r>
                        <a:rPr lang="pl-PL" sz="1000" b="0">
                          <a:solidFill>
                            <a:schemeClr val="tx1"/>
                          </a:solidFill>
                        </a:rPr>
                        <a:t>Direct answer in first paragraph, under 25 words</a:t>
                      </a:r>
                      <a:r>
                        <a:rPr lang="pl-PL" sz="1000" b="0"/>
                        <a:t>:</a:t>
                      </a:r>
                    </a:p>
                    <a:p>
                      <a:pPr>
                        <a:lnSpc>
                          <a:spcPct val="150000"/>
                        </a:lnSpc>
                        <a:spcBef>
                          <a:spcPts val="0"/>
                        </a:spcBef>
                        <a:spcAft>
                          <a:spcPts val="0"/>
                        </a:spcAft>
                        <a:buClr>
                          <a:schemeClr val="tx2"/>
                        </a:buClr>
                        <a:defRPr/>
                      </a:pPr>
                      <a:r>
                        <a:rPr lang="pl-PL" sz="1000" b="1" i="0">
                          <a:highlight>
                            <a:srgbClr val="00FFFF"/>
                          </a:highlight>
                        </a:rPr>
                        <a:t>A: </a:t>
                      </a:r>
                      <a:r>
                        <a:rPr lang="en-US" sz="1000" b="0" i="1">
                          <a:highlight>
                            <a:srgbClr val="00FFFF"/>
                          </a:highlight>
                        </a:rPr>
                        <a:t>No. QO and </a:t>
                      </a:r>
                      <a:r>
                        <a:rPr lang="en-US" sz="1000" b="0" i="1" err="1">
                          <a:highlight>
                            <a:srgbClr val="00FFFF"/>
                          </a:highlight>
                        </a:rPr>
                        <a:t>Homeline</a:t>
                      </a:r>
                      <a:r>
                        <a:rPr lang="en-US" sz="1000" b="0" i="1">
                          <a:highlight>
                            <a:srgbClr val="00FFFF"/>
                          </a:highlight>
                        </a:rPr>
                        <a:t> are separate product lines with different panel geometries. Installing the wrong line can prevent a proper mechanical and electrical connection.</a:t>
                      </a:r>
                      <a:endParaRPr lang="pl-PL" sz="1000" b="0" i="1">
                        <a:highlight>
                          <a:srgbClr val="00FFFF"/>
                        </a:highlight>
                      </a:endParaRPr>
                    </a:p>
                    <a:p>
                      <a:pPr>
                        <a:lnSpc>
                          <a:spcPct val="150000"/>
                        </a:lnSpc>
                        <a:spcBef>
                          <a:spcPts val="0"/>
                        </a:spcBef>
                        <a:spcAft>
                          <a:spcPts val="0"/>
                        </a:spcAft>
                        <a:buClr>
                          <a:schemeClr val="tx2"/>
                        </a:buClr>
                        <a:defRPr/>
                      </a:pPr>
                      <a:r>
                        <a:rPr lang="pl-PL" sz="1000" b="0" i="0"/>
                        <a:t>2. Then </a:t>
                      </a:r>
                      <a:r>
                        <a:rPr lang="en-US" sz="1000" b="0" i="0"/>
                        <a:t>supporting detail </a:t>
                      </a:r>
                      <a:r>
                        <a:rPr lang="pl-PL" sz="1000" b="0" i="0"/>
                        <a:t>and</a:t>
                      </a:r>
                      <a:r>
                        <a:rPr lang="en-US" sz="1000" b="0" i="0"/>
                        <a:t> clear next step</a:t>
                      </a:r>
                      <a:r>
                        <a:rPr lang="pl-PL" sz="1000" b="0" i="0"/>
                        <a:t>:</a:t>
                      </a:r>
                    </a:p>
                    <a:p>
                      <a:pPr>
                        <a:lnSpc>
                          <a:spcPct val="150000"/>
                        </a:lnSpc>
                        <a:spcBef>
                          <a:spcPts val="0"/>
                        </a:spcBef>
                        <a:spcAft>
                          <a:spcPts val="0"/>
                        </a:spcAft>
                        <a:buClr>
                          <a:schemeClr val="tx2"/>
                        </a:buClr>
                        <a:defRPr/>
                      </a:pPr>
                      <a:r>
                        <a:rPr lang="en-US" sz="1000" b="0" i="1">
                          <a:highlight>
                            <a:srgbClr val="00FFFF"/>
                          </a:highlight>
                        </a:rPr>
                        <a:t>Always match breaker line to panel brand and model. Check the panel label or Schneider Electric's breaker compatibility guide before installing.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4" name="Table 3">
            <a:extLst>
              <a:ext uri="{FF2B5EF4-FFF2-40B4-BE49-F238E27FC236}">
                <a16:creationId xmlns:a16="http://schemas.microsoft.com/office/drawing/2014/main" id="{B3A3181C-B9EF-A4C3-A4D9-9DEDD2134395}"/>
              </a:ext>
            </a:extLst>
          </p:cNvPr>
          <p:cNvGraphicFramePr>
            <a:graphicFrameLocks noGrp="1"/>
          </p:cNvGraphicFramePr>
          <p:nvPr>
            <p:extLst>
              <p:ext uri="{D42A27DB-BD31-4B8C-83A1-F6EECF244321}">
                <p14:modId xmlns:p14="http://schemas.microsoft.com/office/powerpoint/2010/main" val="4216412927"/>
              </p:ext>
            </p:extLst>
          </p:nvPr>
        </p:nvGraphicFramePr>
        <p:xfrm>
          <a:off x="5009229" y="1144524"/>
          <a:ext cx="3429000" cy="2439458"/>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082219581"/>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Structure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Use the real question as the heading (</a:t>
                      </a:r>
                      <a:r>
                        <a:rPr kumimoji="0" lang="pl-PL" sz="1000" b="0" i="0" u="none" strike="noStrike" kern="1200" cap="none" spc="0" normalizeH="0" baseline="0" noProof="0">
                          <a:ln>
                            <a:noFill/>
                          </a:ln>
                          <a:solidFill>
                            <a:srgbClr val="0A2F24"/>
                          </a:solidFill>
                          <a:effectLst/>
                          <a:uLnTx/>
                          <a:uFillTx/>
                          <a:latin typeface="+mn-lt"/>
                          <a:ea typeface="+mn-ea"/>
                          <a:cs typeface="+mn-cs"/>
                        </a:rPr>
                        <a:t>H1*/</a:t>
                      </a:r>
                      <a:r>
                        <a:rPr kumimoji="0" lang="en-US" sz="1000" b="0" i="0" u="none" strike="noStrike" kern="1200" cap="none" spc="0" normalizeH="0" baseline="0" noProof="0">
                          <a:ln>
                            <a:noFill/>
                          </a:ln>
                          <a:solidFill>
                            <a:srgbClr val="0A2F24"/>
                          </a:solidFill>
                          <a:effectLst/>
                          <a:uLnTx/>
                          <a:uFillTx/>
                          <a:latin typeface="+mn-lt"/>
                          <a:ea typeface="+mn-ea"/>
                          <a:cs typeface="+mn-cs"/>
                        </a:rPr>
                        <a:t>H2/H3)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Answer directly in the first sentence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Keep answers to 40</a:t>
                      </a:r>
                      <a:r>
                        <a:rPr kumimoji="0" lang="pl-PL" sz="1000" b="0" i="0" u="none" strike="noStrike" kern="1200" cap="none" spc="0" normalizeH="0" baseline="0">
                          <a:ln>
                            <a:noFill/>
                          </a:ln>
                          <a:solidFill>
                            <a:srgbClr val="0A2F24"/>
                          </a:solidFill>
                          <a:effectLst/>
                          <a:uLnTx/>
                          <a:uFillTx/>
                          <a:latin typeface="+mn-lt"/>
                          <a:ea typeface="+mn-ea"/>
                          <a:cs typeface="+mn-cs"/>
                        </a:rPr>
                        <a:t>-</a:t>
                      </a:r>
                      <a:r>
                        <a:rPr kumimoji="0" lang="en-US" sz="1000" b="0" i="0" u="none" strike="noStrike" kern="1200" cap="none" spc="0" normalizeH="0" baseline="0">
                          <a:ln>
                            <a:noFill/>
                          </a:ln>
                          <a:solidFill>
                            <a:srgbClr val="0A2F24"/>
                          </a:solidFill>
                          <a:effectLst/>
                          <a:uLnTx/>
                          <a:uFillTx/>
                          <a:latin typeface="+mn-lt"/>
                          <a:ea typeface="+mn-ea"/>
                          <a:cs typeface="+mn-cs"/>
                        </a:rPr>
                        <a:t>80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Add lists for steps, specs, or options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One page per topic</a:t>
                      </a:r>
                      <a:r>
                        <a:rPr kumimoji="0" lang="pl-PL" sz="1000" b="0" i="0" u="none" strike="noStrike" kern="1200" cap="none" spc="0" normalizeH="0" baseline="0" noProof="0">
                          <a:ln>
                            <a:noFill/>
                          </a:ln>
                          <a:solidFill>
                            <a:srgbClr val="0A2F24"/>
                          </a:solidFill>
                          <a:effectLst/>
                          <a:uLnTx/>
                          <a:uFillTx/>
                          <a:latin typeface="+mn-lt"/>
                          <a:ea typeface="+mn-ea"/>
                          <a:cs typeface="+mn-cs"/>
                        </a:rPr>
                        <a:t>/product</a:t>
                      </a:r>
                      <a:r>
                        <a:rPr kumimoji="0" lang="en-US" sz="1000" b="0"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a:t>
                      </a:r>
                      <a:r>
                        <a:rPr kumimoji="0" lang="en-US" sz="1000" b="0" i="0" u="none" strike="noStrike" kern="1200" cap="none" spc="0" normalizeH="0" baseline="0" noProof="0">
                          <a:ln>
                            <a:noFill/>
                          </a:ln>
                          <a:solidFill>
                            <a:srgbClr val="0A2F24"/>
                          </a:solidFill>
                          <a:effectLst/>
                          <a:uLnTx/>
                          <a:uFillTx/>
                          <a:latin typeface="+mn-lt"/>
                          <a:ea typeface="+mn-ea"/>
                          <a:cs typeface="+mn-cs"/>
                        </a:rPr>
                        <a:t> not one mega-FAQ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800378"/>
                  </a:ext>
                </a:extLst>
              </a:tr>
            </a:tbl>
          </a:graphicData>
        </a:graphic>
      </p:graphicFrame>
      <p:sp>
        <p:nvSpPr>
          <p:cNvPr id="19" name="TextBox 18">
            <a:extLst>
              <a:ext uri="{FF2B5EF4-FFF2-40B4-BE49-F238E27FC236}">
                <a16:creationId xmlns:a16="http://schemas.microsoft.com/office/drawing/2014/main" id="{35FE5052-E527-29CA-88EA-06665211BDC1}"/>
              </a:ext>
            </a:extLst>
          </p:cNvPr>
          <p:cNvSpPr txBox="1"/>
          <p:nvPr/>
        </p:nvSpPr>
        <p:spPr>
          <a:xfrm>
            <a:off x="398463" y="4599466"/>
            <a:ext cx="4373562" cy="215444"/>
          </a:xfrm>
          <a:prstGeom prst="rect">
            <a:avLst/>
          </a:prstGeom>
        </p:spPr>
        <p:txBody>
          <a:bodyPr vert="horz" wrap="square" lIns="0" tIns="0" rIns="0" bIns="0" rtlCol="0">
            <a:spAutoFit/>
          </a:bodyPr>
          <a:lstStyle/>
          <a:p>
            <a:pPr algn="l"/>
            <a:r>
              <a:rPr lang="pl-PL" sz="700"/>
              <a:t>*H1 is always reserved for the main header of the page (usually in the banner) but on FAQ pages it is also used to expose the main question.</a:t>
            </a:r>
          </a:p>
        </p:txBody>
      </p:sp>
    </p:spTree>
    <p:extLst>
      <p:ext uri="{BB962C8B-B14F-4D97-AF65-F5344CB8AC3E}">
        <p14:creationId xmlns:p14="http://schemas.microsoft.com/office/powerpoint/2010/main" val="15111818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03B9-A419-5772-9402-A1FC1120FAF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96D37626-DAAF-12D4-8065-E1A9AA28EA72}"/>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C0B9579C-EE32-47B8-B4BA-AA49E2F30941}"/>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Good vs. Bad FAQ Writing</a:t>
            </a:r>
          </a:p>
        </p:txBody>
      </p:sp>
      <p:sp>
        <p:nvSpPr>
          <p:cNvPr id="12" name="Text 2">
            <a:extLst>
              <a:ext uri="{FF2B5EF4-FFF2-40B4-BE49-F238E27FC236}">
                <a16:creationId xmlns:a16="http://schemas.microsoft.com/office/drawing/2014/main" id="{D9DB40FA-F564-F630-EB3A-72EE854E2B13}"/>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Same product question, two very different outcome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181F1405-9BCC-F09C-6C08-7B2BAB3A3FC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464B25A-EA82-67C6-8B3E-40167317C2B8}"/>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60</a:t>
            </a:fld>
            <a:endParaRPr lang="en-US">
              <a:solidFill>
                <a:srgbClr val="3DCD58"/>
              </a:solidFill>
            </a:endParaRPr>
          </a:p>
        </p:txBody>
      </p:sp>
      <p:sp>
        <p:nvSpPr>
          <p:cNvPr id="2" name="TextBox 1">
            <a:extLst>
              <a:ext uri="{FF2B5EF4-FFF2-40B4-BE49-F238E27FC236}">
                <a16:creationId xmlns:a16="http://schemas.microsoft.com/office/drawing/2014/main" id="{68A4CBF3-6791-4002-53F3-299AA92894FB}"/>
              </a:ext>
            </a:extLst>
          </p:cNvPr>
          <p:cNvSpPr txBox="1"/>
          <p:nvPr/>
        </p:nvSpPr>
        <p:spPr>
          <a:xfrm>
            <a:off x="4058887" y="3409634"/>
            <a:ext cx="4662996" cy="877163"/>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a:t>
            </a:r>
            <a:r>
              <a:rPr lang="en-US" sz="1100" b="1">
                <a:solidFill>
                  <a:schemeClr val="accent5"/>
                </a:solidFill>
              </a:rPr>
              <a:t>:  </a:t>
            </a:r>
            <a:r>
              <a:rPr lang="en-US" sz="1000">
                <a:solidFill>
                  <a:schemeClr val="accent5"/>
                </a:solidFill>
              </a:rPr>
              <a:t>Properly written FAQs boost GEO by pairing natural-language questions with direct, fact-specific answers that AI engines can easily extract and cite, rather than burying answers in marketing prose </a:t>
            </a:r>
            <a:r>
              <a:rPr lang="pl-PL" sz="1000">
                <a:solidFill>
                  <a:schemeClr val="accent5"/>
                </a:solidFill>
              </a:rPr>
              <a:t>–</a:t>
            </a:r>
            <a:r>
              <a:rPr lang="en-US" sz="1000">
                <a:solidFill>
                  <a:schemeClr val="accent5"/>
                </a:solidFill>
              </a:rPr>
              <a:t> </a:t>
            </a:r>
            <a:r>
              <a:rPr lang="pl-PL" sz="1000">
                <a:solidFill>
                  <a:schemeClr val="accent5"/>
                </a:solidFill>
              </a:rPr>
              <a:t>making FAQs one of the top GEO impacting factors</a:t>
            </a:r>
            <a:r>
              <a:rPr lang="en-US" sz="1000">
                <a:solidFill>
                  <a:schemeClr val="accent5"/>
                </a:solidFill>
              </a:rPr>
              <a:t>, driving visibility and traffic</a:t>
            </a:r>
            <a:r>
              <a:rPr lang="pl-PL" sz="1000">
                <a:solidFill>
                  <a:schemeClr val="accent5"/>
                </a:solidFill>
              </a:rPr>
              <a:t> </a:t>
            </a:r>
            <a:r>
              <a:rPr lang="en-US" sz="1000">
                <a:solidFill>
                  <a:schemeClr val="accent5"/>
                </a:solidFill>
              </a:rPr>
              <a:t>even without a click-through.</a:t>
            </a:r>
            <a:endParaRPr lang="en-US" sz="1100">
              <a:solidFill>
                <a:schemeClr val="accent5"/>
              </a:solidFill>
            </a:endParaRPr>
          </a:p>
        </p:txBody>
      </p:sp>
      <p:graphicFrame>
        <p:nvGraphicFramePr>
          <p:cNvPr id="7" name="Table 6">
            <a:extLst>
              <a:ext uri="{FF2B5EF4-FFF2-40B4-BE49-F238E27FC236}">
                <a16:creationId xmlns:a16="http://schemas.microsoft.com/office/drawing/2014/main" id="{2B0A442C-7660-2373-E9D6-4F91D752FEA2}"/>
              </a:ext>
            </a:extLst>
          </p:cNvPr>
          <p:cNvGraphicFramePr>
            <a:graphicFrameLocks noGrp="1"/>
          </p:cNvGraphicFramePr>
          <p:nvPr>
            <p:extLst>
              <p:ext uri="{D42A27DB-BD31-4B8C-83A1-F6EECF244321}">
                <p14:modId xmlns:p14="http://schemas.microsoft.com/office/powerpoint/2010/main" val="1863479060"/>
              </p:ext>
            </p:extLst>
          </p:nvPr>
        </p:nvGraphicFramePr>
        <p:xfrm>
          <a:off x="5141843" y="1177837"/>
          <a:ext cx="3580040" cy="2042160"/>
        </p:xfrm>
        <a:graphic>
          <a:graphicData uri="http://schemas.openxmlformats.org/drawingml/2006/table">
            <a:tbl>
              <a:tblPr firstRow="1" bandRow="1">
                <a:tableStyleId>{5C22544A-7EE6-4342-B048-85BDC9FD1C3A}</a:tableStyleId>
              </a:tblPr>
              <a:tblGrid>
                <a:gridCol w="3580040">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Good FAQ writing</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Q: </a:t>
                      </a:r>
                      <a:r>
                        <a:rPr lang="en-US" sz="1000" b="1" i="1">
                          <a:solidFill>
                            <a:schemeClr val="tx1"/>
                          </a:solidFill>
                        </a:rPr>
                        <a:t>How often should I replace the battery in an APC by Schneider Electric UPS?</a:t>
                      </a:r>
                    </a:p>
                    <a:p>
                      <a:pPr marL="0" indent="0">
                        <a:spcBef>
                          <a:spcPts val="0"/>
                        </a:spcBef>
                        <a:spcAft>
                          <a:spcPts val="0"/>
                        </a:spcAft>
                        <a:buClr>
                          <a:srgbClr val="3DCD58"/>
                        </a:buClr>
                        <a:buFont typeface="Arial" panose="020B0604020202020204" pitchFamily="34" charset="0"/>
                        <a:buNone/>
                        <a:defRPr/>
                      </a:pPr>
                      <a:endParaRPr lang="pl-PL" sz="1000" b="0">
                        <a:solidFill>
                          <a:schemeClr val="tx1"/>
                        </a:solidFill>
                      </a:endParaRPr>
                    </a:p>
                    <a:p>
                      <a:pPr marL="0" indent="0">
                        <a:spcBef>
                          <a:spcPts val="0"/>
                        </a:spcBef>
                        <a:spcAft>
                          <a:spcPts val="0"/>
                        </a:spcAft>
                        <a:buClr>
                          <a:srgbClr val="3DCD58"/>
                        </a:buClr>
                        <a:buFont typeface="Arial" panose="020B0604020202020204" pitchFamily="34" charset="0"/>
                        <a:buNone/>
                        <a:defRPr/>
                      </a:pPr>
                      <a:r>
                        <a:rPr lang="pl-PL" sz="1000" b="1">
                          <a:solidFill>
                            <a:schemeClr val="tx1"/>
                          </a:solidFill>
                        </a:rPr>
                        <a:t>A: </a:t>
                      </a:r>
                      <a:r>
                        <a:rPr lang="en-US" sz="1000" b="0" i="1">
                          <a:solidFill>
                            <a:schemeClr val="tx1"/>
                          </a:solidFill>
                        </a:rPr>
                        <a:t>Most APC UPS batteries last 3</a:t>
                      </a:r>
                      <a:r>
                        <a:rPr lang="pl-PL" sz="1000" b="0" i="1">
                          <a:solidFill>
                            <a:schemeClr val="tx1"/>
                          </a:solidFill>
                        </a:rPr>
                        <a:t>-</a:t>
                      </a:r>
                      <a:r>
                        <a:rPr lang="en-US" sz="1000" b="0" i="1">
                          <a:solidFill>
                            <a:schemeClr val="tx1"/>
                          </a:solidFill>
                        </a:rPr>
                        <a:t>5 years under normal conditions. Heat, frequent outages, and age all shorten battery life </a:t>
                      </a:r>
                      <a:r>
                        <a:rPr lang="pl-PL" sz="1000" b="0" i="1">
                          <a:solidFill>
                            <a:schemeClr val="tx1"/>
                          </a:solidFill>
                        </a:rPr>
                        <a:t>-</a:t>
                      </a:r>
                      <a:r>
                        <a:rPr lang="en-US" sz="1000" b="0" i="1">
                          <a:solidFill>
                            <a:schemeClr val="tx1"/>
                          </a:solidFill>
                        </a:rPr>
                        <a:t> check your unit's self</a:t>
                      </a:r>
                      <a:r>
                        <a:rPr lang="pl-PL" sz="1000" b="0" i="1">
                          <a:solidFill>
                            <a:schemeClr val="tx1"/>
                          </a:solidFill>
                        </a:rPr>
                        <a:t>-</a:t>
                      </a:r>
                      <a:r>
                        <a:rPr lang="en-US" sz="1000" b="0" i="1">
                          <a:solidFill>
                            <a:schemeClr val="tx1"/>
                          </a:solidFill>
                        </a:rPr>
                        <a:t>test indicator or run a manual test every 6 months.</a:t>
                      </a:r>
                    </a:p>
                    <a:p>
                      <a:pPr marL="0" indent="0">
                        <a:spcBef>
                          <a:spcPts val="0"/>
                        </a:spcBef>
                        <a:spcAft>
                          <a:spcPts val="0"/>
                        </a:spcAft>
                        <a:buClr>
                          <a:srgbClr val="3DCD58"/>
                        </a:buClr>
                        <a:buFont typeface="Arial" panose="020B0604020202020204" pitchFamily="34" charset="0"/>
                        <a:buNone/>
                        <a:defRPr/>
                      </a:pPr>
                      <a:endParaRPr lang="pl-PL" sz="1000" b="0">
                        <a:solidFill>
                          <a:schemeClr val="tx1"/>
                        </a:solidFill>
                      </a:endParaRPr>
                    </a:p>
                    <a:p>
                      <a:pPr marL="0" indent="0">
                        <a:spcBef>
                          <a:spcPts val="0"/>
                        </a:spcBef>
                        <a:spcAft>
                          <a:spcPts val="0"/>
                        </a:spcAft>
                        <a:buClr>
                          <a:srgbClr val="3DCD58"/>
                        </a:buClr>
                        <a:buFont typeface="Arial" panose="020B0604020202020204" pitchFamily="34" charset="0"/>
                        <a:buNone/>
                        <a:defRPr/>
                      </a:pPr>
                      <a:r>
                        <a:rPr lang="pl-PL" sz="1000" b="1">
                          <a:solidFill>
                            <a:schemeClr val="tx1"/>
                          </a:solidFill>
                        </a:rPr>
                        <a:t>Why is it good writing: </a:t>
                      </a:r>
                      <a:r>
                        <a:rPr lang="en-US" sz="1000" b="0">
                          <a:solidFill>
                            <a:schemeClr val="tx1"/>
                          </a:solidFill>
                        </a:rPr>
                        <a:t>Specific, self-contained, and directly quotable </a:t>
                      </a:r>
                      <a:r>
                        <a:rPr lang="pl-PL" sz="1000" b="0">
                          <a:solidFill>
                            <a:schemeClr val="tx1"/>
                          </a:solidFill>
                        </a:rPr>
                        <a:t>-</a:t>
                      </a:r>
                      <a:r>
                        <a:rPr lang="en-US" sz="1000" b="0">
                          <a:solidFill>
                            <a:schemeClr val="tx1"/>
                          </a:solidFill>
                        </a:rPr>
                        <a:t> exactly what an AI assistant can cite.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9" name="Table 8">
            <a:extLst>
              <a:ext uri="{FF2B5EF4-FFF2-40B4-BE49-F238E27FC236}">
                <a16:creationId xmlns:a16="http://schemas.microsoft.com/office/drawing/2014/main" id="{FA7581BD-F201-4B3E-6CE6-AC0F8989CBE3}"/>
              </a:ext>
            </a:extLst>
          </p:cNvPr>
          <p:cNvGraphicFramePr>
            <a:graphicFrameLocks noGrp="1"/>
          </p:cNvGraphicFramePr>
          <p:nvPr>
            <p:extLst>
              <p:ext uri="{D42A27DB-BD31-4B8C-83A1-F6EECF244321}">
                <p14:modId xmlns:p14="http://schemas.microsoft.com/office/powerpoint/2010/main" val="1241900119"/>
              </p:ext>
            </p:extLst>
          </p:nvPr>
        </p:nvGraphicFramePr>
        <p:xfrm>
          <a:off x="342900" y="1177837"/>
          <a:ext cx="3500250" cy="3261360"/>
        </p:xfrm>
        <a:graphic>
          <a:graphicData uri="http://schemas.openxmlformats.org/drawingml/2006/table">
            <a:tbl>
              <a:tblPr firstRow="1" bandRow="1">
                <a:tableStyleId>{5C22544A-7EE6-4342-B048-85BDC9FD1C3A}</a:tableStyleId>
              </a:tblPr>
              <a:tblGrid>
                <a:gridCol w="3500250">
                  <a:extLst>
                    <a:ext uri="{9D8B030D-6E8A-4147-A177-3AD203B41FA5}">
                      <a16:colId xmlns:a16="http://schemas.microsoft.com/office/drawing/2014/main" val="3037676781"/>
                    </a:ext>
                  </a:extLst>
                </a:gridCol>
              </a:tblGrid>
              <a:tr h="260914">
                <a:tc>
                  <a:txBody>
                    <a:bodyPr/>
                    <a:lstStyle/>
                    <a:p>
                      <a:pPr algn="ctr"/>
                      <a:r>
                        <a:rPr lang="pl-PL" sz="1200" b="1">
                          <a:solidFill>
                            <a:schemeClr val="tx1"/>
                          </a:solidFill>
                        </a:rPr>
                        <a:t>Bad FAQ writing</a:t>
                      </a:r>
                      <a:endParaRPr lang="pl-PL"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Q: </a:t>
                      </a:r>
                      <a:r>
                        <a:rPr lang="en-US" sz="1000" b="1" i="1">
                          <a:solidFill>
                            <a:schemeClr val="tx1"/>
                          </a:solidFill>
                        </a:rPr>
                        <a:t>How often should I replace the battery in an APC by Schneider Electric UPS?</a:t>
                      </a:r>
                      <a:endParaRPr lang="pl-PL" sz="1000" b="1" i="1">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1">
                        <a:solidFill>
                          <a:schemeClr val="tx1"/>
                        </a:solidFill>
                      </a:endParaRPr>
                    </a:p>
                    <a:p>
                      <a:pPr marL="0" indent="0">
                        <a:spcBef>
                          <a:spcPts val="0"/>
                        </a:spcBef>
                        <a:spcAft>
                          <a:spcPts val="0"/>
                        </a:spcAft>
                        <a:buClr>
                          <a:srgbClr val="3DCD58"/>
                        </a:buClr>
                        <a:buFont typeface="Wingdings" panose="05000000000000000000" pitchFamily="2" charset="2"/>
                        <a:buNone/>
                        <a:defRPr/>
                      </a:pPr>
                      <a:r>
                        <a:rPr lang="pl-PL" sz="1000" b="1">
                          <a:solidFill>
                            <a:schemeClr val="tx1"/>
                          </a:solidFill>
                        </a:rPr>
                        <a:t>A: </a:t>
                      </a:r>
                      <a:r>
                        <a:rPr lang="en-US" sz="1000" b="0" i="1">
                          <a:solidFill>
                            <a:schemeClr val="tx1"/>
                          </a:solidFill>
                        </a:rPr>
                        <a:t>Batteries are an important part of any UPS system, and keeping yours in good condition is key to protecting your valuable equipment. At Schneider Electric, we take battery health seriously and offer a range of solutions to keep your power protected. Battery life can vary depending on many factors, so we recommend checking your unit regularly. If you're not sure whether your battery needs replacing, our team of experts is here to help </a:t>
                      </a:r>
                      <a:r>
                        <a:rPr lang="pl-PL" sz="1000" b="0" i="1">
                          <a:solidFill>
                            <a:schemeClr val="tx1"/>
                          </a:solidFill>
                        </a:rPr>
                        <a:t>-</a:t>
                      </a:r>
                      <a:r>
                        <a:rPr lang="en-US" sz="1000" b="0" i="1">
                          <a:solidFill>
                            <a:schemeClr val="tx1"/>
                          </a:solidFill>
                        </a:rPr>
                        <a:t> contact us today for a personalized recommendation!</a:t>
                      </a:r>
                      <a:endParaRPr lang="pl-PL" sz="1000" b="0" i="1">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en-US" sz="1000" b="0" i="1">
                        <a:solidFill>
                          <a:schemeClr val="tx1"/>
                        </a:solidFill>
                      </a:endParaRPr>
                    </a:p>
                    <a:p>
                      <a:pPr marL="0" indent="0">
                        <a:spcBef>
                          <a:spcPts val="0"/>
                        </a:spcBef>
                        <a:spcAft>
                          <a:spcPts val="0"/>
                        </a:spcAft>
                        <a:buClr>
                          <a:srgbClr val="3DCD58"/>
                        </a:buClr>
                        <a:buFont typeface="Wingdings" panose="05000000000000000000" pitchFamily="2" charset="2"/>
                        <a:buNone/>
                        <a:defRPr/>
                      </a:pPr>
                      <a:r>
                        <a:rPr lang="pl-PL" sz="1000" b="1">
                          <a:solidFill>
                            <a:schemeClr val="tx1"/>
                          </a:solidFill>
                        </a:rPr>
                        <a:t>Why it is bad writing: </a:t>
                      </a:r>
                      <a:r>
                        <a:rPr lang="pl-PL" sz="1000" b="0">
                          <a:solidFill>
                            <a:schemeClr val="tx1"/>
                          </a:solidFill>
                        </a:rPr>
                        <a:t>it blurs </a:t>
                      </a:r>
                      <a:r>
                        <a:rPr lang="en-US" sz="1000" b="0">
                          <a:solidFill>
                            <a:schemeClr val="tx1"/>
                          </a:solidFill>
                        </a:rPr>
                        <a:t>any real content under the marketing filler</a:t>
                      </a:r>
                      <a:r>
                        <a:rPr lang="pl-PL" sz="1000" b="0">
                          <a:solidFill>
                            <a:schemeClr val="tx1"/>
                          </a:solidFill>
                        </a:rPr>
                        <a:t>. </a:t>
                      </a:r>
                      <a:r>
                        <a:rPr lang="en-US" sz="1000" b="0">
                          <a:solidFill>
                            <a:schemeClr val="tx1"/>
                          </a:solidFill>
                        </a:rPr>
                        <a:t>It then ends in a CTA instead of an answer, so there's nothing extractable</a:t>
                      </a:r>
                      <a:r>
                        <a:rPr lang="pl-PL" sz="1000" b="0">
                          <a:solidFill>
                            <a:schemeClr val="tx1"/>
                          </a:solidFill>
                        </a:rPr>
                        <a:t> for LLM</a:t>
                      </a:r>
                      <a:r>
                        <a:rPr lang="en-US" sz="1000" b="0">
                          <a:solidFill>
                            <a:schemeClr val="tx1"/>
                          </a:solidFill>
                        </a:rPr>
                        <a:t> to cite.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42515802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B0363-1E25-940C-EB32-F2A27721F52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E4F9311F-6C90-EACA-B8DF-F13D3D8EB3F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4B212AC2-C0AF-CD0F-5ADB-D05E19A76D9D}"/>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FAQ </a:t>
            </a:r>
            <a:r>
              <a:rPr lang="en-US" sz="2200">
                <a:solidFill>
                  <a:schemeClr val="accent5"/>
                </a:solidFill>
                <a:cs typeface="Arial"/>
              </a:rPr>
              <a:t>Content Writing Techniques</a:t>
            </a:r>
          </a:p>
        </p:txBody>
      </p:sp>
      <p:sp>
        <p:nvSpPr>
          <p:cNvPr id="12" name="Text 2">
            <a:extLst>
              <a:ext uri="{FF2B5EF4-FFF2-40B4-BE49-F238E27FC236}">
                <a16:creationId xmlns:a16="http://schemas.microsoft.com/office/drawing/2014/main" id="{6B81B3DB-4D4F-4729-4692-0F4DFBE55BA6}"/>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How to write FAQ answers that read naturally and </a:t>
            </a:r>
            <a:r>
              <a:rPr lang="pl-PL" sz="1100">
                <a:solidFill>
                  <a:schemeClr val="accent5"/>
                </a:solidFill>
                <a:cs typeface="Arial"/>
              </a:rPr>
              <a:t>can be extracted easily by AI engine.</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5104C3E5-CEC5-BFE6-0A66-8EBAD5173EA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B5C308E7-6C10-617C-D42F-B926D8228EC1}"/>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61</a:t>
            </a:fld>
            <a:endParaRPr lang="en-US">
              <a:solidFill>
                <a:srgbClr val="3DCD58"/>
              </a:solidFill>
            </a:endParaRPr>
          </a:p>
        </p:txBody>
      </p:sp>
      <p:graphicFrame>
        <p:nvGraphicFramePr>
          <p:cNvPr id="7" name="Table 6">
            <a:extLst>
              <a:ext uri="{FF2B5EF4-FFF2-40B4-BE49-F238E27FC236}">
                <a16:creationId xmlns:a16="http://schemas.microsoft.com/office/drawing/2014/main" id="{D4ACEDFA-2522-E1D9-C719-AB6499AB3201}"/>
              </a:ext>
            </a:extLst>
          </p:cNvPr>
          <p:cNvGraphicFramePr>
            <a:graphicFrameLocks noGrp="1"/>
          </p:cNvGraphicFramePr>
          <p:nvPr>
            <p:extLst>
              <p:ext uri="{D42A27DB-BD31-4B8C-83A1-F6EECF244321}">
                <p14:modId xmlns:p14="http://schemas.microsoft.com/office/powerpoint/2010/main" val="219186231"/>
              </p:ext>
            </p:extLst>
          </p:nvPr>
        </p:nvGraphicFramePr>
        <p:xfrm>
          <a:off x="234823" y="1540106"/>
          <a:ext cx="2518524" cy="1133821"/>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Write for humans first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59501">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Natural, plain language — AI models now favor phrasing that matches how people actually speak</a:t>
                      </a:r>
                      <a:r>
                        <a:rPr lang="pl-PL" sz="1000" b="0">
                          <a:solidFill>
                            <a:srgbClr val="626469">
                              <a:lumMod val="75000"/>
                            </a:srgbClr>
                          </a:solidFill>
                        </a:rPr>
                        <a:t>.</a:t>
                      </a:r>
                      <a:endParaRPr lang="en-US" sz="1000" b="0">
                        <a:solidFill>
                          <a:srgbClr val="626469">
                            <a:lumMod val="75000"/>
                          </a:srgb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8" name="Table 27">
            <a:extLst>
              <a:ext uri="{FF2B5EF4-FFF2-40B4-BE49-F238E27FC236}">
                <a16:creationId xmlns:a16="http://schemas.microsoft.com/office/drawing/2014/main" id="{E4B16147-7FB5-E707-BE96-530757A3992C}"/>
              </a:ext>
            </a:extLst>
          </p:cNvPr>
          <p:cNvGraphicFramePr>
            <a:graphicFrameLocks noGrp="1"/>
          </p:cNvGraphicFramePr>
          <p:nvPr>
            <p:extLst>
              <p:ext uri="{D42A27DB-BD31-4B8C-83A1-F6EECF244321}">
                <p14:modId xmlns:p14="http://schemas.microsoft.com/office/powerpoint/2010/main" val="2084823971"/>
              </p:ext>
            </p:extLst>
          </p:nvPr>
        </p:nvGraphicFramePr>
        <p:xfrm>
          <a:off x="3312624" y="1540106"/>
          <a:ext cx="2518524" cy="1127760"/>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Front-load the answer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pl-PL" sz="1000" b="0">
                          <a:solidFill>
                            <a:schemeClr val="tx1"/>
                          </a:solidFill>
                        </a:rPr>
                        <a:t>Always have </a:t>
                      </a:r>
                      <a:r>
                        <a:rPr lang="en-US" sz="1000" b="0">
                          <a:solidFill>
                            <a:schemeClr val="tx1"/>
                          </a:solidFill>
                        </a:rPr>
                        <a:t>introductory sentence or first paragraph that summarizes the main points and hooks the reader's attention. Lead with the direct answer, then explain</a:t>
                      </a:r>
                      <a:r>
                        <a:rPr lang="pl-PL" sz="1000" b="0">
                          <a:solidFill>
                            <a:schemeClr val="tx1"/>
                          </a:solidFill>
                        </a:rPr>
                        <a:t>.</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9" name="Table 28">
            <a:extLst>
              <a:ext uri="{FF2B5EF4-FFF2-40B4-BE49-F238E27FC236}">
                <a16:creationId xmlns:a16="http://schemas.microsoft.com/office/drawing/2014/main" id="{EF81F716-F6C7-4BCD-CDE5-473B4E19C1B7}"/>
              </a:ext>
            </a:extLst>
          </p:cNvPr>
          <p:cNvGraphicFramePr>
            <a:graphicFrameLocks noGrp="1"/>
          </p:cNvGraphicFramePr>
          <p:nvPr>
            <p:extLst>
              <p:ext uri="{D42A27DB-BD31-4B8C-83A1-F6EECF244321}">
                <p14:modId xmlns:p14="http://schemas.microsoft.com/office/powerpoint/2010/main" val="4201089039"/>
              </p:ext>
            </p:extLst>
          </p:nvPr>
        </p:nvGraphicFramePr>
        <p:xfrm>
          <a:off x="6390653" y="1540106"/>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en-US" sz="1200" b="1">
                          <a:solidFill>
                            <a:schemeClr val="accent5"/>
                          </a:solidFill>
                        </a:rPr>
                        <a:t>One entity term per answer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Work </a:t>
                      </a:r>
                      <a:r>
                        <a:rPr lang="pl-PL" sz="1000" b="0">
                          <a:solidFill>
                            <a:schemeClr val="tx1"/>
                          </a:solidFill>
                        </a:rPr>
                        <a:t>on</a:t>
                      </a:r>
                      <a:r>
                        <a:rPr lang="en-US" sz="1000" b="0">
                          <a:solidFill>
                            <a:schemeClr val="tx1"/>
                          </a:solidFill>
                        </a:rPr>
                        <a:t> one specific product/model</a:t>
                      </a:r>
                      <a:r>
                        <a:rPr lang="pl-PL" sz="1000" b="0">
                          <a:solidFill>
                            <a:schemeClr val="tx1"/>
                          </a:solidFill>
                        </a:rPr>
                        <a:t> group/range</a:t>
                      </a:r>
                      <a:r>
                        <a:rPr lang="en-US" sz="1000" b="0">
                          <a:solidFill>
                            <a:schemeClr val="tx1"/>
                          </a:solidFill>
                        </a:rPr>
                        <a:t> </a:t>
                      </a:r>
                      <a:r>
                        <a:rPr lang="pl-PL" sz="1000" b="0">
                          <a:solidFill>
                            <a:schemeClr val="tx1"/>
                          </a:solidFill>
                        </a:rPr>
                        <a:t>per answer</a:t>
                      </a:r>
                      <a:r>
                        <a:rPr lang="en-US" sz="1000" b="0">
                          <a:solidFill>
                            <a:schemeClr val="tx1"/>
                          </a:solidFill>
                        </a:rPr>
                        <a:t>, </a:t>
                      </a:r>
                      <a:r>
                        <a:rPr lang="pl-PL" sz="1000" b="0">
                          <a:solidFill>
                            <a:schemeClr val="tx1"/>
                          </a:solidFill>
                        </a:rPr>
                        <a:t>do not stack </a:t>
                      </a:r>
                      <a:r>
                        <a:rPr lang="en-US" sz="1000" b="0">
                          <a:solidFill>
                            <a:schemeClr val="tx1"/>
                          </a:solidFill>
                        </a:rPr>
                        <a:t>keywords</a:t>
                      </a:r>
                      <a:r>
                        <a:rPr lang="pl-PL" sz="1000" b="0">
                          <a:solidFill>
                            <a:schemeClr val="tx1"/>
                          </a:solidFill>
                        </a:rPr>
                        <a:t> as it can confuse the AI.</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31" name="Table 30">
            <a:extLst>
              <a:ext uri="{FF2B5EF4-FFF2-40B4-BE49-F238E27FC236}">
                <a16:creationId xmlns:a16="http://schemas.microsoft.com/office/drawing/2014/main" id="{20613214-E583-1AF0-AE5E-AFF9DB81C5E8}"/>
              </a:ext>
            </a:extLst>
          </p:cNvPr>
          <p:cNvGraphicFramePr>
            <a:graphicFrameLocks noGrp="1"/>
          </p:cNvGraphicFramePr>
          <p:nvPr>
            <p:extLst>
              <p:ext uri="{D42A27DB-BD31-4B8C-83A1-F6EECF244321}">
                <p14:modId xmlns:p14="http://schemas.microsoft.com/office/powerpoint/2010/main" val="3612703011"/>
              </p:ext>
            </p:extLst>
          </p:nvPr>
        </p:nvGraphicFramePr>
        <p:xfrm>
          <a:off x="6390653" y="3120390"/>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en-US" sz="1200" b="1">
                          <a:solidFill>
                            <a:schemeClr val="accent5"/>
                          </a:solidFill>
                        </a:rPr>
                        <a:t>Avoid filler and hedging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Cut phrases like "it depends" or "in general" when a concrete answer is possible</a:t>
                      </a:r>
                      <a:r>
                        <a:rPr lang="pl-PL" sz="1000" b="0">
                          <a:solidFill>
                            <a:schemeClr val="tx1"/>
                          </a:solidFill>
                        </a:rPr>
                        <a:t>.</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32" name="Table 31">
            <a:extLst>
              <a:ext uri="{FF2B5EF4-FFF2-40B4-BE49-F238E27FC236}">
                <a16:creationId xmlns:a16="http://schemas.microsoft.com/office/drawing/2014/main" id="{A0A0F999-E885-420E-31C7-376027F2D684}"/>
              </a:ext>
            </a:extLst>
          </p:cNvPr>
          <p:cNvGraphicFramePr>
            <a:graphicFrameLocks noGrp="1"/>
          </p:cNvGraphicFramePr>
          <p:nvPr>
            <p:extLst>
              <p:ext uri="{D42A27DB-BD31-4B8C-83A1-F6EECF244321}">
                <p14:modId xmlns:p14="http://schemas.microsoft.com/office/powerpoint/2010/main" val="646857776"/>
              </p:ext>
            </p:extLst>
          </p:nvPr>
        </p:nvGraphicFramePr>
        <p:xfrm>
          <a:off x="3312624" y="3120390"/>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en-US" sz="1200" b="1">
                          <a:solidFill>
                            <a:schemeClr val="accent5"/>
                          </a:solidFill>
                        </a:rPr>
                        <a:t>Keep it self-contained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Each answer should make sense without needing the rest of the page for context</a:t>
                      </a:r>
                      <a:r>
                        <a:rPr lang="pl-PL" sz="1000" b="0">
                          <a:solidFill>
                            <a:schemeClr val="tx1"/>
                          </a:solidFill>
                        </a:rPr>
                        <a:t>.</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33" name="Table 32">
            <a:extLst>
              <a:ext uri="{FF2B5EF4-FFF2-40B4-BE49-F238E27FC236}">
                <a16:creationId xmlns:a16="http://schemas.microsoft.com/office/drawing/2014/main" id="{8A5E0C59-4CC7-496E-8E14-3627417404AA}"/>
              </a:ext>
            </a:extLst>
          </p:cNvPr>
          <p:cNvGraphicFramePr>
            <a:graphicFrameLocks noGrp="1"/>
          </p:cNvGraphicFramePr>
          <p:nvPr>
            <p:extLst>
              <p:ext uri="{D42A27DB-BD31-4B8C-83A1-F6EECF244321}">
                <p14:modId xmlns:p14="http://schemas.microsoft.com/office/powerpoint/2010/main" val="3768617956"/>
              </p:ext>
            </p:extLst>
          </p:nvPr>
        </p:nvGraphicFramePr>
        <p:xfrm>
          <a:off x="234823" y="3120389"/>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en-US" sz="1200" b="1">
                          <a:solidFill>
                            <a:schemeClr val="accent5"/>
                          </a:solidFill>
                        </a:rPr>
                        <a:t>Use lists for structure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Steps, specs, and comparisons as bullets or numbers — easier to quote than a wall of text</a:t>
                      </a:r>
                      <a:r>
                        <a:rPr lang="pl-PL" sz="1000" b="0">
                          <a:solidFill>
                            <a:schemeClr val="tx1"/>
                          </a:solidFill>
                        </a:rPr>
                        <a:t>.</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1873902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AD16-A924-27D8-A65F-DD52A2E7150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ED9E62E7-D2B3-CF97-A291-021EAE908240}"/>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18A84944-BB4A-0125-A231-E8F4B7410779}"/>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Freshness and Maintenance Cadence</a:t>
            </a:r>
          </a:p>
        </p:txBody>
      </p:sp>
      <p:sp>
        <p:nvSpPr>
          <p:cNvPr id="12" name="Text 2">
            <a:extLst>
              <a:ext uri="{FF2B5EF4-FFF2-40B4-BE49-F238E27FC236}">
                <a16:creationId xmlns:a16="http://schemas.microsoft.com/office/drawing/2014/main" id="{EE1F26B2-1E72-AD63-2250-9191CFC2C9F0}"/>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Content served has to be fresh and up to date.</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145DB3D2-4E65-A75E-E31D-9DB0DB1B13EF}"/>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92764C2-192B-C5C1-0305-95E38AE6F291}"/>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62</a:t>
            </a:fld>
            <a:endParaRPr lang="en-US">
              <a:solidFill>
                <a:srgbClr val="3DCD58"/>
              </a:solidFill>
            </a:endParaRPr>
          </a:p>
        </p:txBody>
      </p:sp>
      <p:graphicFrame>
        <p:nvGraphicFramePr>
          <p:cNvPr id="9" name="Table 8">
            <a:extLst>
              <a:ext uri="{FF2B5EF4-FFF2-40B4-BE49-F238E27FC236}">
                <a16:creationId xmlns:a16="http://schemas.microsoft.com/office/drawing/2014/main" id="{EFB18868-5268-92C7-E160-3D1B5E77B64B}"/>
              </a:ext>
            </a:extLst>
          </p:cNvPr>
          <p:cNvGraphicFramePr>
            <a:graphicFrameLocks noGrp="1"/>
          </p:cNvGraphicFramePr>
          <p:nvPr>
            <p:extLst>
              <p:ext uri="{D42A27DB-BD31-4B8C-83A1-F6EECF244321}">
                <p14:modId xmlns:p14="http://schemas.microsoft.com/office/powerpoint/2010/main" val="1508899187"/>
              </p:ext>
            </p:extLst>
          </p:nvPr>
        </p:nvGraphicFramePr>
        <p:xfrm>
          <a:off x="5941264" y="2808488"/>
          <a:ext cx="2518524" cy="1127760"/>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Product update</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pl-PL" sz="1000" b="0">
                          <a:solidFill>
                            <a:schemeClr val="tx1"/>
                          </a:solidFill>
                        </a:rPr>
                        <a:t>Whenever there is any update to the product, FAQ should be reviewed and updated accordingly – independently from the regular cycle schedule.</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0" name="Table 9">
            <a:extLst>
              <a:ext uri="{FF2B5EF4-FFF2-40B4-BE49-F238E27FC236}">
                <a16:creationId xmlns:a16="http://schemas.microsoft.com/office/drawing/2014/main" id="{E30341C5-9E96-CB46-8052-27F542294404}"/>
              </a:ext>
            </a:extLst>
          </p:cNvPr>
          <p:cNvGraphicFramePr>
            <a:graphicFrameLocks noGrp="1"/>
          </p:cNvGraphicFramePr>
          <p:nvPr>
            <p:extLst>
              <p:ext uri="{D42A27DB-BD31-4B8C-83A1-F6EECF244321}">
                <p14:modId xmlns:p14="http://schemas.microsoft.com/office/powerpoint/2010/main" val="2773206188"/>
              </p:ext>
            </p:extLst>
          </p:nvPr>
        </p:nvGraphicFramePr>
        <p:xfrm>
          <a:off x="3312738" y="1500161"/>
          <a:ext cx="2518524" cy="1127760"/>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Policy Change</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Sustainability commitments, warranty terms, and compliance answers need the fastest update path </a:t>
                      </a:r>
                      <a:r>
                        <a:rPr lang="pl-PL" sz="1000" b="0">
                          <a:solidFill>
                            <a:schemeClr val="tx1"/>
                          </a:solidFill>
                        </a:rPr>
                        <a:t>-</a:t>
                      </a:r>
                      <a:r>
                        <a:rPr lang="en-US" sz="1000" b="0">
                          <a:solidFill>
                            <a:schemeClr val="tx1"/>
                          </a:solidFill>
                        </a:rPr>
                        <a:t> these are high</a:t>
                      </a:r>
                      <a:r>
                        <a:rPr lang="pl-PL" sz="1000" b="0">
                          <a:solidFill>
                            <a:schemeClr val="tx1"/>
                          </a:solidFill>
                        </a:rPr>
                        <a:t>-</a:t>
                      </a:r>
                      <a:r>
                        <a:rPr lang="en-US" sz="1000" b="0">
                          <a:solidFill>
                            <a:schemeClr val="tx1"/>
                          </a:solidFill>
                        </a:rPr>
                        <a:t>trust, high</a:t>
                      </a:r>
                      <a:r>
                        <a:rPr lang="pl-PL" sz="1000" b="0">
                          <a:solidFill>
                            <a:schemeClr val="tx1"/>
                          </a:solidFill>
                        </a:rPr>
                        <a:t>-</a:t>
                      </a:r>
                      <a:r>
                        <a:rPr lang="en-US" sz="1000" b="0">
                          <a:solidFill>
                            <a:schemeClr val="tx1"/>
                          </a:solidFill>
                        </a:rPr>
                        <a:t>scrutiny answers.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2" name="Table 21">
            <a:extLst>
              <a:ext uri="{FF2B5EF4-FFF2-40B4-BE49-F238E27FC236}">
                <a16:creationId xmlns:a16="http://schemas.microsoft.com/office/drawing/2014/main" id="{47A473C6-B1BE-1EB0-02D4-D297A58660F8}"/>
              </a:ext>
            </a:extLst>
          </p:cNvPr>
          <p:cNvGraphicFramePr>
            <a:graphicFrameLocks noGrp="1"/>
          </p:cNvGraphicFramePr>
          <p:nvPr>
            <p:extLst>
              <p:ext uri="{D42A27DB-BD31-4B8C-83A1-F6EECF244321}">
                <p14:modId xmlns:p14="http://schemas.microsoft.com/office/powerpoint/2010/main" val="1380724631"/>
              </p:ext>
            </p:extLst>
          </p:nvPr>
        </p:nvGraphicFramePr>
        <p:xfrm>
          <a:off x="683985" y="2812385"/>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3-4 months regular cycle</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Review high</a:t>
                      </a:r>
                      <a:r>
                        <a:rPr lang="pl-PL" sz="1000" b="0">
                          <a:solidFill>
                            <a:schemeClr val="tx1"/>
                          </a:solidFill>
                        </a:rPr>
                        <a:t>-</a:t>
                      </a:r>
                      <a:r>
                        <a:rPr lang="en-US" sz="1000" b="0">
                          <a:solidFill>
                            <a:schemeClr val="tx1"/>
                          </a:solidFill>
                        </a:rPr>
                        <a:t>traffic FAQ pages on this cycle. Content refreshed this often holds citation position noticeably better than static pages.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pic>
        <p:nvPicPr>
          <p:cNvPr id="26" name="Graphic 25" descr="Continuous Improvement with solid fill">
            <a:extLst>
              <a:ext uri="{FF2B5EF4-FFF2-40B4-BE49-F238E27FC236}">
                <a16:creationId xmlns:a16="http://schemas.microsoft.com/office/drawing/2014/main" id="{3ED9DE45-3E42-B30B-DEB6-29A4E8CB4D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08007" y="2808488"/>
            <a:ext cx="1127761" cy="1127761"/>
          </a:xfrm>
          <a:prstGeom prst="rect">
            <a:avLst/>
          </a:prstGeom>
        </p:spPr>
      </p:pic>
      <p:cxnSp>
        <p:nvCxnSpPr>
          <p:cNvPr id="34" name="Connector: Elbow 33">
            <a:extLst>
              <a:ext uri="{FF2B5EF4-FFF2-40B4-BE49-F238E27FC236}">
                <a16:creationId xmlns:a16="http://schemas.microsoft.com/office/drawing/2014/main" id="{6FECD579-CDBF-7B09-26E0-8982CA8C442B}"/>
              </a:ext>
            </a:extLst>
          </p:cNvPr>
          <p:cNvCxnSpPr>
            <a:cxnSpLocks/>
            <a:stCxn id="22" idx="3"/>
            <a:endCxn id="26" idx="1"/>
          </p:cNvCxnSpPr>
          <p:nvPr/>
        </p:nvCxnSpPr>
        <p:spPr>
          <a:xfrm>
            <a:off x="3202509" y="3372368"/>
            <a:ext cx="805498" cy="1"/>
          </a:xfrm>
          <a:prstGeom prst="bentConnector3">
            <a:avLst>
              <a:gd name="adj1" fmla="val 50000"/>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0" name="Connector: Elbow 39">
            <a:extLst>
              <a:ext uri="{FF2B5EF4-FFF2-40B4-BE49-F238E27FC236}">
                <a16:creationId xmlns:a16="http://schemas.microsoft.com/office/drawing/2014/main" id="{3E326A9D-A830-8894-DDA2-65010725779B}"/>
              </a:ext>
            </a:extLst>
          </p:cNvPr>
          <p:cNvCxnSpPr>
            <a:cxnSpLocks/>
            <a:stCxn id="9" idx="1"/>
            <a:endCxn id="26" idx="3"/>
          </p:cNvCxnSpPr>
          <p:nvPr/>
        </p:nvCxnSpPr>
        <p:spPr>
          <a:xfrm rot="10800000" flipV="1">
            <a:off x="5135768" y="3372367"/>
            <a:ext cx="805496" cy="1"/>
          </a:xfrm>
          <a:prstGeom prst="bentConnector3">
            <a:avLst>
              <a:gd name="adj1" fmla="val 50000"/>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1C80F994-37F9-162A-4FE9-0F935FB53CA6}"/>
              </a:ext>
            </a:extLst>
          </p:cNvPr>
          <p:cNvCxnSpPr>
            <a:cxnSpLocks/>
            <a:stCxn id="10" idx="2"/>
          </p:cNvCxnSpPr>
          <p:nvPr/>
        </p:nvCxnSpPr>
        <p:spPr>
          <a:xfrm>
            <a:off x="4572000" y="2627921"/>
            <a:ext cx="0" cy="47347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98499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6DBE3-EF62-BDAE-ECDF-DDC91017B93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3ECA4DC-DDCC-9799-FF0D-99B81A146329}"/>
              </a:ext>
            </a:extLst>
          </p:cNvPr>
          <p:cNvSpPr/>
          <p:nvPr/>
        </p:nvSpPr>
        <p:spPr>
          <a:xfrm>
            <a:off x="398463" y="2082959"/>
            <a:ext cx="8351995" cy="247075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34" name="Shape 4">
            <a:extLst>
              <a:ext uri="{FF2B5EF4-FFF2-40B4-BE49-F238E27FC236}">
                <a16:creationId xmlns:a16="http://schemas.microsoft.com/office/drawing/2014/main" id="{0FFE3913-0C98-DFBC-C48F-24FD4B7CB988}"/>
              </a:ext>
            </a:extLst>
          </p:cNvPr>
          <p:cNvSpPr/>
          <p:nvPr/>
        </p:nvSpPr>
        <p:spPr>
          <a:xfrm>
            <a:off x="342900" y="1326302"/>
            <a:ext cx="8407558" cy="513209"/>
          </a:xfrm>
          <a:prstGeom prst="roundRect">
            <a:avLst>
              <a:gd name="adj" fmla="val 1978"/>
            </a:avLst>
          </a:prstGeom>
          <a:noFill/>
          <a:ln>
            <a:noFill/>
          </a:ln>
          <a:effectLst>
            <a:outerShdw blurRad="76200" dist="25400" dir="2700000" algn="bl" rotWithShape="0">
              <a:srgbClr val="000000">
                <a:alpha val="8000"/>
              </a:srgbClr>
            </a:outerShdw>
          </a:effectLst>
        </p:spPr>
        <p:txBody>
          <a:bodyPr/>
          <a:lstStyle/>
          <a:p>
            <a:r>
              <a:rPr lang="en-AU" sz="1200" b="1"/>
              <a:t>Create a </a:t>
            </a:r>
            <a:r>
              <a:rPr lang="pl-PL" sz="1200" b="1"/>
              <a:t>new mindset: </a:t>
            </a:r>
            <a:r>
              <a:rPr lang="pl-PL" sz="1200"/>
              <a:t>t</a:t>
            </a:r>
            <a:r>
              <a:rPr lang="en-US" sz="1200"/>
              <a:t>he FAQ page is no longer a place to mop up loose ends. Written and structured well, it's one of the highest-leverage assets Schneider Electric has for being the cited, trusted source inside AI-generated answers.</a:t>
            </a:r>
          </a:p>
        </p:txBody>
      </p:sp>
      <p:sp>
        <p:nvSpPr>
          <p:cNvPr id="8" name="Shape 0">
            <a:extLst>
              <a:ext uri="{FF2B5EF4-FFF2-40B4-BE49-F238E27FC236}">
                <a16:creationId xmlns:a16="http://schemas.microsoft.com/office/drawing/2014/main" id="{B93AC992-DCB9-3461-C5EC-B213DA02481D}"/>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7FC97D73-CA59-D4F9-69D2-C1D478BD46B4}"/>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FAQ as important GEO asset: Optimization Checklist</a:t>
            </a:r>
            <a:endParaRPr lang="en-US" sz="2200">
              <a:solidFill>
                <a:schemeClr val="accent5"/>
              </a:solidFill>
              <a:cs typeface="Arial"/>
            </a:endParaRPr>
          </a:p>
        </p:txBody>
      </p:sp>
      <p:sp>
        <p:nvSpPr>
          <p:cNvPr id="12" name="Text 2">
            <a:extLst>
              <a:ext uri="{FF2B5EF4-FFF2-40B4-BE49-F238E27FC236}">
                <a16:creationId xmlns:a16="http://schemas.microsoft.com/office/drawing/2014/main" id="{80B3D057-E06C-97E6-F84F-A9E0B141B7C4}"/>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Short list to check if the FAQ page is GEO optimized.</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E4D20BDA-C6D2-1D29-9247-3BD9166C4C84}"/>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470EFC4B-0477-1E2B-127E-93479A2D3E55}"/>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63</a:t>
            </a:fld>
            <a:endParaRPr lang="en-US">
              <a:solidFill>
                <a:srgbClr val="3DCD58"/>
              </a:solidFill>
            </a:endParaRPr>
          </a:p>
        </p:txBody>
      </p:sp>
      <p:sp>
        <p:nvSpPr>
          <p:cNvPr id="2" name="Shape 3">
            <a:extLst>
              <a:ext uri="{FF2B5EF4-FFF2-40B4-BE49-F238E27FC236}">
                <a16:creationId xmlns:a16="http://schemas.microsoft.com/office/drawing/2014/main" id="{F8CE2C7F-8CAD-B590-DA2E-DB3DE32F50F5}"/>
              </a:ext>
            </a:extLst>
          </p:cNvPr>
          <p:cNvSpPr/>
          <p:nvPr/>
        </p:nvSpPr>
        <p:spPr>
          <a:xfrm>
            <a:off x="520858" y="2315422"/>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3" name="Text 4">
            <a:extLst>
              <a:ext uri="{FF2B5EF4-FFF2-40B4-BE49-F238E27FC236}">
                <a16:creationId xmlns:a16="http://schemas.microsoft.com/office/drawing/2014/main" id="{2226DA0F-62A5-7E6C-79CB-A451BD61731F}"/>
              </a:ext>
            </a:extLst>
          </p:cNvPr>
          <p:cNvSpPr/>
          <p:nvPr/>
        </p:nvSpPr>
        <p:spPr>
          <a:xfrm>
            <a:off x="863758" y="2157688"/>
            <a:ext cx="3703320" cy="548640"/>
          </a:xfrm>
          <a:prstGeom prst="rect">
            <a:avLst/>
          </a:prstGeom>
          <a:noFill/>
          <a:ln/>
        </p:spPr>
        <p:txBody>
          <a:bodyPr wrap="square" rtlCol="0" anchor="ctr"/>
          <a:lstStyle/>
          <a:p>
            <a:pPr>
              <a:lnSpc>
                <a:spcPct val="110000"/>
              </a:lnSpc>
            </a:pPr>
            <a:r>
              <a:rPr lang="en-US" sz="1000"/>
              <a:t>Question uses real buyer language, sourced from support/sales</a:t>
            </a:r>
          </a:p>
        </p:txBody>
      </p:sp>
      <p:sp>
        <p:nvSpPr>
          <p:cNvPr id="4" name="Shape 5">
            <a:extLst>
              <a:ext uri="{FF2B5EF4-FFF2-40B4-BE49-F238E27FC236}">
                <a16:creationId xmlns:a16="http://schemas.microsoft.com/office/drawing/2014/main" id="{6D9CB0FB-CBE8-5E78-4811-D7ACAA7388EF}"/>
              </a:ext>
            </a:extLst>
          </p:cNvPr>
          <p:cNvSpPr/>
          <p:nvPr/>
        </p:nvSpPr>
        <p:spPr>
          <a:xfrm>
            <a:off x="520858" y="291526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9" name="Text 6">
            <a:extLst>
              <a:ext uri="{FF2B5EF4-FFF2-40B4-BE49-F238E27FC236}">
                <a16:creationId xmlns:a16="http://schemas.microsoft.com/office/drawing/2014/main" id="{2F940421-5F3E-CECA-6419-231BFFD46BC5}"/>
              </a:ext>
            </a:extLst>
          </p:cNvPr>
          <p:cNvSpPr/>
          <p:nvPr/>
        </p:nvSpPr>
        <p:spPr>
          <a:xfrm>
            <a:off x="863758" y="2740618"/>
            <a:ext cx="3703320" cy="548640"/>
          </a:xfrm>
          <a:prstGeom prst="rect">
            <a:avLst/>
          </a:prstGeom>
          <a:noFill/>
          <a:ln/>
        </p:spPr>
        <p:txBody>
          <a:bodyPr wrap="square" rtlCol="0" anchor="ctr"/>
          <a:lstStyle/>
          <a:p>
            <a:pPr>
              <a:lnSpc>
                <a:spcPct val="110000"/>
              </a:lnSpc>
            </a:pPr>
            <a:r>
              <a:rPr lang="en-US" sz="1000"/>
              <a:t>Direct answer appears in the first sentence (40</a:t>
            </a:r>
            <a:r>
              <a:rPr lang="pl-PL" sz="1000"/>
              <a:t>-</a:t>
            </a:r>
            <a:r>
              <a:rPr lang="en-US" sz="1000"/>
              <a:t>80 words)</a:t>
            </a:r>
          </a:p>
        </p:txBody>
      </p:sp>
      <p:sp>
        <p:nvSpPr>
          <p:cNvPr id="10" name="Shape 7">
            <a:extLst>
              <a:ext uri="{FF2B5EF4-FFF2-40B4-BE49-F238E27FC236}">
                <a16:creationId xmlns:a16="http://schemas.microsoft.com/office/drawing/2014/main" id="{4FB6D512-D8C5-C5D0-FB74-077E861BA889}"/>
              </a:ext>
            </a:extLst>
          </p:cNvPr>
          <p:cNvSpPr/>
          <p:nvPr/>
        </p:nvSpPr>
        <p:spPr>
          <a:xfrm>
            <a:off x="520858" y="3498427"/>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3" name="Text 8">
            <a:extLst>
              <a:ext uri="{FF2B5EF4-FFF2-40B4-BE49-F238E27FC236}">
                <a16:creationId xmlns:a16="http://schemas.microsoft.com/office/drawing/2014/main" id="{0EE9BA8B-B86C-FD32-946C-9A50BD916778}"/>
              </a:ext>
            </a:extLst>
          </p:cNvPr>
          <p:cNvSpPr/>
          <p:nvPr/>
        </p:nvSpPr>
        <p:spPr>
          <a:xfrm>
            <a:off x="863758" y="3323548"/>
            <a:ext cx="3703320" cy="548640"/>
          </a:xfrm>
          <a:prstGeom prst="rect">
            <a:avLst/>
          </a:prstGeom>
          <a:noFill/>
          <a:ln/>
        </p:spPr>
        <p:txBody>
          <a:bodyPr wrap="square" rtlCol="0" anchor="ctr"/>
          <a:lstStyle/>
          <a:p>
            <a:pPr>
              <a:lnSpc>
                <a:spcPct val="110000"/>
              </a:lnSpc>
            </a:pPr>
            <a:r>
              <a:rPr lang="en-US" sz="1000"/>
              <a:t>One specific product/model</a:t>
            </a:r>
            <a:r>
              <a:rPr lang="pl-PL" sz="1000"/>
              <a:t> group/range </a:t>
            </a:r>
            <a:r>
              <a:rPr lang="en-US" sz="1000"/>
              <a:t>referenced naturally, no keyword stacking</a:t>
            </a:r>
          </a:p>
        </p:txBody>
      </p:sp>
      <p:sp>
        <p:nvSpPr>
          <p:cNvPr id="14" name="Shape 9">
            <a:extLst>
              <a:ext uri="{FF2B5EF4-FFF2-40B4-BE49-F238E27FC236}">
                <a16:creationId xmlns:a16="http://schemas.microsoft.com/office/drawing/2014/main" id="{CCE8F0F1-178D-B969-F114-7B138D499A2B}"/>
              </a:ext>
            </a:extLst>
          </p:cNvPr>
          <p:cNvSpPr/>
          <p:nvPr/>
        </p:nvSpPr>
        <p:spPr>
          <a:xfrm>
            <a:off x="520858" y="405782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5" name="Text 10">
            <a:extLst>
              <a:ext uri="{FF2B5EF4-FFF2-40B4-BE49-F238E27FC236}">
                <a16:creationId xmlns:a16="http://schemas.microsoft.com/office/drawing/2014/main" id="{3DD25963-A2B4-37F7-3AD7-9177BA232236}"/>
              </a:ext>
            </a:extLst>
          </p:cNvPr>
          <p:cNvSpPr/>
          <p:nvPr/>
        </p:nvSpPr>
        <p:spPr>
          <a:xfrm>
            <a:off x="863758" y="3906478"/>
            <a:ext cx="3703320" cy="548640"/>
          </a:xfrm>
          <a:prstGeom prst="rect">
            <a:avLst/>
          </a:prstGeom>
          <a:noFill/>
          <a:ln/>
        </p:spPr>
        <p:txBody>
          <a:bodyPr wrap="square" rtlCol="0" anchor="ctr"/>
          <a:lstStyle/>
          <a:p>
            <a:pPr>
              <a:lnSpc>
                <a:spcPct val="110000"/>
              </a:lnSpc>
            </a:pPr>
            <a:r>
              <a:rPr lang="en-US" sz="1000"/>
              <a:t>Bullet points or numbered lists to be used for steps or specifications. Tables to be used for comparisons.</a:t>
            </a:r>
          </a:p>
        </p:txBody>
      </p:sp>
      <p:sp>
        <p:nvSpPr>
          <p:cNvPr id="17" name="Text 12">
            <a:extLst>
              <a:ext uri="{FF2B5EF4-FFF2-40B4-BE49-F238E27FC236}">
                <a16:creationId xmlns:a16="http://schemas.microsoft.com/office/drawing/2014/main" id="{DE069346-1FA5-349F-550C-A23398BE6134}"/>
              </a:ext>
            </a:extLst>
          </p:cNvPr>
          <p:cNvSpPr/>
          <p:nvPr/>
        </p:nvSpPr>
        <p:spPr>
          <a:xfrm>
            <a:off x="5047138" y="2137114"/>
            <a:ext cx="3703320" cy="548640"/>
          </a:xfrm>
          <a:prstGeom prst="rect">
            <a:avLst/>
          </a:prstGeom>
          <a:noFill/>
          <a:ln/>
        </p:spPr>
        <p:txBody>
          <a:bodyPr wrap="square" rtlCol="0" anchor="ctr"/>
          <a:lstStyle/>
          <a:p>
            <a:pPr>
              <a:lnSpc>
                <a:spcPct val="110000"/>
              </a:lnSpc>
            </a:pPr>
            <a:r>
              <a:rPr lang="en-US" sz="1000"/>
              <a:t>Answer is self-contained </a:t>
            </a:r>
            <a:r>
              <a:rPr lang="pl-PL" sz="1000"/>
              <a:t>-</a:t>
            </a:r>
            <a:r>
              <a:rPr lang="en-US" sz="1000"/>
              <a:t> makes sense out of context</a:t>
            </a:r>
          </a:p>
        </p:txBody>
      </p:sp>
      <p:sp>
        <p:nvSpPr>
          <p:cNvPr id="18" name="Shape 13">
            <a:extLst>
              <a:ext uri="{FF2B5EF4-FFF2-40B4-BE49-F238E27FC236}">
                <a16:creationId xmlns:a16="http://schemas.microsoft.com/office/drawing/2014/main" id="{BCA13AF8-763D-FC6F-E4A7-D41E12625322}"/>
              </a:ext>
            </a:extLst>
          </p:cNvPr>
          <p:cNvSpPr/>
          <p:nvPr/>
        </p:nvSpPr>
        <p:spPr>
          <a:xfrm>
            <a:off x="4704238" y="2315422"/>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4" name="Shape 19">
            <a:extLst>
              <a:ext uri="{FF2B5EF4-FFF2-40B4-BE49-F238E27FC236}">
                <a16:creationId xmlns:a16="http://schemas.microsoft.com/office/drawing/2014/main" id="{279742D7-BA5A-1A7C-58B3-62C275704755}"/>
              </a:ext>
            </a:extLst>
          </p:cNvPr>
          <p:cNvSpPr/>
          <p:nvPr/>
        </p:nvSpPr>
        <p:spPr>
          <a:xfrm>
            <a:off x="4704238" y="291526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5" name="Text 20">
            <a:extLst>
              <a:ext uri="{FF2B5EF4-FFF2-40B4-BE49-F238E27FC236}">
                <a16:creationId xmlns:a16="http://schemas.microsoft.com/office/drawing/2014/main" id="{394EF837-F239-185A-751B-38C7034D350E}"/>
              </a:ext>
            </a:extLst>
          </p:cNvPr>
          <p:cNvSpPr/>
          <p:nvPr/>
        </p:nvSpPr>
        <p:spPr>
          <a:xfrm>
            <a:off x="5047138" y="2757763"/>
            <a:ext cx="3703320" cy="548640"/>
          </a:xfrm>
          <a:prstGeom prst="rect">
            <a:avLst/>
          </a:prstGeom>
          <a:noFill/>
          <a:ln/>
        </p:spPr>
        <p:txBody>
          <a:bodyPr wrap="square" rtlCol="0" anchor="ctr"/>
          <a:lstStyle/>
          <a:p>
            <a:pPr>
              <a:lnSpc>
                <a:spcPct val="110000"/>
              </a:lnSpc>
            </a:pPr>
            <a:r>
              <a:rPr lang="en-US" sz="1000"/>
              <a:t>One FAQ page per product/topic, not one global mega-page</a:t>
            </a:r>
          </a:p>
        </p:txBody>
      </p:sp>
      <p:sp>
        <p:nvSpPr>
          <p:cNvPr id="26" name="Shape 21">
            <a:extLst>
              <a:ext uri="{FF2B5EF4-FFF2-40B4-BE49-F238E27FC236}">
                <a16:creationId xmlns:a16="http://schemas.microsoft.com/office/drawing/2014/main" id="{249F0306-9C05-02BB-28B2-AFEBED956CE3}"/>
              </a:ext>
            </a:extLst>
          </p:cNvPr>
          <p:cNvSpPr/>
          <p:nvPr/>
        </p:nvSpPr>
        <p:spPr>
          <a:xfrm>
            <a:off x="4704238" y="3498427"/>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7" name="Text 22">
            <a:extLst>
              <a:ext uri="{FF2B5EF4-FFF2-40B4-BE49-F238E27FC236}">
                <a16:creationId xmlns:a16="http://schemas.microsoft.com/office/drawing/2014/main" id="{86107B16-0269-F895-0874-E8134E151AF0}"/>
              </a:ext>
            </a:extLst>
          </p:cNvPr>
          <p:cNvSpPr/>
          <p:nvPr/>
        </p:nvSpPr>
        <p:spPr>
          <a:xfrm>
            <a:off x="5047138" y="3340693"/>
            <a:ext cx="3703320" cy="548640"/>
          </a:xfrm>
          <a:prstGeom prst="rect">
            <a:avLst/>
          </a:prstGeom>
          <a:noFill/>
          <a:ln/>
        </p:spPr>
        <p:txBody>
          <a:bodyPr wrap="square" rtlCol="0" anchor="ctr"/>
          <a:lstStyle/>
          <a:p>
            <a:pPr>
              <a:lnSpc>
                <a:spcPct val="110000"/>
              </a:lnSpc>
            </a:pPr>
            <a:r>
              <a:rPr lang="en-US" sz="1000"/>
              <a:t>Reviewed within the last 90–120 days</a:t>
            </a:r>
          </a:p>
        </p:txBody>
      </p:sp>
    </p:spTree>
    <p:extLst>
      <p:ext uri="{BB962C8B-B14F-4D97-AF65-F5344CB8AC3E}">
        <p14:creationId xmlns:p14="http://schemas.microsoft.com/office/powerpoint/2010/main" val="18432632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8E841-733E-B2AF-E808-56135197E1F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24C5E04-5D8B-67E6-BA2A-0A811940D0D7}"/>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6" name="Title 5">
            <a:extLst>
              <a:ext uri="{FF2B5EF4-FFF2-40B4-BE49-F238E27FC236}">
                <a16:creationId xmlns:a16="http://schemas.microsoft.com/office/drawing/2014/main" id="{93DAC16D-6545-9D59-C6B7-1F5DFE6EDA80}"/>
              </a:ext>
            </a:extLst>
          </p:cNvPr>
          <p:cNvSpPr>
            <a:spLocks noGrp="1"/>
          </p:cNvSpPr>
          <p:nvPr>
            <p:ph type="title"/>
          </p:nvPr>
        </p:nvSpPr>
        <p:spPr>
          <a:xfrm>
            <a:off x="1191488" y="1341120"/>
            <a:ext cx="6352312" cy="2520255"/>
          </a:xfrm>
        </p:spPr>
        <p:txBody>
          <a:bodyPr/>
          <a:lstStyle/>
          <a:p>
            <a:r>
              <a:rPr lang="pl-PL"/>
              <a:t>Properly written FAQs can convert AI model</a:t>
            </a:r>
            <a:r>
              <a:rPr lang="en-AU"/>
              <a:t>s to be</a:t>
            </a:r>
            <a:r>
              <a:rPr lang="pl-PL"/>
              <a:t> one of our best support agent</a:t>
            </a:r>
            <a:r>
              <a:rPr lang="en-AU"/>
              <a:t>s</a:t>
            </a:r>
            <a:r>
              <a:rPr lang="pl-PL"/>
              <a:t> – one who never sleeps. </a:t>
            </a:r>
          </a:p>
        </p:txBody>
      </p:sp>
    </p:spTree>
    <p:extLst>
      <p:ext uri="{BB962C8B-B14F-4D97-AF65-F5344CB8AC3E}">
        <p14:creationId xmlns:p14="http://schemas.microsoft.com/office/powerpoint/2010/main" val="10633473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14F1-20E9-8B1B-497A-CF100E8BDF5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B64257C-B29F-D4C6-8589-AD4CA90D7302}"/>
              </a:ext>
            </a:extLst>
          </p:cNvPr>
          <p:cNvSpPr/>
          <p:nvPr/>
        </p:nvSpPr>
        <p:spPr>
          <a:xfrm>
            <a:off x="742950" y="1820791"/>
            <a:ext cx="7659831" cy="1107996"/>
          </a:xfrm>
          <a:prstGeom prst="rect">
            <a:avLst/>
          </a:prstGeom>
          <a:noFill/>
          <a:ln/>
        </p:spPr>
        <p:txBody>
          <a:bodyPr wrap="square" lIns="0" tIns="0" rIns="0" bIns="0" rtlCol="0" anchor="t">
            <a:spAutoFit/>
          </a:bodyPr>
          <a:lstStyle/>
          <a:p>
            <a:r>
              <a:rPr lang="pl-PL" sz="3600">
                <a:solidFill>
                  <a:schemeClr val="accent5"/>
                </a:solidFill>
              </a:rPr>
              <a:t>Chapter 7: GEO Optimized Documents</a:t>
            </a:r>
            <a:endParaRPr lang="en-US" sz="3600">
              <a:solidFill>
                <a:schemeClr val="accent5"/>
              </a:solidFill>
            </a:endParaRPr>
          </a:p>
        </p:txBody>
      </p:sp>
      <p:sp>
        <p:nvSpPr>
          <p:cNvPr id="5" name="Text 2">
            <a:extLst>
              <a:ext uri="{FF2B5EF4-FFF2-40B4-BE49-F238E27FC236}">
                <a16:creationId xmlns:a16="http://schemas.microsoft.com/office/drawing/2014/main" id="{97D06D9E-7B46-E9FF-9559-7CF21F266FE5}"/>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E618B0B2-066B-AE51-23E4-DA73DC7029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917D46A1-3C89-335E-348E-37CB74304DC2}"/>
              </a:ext>
            </a:extLst>
          </p:cNvPr>
          <p:cNvSpPr>
            <a:spLocks noGrp="1"/>
          </p:cNvSpPr>
          <p:nvPr>
            <p:ph type="body" sz="quarter" idx="4294967295"/>
          </p:nvPr>
        </p:nvSpPr>
        <p:spPr>
          <a:xfrm>
            <a:off x="742950" y="4108450"/>
            <a:ext cx="3371850" cy="215900"/>
          </a:xfrm>
        </p:spPr>
        <p:txBody>
          <a:bodyPr/>
          <a:lstStyle/>
          <a:p>
            <a:r>
              <a:rPr lang="pl-PL"/>
              <a:t>Jakub Falkowski</a:t>
            </a:r>
          </a:p>
        </p:txBody>
      </p:sp>
    </p:spTree>
    <p:extLst>
      <p:ext uri="{BB962C8B-B14F-4D97-AF65-F5344CB8AC3E}">
        <p14:creationId xmlns:p14="http://schemas.microsoft.com/office/powerpoint/2010/main" val="17896286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E1053-C908-6C0E-A6F4-E6C45402422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04BD34BF-3E78-2295-6E4A-8FACBBCD4582}"/>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BEC785F7-3AED-4D67-4A3B-7CF484C75B27}"/>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How an AI turns a document into a citable answer</a:t>
            </a:r>
          </a:p>
        </p:txBody>
      </p:sp>
      <p:sp>
        <p:nvSpPr>
          <p:cNvPr id="12" name="Text 2">
            <a:extLst>
              <a:ext uri="{FF2B5EF4-FFF2-40B4-BE49-F238E27FC236}">
                <a16:creationId xmlns:a16="http://schemas.microsoft.com/office/drawing/2014/main" id="{3FFD8978-B2B6-D946-B77A-65DC865CFB65}"/>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Six steps between publishing a file and a</a:t>
            </a:r>
            <a:r>
              <a:rPr lang="pl-PL" sz="1100">
                <a:solidFill>
                  <a:schemeClr val="accent5"/>
                </a:solidFill>
                <a:cs typeface="Arial"/>
              </a:rPr>
              <a:t>n AI engine </a:t>
            </a:r>
            <a:r>
              <a:rPr lang="en-US" sz="1100">
                <a:solidFill>
                  <a:schemeClr val="accent5"/>
                </a:solidFill>
                <a:cs typeface="Arial"/>
              </a:rPr>
              <a:t>reading it, quoting it, or ignoring it entirely</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49543794-6E6C-131F-5449-CDC1A773543D}"/>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7167853-3A8C-68E7-2D55-6BCFA825D8B8}"/>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66</a:t>
            </a:fld>
            <a:endParaRPr lang="en-US">
              <a:solidFill>
                <a:srgbClr val="3DCD58"/>
              </a:solidFill>
            </a:endParaRPr>
          </a:p>
        </p:txBody>
      </p:sp>
      <p:graphicFrame>
        <p:nvGraphicFramePr>
          <p:cNvPr id="9" name="Diagram 8">
            <a:extLst>
              <a:ext uri="{FF2B5EF4-FFF2-40B4-BE49-F238E27FC236}">
                <a16:creationId xmlns:a16="http://schemas.microsoft.com/office/drawing/2014/main" id="{F39A1D96-CCE0-2DD2-0E2A-0D40E393B4C8}"/>
              </a:ext>
            </a:extLst>
          </p:cNvPr>
          <p:cNvGraphicFramePr/>
          <p:nvPr>
            <p:extLst>
              <p:ext uri="{D42A27DB-BD31-4B8C-83A1-F6EECF244321}">
                <p14:modId xmlns:p14="http://schemas.microsoft.com/office/powerpoint/2010/main" val="851821352"/>
              </p:ext>
            </p:extLst>
          </p:nvPr>
        </p:nvGraphicFramePr>
        <p:xfrm>
          <a:off x="914400" y="884682"/>
          <a:ext cx="745236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1337B730-6DE7-0E15-1C2F-BB6F12EF2FE0}"/>
              </a:ext>
            </a:extLst>
          </p:cNvPr>
          <p:cNvSpPr txBox="1"/>
          <p:nvPr/>
        </p:nvSpPr>
        <p:spPr>
          <a:xfrm>
            <a:off x="398463" y="4735623"/>
            <a:ext cx="7352506" cy="107722"/>
          </a:xfrm>
          <a:prstGeom prst="rect">
            <a:avLst/>
          </a:prstGeom>
        </p:spPr>
        <p:txBody>
          <a:bodyPr vert="horz" wrap="square" lIns="0" tIns="0" rIns="0" bIns="0" rtlCol="0">
            <a:spAutoFit/>
          </a:bodyPr>
          <a:lstStyle/>
          <a:p>
            <a:pPr algn="l"/>
            <a:r>
              <a:rPr lang="pl-PL" sz="700"/>
              <a:t>*V</a:t>
            </a:r>
            <a:r>
              <a:rPr lang="en-US" sz="700" err="1"/>
              <a:t>ector</a:t>
            </a:r>
            <a:r>
              <a:rPr lang="en-US" sz="700"/>
              <a:t> representation (also called an embedding) is a way of turning a piece of text (a "chunk") into a list of numbers that captures its meaning</a:t>
            </a:r>
            <a:r>
              <a:rPr lang="pl-PL" sz="700"/>
              <a:t>.</a:t>
            </a:r>
          </a:p>
        </p:txBody>
      </p:sp>
    </p:spTree>
    <p:extLst>
      <p:ext uri="{BB962C8B-B14F-4D97-AF65-F5344CB8AC3E}">
        <p14:creationId xmlns:p14="http://schemas.microsoft.com/office/powerpoint/2010/main" val="10466319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0392D-285B-236C-1B2A-0DEF456136C2}"/>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419F4054-3F71-7470-12F9-79FE06D5ED1E}"/>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1BF63C8B-9C3B-6A6B-6D18-F82DADC6A877}"/>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Why our documents matter for GEO</a:t>
            </a:r>
            <a:r>
              <a:rPr lang="pl-PL" sz="2200">
                <a:solidFill>
                  <a:schemeClr val="accent5"/>
                </a:solidFill>
                <a:cs typeface="Arial"/>
              </a:rPr>
              <a:t>?</a:t>
            </a:r>
            <a:endParaRPr lang="en-US" sz="2200">
              <a:solidFill>
                <a:schemeClr val="accent5"/>
              </a:solidFill>
              <a:cs typeface="Arial"/>
            </a:endParaRPr>
          </a:p>
        </p:txBody>
      </p:sp>
      <p:sp>
        <p:nvSpPr>
          <p:cNvPr id="12" name="Text 2">
            <a:extLst>
              <a:ext uri="{FF2B5EF4-FFF2-40B4-BE49-F238E27FC236}">
                <a16:creationId xmlns:a16="http://schemas.microsoft.com/office/drawing/2014/main" id="{9BD35FF7-0581-FEE7-4CCB-D1EF1820B31B}"/>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Most of Schneider Electric's technical authority lives in files, not web pages.</a:t>
            </a:r>
          </a:p>
        </p:txBody>
      </p:sp>
      <p:sp>
        <p:nvSpPr>
          <p:cNvPr id="5" name="Footer Placeholder 4">
            <a:extLst>
              <a:ext uri="{FF2B5EF4-FFF2-40B4-BE49-F238E27FC236}">
                <a16:creationId xmlns:a16="http://schemas.microsoft.com/office/drawing/2014/main" id="{EDD39A25-DE2B-4600-2265-03E4DC11ACB7}"/>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9A35FFE2-B1B8-3330-9014-51AD241BEEF1}"/>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67</a:t>
            </a:fld>
            <a:endParaRPr lang="en-US">
              <a:solidFill>
                <a:srgbClr val="3DCD58"/>
              </a:solidFill>
            </a:endParaRPr>
          </a:p>
        </p:txBody>
      </p:sp>
      <p:sp>
        <p:nvSpPr>
          <p:cNvPr id="2" name="TextBox 1">
            <a:extLst>
              <a:ext uri="{FF2B5EF4-FFF2-40B4-BE49-F238E27FC236}">
                <a16:creationId xmlns:a16="http://schemas.microsoft.com/office/drawing/2014/main" id="{550051A0-3B40-4945-9FF7-185E310AF19A}"/>
              </a:ext>
            </a:extLst>
          </p:cNvPr>
          <p:cNvSpPr txBox="1"/>
          <p:nvPr/>
        </p:nvSpPr>
        <p:spPr>
          <a:xfrm>
            <a:off x="4287289" y="4101797"/>
            <a:ext cx="4495802" cy="569387"/>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a:t>
            </a:r>
            <a:r>
              <a:rPr lang="en-US" sz="1100" b="1">
                <a:solidFill>
                  <a:schemeClr val="accent5"/>
                </a:solidFill>
              </a:rPr>
              <a:t>:  </a:t>
            </a:r>
            <a:r>
              <a:rPr lang="en-US" sz="1000">
                <a:solidFill>
                  <a:schemeClr val="accent5"/>
                </a:solidFill>
              </a:rPr>
              <a:t>A document isn’t </a:t>
            </a:r>
            <a:r>
              <a:rPr lang="pl-PL" sz="1000">
                <a:solidFill>
                  <a:schemeClr val="accent5"/>
                </a:solidFill>
              </a:rPr>
              <a:t>GEO optimized </a:t>
            </a:r>
            <a:r>
              <a:rPr lang="en-US" sz="1000">
                <a:solidFill>
                  <a:schemeClr val="accent5"/>
                </a:solidFill>
              </a:rPr>
              <a:t>when it's accurate. It's finished when a</a:t>
            </a:r>
            <a:r>
              <a:rPr lang="pl-PL" sz="1000">
                <a:solidFill>
                  <a:schemeClr val="accent5"/>
                </a:solidFill>
              </a:rPr>
              <a:t>n AI</a:t>
            </a:r>
            <a:r>
              <a:rPr lang="en-US" sz="1000">
                <a:solidFill>
                  <a:schemeClr val="accent5"/>
                </a:solidFill>
              </a:rPr>
              <a:t> model </a:t>
            </a:r>
            <a:r>
              <a:rPr lang="pl-PL" sz="1000">
                <a:solidFill>
                  <a:schemeClr val="accent5"/>
                </a:solidFill>
              </a:rPr>
              <a:t>can</a:t>
            </a:r>
            <a:r>
              <a:rPr lang="en-US" sz="1000">
                <a:solidFill>
                  <a:schemeClr val="accent5"/>
                </a:solidFill>
              </a:rPr>
              <a:t> quote a fact from it without misreading it.</a:t>
            </a:r>
            <a:endParaRPr lang="en-US" sz="1100">
              <a:solidFill>
                <a:schemeClr val="accent5"/>
              </a:solidFill>
            </a:endParaRPr>
          </a:p>
        </p:txBody>
      </p:sp>
      <p:graphicFrame>
        <p:nvGraphicFramePr>
          <p:cNvPr id="3" name="Table 2">
            <a:extLst>
              <a:ext uri="{FF2B5EF4-FFF2-40B4-BE49-F238E27FC236}">
                <a16:creationId xmlns:a16="http://schemas.microsoft.com/office/drawing/2014/main" id="{77EFC942-F6FB-169C-872D-1DAFEB3FF8C3}"/>
              </a:ext>
            </a:extLst>
          </p:cNvPr>
          <p:cNvGraphicFramePr>
            <a:graphicFrameLocks noGrp="1"/>
          </p:cNvGraphicFramePr>
          <p:nvPr>
            <p:extLst>
              <p:ext uri="{D42A27DB-BD31-4B8C-83A1-F6EECF244321}">
                <p14:modId xmlns:p14="http://schemas.microsoft.com/office/powerpoint/2010/main" val="3228591280"/>
              </p:ext>
            </p:extLst>
          </p:nvPr>
        </p:nvGraphicFramePr>
        <p:xfrm>
          <a:off x="360909" y="1144523"/>
          <a:ext cx="3713711" cy="3526661"/>
        </p:xfrm>
        <a:graphic>
          <a:graphicData uri="http://schemas.openxmlformats.org/drawingml/2006/table">
            <a:tbl>
              <a:tblPr firstRow="1" bandRow="1">
                <a:tableStyleId>{5C22544A-7EE6-4342-B048-85BDC9FD1C3A}</a:tableStyleId>
              </a:tblPr>
              <a:tblGrid>
                <a:gridCol w="3713711">
                  <a:extLst>
                    <a:ext uri="{9D8B030D-6E8A-4147-A177-3AD203B41FA5}">
                      <a16:colId xmlns:a16="http://schemas.microsoft.com/office/drawing/2014/main" val="896702349"/>
                    </a:ext>
                  </a:extLst>
                </a:gridCol>
              </a:tblGrid>
              <a:tr h="328306">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198355">
                <a:tc>
                  <a:txBody>
                    <a:bodyPr/>
                    <a:lstStyle/>
                    <a:p>
                      <a:pPr>
                        <a:lnSpc>
                          <a:spcPct val="150000"/>
                        </a:lnSpc>
                        <a:spcBef>
                          <a:spcPts val="0"/>
                        </a:spcBef>
                        <a:spcAft>
                          <a:spcPts val="0"/>
                        </a:spcAft>
                        <a:buClr>
                          <a:schemeClr val="tx2"/>
                        </a:buClr>
                        <a:defRPr/>
                      </a:pPr>
                      <a:r>
                        <a:rPr lang="pl-PL" sz="1000" b="1"/>
                        <a:t>Documents</a:t>
                      </a:r>
                      <a:r>
                        <a:rPr lang="en-US" sz="1000" b="1"/>
                        <a:t>, installation manuals, whitepapers, and spec sheets carry the exact facts AI engines need: ratings, tolerances, procedures, compliance details.</a:t>
                      </a:r>
                      <a:endParaRPr lang="pl-PL" sz="1000" b="1"/>
                    </a:p>
                    <a:p>
                      <a:pPr>
                        <a:lnSpc>
                          <a:spcPct val="150000"/>
                        </a:lnSpc>
                        <a:spcBef>
                          <a:spcPts val="0"/>
                        </a:spcBef>
                        <a:spcAft>
                          <a:spcPts val="0"/>
                        </a:spcAft>
                        <a:buClr>
                          <a:schemeClr val="tx2"/>
                        </a:buClr>
                        <a:defRPr/>
                      </a:pPr>
                      <a:endParaRPr lang="pl-PL" sz="1000" b="1"/>
                    </a:p>
                    <a:p>
                      <a:pPr>
                        <a:lnSpc>
                          <a:spcPct val="150000"/>
                        </a:lnSpc>
                        <a:spcBef>
                          <a:spcPts val="0"/>
                        </a:spcBef>
                        <a:spcAft>
                          <a:spcPts val="0"/>
                        </a:spcAft>
                        <a:buClr>
                          <a:schemeClr val="tx2"/>
                        </a:buClr>
                        <a:defRPr/>
                      </a:pPr>
                      <a:r>
                        <a:rPr lang="en-US" sz="1000" b="0"/>
                        <a:t>If those documents are locked in scanned images, inconsistent formatting, or a flawed writing style where the core message, main action, or key takeaways are completely hidden beneath overly complex language, </a:t>
                      </a:r>
                      <a:r>
                        <a:rPr lang="pl-PL" sz="1000" b="0"/>
                        <a:t>AI</a:t>
                      </a:r>
                      <a:r>
                        <a:rPr lang="en-US" sz="1000" b="0"/>
                        <a:t> can't extract or trust what's inside them.</a:t>
                      </a:r>
                    </a:p>
                    <a:p>
                      <a:pPr>
                        <a:lnSpc>
                          <a:spcPct val="150000"/>
                        </a:lnSpc>
                        <a:spcBef>
                          <a:spcPts val="0"/>
                        </a:spcBef>
                        <a:spcAft>
                          <a:spcPts val="0"/>
                        </a:spcAft>
                        <a:buClr>
                          <a:schemeClr val="tx2"/>
                        </a:buClr>
                        <a:defRPr/>
                      </a:pPr>
                      <a:endParaRPr lang="pl-PL" sz="1000" b="1"/>
                    </a:p>
                    <a:p>
                      <a:pPr>
                        <a:lnSpc>
                          <a:spcPct val="150000"/>
                        </a:lnSpc>
                        <a:spcBef>
                          <a:spcPts val="0"/>
                        </a:spcBef>
                        <a:spcAft>
                          <a:spcPts val="0"/>
                        </a:spcAft>
                        <a:buClr>
                          <a:schemeClr val="tx2"/>
                        </a:buClr>
                        <a:defRPr/>
                      </a:pPr>
                      <a:r>
                        <a:rPr lang="en-US" sz="1000" b="0"/>
                        <a:t>The FAQ and web-content practices only go so far </a:t>
                      </a:r>
                      <a:r>
                        <a:rPr lang="pl-PL" sz="1000" b="0"/>
                        <a:t>-</a:t>
                      </a:r>
                      <a:r>
                        <a:rPr lang="en-US" sz="1000" b="0"/>
                        <a:t> much of our deepest technical proof lives in downloadable documents instead.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7" name="Table 6">
            <a:extLst>
              <a:ext uri="{FF2B5EF4-FFF2-40B4-BE49-F238E27FC236}">
                <a16:creationId xmlns:a16="http://schemas.microsoft.com/office/drawing/2014/main" id="{CEA7DE9D-F0FC-2288-9CBF-E00C4E1A328E}"/>
              </a:ext>
            </a:extLst>
          </p:cNvPr>
          <p:cNvGraphicFramePr>
            <a:graphicFrameLocks noGrp="1"/>
          </p:cNvGraphicFramePr>
          <p:nvPr>
            <p:extLst>
              <p:ext uri="{D42A27DB-BD31-4B8C-83A1-F6EECF244321}">
                <p14:modId xmlns:p14="http://schemas.microsoft.com/office/powerpoint/2010/main" val="1989984312"/>
              </p:ext>
            </p:extLst>
          </p:nvPr>
        </p:nvGraphicFramePr>
        <p:xfrm>
          <a:off x="5354091" y="1144523"/>
          <a:ext cx="3429000" cy="2864013"/>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082219581"/>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Structure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Lead with the answer</a:t>
                      </a:r>
                      <a:r>
                        <a:rPr kumimoji="0" lang="pl-PL" sz="1000" b="0" i="0" u="none" strike="noStrike" kern="1200" cap="none" spc="0" normalizeH="0" baseline="0" noProof="0">
                          <a:ln>
                            <a:noFill/>
                          </a:ln>
                          <a:solidFill>
                            <a:srgbClr val="0A2F24"/>
                          </a:solidFill>
                          <a:effectLst/>
                          <a:uLnTx/>
                          <a:uFillTx/>
                          <a:latin typeface="+mn-lt"/>
                          <a:ea typeface="+mn-ea"/>
                          <a:cs typeface="+mn-cs"/>
                        </a:rPr>
                        <a:t> (facts first)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Chunk into sections</a:t>
                      </a:r>
                      <a:r>
                        <a:rPr kumimoji="0" lang="pl-PL" sz="1000" b="0" i="0" u="none" strike="noStrike" kern="1200" cap="none" spc="0" normalizeH="0" baseline="0" noProof="0">
                          <a:ln>
                            <a:noFill/>
                          </a:ln>
                          <a:solidFill>
                            <a:srgbClr val="0A2F24"/>
                          </a:solidFill>
                          <a:effectLst/>
                          <a:uLnTx/>
                          <a:uFillTx/>
                          <a:latin typeface="+mn-lt"/>
                          <a:ea typeface="+mn-ea"/>
                          <a:cs typeface="+mn-cs"/>
                        </a:rPr>
                        <a:t> – one idea per heading</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A</a:t>
                      </a:r>
                      <a:r>
                        <a:rPr kumimoji="0" lang="en-US" sz="1000" b="0" i="0" u="none" strike="noStrike" kern="1200" cap="none" spc="0" normalizeH="0" baseline="0" err="1">
                          <a:ln>
                            <a:noFill/>
                          </a:ln>
                          <a:solidFill>
                            <a:srgbClr val="0A2F24"/>
                          </a:solidFill>
                          <a:effectLst/>
                          <a:uLnTx/>
                          <a:uFillTx/>
                          <a:latin typeface="+mn-lt"/>
                          <a:ea typeface="+mn-ea"/>
                          <a:cs typeface="+mn-cs"/>
                        </a:rPr>
                        <a:t>rrange</a:t>
                      </a:r>
                      <a:r>
                        <a:rPr kumimoji="0" lang="en-US" sz="1000" b="0" i="0" u="none" strike="noStrike" kern="1200" cap="none" spc="0" normalizeH="0" baseline="0">
                          <a:ln>
                            <a:noFill/>
                          </a:ln>
                          <a:solidFill>
                            <a:srgbClr val="0A2F24"/>
                          </a:solidFill>
                          <a:effectLst/>
                          <a:uLnTx/>
                          <a:uFillTx/>
                          <a:latin typeface="+mn-lt"/>
                          <a:ea typeface="+mn-ea"/>
                          <a:cs typeface="+mn-cs"/>
                        </a:rPr>
                        <a:t> technical specifications, data, or features into a structured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Deliver</a:t>
                      </a:r>
                      <a:r>
                        <a:rPr kumimoji="0" lang="en-US" sz="1000" b="0" i="0" u="none" strike="noStrike" kern="1200" cap="none" spc="0" normalizeH="0" baseline="0" noProof="0">
                          <a:ln>
                            <a:noFill/>
                          </a:ln>
                          <a:solidFill>
                            <a:srgbClr val="0A2F24"/>
                          </a:solidFill>
                          <a:effectLst/>
                          <a:uLnTx/>
                          <a:uFillTx/>
                          <a:latin typeface="+mn-lt"/>
                          <a:ea typeface="+mn-ea"/>
                          <a:cs typeface="+mn-cs"/>
                        </a:rPr>
                        <a:t> accessible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Match real language</a:t>
                      </a:r>
                      <a:r>
                        <a:rPr kumimoji="0" lang="pl-PL" sz="1000" b="0" i="0" u="none" strike="noStrike" kern="1200" cap="none" spc="0" normalizeH="0" baseline="0" noProof="0">
                          <a:ln>
                            <a:noFill/>
                          </a:ln>
                          <a:solidFill>
                            <a:srgbClr val="0A2F24"/>
                          </a:solidFill>
                          <a:effectLst/>
                          <a:uLnTx/>
                          <a:uFillTx/>
                          <a:latin typeface="+mn-lt"/>
                          <a:ea typeface="+mn-ea"/>
                          <a:cs typeface="+mn-cs"/>
                        </a:rPr>
                        <a:t> - plain terms and technical names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8003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Keep it fresh</a:t>
                      </a:r>
                      <a:r>
                        <a:rPr kumimoji="0" lang="pl-PL" sz="1000" b="0" i="0" u="none" strike="noStrike" kern="1200" cap="none" spc="0" normalizeH="0" baseline="0" noProof="0">
                          <a:ln>
                            <a:noFill/>
                          </a:ln>
                          <a:solidFill>
                            <a:srgbClr val="0A2F24"/>
                          </a:solidFill>
                          <a:effectLst/>
                          <a:uLnTx/>
                          <a:uFillTx/>
                          <a:latin typeface="+mn-lt"/>
                          <a:ea typeface="+mn-ea"/>
                          <a:cs typeface="+mn-cs"/>
                        </a:rPr>
                        <a:t> - dated, versioned or retired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738275"/>
                  </a:ext>
                </a:extLst>
              </a:tr>
            </a:tbl>
          </a:graphicData>
        </a:graphic>
      </p:graphicFrame>
    </p:spTree>
    <p:extLst>
      <p:ext uri="{BB962C8B-B14F-4D97-AF65-F5344CB8AC3E}">
        <p14:creationId xmlns:p14="http://schemas.microsoft.com/office/powerpoint/2010/main" val="2443622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55517-C7AA-9BCF-414A-F383A7E18FDB}"/>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B0E4B4E5-F029-7061-FC91-F6D505955B5C}"/>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0F82487D-FE18-0E69-1B6F-801BAC9F9858}"/>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Lead with the answer, not the </a:t>
            </a:r>
            <a:r>
              <a:rPr lang="pl-PL" sz="2200">
                <a:solidFill>
                  <a:schemeClr val="accent5"/>
                </a:solidFill>
                <a:cs typeface="Arial"/>
              </a:rPr>
              <a:t>context</a:t>
            </a:r>
            <a:endParaRPr lang="en-US" sz="2200">
              <a:solidFill>
                <a:schemeClr val="accent5"/>
              </a:solidFill>
              <a:cs typeface="Arial"/>
            </a:endParaRPr>
          </a:p>
        </p:txBody>
      </p:sp>
      <p:sp>
        <p:nvSpPr>
          <p:cNvPr id="12" name="Text 2">
            <a:extLst>
              <a:ext uri="{FF2B5EF4-FFF2-40B4-BE49-F238E27FC236}">
                <a16:creationId xmlns:a16="http://schemas.microsoft.com/office/drawing/2014/main" id="{38A7DFD2-7C78-65BD-4BD1-B9C5B5771E82}"/>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The first sentence of every section should be the fact a reader (</a:t>
            </a:r>
            <a:r>
              <a:rPr lang="pl-PL" sz="1100">
                <a:solidFill>
                  <a:schemeClr val="accent5"/>
                </a:solidFill>
                <a:cs typeface="Arial"/>
              </a:rPr>
              <a:t>including AI</a:t>
            </a:r>
            <a:r>
              <a:rPr lang="en-US" sz="1100">
                <a:solidFill>
                  <a:schemeClr val="accent5"/>
                </a:solidFill>
                <a:cs typeface="Arial"/>
              </a:rPr>
              <a:t>) </a:t>
            </a:r>
            <a:r>
              <a:rPr lang="pl-PL" sz="1100">
                <a:solidFill>
                  <a:schemeClr val="accent5"/>
                </a:solidFill>
                <a:cs typeface="Arial"/>
              </a:rPr>
              <a:t>potentially </a:t>
            </a:r>
            <a:r>
              <a:rPr lang="en-US" sz="1100">
                <a:solidFill>
                  <a:schemeClr val="accent5"/>
                </a:solidFill>
                <a:cs typeface="Arial"/>
              </a:rPr>
              <a:t>came for</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92CAF6E9-A8AA-7041-D27B-F422BA37B6FD}"/>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8593E1E7-BD1C-3846-1014-417F6384560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68</a:t>
            </a:fld>
            <a:endParaRPr lang="en-US">
              <a:solidFill>
                <a:srgbClr val="3DCD58"/>
              </a:solidFill>
            </a:endParaRPr>
          </a:p>
        </p:txBody>
      </p:sp>
      <p:graphicFrame>
        <p:nvGraphicFramePr>
          <p:cNvPr id="3" name="Table 2">
            <a:extLst>
              <a:ext uri="{FF2B5EF4-FFF2-40B4-BE49-F238E27FC236}">
                <a16:creationId xmlns:a16="http://schemas.microsoft.com/office/drawing/2014/main" id="{ECAF944F-E6ED-9703-F2AB-F94EC4DD7D64}"/>
              </a:ext>
            </a:extLst>
          </p:cNvPr>
          <p:cNvGraphicFramePr>
            <a:graphicFrameLocks noGrp="1"/>
          </p:cNvGraphicFramePr>
          <p:nvPr>
            <p:extLst>
              <p:ext uri="{D42A27DB-BD31-4B8C-83A1-F6EECF244321}">
                <p14:modId xmlns:p14="http://schemas.microsoft.com/office/powerpoint/2010/main" val="4258376289"/>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buried in narrative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“Our robust and reliable UPS series has been engineered by experts to deliver market-leading protection for your critical infrastructure, ensuring peace of mind for IT teams across nearly any environment.”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2C51D571-6CB4-EB4D-B443-D0D7DAA3123E}"/>
              </a:ext>
            </a:extLst>
          </p:cNvPr>
          <p:cNvGraphicFramePr>
            <a:graphicFrameLocks noGrp="1"/>
          </p:cNvGraphicFramePr>
          <p:nvPr>
            <p:extLst>
              <p:ext uri="{D42A27DB-BD31-4B8C-83A1-F6EECF244321}">
                <p14:modId xmlns:p14="http://schemas.microsoft.com/office/powerpoint/2010/main" val="333827452"/>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facts first</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“Operating temperature: 0–40°C (32–104°F). Storage temperature: –15–45°C. Designed for server rooms and light industrial environments.”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2B2F26D1-992D-EB69-95E3-8D8AE22B08DE}"/>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State the number or spec immediately</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Split multi-topic sections so each heading maps to a single, nameable question.</a:t>
            </a:r>
          </a:p>
          <a:p>
            <a:pPr lvl="0">
              <a:buClr>
                <a:srgbClr val="C00000"/>
              </a:buClr>
              <a:defRPr/>
            </a:pPr>
            <a:endParaRPr lang="pl-PL" sz="1000"/>
          </a:p>
          <a:p>
            <a:pPr lvl="0">
              <a:buClr>
                <a:schemeClr val="accent5"/>
              </a:buClr>
              <a:defRPr/>
            </a:pPr>
            <a:r>
              <a:rPr lang="en-US" sz="1050" b="1"/>
              <a:t>Save context for after</a:t>
            </a:r>
          </a:p>
          <a:p>
            <a:pPr lvl="0">
              <a:buClr>
                <a:srgbClr val="C00000"/>
              </a:buClr>
              <a:defRPr/>
            </a:pPr>
            <a:endParaRPr lang="pl-PL" sz="1000"/>
          </a:p>
          <a:p>
            <a:pPr lvl="0">
              <a:buClr>
                <a:srgbClr val="C00000"/>
              </a:buClr>
              <a:defRPr/>
            </a:pPr>
            <a:r>
              <a:rPr lang="en-US" sz="1000"/>
              <a:t>Background, benefits, and positioning belong after the fact, never before it.</a:t>
            </a:r>
          </a:p>
          <a:p>
            <a:pPr lvl="0">
              <a:buClr>
                <a:srgbClr val="C00000"/>
              </a:buClr>
              <a:defRPr/>
            </a:pPr>
            <a:endParaRPr lang="pl-PL" sz="1000"/>
          </a:p>
          <a:p>
            <a:pPr lvl="0">
              <a:buClr>
                <a:schemeClr val="accent5"/>
              </a:buClr>
              <a:defRPr/>
            </a:pPr>
            <a:r>
              <a:rPr lang="en-US" sz="1050" b="1"/>
              <a:t>One fact, one sentence</a:t>
            </a:r>
          </a:p>
          <a:p>
            <a:pPr lvl="0">
              <a:buClr>
                <a:srgbClr val="C00000"/>
              </a:buClr>
              <a:defRPr/>
            </a:pPr>
            <a:endParaRPr lang="pl-PL" sz="1000"/>
          </a:p>
          <a:p>
            <a:pPr lvl="0">
              <a:buClr>
                <a:srgbClr val="C00000"/>
              </a:buClr>
              <a:defRPr/>
            </a:pPr>
            <a:r>
              <a:rPr lang="en-US" sz="1000"/>
              <a:t>Don't fold multiple values into a single dense sentence — split them out.</a:t>
            </a:r>
          </a:p>
        </p:txBody>
      </p:sp>
    </p:spTree>
    <p:extLst>
      <p:ext uri="{BB962C8B-B14F-4D97-AF65-F5344CB8AC3E}">
        <p14:creationId xmlns:p14="http://schemas.microsoft.com/office/powerpoint/2010/main" val="29337548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9A583-E904-9637-E21A-A19050285365}"/>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F3869C3B-73A1-51FB-AEC7-53A3D07A2A4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43CCE957-8310-4735-339D-96CCDB66973C}"/>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Chunk content into addressable sections</a:t>
            </a:r>
          </a:p>
        </p:txBody>
      </p:sp>
      <p:sp>
        <p:nvSpPr>
          <p:cNvPr id="12" name="Text 2">
            <a:extLst>
              <a:ext uri="{FF2B5EF4-FFF2-40B4-BE49-F238E27FC236}">
                <a16:creationId xmlns:a16="http://schemas.microsoft.com/office/drawing/2014/main" id="{054E52D4-6301-5858-CC89-FE569B6E9BB7}"/>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Every heading should cover exactly one topic a model could quote on its own</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47B581A4-F03F-D148-8EE0-46C6890E502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D9A21FC4-7964-8D05-B4A0-728B6B613779}"/>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69</a:t>
            </a:fld>
            <a:endParaRPr lang="en-US">
              <a:solidFill>
                <a:srgbClr val="3DCD58"/>
              </a:solidFill>
            </a:endParaRPr>
          </a:p>
        </p:txBody>
      </p:sp>
      <p:graphicFrame>
        <p:nvGraphicFramePr>
          <p:cNvPr id="3" name="Table 2">
            <a:extLst>
              <a:ext uri="{FF2B5EF4-FFF2-40B4-BE49-F238E27FC236}">
                <a16:creationId xmlns:a16="http://schemas.microsoft.com/office/drawing/2014/main" id="{99923CCF-A26A-B028-4514-0542EB8F333E}"/>
              </a:ext>
            </a:extLst>
          </p:cNvPr>
          <p:cNvGraphicFramePr>
            <a:graphicFrameLocks noGrp="1"/>
          </p:cNvGraphicFramePr>
          <p:nvPr>
            <p:extLst>
              <p:ext uri="{D42A27DB-BD31-4B8C-83A1-F6EECF244321}">
                <p14:modId xmlns:p14="http://schemas.microsoft.com/office/powerpoint/2010/main" val="999546092"/>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one mixed section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“4.2 Maintenance — covers battery replacement, firmware updates, filter cleaning, and warranty terms all in one continuous block of text.”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7CA11578-1FBF-1B66-61A1-E9F3F848158D}"/>
              </a:ext>
            </a:extLst>
          </p:cNvPr>
          <p:cNvGraphicFramePr>
            <a:graphicFrameLocks noGrp="1"/>
          </p:cNvGraphicFramePr>
          <p:nvPr>
            <p:extLst>
              <p:ext uri="{D42A27DB-BD31-4B8C-83A1-F6EECF244321}">
                <p14:modId xmlns:p14="http://schemas.microsoft.com/office/powerpoint/2010/main" val="1424257588"/>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split into topics</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“Battery Replacement Interval”</a:t>
                      </a:r>
                      <a:r>
                        <a:rPr lang="pl-PL" sz="1000" b="0" i="1" kern="1200">
                          <a:solidFill>
                            <a:schemeClr val="dk1"/>
                          </a:solidFill>
                          <a:effectLst/>
                          <a:latin typeface="+mn-lt"/>
                          <a:ea typeface="+mn-ea"/>
                          <a:cs typeface="+mn-cs"/>
                        </a:rPr>
                        <a:t>; </a:t>
                      </a:r>
                      <a:r>
                        <a:rPr lang="en-US" sz="1000" b="0" i="1" kern="1200">
                          <a:solidFill>
                            <a:schemeClr val="dk1"/>
                          </a:solidFill>
                          <a:effectLst/>
                          <a:latin typeface="+mn-lt"/>
                          <a:ea typeface="+mn-ea"/>
                          <a:cs typeface="+mn-cs"/>
                        </a:rPr>
                        <a:t>“Firmware Update Procedure”</a:t>
                      </a:r>
                      <a:r>
                        <a:rPr lang="pl-PL" sz="1000" b="0" i="1" kern="1200">
                          <a:solidFill>
                            <a:schemeClr val="dk1"/>
                          </a:solidFill>
                          <a:effectLst/>
                          <a:latin typeface="+mn-lt"/>
                          <a:ea typeface="+mn-ea"/>
                          <a:cs typeface="+mn-cs"/>
                        </a:rPr>
                        <a:t>; </a:t>
                      </a:r>
                      <a:r>
                        <a:rPr lang="en-US" sz="1000" b="0" i="1" kern="1200">
                          <a:solidFill>
                            <a:schemeClr val="dk1"/>
                          </a:solidFill>
                          <a:effectLst/>
                          <a:latin typeface="+mn-lt"/>
                          <a:ea typeface="+mn-ea"/>
                          <a:cs typeface="+mn-cs"/>
                        </a:rPr>
                        <a:t>“Filter Cleaning Schedule”</a:t>
                      </a:r>
                      <a:r>
                        <a:rPr lang="pl-PL" sz="1000" b="0" i="1" kern="1200">
                          <a:solidFill>
                            <a:schemeClr val="dk1"/>
                          </a:solidFill>
                          <a:effectLst/>
                          <a:latin typeface="+mn-lt"/>
                          <a:ea typeface="+mn-ea"/>
                          <a:cs typeface="+mn-cs"/>
                        </a:rPr>
                        <a:t>; </a:t>
                      </a:r>
                      <a:r>
                        <a:rPr lang="en-US" sz="1000" b="0" i="1" kern="1200">
                          <a:solidFill>
                            <a:schemeClr val="dk1"/>
                          </a:solidFill>
                          <a:effectLst/>
                          <a:latin typeface="+mn-lt"/>
                          <a:ea typeface="+mn-ea"/>
                          <a:cs typeface="+mn-cs"/>
                        </a:rPr>
                        <a:t>“Warranty Terms” </a:t>
                      </a:r>
                      <a:r>
                        <a:rPr lang="pl-PL" sz="1000" b="0" i="0" kern="1200">
                          <a:solidFill>
                            <a:schemeClr val="dk1"/>
                          </a:solidFill>
                          <a:effectLst/>
                          <a:latin typeface="+mn-lt"/>
                          <a:ea typeface="+mn-ea"/>
                          <a:cs typeface="+mn-cs"/>
                        </a:rPr>
                        <a:t>-</a:t>
                      </a:r>
                      <a:r>
                        <a:rPr lang="en-US" sz="1000" b="0" i="0" kern="1200">
                          <a:solidFill>
                            <a:schemeClr val="dk1"/>
                          </a:solidFill>
                          <a:effectLst/>
                          <a:latin typeface="+mn-lt"/>
                          <a:ea typeface="+mn-ea"/>
                          <a:cs typeface="+mn-cs"/>
                        </a:rPr>
                        <a:t> each its own labeled section.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BEF02723-7914-86D7-3549-14B9A55B80F7}"/>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One topic per heading</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Open each section with the concrete fact, not a scene-setting sentence.</a:t>
            </a:r>
            <a:endParaRPr lang="pl-PL" sz="1000"/>
          </a:p>
          <a:p>
            <a:pPr lvl="0">
              <a:buClr>
                <a:srgbClr val="C00000"/>
              </a:buClr>
              <a:defRPr/>
            </a:pPr>
            <a:endParaRPr lang="pl-PL" sz="1000"/>
          </a:p>
          <a:p>
            <a:pPr lvl="0">
              <a:buClr>
                <a:schemeClr val="accent5"/>
              </a:buClr>
              <a:defRPr/>
            </a:pPr>
            <a:r>
              <a:rPr lang="en-US" sz="1050" b="1"/>
              <a:t>Descriptive headers</a:t>
            </a:r>
          </a:p>
          <a:p>
            <a:pPr lvl="0">
              <a:buClr>
                <a:srgbClr val="C00000"/>
              </a:buClr>
              <a:defRPr/>
            </a:pPr>
            <a:endParaRPr lang="pl-PL" sz="1000"/>
          </a:p>
          <a:p>
            <a:pPr lvl="0">
              <a:buClr>
                <a:srgbClr val="C00000"/>
              </a:buClr>
              <a:defRPr/>
            </a:pPr>
            <a:r>
              <a:rPr lang="en-US" sz="1000"/>
              <a:t>Use headers that read like the question they answer, not generic section numbers.</a:t>
            </a:r>
          </a:p>
          <a:p>
            <a:pPr lvl="0">
              <a:buClr>
                <a:srgbClr val="C00000"/>
              </a:buClr>
              <a:defRPr/>
            </a:pPr>
            <a:endParaRPr lang="pl-PL" sz="1000"/>
          </a:p>
          <a:p>
            <a:pPr lvl="0">
              <a:buClr>
                <a:schemeClr val="accent5"/>
              </a:buClr>
              <a:defRPr/>
            </a:pPr>
            <a:r>
              <a:rPr lang="en-US" sz="1050" b="1"/>
              <a:t>Keep values isolated</a:t>
            </a:r>
          </a:p>
          <a:p>
            <a:pPr lvl="0">
              <a:buClr>
                <a:srgbClr val="C00000"/>
              </a:buClr>
              <a:defRPr/>
            </a:pPr>
            <a:endParaRPr lang="pl-PL" sz="1000"/>
          </a:p>
          <a:p>
            <a:pPr lvl="0">
              <a:buClr>
                <a:srgbClr val="C00000"/>
              </a:buClr>
              <a:defRPr/>
            </a:pPr>
            <a:r>
              <a:rPr lang="en-US" sz="1000"/>
              <a:t>Each section should make sense quoted alone, without needing the paragraph before it.</a:t>
            </a:r>
          </a:p>
        </p:txBody>
      </p:sp>
    </p:spTree>
    <p:extLst>
      <p:ext uri="{BB962C8B-B14F-4D97-AF65-F5344CB8AC3E}">
        <p14:creationId xmlns:p14="http://schemas.microsoft.com/office/powerpoint/2010/main" val="24212915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45EF3-34AE-8D77-BC6B-676A5DB05B43}"/>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B34E6F97-20E8-5370-439B-C806D88BAF8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1DCD89B0-9664-FD70-64C7-827D75307E65}"/>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Turn spec prose into tables</a:t>
            </a:r>
          </a:p>
        </p:txBody>
      </p:sp>
      <p:sp>
        <p:nvSpPr>
          <p:cNvPr id="12" name="Text 2">
            <a:extLst>
              <a:ext uri="{FF2B5EF4-FFF2-40B4-BE49-F238E27FC236}">
                <a16:creationId xmlns:a16="http://schemas.microsoft.com/office/drawing/2014/main" id="{84DD8CD3-671C-27E2-5C25-9293BB10E571}"/>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Parallel attributes belong in a table, where labels and values are unambiguous</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9119A9DF-1B0E-B3D0-0DAE-45EADE92E9A8}"/>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1569540-B3EA-39A7-81A1-98632235D64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70</a:t>
            </a:fld>
            <a:endParaRPr lang="en-US">
              <a:solidFill>
                <a:srgbClr val="3DCD58"/>
              </a:solidFill>
            </a:endParaRPr>
          </a:p>
        </p:txBody>
      </p:sp>
      <p:graphicFrame>
        <p:nvGraphicFramePr>
          <p:cNvPr id="3" name="Table 2">
            <a:extLst>
              <a:ext uri="{FF2B5EF4-FFF2-40B4-BE49-F238E27FC236}">
                <a16:creationId xmlns:a16="http://schemas.microsoft.com/office/drawing/2014/main" id="{F7704FF0-BFFF-D7ED-BE96-B631AD0C44F3}"/>
              </a:ext>
            </a:extLst>
          </p:cNvPr>
          <p:cNvGraphicFramePr>
            <a:graphicFrameLocks noGrp="1"/>
          </p:cNvGraphicFramePr>
          <p:nvPr>
            <p:extLst>
              <p:ext uri="{D42A27DB-BD31-4B8C-83A1-F6EECF244321}">
                <p14:modId xmlns:p14="http://schemas.microsoft.com/office/powerpoint/2010/main" val="2928240381"/>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specs in prose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“The unit measures approximately 483 x 348 x 89 mm, weighs around 25.4 kg, and operates on an input voltage of 200 to 240 VAC at 50 or 60 Hz.</a:t>
                      </a:r>
                      <a:r>
                        <a:rPr lang="pl-PL" sz="1000" b="0" i="1" kern="1200">
                          <a:solidFill>
                            <a:schemeClr val="dk1"/>
                          </a:solidFill>
                          <a:effectLst/>
                          <a:latin typeface="+mn-lt"/>
                          <a:ea typeface="+mn-ea"/>
                          <a:cs typeface="+mn-cs"/>
                        </a:rPr>
                        <a:t>”</a:t>
                      </a:r>
                      <a:endParaRPr lang="en-US" sz="1000" b="0" i="1" kern="1200">
                        <a:solidFill>
                          <a:schemeClr val="dk1"/>
                        </a:solidFill>
                        <a:effectLst/>
                        <a:latin typeface="+mn-lt"/>
                        <a:ea typeface="+mn-ea"/>
                        <a:cs typeface="+mn-cs"/>
                      </a:endParaRPr>
                    </a:p>
                    <a:p>
                      <a:pPr marL="0" indent="0" algn="l" defTabSz="457184" rtl="0" eaLnBrk="1" fontAlgn="t" latinLnBrk="0" hangingPunct="1">
                        <a:lnSpc>
                          <a:spcPct val="100000"/>
                        </a:lnSpc>
                        <a:buClr>
                          <a:srgbClr val="FF0000"/>
                        </a:buClr>
                        <a:buFont typeface="Arial" panose="020B0604020202020204" pitchFamily="34" charset="0"/>
                        <a:buNone/>
                      </a:pPr>
                      <a:endParaRPr lang="en-US" sz="1000" b="0" i="1"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33A707E7-3BDA-835A-770E-CD0E6290F57B}"/>
              </a:ext>
            </a:extLst>
          </p:cNvPr>
          <p:cNvGraphicFramePr>
            <a:graphicFrameLocks noGrp="1"/>
          </p:cNvGraphicFramePr>
          <p:nvPr>
            <p:extLst>
              <p:ext uri="{D42A27DB-BD31-4B8C-83A1-F6EECF244321}">
                <p14:modId xmlns:p14="http://schemas.microsoft.com/office/powerpoint/2010/main" val="3037040570"/>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specs in table</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endParaRPr lang="en-US" sz="1000" b="0" i="1"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7B13BAD1-BC3B-7267-8C51-8272DF83906B}"/>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Use tables for parallel data</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Dimensions, ratings, and tolerances should be rows and columns, not sentences.</a:t>
            </a:r>
          </a:p>
          <a:p>
            <a:pPr lvl="0">
              <a:buClr>
                <a:srgbClr val="C00000"/>
              </a:buClr>
              <a:defRPr/>
            </a:pPr>
            <a:endParaRPr lang="pl-PL" sz="1000"/>
          </a:p>
          <a:p>
            <a:pPr lvl="0">
              <a:buClr>
                <a:schemeClr val="accent5"/>
              </a:buClr>
              <a:defRPr/>
            </a:pPr>
            <a:r>
              <a:rPr lang="en-US" sz="1050" b="1"/>
              <a:t>Label consistently</a:t>
            </a:r>
          </a:p>
          <a:p>
            <a:pPr lvl="0">
              <a:buClr>
                <a:srgbClr val="C00000"/>
              </a:buClr>
              <a:defRPr/>
            </a:pPr>
            <a:endParaRPr lang="pl-PL" sz="1000"/>
          </a:p>
          <a:p>
            <a:pPr lvl="0">
              <a:buClr>
                <a:srgbClr val="C00000"/>
              </a:buClr>
              <a:defRPr/>
            </a:pPr>
            <a:r>
              <a:rPr lang="en-US" sz="1000"/>
              <a:t>Use the same field names and units across every document in the library.</a:t>
            </a:r>
          </a:p>
          <a:p>
            <a:pPr lvl="0">
              <a:buClr>
                <a:srgbClr val="C00000"/>
              </a:buClr>
              <a:defRPr/>
            </a:pPr>
            <a:endParaRPr lang="pl-PL" sz="1000"/>
          </a:p>
          <a:p>
            <a:pPr lvl="0">
              <a:buClr>
                <a:schemeClr val="accent5"/>
              </a:buClr>
              <a:defRPr/>
            </a:pPr>
            <a:r>
              <a:rPr lang="en-US" sz="1050" b="1"/>
              <a:t>Keep values isolated</a:t>
            </a:r>
          </a:p>
          <a:p>
            <a:pPr lvl="0">
              <a:buClr>
                <a:srgbClr val="C00000"/>
              </a:buClr>
              <a:defRPr/>
            </a:pPr>
            <a:endParaRPr lang="pl-PL" sz="1000"/>
          </a:p>
          <a:p>
            <a:pPr lvl="0">
              <a:buClr>
                <a:srgbClr val="C00000"/>
              </a:buClr>
              <a:defRPr/>
            </a:pPr>
            <a:r>
              <a:rPr lang="en-US" sz="1000"/>
              <a:t>One value per cell </a:t>
            </a:r>
            <a:r>
              <a:rPr lang="pl-PL" sz="1000"/>
              <a:t>-</a:t>
            </a:r>
            <a:r>
              <a:rPr lang="en-US" sz="1000"/>
              <a:t> avoid combining several specs into a single cell of text.</a:t>
            </a:r>
            <a:endParaRPr lang="pl-PL" sz="1000"/>
          </a:p>
        </p:txBody>
      </p:sp>
      <p:graphicFrame>
        <p:nvGraphicFramePr>
          <p:cNvPr id="7" name="Table 6">
            <a:extLst>
              <a:ext uri="{FF2B5EF4-FFF2-40B4-BE49-F238E27FC236}">
                <a16:creationId xmlns:a16="http://schemas.microsoft.com/office/drawing/2014/main" id="{C24CFA91-E823-9546-7A13-6C2A04A62DC8}"/>
              </a:ext>
            </a:extLst>
          </p:cNvPr>
          <p:cNvGraphicFramePr>
            <a:graphicFrameLocks noGrp="1"/>
          </p:cNvGraphicFramePr>
          <p:nvPr>
            <p:extLst>
              <p:ext uri="{D42A27DB-BD31-4B8C-83A1-F6EECF244321}">
                <p14:modId xmlns:p14="http://schemas.microsoft.com/office/powerpoint/2010/main" val="721195062"/>
              </p:ext>
            </p:extLst>
          </p:nvPr>
        </p:nvGraphicFramePr>
        <p:xfrm>
          <a:off x="4954406" y="3302652"/>
          <a:ext cx="3108384" cy="741680"/>
        </p:xfrm>
        <a:graphic>
          <a:graphicData uri="http://schemas.openxmlformats.org/drawingml/2006/table">
            <a:tbl>
              <a:tblPr firstRow="1" bandRow="1">
                <a:tableStyleId>{5C22544A-7EE6-4342-B048-85BDC9FD1C3A}</a:tableStyleId>
              </a:tblPr>
              <a:tblGrid>
                <a:gridCol w="777096">
                  <a:extLst>
                    <a:ext uri="{9D8B030D-6E8A-4147-A177-3AD203B41FA5}">
                      <a16:colId xmlns:a16="http://schemas.microsoft.com/office/drawing/2014/main" val="3820233017"/>
                    </a:ext>
                  </a:extLst>
                </a:gridCol>
                <a:gridCol w="777096">
                  <a:extLst>
                    <a:ext uri="{9D8B030D-6E8A-4147-A177-3AD203B41FA5}">
                      <a16:colId xmlns:a16="http://schemas.microsoft.com/office/drawing/2014/main" val="708914548"/>
                    </a:ext>
                  </a:extLst>
                </a:gridCol>
                <a:gridCol w="777096">
                  <a:extLst>
                    <a:ext uri="{9D8B030D-6E8A-4147-A177-3AD203B41FA5}">
                      <a16:colId xmlns:a16="http://schemas.microsoft.com/office/drawing/2014/main" val="2851967572"/>
                    </a:ext>
                  </a:extLst>
                </a:gridCol>
                <a:gridCol w="777096">
                  <a:extLst>
                    <a:ext uri="{9D8B030D-6E8A-4147-A177-3AD203B41FA5}">
                      <a16:colId xmlns:a16="http://schemas.microsoft.com/office/drawing/2014/main" val="2246629987"/>
                    </a:ext>
                  </a:extLst>
                </a:gridCol>
              </a:tblGrid>
              <a:tr h="370840">
                <a:tc>
                  <a:txBody>
                    <a:bodyPr/>
                    <a:lstStyle/>
                    <a:p>
                      <a:pPr algn="ctr"/>
                      <a:r>
                        <a:rPr lang="pl-PL" sz="800" b="0">
                          <a:solidFill>
                            <a:schemeClr val="tx1"/>
                          </a:solidFill>
                        </a:rPr>
                        <a:t>Dimensions (W×D×H)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800" b="0">
                          <a:solidFill>
                            <a:schemeClr val="tx1"/>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800" b="0">
                          <a:solidFill>
                            <a:schemeClr val="tx1"/>
                          </a:solidFill>
                        </a:rPr>
                        <a:t>Input voltage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800" b="0">
                          <a:solidFill>
                            <a:schemeClr val="tx1"/>
                          </a:solidFill>
                        </a:rPr>
                        <a:t>Input 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1583848"/>
                  </a:ext>
                </a:extLst>
              </a:tr>
              <a:tr h="370840">
                <a:tc>
                  <a:txBody>
                    <a:bodyPr/>
                    <a:lstStyle/>
                    <a:p>
                      <a:pPr algn="ctr"/>
                      <a:r>
                        <a:rPr lang="pl-PL" sz="800" b="0">
                          <a:solidFill>
                            <a:schemeClr val="tx1"/>
                          </a:solidFill>
                        </a:rPr>
                        <a:t>483 x 348 x 89 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800" b="0">
                          <a:solidFill>
                            <a:schemeClr val="tx1"/>
                          </a:solidFill>
                        </a:rPr>
                        <a:t>25.4 kg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800" b="0">
                          <a:solidFill>
                            <a:schemeClr val="tx1"/>
                          </a:solidFill>
                        </a:rPr>
                        <a:t>200–240 VAC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800" b="0">
                          <a:solidFill>
                            <a:schemeClr val="tx1"/>
                          </a:solidFill>
                        </a:rPr>
                        <a:t>50/60 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5822765"/>
                  </a:ext>
                </a:extLst>
              </a:tr>
            </a:tbl>
          </a:graphicData>
        </a:graphic>
      </p:graphicFrame>
    </p:spTree>
    <p:extLst>
      <p:ext uri="{BB962C8B-B14F-4D97-AF65-F5344CB8AC3E}">
        <p14:creationId xmlns:p14="http://schemas.microsoft.com/office/powerpoint/2010/main" val="3033101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B3C26-2D41-933D-C1F4-4B8D7044E37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C1F50823-1B63-467B-EB27-2C1C6D717096}"/>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3C9C858-21BB-F6BC-0354-390EEDA3033F}"/>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Create </a:t>
            </a:r>
            <a:r>
              <a:rPr lang="en-US" sz="2200">
                <a:solidFill>
                  <a:schemeClr val="accent5"/>
                </a:solidFill>
                <a:cs typeface="Arial"/>
              </a:rPr>
              <a:t>accessible, text-based, tagged files</a:t>
            </a:r>
          </a:p>
        </p:txBody>
      </p:sp>
      <p:sp>
        <p:nvSpPr>
          <p:cNvPr id="12" name="Text 2">
            <a:extLst>
              <a:ext uri="{FF2B5EF4-FFF2-40B4-BE49-F238E27FC236}">
                <a16:creationId xmlns:a16="http://schemas.microsoft.com/office/drawing/2014/main" id="{B7C09FFC-2D2E-C5A6-F92A-85236DCAC4D1}"/>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AI </a:t>
            </a:r>
            <a:r>
              <a:rPr lang="en-US" sz="1100">
                <a:solidFill>
                  <a:schemeClr val="accent5"/>
                </a:solidFill>
                <a:cs typeface="Arial"/>
              </a:rPr>
              <a:t>can only cite text it can actually read out of the file</a:t>
            </a:r>
          </a:p>
        </p:txBody>
      </p:sp>
      <p:sp>
        <p:nvSpPr>
          <p:cNvPr id="5" name="Footer Placeholder 4">
            <a:extLst>
              <a:ext uri="{FF2B5EF4-FFF2-40B4-BE49-F238E27FC236}">
                <a16:creationId xmlns:a16="http://schemas.microsoft.com/office/drawing/2014/main" id="{0303865A-F5E1-A39C-930B-3CF1A2F1D88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F5EFF7F4-F63A-19B6-E61B-9C30D629F554}"/>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71</a:t>
            </a:fld>
            <a:endParaRPr lang="en-US">
              <a:solidFill>
                <a:srgbClr val="3DCD58"/>
              </a:solidFill>
            </a:endParaRPr>
          </a:p>
        </p:txBody>
      </p:sp>
      <p:graphicFrame>
        <p:nvGraphicFramePr>
          <p:cNvPr id="3" name="Table 2">
            <a:extLst>
              <a:ext uri="{FF2B5EF4-FFF2-40B4-BE49-F238E27FC236}">
                <a16:creationId xmlns:a16="http://schemas.microsoft.com/office/drawing/2014/main" id="{13786C2C-06A4-DB84-53C2-A5E3E36F2324}"/>
              </a:ext>
            </a:extLst>
          </p:cNvPr>
          <p:cNvGraphicFramePr>
            <a:graphicFrameLocks noGrp="1"/>
          </p:cNvGraphicFramePr>
          <p:nvPr>
            <p:extLst>
              <p:ext uri="{D42A27DB-BD31-4B8C-83A1-F6EECF244321}">
                <p14:modId xmlns:p14="http://schemas.microsoft.com/office/powerpoint/2010/main" val="386034630"/>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File name: </a:t>
                      </a:r>
                      <a:r>
                        <a:rPr lang="en-US" sz="1000" b="0" i="1" kern="1200">
                          <a:solidFill>
                            <a:schemeClr val="dk1"/>
                          </a:solidFill>
                          <a:effectLst/>
                          <a:latin typeface="+mn-lt"/>
                          <a:ea typeface="+mn-ea"/>
                          <a:cs typeface="+mn-cs"/>
                        </a:rPr>
                        <a:t>“Document1.pdf”. </a:t>
                      </a:r>
                      <a:r>
                        <a:rPr lang="en-US" sz="1000" b="0" i="0" kern="1200">
                          <a:solidFill>
                            <a:schemeClr val="dk1"/>
                          </a:solidFill>
                          <a:effectLst/>
                          <a:latin typeface="+mn-lt"/>
                          <a:ea typeface="+mn-ea"/>
                          <a:cs typeface="+mn-cs"/>
                        </a:rPr>
                        <a:t>Scanned cover-to-cover from a printed copy </a:t>
                      </a:r>
                      <a:r>
                        <a:rPr lang="pl-PL" sz="1000" b="0" i="0" kern="1200">
                          <a:solidFill>
                            <a:schemeClr val="dk1"/>
                          </a:solidFill>
                          <a:effectLst/>
                          <a:latin typeface="+mn-lt"/>
                          <a:ea typeface="+mn-ea"/>
                          <a:cs typeface="+mn-cs"/>
                        </a:rPr>
                        <a:t>-</a:t>
                      </a:r>
                      <a:r>
                        <a:rPr lang="en-US" sz="1000" b="0" i="0" kern="1200">
                          <a:solidFill>
                            <a:schemeClr val="dk1"/>
                          </a:solidFill>
                          <a:effectLst/>
                          <a:latin typeface="+mn-lt"/>
                          <a:ea typeface="+mn-ea"/>
                          <a:cs typeface="+mn-cs"/>
                        </a:rPr>
                        <a:t> no selectable text, no heading tags, generic </a:t>
                      </a:r>
                      <a:r>
                        <a:rPr lang="en-US" sz="1000" b="0" i="1" kern="1200">
                          <a:solidFill>
                            <a:schemeClr val="dk1"/>
                          </a:solidFill>
                          <a:effectLst/>
                          <a:latin typeface="+mn-lt"/>
                          <a:ea typeface="+mn-ea"/>
                          <a:cs typeface="+mn-cs"/>
                        </a:rPr>
                        <a:t>“Untitled” </a:t>
                      </a:r>
                      <a:r>
                        <a:rPr lang="en-US" sz="1000" b="0" i="0" kern="1200">
                          <a:solidFill>
                            <a:schemeClr val="dk1"/>
                          </a:solidFill>
                          <a:effectLst/>
                          <a:latin typeface="+mn-lt"/>
                          <a:ea typeface="+mn-ea"/>
                          <a:cs typeface="+mn-cs"/>
                        </a:rPr>
                        <a:t>document title in file properties.</a:t>
                      </a:r>
                    </a:p>
                    <a:p>
                      <a:pPr marL="0" indent="0" algn="l" defTabSz="457184" rtl="0" eaLnBrk="1" fontAlgn="t" latinLnBrk="0" hangingPunct="1">
                        <a:lnSpc>
                          <a:spcPct val="100000"/>
                        </a:lnSpc>
                        <a:buClr>
                          <a:srgbClr val="FF0000"/>
                        </a:buClr>
                        <a:buFont typeface="Arial" panose="020B0604020202020204" pitchFamily="34" charset="0"/>
                        <a:buNone/>
                      </a:pPr>
                      <a:endParaRPr lang="en-US" sz="1000" b="0" i="1"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0E6B432B-FA19-0538-E804-68CC77AB0E18}"/>
              </a:ext>
            </a:extLst>
          </p:cNvPr>
          <p:cNvGraphicFramePr>
            <a:graphicFrameLocks noGrp="1"/>
          </p:cNvGraphicFramePr>
          <p:nvPr>
            <p:extLst>
              <p:ext uri="{D42A27DB-BD31-4B8C-83A1-F6EECF244321}">
                <p14:modId xmlns:p14="http://schemas.microsoft.com/office/powerpoint/2010/main" val="3120528247"/>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0" kern="1200">
                          <a:solidFill>
                            <a:schemeClr val="dk1"/>
                          </a:solidFill>
                          <a:effectLst/>
                          <a:latin typeface="+mn-lt"/>
                          <a:ea typeface="+mn-ea"/>
                          <a:cs typeface="+mn-cs"/>
                        </a:rPr>
                        <a:t>File name: </a:t>
                      </a:r>
                      <a:r>
                        <a:rPr lang="en-US" sz="1000" b="0" i="1" kern="1200">
                          <a:solidFill>
                            <a:schemeClr val="dk1"/>
                          </a:solidFill>
                          <a:effectLst/>
                          <a:latin typeface="+mn-lt"/>
                          <a:ea typeface="+mn-ea"/>
                          <a:cs typeface="+mn-cs"/>
                        </a:rPr>
                        <a:t>“SmartUPS-SMX3000-Datasheet-EN.pdf.” </a:t>
                      </a:r>
                      <a:r>
                        <a:rPr lang="en-US" sz="1000" b="0" i="0" kern="1200">
                          <a:solidFill>
                            <a:schemeClr val="dk1"/>
                          </a:solidFill>
                          <a:effectLst/>
                          <a:latin typeface="+mn-lt"/>
                          <a:ea typeface="+mn-ea"/>
                          <a:cs typeface="+mn-cs"/>
                        </a:rPr>
                        <a:t>Native text layer, tagged headings, and document title set to </a:t>
                      </a:r>
                      <a:r>
                        <a:rPr lang="en-US" sz="1000" b="0" i="1" kern="1200">
                          <a:solidFill>
                            <a:schemeClr val="dk1"/>
                          </a:solidFill>
                          <a:effectLst/>
                          <a:latin typeface="+mn-lt"/>
                          <a:ea typeface="+mn-ea"/>
                          <a:cs typeface="+mn-cs"/>
                        </a:rPr>
                        <a:t>“Smart-UPS SMX3000 </a:t>
                      </a:r>
                      <a:r>
                        <a:rPr lang="pl-PL" sz="1000" b="0" i="1" kern="1200">
                          <a:solidFill>
                            <a:schemeClr val="dk1"/>
                          </a:solidFill>
                          <a:effectLst/>
                          <a:latin typeface="+mn-lt"/>
                          <a:ea typeface="+mn-ea"/>
                          <a:cs typeface="+mn-cs"/>
                        </a:rPr>
                        <a:t>-</a:t>
                      </a:r>
                      <a:r>
                        <a:rPr lang="en-US" sz="1000" b="0" i="1" kern="1200">
                          <a:solidFill>
                            <a:schemeClr val="dk1"/>
                          </a:solidFill>
                          <a:effectLst/>
                          <a:latin typeface="+mn-lt"/>
                          <a:ea typeface="+mn-ea"/>
                          <a:cs typeface="+mn-cs"/>
                        </a:rPr>
                        <a:t> Technical Datasheet.”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9B14F537-A46F-DF1B-757D-DBA2B1CAC663}"/>
              </a:ext>
            </a:extLst>
          </p:cNvPr>
          <p:cNvSpPr txBox="1"/>
          <p:nvPr/>
        </p:nvSpPr>
        <p:spPr>
          <a:xfrm>
            <a:off x="947103" y="1307683"/>
            <a:ext cx="3181551" cy="2916936"/>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No scanned-image-only PDFs</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Ensure every PDF has a genuine, selectable text layer, not just a picture of text.</a:t>
            </a:r>
          </a:p>
          <a:p>
            <a:pPr lvl="0">
              <a:buClr>
                <a:srgbClr val="C00000"/>
              </a:buClr>
              <a:defRPr/>
            </a:pPr>
            <a:endParaRPr lang="pl-PL" sz="1000"/>
          </a:p>
          <a:p>
            <a:pPr lvl="0">
              <a:buClr>
                <a:schemeClr val="accent5"/>
              </a:buClr>
              <a:defRPr/>
            </a:pPr>
            <a:r>
              <a:rPr lang="en-US" sz="1050" b="1"/>
              <a:t>Tag the reading order</a:t>
            </a:r>
          </a:p>
          <a:p>
            <a:pPr lvl="0">
              <a:buClr>
                <a:srgbClr val="C00000"/>
              </a:buClr>
              <a:defRPr/>
            </a:pPr>
            <a:endParaRPr lang="pl-PL" sz="1000"/>
          </a:p>
          <a:p>
            <a:pPr lvl="0">
              <a:buClr>
                <a:srgbClr val="C00000"/>
              </a:buClr>
              <a:defRPr/>
            </a:pPr>
            <a:r>
              <a:rPr lang="en-US" sz="1000"/>
              <a:t>Use tagged PDF structure with real headings, so heading hierarchy </a:t>
            </a:r>
            <a:r>
              <a:rPr lang="pl-PL" sz="1000"/>
              <a:t>is extractable</a:t>
            </a:r>
            <a:r>
              <a:rPr lang="en-US" sz="1000"/>
              <a:t>.</a:t>
            </a:r>
          </a:p>
          <a:p>
            <a:pPr lvl="0">
              <a:buClr>
                <a:srgbClr val="C00000"/>
              </a:buClr>
              <a:defRPr/>
            </a:pPr>
            <a:endParaRPr lang="pl-PL" sz="1000"/>
          </a:p>
          <a:p>
            <a:pPr lvl="0">
              <a:buClr>
                <a:schemeClr val="accent5"/>
              </a:buClr>
              <a:defRPr/>
            </a:pPr>
            <a:r>
              <a:rPr lang="en-US" sz="1050" b="1"/>
              <a:t>Name and describe the file</a:t>
            </a:r>
          </a:p>
          <a:p>
            <a:pPr lvl="0">
              <a:buClr>
                <a:srgbClr val="C00000"/>
              </a:buClr>
              <a:defRPr/>
            </a:pPr>
            <a:endParaRPr lang="pl-PL" sz="1000"/>
          </a:p>
          <a:p>
            <a:pPr lvl="0">
              <a:buClr>
                <a:srgbClr val="C00000"/>
              </a:buClr>
              <a:defRPr/>
            </a:pPr>
            <a:r>
              <a:rPr lang="en-US" sz="1000"/>
              <a:t>Use descriptive filenames not</a:t>
            </a:r>
            <a:r>
              <a:rPr lang="pl-PL" sz="1000"/>
              <a:t> generic</a:t>
            </a:r>
            <a:r>
              <a:rPr lang="en-US" sz="1000"/>
              <a:t> “Document1.pdf.”</a:t>
            </a:r>
            <a:r>
              <a:rPr lang="pl-PL" sz="1000"/>
              <a:t> Please consult the </a:t>
            </a:r>
            <a:r>
              <a:rPr lang="pl-PL" sz="1000">
                <a:hlinkClick r:id="rId2"/>
              </a:rPr>
              <a:t>Data Governance</a:t>
            </a:r>
            <a:r>
              <a:rPr lang="pl-PL" sz="1000"/>
              <a:t> guidelines about the file’s naming. The good practice is also setting </a:t>
            </a:r>
            <a:r>
              <a:rPr lang="en-US" sz="1000"/>
              <a:t>the document title/metadata*</a:t>
            </a:r>
            <a:r>
              <a:rPr lang="pl-PL" sz="1000"/>
              <a:t>.</a:t>
            </a:r>
            <a:endParaRPr lang="en-US" sz="1000"/>
          </a:p>
        </p:txBody>
      </p:sp>
      <p:sp>
        <p:nvSpPr>
          <p:cNvPr id="4" name="TextBox 3">
            <a:extLst>
              <a:ext uri="{FF2B5EF4-FFF2-40B4-BE49-F238E27FC236}">
                <a16:creationId xmlns:a16="http://schemas.microsoft.com/office/drawing/2014/main" id="{077A357B-36AB-39B4-D3DE-8B221B7DFD72}"/>
              </a:ext>
            </a:extLst>
          </p:cNvPr>
          <p:cNvSpPr txBox="1"/>
          <p:nvPr/>
        </p:nvSpPr>
        <p:spPr>
          <a:xfrm>
            <a:off x="398463" y="4640948"/>
            <a:ext cx="7352506" cy="215444"/>
          </a:xfrm>
          <a:prstGeom prst="rect">
            <a:avLst/>
          </a:prstGeom>
        </p:spPr>
        <p:txBody>
          <a:bodyPr vert="horz" wrap="square" lIns="0" tIns="0" rIns="0" bIns="0" rtlCol="0">
            <a:spAutoFit/>
          </a:bodyPr>
          <a:lstStyle/>
          <a:p>
            <a:pPr algn="l"/>
            <a:r>
              <a:rPr lang="pl-PL" sz="700"/>
              <a:t>*This action can only be done in paid version of Adobe Acrobat Reader – if you create big amount of PDFs or your Team creates ultiple PDFs, you can think about requesting the full version of the tool.</a:t>
            </a:r>
          </a:p>
        </p:txBody>
      </p:sp>
    </p:spTree>
    <p:extLst>
      <p:ext uri="{BB962C8B-B14F-4D97-AF65-F5344CB8AC3E}">
        <p14:creationId xmlns:p14="http://schemas.microsoft.com/office/powerpoint/2010/main" val="12555342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10FA-2EF2-1095-20D5-5A31851213A2}"/>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F1246606-A4B2-DD91-4E64-9009E6C02B1B}"/>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FDA83D15-A7D2-25EF-8786-EA8D39D9132F}"/>
              </a:ext>
            </a:extLst>
          </p:cNvPr>
          <p:cNvSpPr/>
          <p:nvPr/>
        </p:nvSpPr>
        <p:spPr>
          <a:xfrm>
            <a:off x="342899" y="192024"/>
            <a:ext cx="8357755" cy="377190"/>
          </a:xfrm>
          <a:prstGeom prst="rect">
            <a:avLst/>
          </a:prstGeom>
          <a:noFill/>
          <a:ln/>
        </p:spPr>
        <p:txBody>
          <a:bodyPr wrap="square" lIns="0" tIns="0" rIns="0" bIns="0" rtlCol="0" anchor="ctr"/>
          <a:lstStyle/>
          <a:p>
            <a:r>
              <a:rPr lang="pl-PL" sz="2200">
                <a:solidFill>
                  <a:schemeClr val="accent5"/>
                </a:solidFill>
                <a:cs typeface="Arial"/>
              </a:rPr>
              <a:t>Use </a:t>
            </a:r>
            <a:r>
              <a:rPr lang="en-US" sz="2200">
                <a:solidFill>
                  <a:schemeClr val="accent5"/>
                </a:solidFill>
                <a:cs typeface="Arial"/>
              </a:rPr>
              <a:t>the language people and models actually use</a:t>
            </a:r>
          </a:p>
        </p:txBody>
      </p:sp>
      <p:sp>
        <p:nvSpPr>
          <p:cNvPr id="12" name="Text 2">
            <a:extLst>
              <a:ext uri="{FF2B5EF4-FFF2-40B4-BE49-F238E27FC236}">
                <a16:creationId xmlns:a16="http://schemas.microsoft.com/office/drawing/2014/main" id="{C713C3B7-233F-B6B2-928B-B32C7AC9FF79}"/>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Internal naming is </a:t>
            </a:r>
            <a:r>
              <a:rPr lang="pl-PL" sz="1100">
                <a:solidFill>
                  <a:schemeClr val="accent5"/>
                </a:solidFill>
                <a:cs typeface="Arial"/>
              </a:rPr>
              <a:t>easy to understand for us -</a:t>
            </a:r>
            <a:r>
              <a:rPr lang="en-US" sz="1100">
                <a:solidFill>
                  <a:schemeClr val="accent5"/>
                </a:solidFill>
                <a:cs typeface="Arial"/>
              </a:rPr>
              <a:t> it’s </a:t>
            </a:r>
            <a:r>
              <a:rPr lang="pl-PL" sz="1100">
                <a:solidFill>
                  <a:schemeClr val="accent5"/>
                </a:solidFill>
                <a:cs typeface="Arial"/>
              </a:rPr>
              <a:t>can become</a:t>
            </a:r>
            <a:r>
              <a:rPr lang="en-US" sz="1100">
                <a:solidFill>
                  <a:schemeClr val="accent5"/>
                </a:solidFill>
                <a:cs typeface="Arial"/>
              </a:rPr>
              <a:t> invisible to everyone else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1CC694A2-0193-5E1B-95FA-CB9A9B0269BF}"/>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F7357CD-1EE5-BC24-3A1E-5DAF5829CF4F}"/>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72</a:t>
            </a:fld>
            <a:endParaRPr lang="en-US">
              <a:solidFill>
                <a:srgbClr val="3DCD58"/>
              </a:solidFill>
            </a:endParaRPr>
          </a:p>
        </p:txBody>
      </p:sp>
      <p:graphicFrame>
        <p:nvGraphicFramePr>
          <p:cNvPr id="3" name="Table 2">
            <a:extLst>
              <a:ext uri="{FF2B5EF4-FFF2-40B4-BE49-F238E27FC236}">
                <a16:creationId xmlns:a16="http://schemas.microsoft.com/office/drawing/2014/main" id="{9CAAD3DB-4FB4-2C87-5C0F-22DA87102478}"/>
              </a:ext>
            </a:extLst>
          </p:cNvPr>
          <p:cNvGraphicFramePr>
            <a:graphicFrameLocks noGrp="1"/>
          </p:cNvGraphicFramePr>
          <p:nvPr>
            <p:extLst>
              <p:ext uri="{D42A27DB-BD31-4B8C-83A1-F6EECF244321}">
                <p14:modId xmlns:p14="http://schemas.microsoft.com/office/powerpoint/2010/main" val="3663445866"/>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“SMX3000RMLV2U — refer to section 3.1 for env. spec and RBC compatibility.”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640537C4-1787-1EAF-8E5B-D88865E09410}"/>
              </a:ext>
            </a:extLst>
          </p:cNvPr>
          <p:cNvGraphicFramePr>
            <a:graphicFrameLocks noGrp="1"/>
          </p:cNvGraphicFramePr>
          <p:nvPr>
            <p:extLst>
              <p:ext uri="{D42A27DB-BD31-4B8C-83A1-F6EECF244321}">
                <p14:modId xmlns:p14="http://schemas.microsoft.com/office/powerpoint/2010/main" val="1738038387"/>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“Smart-UPS SMX3000RMLV2U (3000VA/2700W rack-mount UPS) — see ‘Operating Temperature Range’ and ‘Compatible Replacement Battery Cartridge (RBC)’ below.”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A3344002-01C7-7DA5-4619-A236F101A4D8}"/>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Pair codes with plain names</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Give the model number alongside the plain-language description customers search for.</a:t>
            </a:r>
          </a:p>
          <a:p>
            <a:pPr lvl="0">
              <a:buClr>
                <a:srgbClr val="C00000"/>
              </a:buClr>
              <a:defRPr/>
            </a:pPr>
            <a:endParaRPr lang="pl-PL" sz="1000"/>
          </a:p>
          <a:p>
            <a:pPr lvl="0">
              <a:buClr>
                <a:schemeClr val="accent5"/>
              </a:buClr>
              <a:defRPr/>
            </a:pPr>
            <a:r>
              <a:rPr lang="en-US" sz="1050" b="1"/>
              <a:t>Define acronyms on first use</a:t>
            </a:r>
          </a:p>
          <a:p>
            <a:pPr lvl="0">
              <a:buClr>
                <a:srgbClr val="C00000"/>
              </a:buClr>
              <a:defRPr/>
            </a:pPr>
            <a:endParaRPr lang="pl-PL" sz="1000"/>
          </a:p>
          <a:p>
            <a:pPr lvl="0">
              <a:buClr>
                <a:srgbClr val="C00000"/>
              </a:buClr>
              <a:defRPr/>
            </a:pPr>
            <a:r>
              <a:rPr lang="en-US" sz="1000"/>
              <a:t>Spell out VRLA, RBC, IP rating, etc. inline the first time each appears in a document.</a:t>
            </a:r>
          </a:p>
          <a:p>
            <a:pPr lvl="0">
              <a:buClr>
                <a:srgbClr val="C00000"/>
              </a:buClr>
              <a:defRPr/>
            </a:pPr>
            <a:endParaRPr lang="pl-PL" sz="1000"/>
          </a:p>
          <a:p>
            <a:pPr lvl="0">
              <a:buClr>
                <a:schemeClr val="accent5"/>
              </a:buClr>
              <a:defRPr/>
            </a:pPr>
            <a:r>
              <a:rPr lang="en-US" sz="1050" b="1"/>
              <a:t>Use the phrasing people ask with</a:t>
            </a:r>
          </a:p>
          <a:p>
            <a:pPr lvl="0">
              <a:buClr>
                <a:srgbClr val="C00000"/>
              </a:buClr>
              <a:defRPr/>
            </a:pPr>
            <a:endParaRPr lang="pl-PL" sz="1000"/>
          </a:p>
          <a:p>
            <a:pPr lvl="0">
              <a:buClr>
                <a:srgbClr val="C00000"/>
              </a:buClr>
              <a:defRPr/>
            </a:pPr>
            <a:r>
              <a:rPr lang="en-US" sz="1000"/>
              <a:t>Prefer “operating temperature range” over internal shorthand like “env. spec.”</a:t>
            </a:r>
          </a:p>
        </p:txBody>
      </p:sp>
    </p:spTree>
    <p:extLst>
      <p:ext uri="{BB962C8B-B14F-4D97-AF65-F5344CB8AC3E}">
        <p14:creationId xmlns:p14="http://schemas.microsoft.com/office/powerpoint/2010/main" val="40821185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0CB40-D6F4-2671-8DD8-E9B93C39DE1B}"/>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D77FB46A-6F51-F97F-46B0-70F3DDC758B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BE013C86-E646-0B0A-EE95-8E26015A543A}"/>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Keep documents dated, versioned, and retired on schedule</a:t>
            </a:r>
          </a:p>
        </p:txBody>
      </p:sp>
      <p:sp>
        <p:nvSpPr>
          <p:cNvPr id="12" name="Text 2">
            <a:extLst>
              <a:ext uri="{FF2B5EF4-FFF2-40B4-BE49-F238E27FC236}">
                <a16:creationId xmlns:a16="http://schemas.microsoft.com/office/drawing/2014/main" id="{20DABFC4-94B3-2ECE-FC12-2C235DFC32D1}"/>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An undated document can't signal to a model whether it's still current</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B2F9A46B-4A11-7CF4-D3FD-6C9BABD4D37E}"/>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A41AB245-D28B-6429-71EF-A0B688EA9EBE}"/>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73</a:t>
            </a:fld>
            <a:endParaRPr lang="en-US">
              <a:solidFill>
                <a:srgbClr val="3DCD58"/>
              </a:solidFill>
            </a:endParaRPr>
          </a:p>
        </p:txBody>
      </p:sp>
      <p:graphicFrame>
        <p:nvGraphicFramePr>
          <p:cNvPr id="3" name="Table 2">
            <a:extLst>
              <a:ext uri="{FF2B5EF4-FFF2-40B4-BE49-F238E27FC236}">
                <a16:creationId xmlns:a16="http://schemas.microsoft.com/office/drawing/2014/main" id="{0A48676A-3D71-4B2F-9980-55DB4022608A}"/>
              </a:ext>
            </a:extLst>
          </p:cNvPr>
          <p:cNvGraphicFramePr>
            <a:graphicFrameLocks noGrp="1"/>
          </p:cNvGraphicFramePr>
          <p:nvPr>
            <p:extLst>
              <p:ext uri="{D42A27DB-BD31-4B8C-83A1-F6EECF244321}">
                <p14:modId xmlns:p14="http://schemas.microsoft.com/office/powerpoint/2010/main" val="834976528"/>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no date, no version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Cover page reads only </a:t>
                      </a:r>
                      <a:r>
                        <a:rPr lang="en-US" sz="1000" b="0" i="1" kern="1200">
                          <a:solidFill>
                            <a:schemeClr val="dk1"/>
                          </a:solidFill>
                          <a:effectLst/>
                          <a:latin typeface="+mn-lt"/>
                          <a:ea typeface="+mn-ea"/>
                          <a:cs typeface="+mn-cs"/>
                        </a:rPr>
                        <a:t>“Smart-UPS Datasheet” </a:t>
                      </a:r>
                      <a:r>
                        <a:rPr lang="en-US" sz="1000" b="0" i="0" kern="1200">
                          <a:solidFill>
                            <a:schemeClr val="dk1"/>
                          </a:solidFill>
                          <a:effectLst/>
                          <a:latin typeface="+mn-lt"/>
                          <a:ea typeface="+mn-ea"/>
                          <a:cs typeface="+mn-cs"/>
                        </a:rPr>
                        <a:t>with no revision date, no version number, and an old spec value still live from three product revisions ago.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83D3EE2A-2364-2138-A84D-41242C7B9C3D}"/>
              </a:ext>
            </a:extLst>
          </p:cNvPr>
          <p:cNvGraphicFramePr>
            <a:graphicFrameLocks noGrp="1"/>
          </p:cNvGraphicFramePr>
          <p:nvPr>
            <p:extLst>
              <p:ext uri="{D42A27DB-BD31-4B8C-83A1-F6EECF244321}">
                <p14:modId xmlns:p14="http://schemas.microsoft.com/office/powerpoint/2010/main" val="1061286741"/>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dated and versioned</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0" kern="1200">
                          <a:solidFill>
                            <a:schemeClr val="dk1"/>
                          </a:solidFill>
                          <a:effectLst/>
                          <a:latin typeface="+mn-lt"/>
                          <a:ea typeface="+mn-ea"/>
                          <a:cs typeface="+mn-cs"/>
                        </a:rPr>
                        <a:t>Cover page reads </a:t>
                      </a:r>
                      <a:r>
                        <a:rPr lang="en-US" sz="1000" b="0" i="1" kern="1200">
                          <a:solidFill>
                            <a:schemeClr val="dk1"/>
                          </a:solidFill>
                          <a:effectLst/>
                          <a:latin typeface="+mn-lt"/>
                          <a:ea typeface="+mn-ea"/>
                          <a:cs typeface="+mn-cs"/>
                        </a:rPr>
                        <a:t>“Smart-UPS SMX3000 Datasheet </a:t>
                      </a:r>
                      <a:r>
                        <a:rPr lang="pl-PL" sz="1000" b="0" i="1" kern="1200">
                          <a:solidFill>
                            <a:schemeClr val="dk1"/>
                          </a:solidFill>
                          <a:effectLst/>
                          <a:latin typeface="+mn-lt"/>
                          <a:ea typeface="+mn-ea"/>
                          <a:cs typeface="+mn-cs"/>
                        </a:rPr>
                        <a:t>-</a:t>
                      </a:r>
                      <a:r>
                        <a:rPr lang="en-US" sz="1000" b="0" i="1" kern="1200">
                          <a:solidFill>
                            <a:schemeClr val="dk1"/>
                          </a:solidFill>
                          <a:effectLst/>
                          <a:latin typeface="+mn-lt"/>
                          <a:ea typeface="+mn-ea"/>
                          <a:cs typeface="+mn-cs"/>
                        </a:rPr>
                        <a:t> Rev. 4, updated March 2026” </a:t>
                      </a:r>
                      <a:r>
                        <a:rPr lang="en-US" sz="1000" b="0" i="0" kern="1200">
                          <a:solidFill>
                            <a:schemeClr val="dk1"/>
                          </a:solidFill>
                          <a:effectLst/>
                          <a:latin typeface="+mn-lt"/>
                          <a:ea typeface="+mn-ea"/>
                          <a:cs typeface="+mn-cs"/>
                        </a:rPr>
                        <a:t>with a changelog note:</a:t>
                      </a:r>
                      <a:r>
                        <a:rPr lang="en-US" sz="1000" b="0" i="1" kern="1200">
                          <a:solidFill>
                            <a:schemeClr val="dk1"/>
                          </a:solidFill>
                          <a:effectLst/>
                          <a:latin typeface="+mn-lt"/>
                          <a:ea typeface="+mn-ea"/>
                          <a:cs typeface="+mn-cs"/>
                        </a:rPr>
                        <a:t> “Rev. 4: updated battery life guidance.”</a:t>
                      </a:r>
                    </a:p>
                    <a:p>
                      <a:pPr marL="0" indent="0" algn="l" defTabSz="457184" rtl="0" eaLnBrk="1" fontAlgn="t" latinLnBrk="0" hangingPunct="1">
                        <a:lnSpc>
                          <a:spcPct val="100000"/>
                        </a:lnSpc>
                        <a:buFont typeface="Arial" panose="020B0604020202020204" pitchFamily="34" charset="0"/>
                        <a:buNone/>
                      </a:pPr>
                      <a:endParaRPr lang="en-US" sz="1000" b="0" i="1"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7415F391-B844-3141-4BD7-6E4E0362BF1F}"/>
              </a:ext>
            </a:extLst>
          </p:cNvPr>
          <p:cNvSpPr txBox="1"/>
          <p:nvPr/>
        </p:nvSpPr>
        <p:spPr>
          <a:xfrm>
            <a:off x="947103" y="1307684"/>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Show a visible revision date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Put “last updated” or a version number on the cover page and in the footer of every document.</a:t>
            </a:r>
          </a:p>
          <a:p>
            <a:pPr lvl="0">
              <a:buClr>
                <a:srgbClr val="C00000"/>
              </a:buClr>
              <a:defRPr/>
            </a:pPr>
            <a:endParaRPr lang="pl-PL" sz="1000"/>
          </a:p>
          <a:p>
            <a:pPr lvl="0">
              <a:buClr>
                <a:schemeClr val="accent5"/>
              </a:buClr>
              <a:defRPr/>
            </a:pPr>
            <a:r>
              <a:rPr lang="en-US" sz="1050" b="1"/>
              <a:t>Maintain a changelog</a:t>
            </a:r>
          </a:p>
          <a:p>
            <a:pPr lvl="0">
              <a:buClr>
                <a:srgbClr val="C00000"/>
              </a:buClr>
              <a:defRPr/>
            </a:pPr>
            <a:endParaRPr lang="pl-PL" sz="1000"/>
          </a:p>
          <a:p>
            <a:pPr lvl="0">
              <a:buClr>
                <a:srgbClr val="C00000"/>
              </a:buClr>
              <a:defRPr/>
            </a:pPr>
            <a:r>
              <a:rPr lang="en-US" sz="1000"/>
              <a:t>List what changed between revisions, so updates to specs or procedures are traceable</a:t>
            </a:r>
            <a:r>
              <a:rPr lang="pl-PL" sz="1000"/>
              <a:t>, and it gives signal to AI that document is beeing maintained and is up-to-date</a:t>
            </a:r>
            <a:r>
              <a:rPr lang="en-US" sz="1000"/>
              <a:t>.</a:t>
            </a:r>
          </a:p>
          <a:p>
            <a:pPr lvl="0">
              <a:buClr>
                <a:srgbClr val="C00000"/>
              </a:buClr>
              <a:defRPr/>
            </a:pPr>
            <a:endParaRPr lang="pl-PL" sz="1000"/>
          </a:p>
          <a:p>
            <a:pPr lvl="0">
              <a:buClr>
                <a:schemeClr val="accent5"/>
              </a:buClr>
              <a:defRPr/>
            </a:pPr>
            <a:r>
              <a:rPr lang="en-US" sz="1050" b="1"/>
              <a:t>Retire superseded versions</a:t>
            </a:r>
          </a:p>
          <a:p>
            <a:pPr lvl="0">
              <a:buClr>
                <a:srgbClr val="C00000"/>
              </a:buClr>
              <a:defRPr/>
            </a:pPr>
            <a:endParaRPr lang="pl-PL" sz="1000"/>
          </a:p>
          <a:p>
            <a:pPr lvl="0">
              <a:buClr>
                <a:srgbClr val="C00000"/>
              </a:buClr>
              <a:defRPr/>
            </a:pPr>
            <a:r>
              <a:rPr lang="en-US" sz="1000"/>
              <a:t>Replace or clearly mark outdated documents so old specs aren't cited as current.</a:t>
            </a:r>
          </a:p>
        </p:txBody>
      </p:sp>
    </p:spTree>
    <p:extLst>
      <p:ext uri="{BB962C8B-B14F-4D97-AF65-F5344CB8AC3E}">
        <p14:creationId xmlns:p14="http://schemas.microsoft.com/office/powerpoint/2010/main" val="35381546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2765-478E-F419-9B1A-D69979D7E21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4C7ED5F3-4A0E-47BA-74E1-8A96660F9725}"/>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DF1402C-86DA-34E4-AAB7-476C7F472B9D}"/>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Making document optimization routine</a:t>
            </a:r>
          </a:p>
        </p:txBody>
      </p:sp>
      <p:sp>
        <p:nvSpPr>
          <p:cNvPr id="12" name="Text 2">
            <a:extLst>
              <a:ext uri="{FF2B5EF4-FFF2-40B4-BE49-F238E27FC236}">
                <a16:creationId xmlns:a16="http://schemas.microsoft.com/office/drawing/2014/main" id="{BB4B114D-33E5-2455-8956-8C14185F9000}"/>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Cadence and ownership for the document library</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08B17E32-E501-0CF7-30E7-5D05768A2D5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62BF22D2-BEEE-6D6F-1A8F-8DC8ACF240BA}"/>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74</a:t>
            </a:fld>
            <a:endParaRPr lang="en-US">
              <a:solidFill>
                <a:srgbClr val="3DCD58"/>
              </a:solidFill>
            </a:endParaRPr>
          </a:p>
        </p:txBody>
      </p:sp>
      <p:graphicFrame>
        <p:nvGraphicFramePr>
          <p:cNvPr id="9" name="Table 8">
            <a:extLst>
              <a:ext uri="{FF2B5EF4-FFF2-40B4-BE49-F238E27FC236}">
                <a16:creationId xmlns:a16="http://schemas.microsoft.com/office/drawing/2014/main" id="{B8CD0D64-9DE1-49EA-3651-DABD62449D77}"/>
              </a:ext>
            </a:extLst>
          </p:cNvPr>
          <p:cNvGraphicFramePr>
            <a:graphicFrameLocks noGrp="1"/>
          </p:cNvGraphicFramePr>
          <p:nvPr>
            <p:extLst>
              <p:ext uri="{D42A27DB-BD31-4B8C-83A1-F6EECF244321}">
                <p14:modId xmlns:p14="http://schemas.microsoft.com/office/powerpoint/2010/main" val="1827140018"/>
              </p:ext>
            </p:extLst>
          </p:nvPr>
        </p:nvGraphicFramePr>
        <p:xfrm>
          <a:off x="5932959" y="3046041"/>
          <a:ext cx="2518524" cy="1120644"/>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452799">
                <a:tc>
                  <a:txBody>
                    <a:bodyPr/>
                    <a:lstStyle/>
                    <a:p>
                      <a:pPr algn="ctr"/>
                      <a:r>
                        <a:rPr lang="pl-PL" sz="1200" b="1">
                          <a:solidFill>
                            <a:schemeClr val="accent5"/>
                          </a:solidFill>
                        </a:rPr>
                        <a:t>Convert</a:t>
                      </a:r>
                      <a:r>
                        <a:rPr lang="en-US" sz="1200" b="1">
                          <a:solidFill>
                            <a:schemeClr val="accent5"/>
                          </a:solidFill>
                        </a:rPr>
                        <a:t> the checklist into the release 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663444">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New or revised documents</a:t>
                      </a:r>
                      <a:r>
                        <a:rPr lang="pl-PL" sz="1000" b="0">
                          <a:solidFill>
                            <a:schemeClr val="tx1"/>
                          </a:solidFill>
                        </a:rPr>
                        <a:t> should</a:t>
                      </a:r>
                      <a:r>
                        <a:rPr lang="en-US" sz="1000" b="0">
                          <a:solidFill>
                            <a:schemeClr val="tx1"/>
                          </a:solidFill>
                        </a:rPr>
                        <a:t> pass the checklist before publishing</a:t>
                      </a:r>
                      <a:r>
                        <a:rPr lang="pl-PL" sz="1000" b="0">
                          <a:solidFill>
                            <a:schemeClr val="tx1"/>
                          </a:solidFill>
                        </a:rPr>
                        <a:t>.</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0" name="Table 9">
            <a:extLst>
              <a:ext uri="{FF2B5EF4-FFF2-40B4-BE49-F238E27FC236}">
                <a16:creationId xmlns:a16="http://schemas.microsoft.com/office/drawing/2014/main" id="{D150E200-FB2F-88D6-A4C6-78D3B10AC1CC}"/>
              </a:ext>
            </a:extLst>
          </p:cNvPr>
          <p:cNvGraphicFramePr>
            <a:graphicFrameLocks noGrp="1"/>
          </p:cNvGraphicFramePr>
          <p:nvPr>
            <p:extLst>
              <p:ext uri="{D42A27DB-BD31-4B8C-83A1-F6EECF244321}">
                <p14:modId xmlns:p14="http://schemas.microsoft.com/office/powerpoint/2010/main" val="2130988268"/>
              </p:ext>
            </p:extLst>
          </p:nvPr>
        </p:nvGraphicFramePr>
        <p:xfrm>
          <a:off x="3305118" y="1729896"/>
          <a:ext cx="2518524" cy="1158240"/>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432197">
                <a:tc>
                  <a:txBody>
                    <a:bodyPr/>
                    <a:lstStyle/>
                    <a:p>
                      <a:pPr algn="ctr"/>
                      <a:r>
                        <a:rPr lang="pl-PL" sz="1200" b="1">
                          <a:solidFill>
                            <a:schemeClr val="accent5"/>
                          </a:solidFill>
                        </a:rPr>
                        <a:t>Track document-level citation 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694196">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Where possible, monitor whether AI engines cite the current document version or an outdated one still circulating online.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2" name="Table 21">
            <a:extLst>
              <a:ext uri="{FF2B5EF4-FFF2-40B4-BE49-F238E27FC236}">
                <a16:creationId xmlns:a16="http://schemas.microsoft.com/office/drawing/2014/main" id="{F4B07A1D-8C6D-2E5A-CABD-90E051A87AC8}"/>
              </a:ext>
            </a:extLst>
          </p:cNvPr>
          <p:cNvGraphicFramePr>
            <a:graphicFrameLocks noGrp="1"/>
          </p:cNvGraphicFramePr>
          <p:nvPr>
            <p:extLst>
              <p:ext uri="{D42A27DB-BD31-4B8C-83A1-F6EECF244321}">
                <p14:modId xmlns:p14="http://schemas.microsoft.com/office/powerpoint/2010/main" val="2427232068"/>
              </p:ext>
            </p:extLst>
          </p:nvPr>
        </p:nvGraphicFramePr>
        <p:xfrm>
          <a:off x="676820" y="3046718"/>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en-US" sz="1200" b="1">
                          <a:solidFill>
                            <a:schemeClr val="accent5"/>
                          </a:solidFill>
                        </a:rPr>
                        <a:t>Review on a fixed cadence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Audit priority datasheets and manuals at least twice a year, and immediately after any product or firmware revision.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pic>
        <p:nvPicPr>
          <p:cNvPr id="26" name="Graphic 25" descr="Continuous Improvement with solid fill">
            <a:extLst>
              <a:ext uri="{FF2B5EF4-FFF2-40B4-BE49-F238E27FC236}">
                <a16:creationId xmlns:a16="http://schemas.microsoft.com/office/drawing/2014/main" id="{AB1667DB-87FC-C1DF-B7DC-5050DC5F878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00271" y="3042823"/>
            <a:ext cx="1127761" cy="1127761"/>
          </a:xfrm>
          <a:prstGeom prst="rect">
            <a:avLst/>
          </a:prstGeom>
        </p:spPr>
      </p:pic>
      <p:cxnSp>
        <p:nvCxnSpPr>
          <p:cNvPr id="34" name="Connector: Elbow 33">
            <a:extLst>
              <a:ext uri="{FF2B5EF4-FFF2-40B4-BE49-F238E27FC236}">
                <a16:creationId xmlns:a16="http://schemas.microsoft.com/office/drawing/2014/main" id="{15CC87BA-01F0-71F2-D3C5-E2112C12010E}"/>
              </a:ext>
            </a:extLst>
          </p:cNvPr>
          <p:cNvCxnSpPr>
            <a:cxnSpLocks/>
            <a:stCxn id="22" idx="3"/>
            <a:endCxn id="26" idx="1"/>
          </p:cNvCxnSpPr>
          <p:nvPr/>
        </p:nvCxnSpPr>
        <p:spPr>
          <a:xfrm>
            <a:off x="3195344" y="3606701"/>
            <a:ext cx="804927" cy="3"/>
          </a:xfrm>
          <a:prstGeom prst="bentConnector3">
            <a:avLst>
              <a:gd name="adj1" fmla="val 50000"/>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0" name="Connector: Elbow 39">
            <a:extLst>
              <a:ext uri="{FF2B5EF4-FFF2-40B4-BE49-F238E27FC236}">
                <a16:creationId xmlns:a16="http://schemas.microsoft.com/office/drawing/2014/main" id="{86D7596A-181C-1E25-8BCA-7A46EAA2FE5E}"/>
              </a:ext>
            </a:extLst>
          </p:cNvPr>
          <p:cNvCxnSpPr>
            <a:cxnSpLocks/>
            <a:stCxn id="9" idx="1"/>
            <a:endCxn id="26" idx="3"/>
          </p:cNvCxnSpPr>
          <p:nvPr/>
        </p:nvCxnSpPr>
        <p:spPr>
          <a:xfrm rot="10800000" flipV="1">
            <a:off x="5128033" y="3606362"/>
            <a:ext cx="804927" cy="341"/>
          </a:xfrm>
          <a:prstGeom prst="bentConnector3">
            <a:avLst>
              <a:gd name="adj1" fmla="val 50000"/>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A6E35ACE-14E5-938E-5B2E-6F6F1CA85A66}"/>
              </a:ext>
            </a:extLst>
          </p:cNvPr>
          <p:cNvCxnSpPr>
            <a:cxnSpLocks/>
            <a:stCxn id="10" idx="2"/>
          </p:cNvCxnSpPr>
          <p:nvPr/>
        </p:nvCxnSpPr>
        <p:spPr>
          <a:xfrm>
            <a:off x="4564380" y="2888136"/>
            <a:ext cx="0" cy="44299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007054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1CAAF-26C2-3A28-FBB0-F8B3A786F0E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9572C52-1337-AE68-C9DE-17D2925D6644}"/>
              </a:ext>
            </a:extLst>
          </p:cNvPr>
          <p:cNvSpPr/>
          <p:nvPr/>
        </p:nvSpPr>
        <p:spPr>
          <a:xfrm>
            <a:off x="396002" y="1511459"/>
            <a:ext cx="8351995" cy="2976721"/>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 name="Shape 0">
            <a:extLst>
              <a:ext uri="{FF2B5EF4-FFF2-40B4-BE49-F238E27FC236}">
                <a16:creationId xmlns:a16="http://schemas.microsoft.com/office/drawing/2014/main" id="{9B79308C-4574-BF86-9C35-43F56E28585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91E17E6D-AB98-5FA7-104D-6525EBF5EBC8}"/>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Document optimization checklist</a:t>
            </a:r>
          </a:p>
        </p:txBody>
      </p:sp>
      <p:sp>
        <p:nvSpPr>
          <p:cNvPr id="12" name="Text 2">
            <a:extLst>
              <a:ext uri="{FF2B5EF4-FFF2-40B4-BE49-F238E27FC236}">
                <a16:creationId xmlns:a16="http://schemas.microsoft.com/office/drawing/2014/main" id="{664F445B-5A2C-52E0-792D-A1F8A3F03EF9}"/>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Run through this before publishing or updating any datasheet, manual, or whitepaper</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44D20456-F7E8-E83B-06FB-442A2E48173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AB938D63-40B8-541C-0AF6-160F4089BAE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75</a:t>
            </a:fld>
            <a:endParaRPr lang="en-US">
              <a:solidFill>
                <a:srgbClr val="3DCD58"/>
              </a:solidFill>
            </a:endParaRPr>
          </a:p>
        </p:txBody>
      </p:sp>
      <p:sp>
        <p:nvSpPr>
          <p:cNvPr id="2" name="Shape 3">
            <a:extLst>
              <a:ext uri="{FF2B5EF4-FFF2-40B4-BE49-F238E27FC236}">
                <a16:creationId xmlns:a16="http://schemas.microsoft.com/office/drawing/2014/main" id="{CF29E2E6-BF3D-2435-2C0A-D177AD3BF55C}"/>
              </a:ext>
            </a:extLst>
          </p:cNvPr>
          <p:cNvSpPr/>
          <p:nvPr/>
        </p:nvSpPr>
        <p:spPr>
          <a:xfrm>
            <a:off x="518397" y="1743922"/>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3" name="Text 4">
            <a:extLst>
              <a:ext uri="{FF2B5EF4-FFF2-40B4-BE49-F238E27FC236}">
                <a16:creationId xmlns:a16="http://schemas.microsoft.com/office/drawing/2014/main" id="{39DB3D69-F587-A107-D118-E2AD2653A41B}"/>
              </a:ext>
            </a:extLst>
          </p:cNvPr>
          <p:cNvSpPr/>
          <p:nvPr/>
        </p:nvSpPr>
        <p:spPr>
          <a:xfrm>
            <a:off x="861297" y="1586188"/>
            <a:ext cx="3703320" cy="548640"/>
          </a:xfrm>
          <a:prstGeom prst="rect">
            <a:avLst/>
          </a:prstGeom>
          <a:noFill/>
          <a:ln/>
        </p:spPr>
        <p:txBody>
          <a:bodyPr wrap="square" rtlCol="0" anchor="ctr"/>
          <a:lstStyle/>
          <a:p>
            <a:pPr>
              <a:lnSpc>
                <a:spcPct val="110000"/>
              </a:lnSpc>
            </a:pPr>
            <a:r>
              <a:rPr lang="en-US" sz="1000"/>
              <a:t>Does every section open with the fact, not the pitch?</a:t>
            </a:r>
          </a:p>
        </p:txBody>
      </p:sp>
      <p:sp>
        <p:nvSpPr>
          <p:cNvPr id="4" name="Shape 5">
            <a:extLst>
              <a:ext uri="{FF2B5EF4-FFF2-40B4-BE49-F238E27FC236}">
                <a16:creationId xmlns:a16="http://schemas.microsoft.com/office/drawing/2014/main" id="{22F6CCA8-B093-0D40-720D-9035FA09AE6E}"/>
              </a:ext>
            </a:extLst>
          </p:cNvPr>
          <p:cNvSpPr/>
          <p:nvPr/>
        </p:nvSpPr>
        <p:spPr>
          <a:xfrm>
            <a:off x="518397" y="234376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9" name="Text 6">
            <a:extLst>
              <a:ext uri="{FF2B5EF4-FFF2-40B4-BE49-F238E27FC236}">
                <a16:creationId xmlns:a16="http://schemas.microsoft.com/office/drawing/2014/main" id="{3790F486-5C7F-9F70-0E60-32B04C52FB31}"/>
              </a:ext>
            </a:extLst>
          </p:cNvPr>
          <p:cNvSpPr/>
          <p:nvPr/>
        </p:nvSpPr>
        <p:spPr>
          <a:xfrm>
            <a:off x="861297" y="2169118"/>
            <a:ext cx="3703320" cy="548640"/>
          </a:xfrm>
          <a:prstGeom prst="rect">
            <a:avLst/>
          </a:prstGeom>
          <a:noFill/>
          <a:ln/>
        </p:spPr>
        <p:txBody>
          <a:bodyPr wrap="square" rtlCol="0" anchor="ctr"/>
          <a:lstStyle/>
          <a:p>
            <a:pPr>
              <a:lnSpc>
                <a:spcPct val="110000"/>
              </a:lnSpc>
            </a:pPr>
            <a:r>
              <a:rPr lang="en-US" sz="1000"/>
              <a:t>Is each heading limited to a single, nameable topic?</a:t>
            </a:r>
          </a:p>
        </p:txBody>
      </p:sp>
      <p:sp>
        <p:nvSpPr>
          <p:cNvPr id="10" name="Shape 7">
            <a:extLst>
              <a:ext uri="{FF2B5EF4-FFF2-40B4-BE49-F238E27FC236}">
                <a16:creationId xmlns:a16="http://schemas.microsoft.com/office/drawing/2014/main" id="{63C1C75B-86CB-3A2E-F6A4-D7E1526F222B}"/>
              </a:ext>
            </a:extLst>
          </p:cNvPr>
          <p:cNvSpPr/>
          <p:nvPr/>
        </p:nvSpPr>
        <p:spPr>
          <a:xfrm>
            <a:off x="518397" y="2926927"/>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3" name="Text 8">
            <a:extLst>
              <a:ext uri="{FF2B5EF4-FFF2-40B4-BE49-F238E27FC236}">
                <a16:creationId xmlns:a16="http://schemas.microsoft.com/office/drawing/2014/main" id="{DF42DAB3-9AF0-FA9E-EE5A-7C33A11341DA}"/>
              </a:ext>
            </a:extLst>
          </p:cNvPr>
          <p:cNvSpPr/>
          <p:nvPr/>
        </p:nvSpPr>
        <p:spPr>
          <a:xfrm>
            <a:off x="861297" y="2752048"/>
            <a:ext cx="3703320" cy="548640"/>
          </a:xfrm>
          <a:prstGeom prst="rect">
            <a:avLst/>
          </a:prstGeom>
          <a:noFill/>
          <a:ln/>
        </p:spPr>
        <p:txBody>
          <a:bodyPr wrap="square" rtlCol="0" anchor="ctr"/>
          <a:lstStyle/>
          <a:p>
            <a:pPr>
              <a:lnSpc>
                <a:spcPct val="110000"/>
              </a:lnSpc>
            </a:pPr>
            <a:r>
              <a:rPr lang="en-US" sz="1000"/>
              <a:t>Are parallel specs presented as a table, not a paragraph?</a:t>
            </a:r>
          </a:p>
        </p:txBody>
      </p:sp>
      <p:sp>
        <p:nvSpPr>
          <p:cNvPr id="14" name="Shape 9">
            <a:extLst>
              <a:ext uri="{FF2B5EF4-FFF2-40B4-BE49-F238E27FC236}">
                <a16:creationId xmlns:a16="http://schemas.microsoft.com/office/drawing/2014/main" id="{B50FB172-4931-D3A4-F76A-2DED84ECA76F}"/>
              </a:ext>
            </a:extLst>
          </p:cNvPr>
          <p:cNvSpPr/>
          <p:nvPr/>
        </p:nvSpPr>
        <p:spPr>
          <a:xfrm>
            <a:off x="518397" y="348632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5" name="Text 10">
            <a:extLst>
              <a:ext uri="{FF2B5EF4-FFF2-40B4-BE49-F238E27FC236}">
                <a16:creationId xmlns:a16="http://schemas.microsoft.com/office/drawing/2014/main" id="{6C9DE8EB-D802-6FD2-BA69-32615A12F931}"/>
              </a:ext>
            </a:extLst>
          </p:cNvPr>
          <p:cNvSpPr/>
          <p:nvPr/>
        </p:nvSpPr>
        <p:spPr>
          <a:xfrm>
            <a:off x="861297" y="3334978"/>
            <a:ext cx="3703320" cy="548640"/>
          </a:xfrm>
          <a:prstGeom prst="rect">
            <a:avLst/>
          </a:prstGeom>
          <a:noFill/>
          <a:ln/>
        </p:spPr>
        <p:txBody>
          <a:bodyPr wrap="square" rtlCol="0" anchor="ctr"/>
          <a:lstStyle/>
          <a:p>
            <a:pPr>
              <a:lnSpc>
                <a:spcPct val="110000"/>
              </a:lnSpc>
            </a:pPr>
            <a:r>
              <a:rPr lang="en-US" sz="1000"/>
              <a:t>Does the PDF have a real text layer and tagged headings?</a:t>
            </a:r>
          </a:p>
        </p:txBody>
      </p:sp>
      <p:sp>
        <p:nvSpPr>
          <p:cNvPr id="17" name="Text 12">
            <a:extLst>
              <a:ext uri="{FF2B5EF4-FFF2-40B4-BE49-F238E27FC236}">
                <a16:creationId xmlns:a16="http://schemas.microsoft.com/office/drawing/2014/main" id="{B6C2956B-3EAF-A52A-FD68-8C8CBA8A62B8}"/>
              </a:ext>
            </a:extLst>
          </p:cNvPr>
          <p:cNvSpPr/>
          <p:nvPr/>
        </p:nvSpPr>
        <p:spPr>
          <a:xfrm>
            <a:off x="5044677" y="1565614"/>
            <a:ext cx="3703320" cy="548640"/>
          </a:xfrm>
          <a:prstGeom prst="rect">
            <a:avLst/>
          </a:prstGeom>
          <a:noFill/>
          <a:ln/>
        </p:spPr>
        <p:txBody>
          <a:bodyPr wrap="square" rtlCol="0" anchor="ctr"/>
          <a:lstStyle/>
          <a:p>
            <a:pPr>
              <a:lnSpc>
                <a:spcPct val="110000"/>
              </a:lnSpc>
            </a:pPr>
            <a:r>
              <a:rPr lang="en-US" sz="1000"/>
              <a:t>Are model codes paired with plain-language descriptions?</a:t>
            </a:r>
          </a:p>
        </p:txBody>
      </p:sp>
      <p:sp>
        <p:nvSpPr>
          <p:cNvPr id="18" name="Shape 13">
            <a:extLst>
              <a:ext uri="{FF2B5EF4-FFF2-40B4-BE49-F238E27FC236}">
                <a16:creationId xmlns:a16="http://schemas.microsoft.com/office/drawing/2014/main" id="{3633FD4E-1FA7-8918-E2C7-68F51DC4FF26}"/>
              </a:ext>
            </a:extLst>
          </p:cNvPr>
          <p:cNvSpPr/>
          <p:nvPr/>
        </p:nvSpPr>
        <p:spPr>
          <a:xfrm>
            <a:off x="4701777" y="1743922"/>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4" name="Shape 19">
            <a:extLst>
              <a:ext uri="{FF2B5EF4-FFF2-40B4-BE49-F238E27FC236}">
                <a16:creationId xmlns:a16="http://schemas.microsoft.com/office/drawing/2014/main" id="{8810F93C-FF2A-1F8E-0443-EF3AA4D9A67A}"/>
              </a:ext>
            </a:extLst>
          </p:cNvPr>
          <p:cNvSpPr/>
          <p:nvPr/>
        </p:nvSpPr>
        <p:spPr>
          <a:xfrm>
            <a:off x="4701777" y="234376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5" name="Text 20">
            <a:extLst>
              <a:ext uri="{FF2B5EF4-FFF2-40B4-BE49-F238E27FC236}">
                <a16:creationId xmlns:a16="http://schemas.microsoft.com/office/drawing/2014/main" id="{6711E87C-EEA0-1834-406E-520E0D52806C}"/>
              </a:ext>
            </a:extLst>
          </p:cNvPr>
          <p:cNvSpPr/>
          <p:nvPr/>
        </p:nvSpPr>
        <p:spPr>
          <a:xfrm>
            <a:off x="5044677" y="2186263"/>
            <a:ext cx="3703320" cy="548640"/>
          </a:xfrm>
          <a:prstGeom prst="rect">
            <a:avLst/>
          </a:prstGeom>
          <a:noFill/>
          <a:ln/>
        </p:spPr>
        <p:txBody>
          <a:bodyPr wrap="square" rtlCol="0" anchor="ctr"/>
          <a:lstStyle/>
          <a:p>
            <a:pPr>
              <a:lnSpc>
                <a:spcPct val="110000"/>
              </a:lnSpc>
            </a:pPr>
            <a:r>
              <a:rPr lang="en-US" sz="1000"/>
              <a:t>Are acronyms defined on first use?</a:t>
            </a:r>
          </a:p>
        </p:txBody>
      </p:sp>
      <p:sp>
        <p:nvSpPr>
          <p:cNvPr id="26" name="Shape 21">
            <a:extLst>
              <a:ext uri="{FF2B5EF4-FFF2-40B4-BE49-F238E27FC236}">
                <a16:creationId xmlns:a16="http://schemas.microsoft.com/office/drawing/2014/main" id="{4711A436-47C5-C076-CA0F-D40D7709A538}"/>
              </a:ext>
            </a:extLst>
          </p:cNvPr>
          <p:cNvSpPr/>
          <p:nvPr/>
        </p:nvSpPr>
        <p:spPr>
          <a:xfrm>
            <a:off x="4701777" y="2926927"/>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7" name="Text 22">
            <a:extLst>
              <a:ext uri="{FF2B5EF4-FFF2-40B4-BE49-F238E27FC236}">
                <a16:creationId xmlns:a16="http://schemas.microsoft.com/office/drawing/2014/main" id="{7207D66E-C9E3-77C7-933E-FBD54E9AFD58}"/>
              </a:ext>
            </a:extLst>
          </p:cNvPr>
          <p:cNvSpPr/>
          <p:nvPr/>
        </p:nvSpPr>
        <p:spPr>
          <a:xfrm>
            <a:off x="5044677" y="2769193"/>
            <a:ext cx="3703320" cy="548640"/>
          </a:xfrm>
          <a:prstGeom prst="rect">
            <a:avLst/>
          </a:prstGeom>
          <a:noFill/>
          <a:ln/>
        </p:spPr>
        <p:txBody>
          <a:bodyPr wrap="square" rtlCol="0" anchor="ctr"/>
          <a:lstStyle/>
          <a:p>
            <a:pPr>
              <a:lnSpc>
                <a:spcPct val="110000"/>
              </a:lnSpc>
            </a:pPr>
            <a:r>
              <a:rPr lang="en-US" sz="1000"/>
              <a:t>Does the document show a visible revision date and version?</a:t>
            </a:r>
          </a:p>
        </p:txBody>
      </p:sp>
      <p:sp>
        <p:nvSpPr>
          <p:cNvPr id="16" name="Shape 9">
            <a:extLst>
              <a:ext uri="{FF2B5EF4-FFF2-40B4-BE49-F238E27FC236}">
                <a16:creationId xmlns:a16="http://schemas.microsoft.com/office/drawing/2014/main" id="{BA0DE9C2-BEFF-9AA9-9C18-42A198522B68}"/>
              </a:ext>
            </a:extLst>
          </p:cNvPr>
          <p:cNvSpPr/>
          <p:nvPr/>
        </p:nvSpPr>
        <p:spPr>
          <a:xfrm>
            <a:off x="4701777" y="348559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9" name="Text 10">
            <a:extLst>
              <a:ext uri="{FF2B5EF4-FFF2-40B4-BE49-F238E27FC236}">
                <a16:creationId xmlns:a16="http://schemas.microsoft.com/office/drawing/2014/main" id="{10A7B033-7FB8-6AAD-B53F-863227E9ED9A}"/>
              </a:ext>
            </a:extLst>
          </p:cNvPr>
          <p:cNvSpPr/>
          <p:nvPr/>
        </p:nvSpPr>
        <p:spPr>
          <a:xfrm>
            <a:off x="5044677" y="3334248"/>
            <a:ext cx="3703320" cy="548640"/>
          </a:xfrm>
          <a:prstGeom prst="rect">
            <a:avLst/>
          </a:prstGeom>
          <a:noFill/>
          <a:ln/>
        </p:spPr>
        <p:txBody>
          <a:bodyPr wrap="square" rtlCol="0" anchor="ctr"/>
          <a:lstStyle/>
          <a:p>
            <a:pPr>
              <a:lnSpc>
                <a:spcPct val="110000"/>
              </a:lnSpc>
            </a:pPr>
            <a:r>
              <a:rPr lang="en-US" sz="1000"/>
              <a:t>Is there a changelog for what changed since the last version?</a:t>
            </a:r>
          </a:p>
        </p:txBody>
      </p:sp>
      <p:sp>
        <p:nvSpPr>
          <p:cNvPr id="20" name="Shape 9">
            <a:extLst>
              <a:ext uri="{FF2B5EF4-FFF2-40B4-BE49-F238E27FC236}">
                <a16:creationId xmlns:a16="http://schemas.microsoft.com/office/drawing/2014/main" id="{434EC104-848B-5FF1-241B-98C11F02971A}"/>
              </a:ext>
            </a:extLst>
          </p:cNvPr>
          <p:cNvSpPr/>
          <p:nvPr/>
        </p:nvSpPr>
        <p:spPr>
          <a:xfrm>
            <a:off x="518397" y="397980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1" name="Text 10">
            <a:extLst>
              <a:ext uri="{FF2B5EF4-FFF2-40B4-BE49-F238E27FC236}">
                <a16:creationId xmlns:a16="http://schemas.microsoft.com/office/drawing/2014/main" id="{EA7E1293-9236-D001-DABB-2896D7735FA3}"/>
              </a:ext>
            </a:extLst>
          </p:cNvPr>
          <p:cNvSpPr/>
          <p:nvPr/>
        </p:nvSpPr>
        <p:spPr>
          <a:xfrm>
            <a:off x="861297" y="3828460"/>
            <a:ext cx="3703320" cy="548640"/>
          </a:xfrm>
          <a:prstGeom prst="rect">
            <a:avLst/>
          </a:prstGeom>
          <a:noFill/>
          <a:ln/>
        </p:spPr>
        <p:txBody>
          <a:bodyPr wrap="square" rtlCol="0" anchor="ctr"/>
          <a:lstStyle/>
          <a:p>
            <a:pPr>
              <a:lnSpc>
                <a:spcPct val="110000"/>
              </a:lnSpc>
            </a:pPr>
            <a:r>
              <a:rPr lang="en-US" sz="1000"/>
              <a:t>Is the file named and titled descriptively (not “Document1”)?</a:t>
            </a:r>
          </a:p>
        </p:txBody>
      </p:sp>
      <p:sp>
        <p:nvSpPr>
          <p:cNvPr id="22" name="Shape 9">
            <a:extLst>
              <a:ext uri="{FF2B5EF4-FFF2-40B4-BE49-F238E27FC236}">
                <a16:creationId xmlns:a16="http://schemas.microsoft.com/office/drawing/2014/main" id="{5C86FF4B-C797-CFDC-63D8-FF475234FDD4}"/>
              </a:ext>
            </a:extLst>
          </p:cNvPr>
          <p:cNvSpPr/>
          <p:nvPr/>
        </p:nvSpPr>
        <p:spPr>
          <a:xfrm>
            <a:off x="4701777" y="397907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3" name="Text 10">
            <a:extLst>
              <a:ext uri="{FF2B5EF4-FFF2-40B4-BE49-F238E27FC236}">
                <a16:creationId xmlns:a16="http://schemas.microsoft.com/office/drawing/2014/main" id="{4D220C56-A69B-61E5-635B-98711E4065C3}"/>
              </a:ext>
            </a:extLst>
          </p:cNvPr>
          <p:cNvSpPr/>
          <p:nvPr/>
        </p:nvSpPr>
        <p:spPr>
          <a:xfrm>
            <a:off x="5044677" y="3827730"/>
            <a:ext cx="3703320" cy="548640"/>
          </a:xfrm>
          <a:prstGeom prst="rect">
            <a:avLst/>
          </a:prstGeom>
          <a:noFill/>
          <a:ln/>
        </p:spPr>
        <p:txBody>
          <a:bodyPr wrap="square" rtlCol="0" anchor="ctr"/>
          <a:lstStyle/>
          <a:p>
            <a:pPr>
              <a:lnSpc>
                <a:spcPct val="110000"/>
              </a:lnSpc>
            </a:pPr>
            <a:r>
              <a:rPr lang="en-US" sz="1000"/>
              <a:t>Have superseded versions been retired or clearly marked?</a:t>
            </a:r>
          </a:p>
        </p:txBody>
      </p:sp>
    </p:spTree>
    <p:extLst>
      <p:ext uri="{BB962C8B-B14F-4D97-AF65-F5344CB8AC3E}">
        <p14:creationId xmlns:p14="http://schemas.microsoft.com/office/powerpoint/2010/main" val="15138739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F8E4-4100-5764-CD46-5175A310313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631FBEF-D919-2B75-10C6-342D65699240}"/>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6" name="Title 5">
            <a:extLst>
              <a:ext uri="{FF2B5EF4-FFF2-40B4-BE49-F238E27FC236}">
                <a16:creationId xmlns:a16="http://schemas.microsoft.com/office/drawing/2014/main" id="{1FEACD44-8CD5-8186-9941-D82B32DA0F85}"/>
              </a:ext>
            </a:extLst>
          </p:cNvPr>
          <p:cNvSpPr>
            <a:spLocks noGrp="1"/>
          </p:cNvSpPr>
          <p:nvPr>
            <p:ph type="title"/>
          </p:nvPr>
        </p:nvSpPr>
        <p:spPr>
          <a:xfrm>
            <a:off x="1191488" y="1341120"/>
            <a:ext cx="6352312" cy="2520255"/>
          </a:xfrm>
        </p:spPr>
        <p:txBody>
          <a:bodyPr/>
          <a:lstStyle/>
          <a:p>
            <a:r>
              <a:rPr lang="en-US"/>
              <a:t>If an AI can't read our expertise, it doesn't count. </a:t>
            </a:r>
            <a:r>
              <a:rPr lang="pl-PL"/>
              <a:t>W</a:t>
            </a:r>
            <a:r>
              <a:rPr lang="en-US"/>
              <a:t>e need to </a:t>
            </a:r>
            <a:r>
              <a:rPr lang="pl-PL"/>
              <a:t>provide</a:t>
            </a:r>
            <a:r>
              <a:rPr lang="en-US"/>
              <a:t> the evidence, not just state the facts.</a:t>
            </a:r>
            <a:endParaRPr lang="pl-PL"/>
          </a:p>
        </p:txBody>
      </p:sp>
    </p:spTree>
    <p:extLst>
      <p:ext uri="{BB962C8B-B14F-4D97-AF65-F5344CB8AC3E}">
        <p14:creationId xmlns:p14="http://schemas.microsoft.com/office/powerpoint/2010/main" val="14311661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E4948-7405-52B2-15D1-501D4436332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B41E12A-D48F-FA97-07FA-7E191D9AAC53}"/>
              </a:ext>
            </a:extLst>
          </p:cNvPr>
          <p:cNvSpPr/>
          <p:nvPr/>
        </p:nvSpPr>
        <p:spPr>
          <a:xfrm>
            <a:off x="742950" y="1820791"/>
            <a:ext cx="7659831" cy="553998"/>
          </a:xfrm>
          <a:prstGeom prst="rect">
            <a:avLst/>
          </a:prstGeom>
          <a:noFill/>
          <a:ln/>
        </p:spPr>
        <p:txBody>
          <a:bodyPr wrap="square" lIns="0" tIns="0" rIns="0" bIns="0" rtlCol="0" anchor="t">
            <a:spAutoFit/>
          </a:bodyPr>
          <a:lstStyle/>
          <a:p>
            <a:r>
              <a:rPr lang="en-US" sz="3600">
                <a:solidFill>
                  <a:schemeClr val="accent5"/>
                </a:solidFill>
              </a:rPr>
              <a:t>Chapter 8: GEO Optimized Blogs</a:t>
            </a:r>
          </a:p>
        </p:txBody>
      </p:sp>
      <p:sp>
        <p:nvSpPr>
          <p:cNvPr id="5" name="Text 2">
            <a:extLst>
              <a:ext uri="{FF2B5EF4-FFF2-40B4-BE49-F238E27FC236}">
                <a16:creationId xmlns:a16="http://schemas.microsoft.com/office/drawing/2014/main" id="{2AAE4B6B-F110-AD93-A8C4-DD2E5D779AE9}"/>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F62ED69F-4FF6-1312-648C-8559095FF29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A97E1423-FD07-F76D-37B6-0C05344BFF4C}"/>
              </a:ext>
            </a:extLst>
          </p:cNvPr>
          <p:cNvSpPr>
            <a:spLocks noGrp="1"/>
          </p:cNvSpPr>
          <p:nvPr>
            <p:ph type="body" sz="quarter" idx="4294967295"/>
          </p:nvPr>
        </p:nvSpPr>
        <p:spPr>
          <a:xfrm>
            <a:off x="742950" y="4108450"/>
            <a:ext cx="3371850" cy="215900"/>
          </a:xfrm>
        </p:spPr>
        <p:txBody>
          <a:bodyPr/>
          <a:lstStyle/>
          <a:p>
            <a:r>
              <a:rPr lang="pl-PL">
                <a:solidFill>
                  <a:schemeClr val="accent5"/>
                </a:solidFill>
              </a:rPr>
              <a:t>Jakub Falkowski</a:t>
            </a:r>
          </a:p>
        </p:txBody>
      </p:sp>
    </p:spTree>
    <p:extLst>
      <p:ext uri="{BB962C8B-B14F-4D97-AF65-F5344CB8AC3E}">
        <p14:creationId xmlns:p14="http://schemas.microsoft.com/office/powerpoint/2010/main" val="10698498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0B1F5-C238-4DAD-3150-00AEE7A75DC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0BB54AB5-E91D-60C5-E322-EF02314683AD}"/>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CC89307A-70CA-B8E1-2DB0-745E84A03F1D}"/>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Blogs – a way to show context</a:t>
            </a:r>
            <a:endParaRPr lang="en-US" sz="2200">
              <a:solidFill>
                <a:schemeClr val="accent5"/>
              </a:solidFill>
              <a:cs typeface="Arial"/>
            </a:endParaRPr>
          </a:p>
        </p:txBody>
      </p:sp>
      <p:sp>
        <p:nvSpPr>
          <p:cNvPr id="12" name="Text 2">
            <a:extLst>
              <a:ext uri="{FF2B5EF4-FFF2-40B4-BE49-F238E27FC236}">
                <a16:creationId xmlns:a16="http://schemas.microsoft.com/office/drawing/2014/main" id="{7AD99597-FAE8-1470-4CBF-59C9242AC6A4}"/>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Blogs carry the perspective and context that </a:t>
            </a:r>
            <a:r>
              <a:rPr lang="pl-PL" sz="1100">
                <a:solidFill>
                  <a:schemeClr val="accent5"/>
                </a:solidFill>
                <a:cs typeface="Arial"/>
              </a:rPr>
              <a:t>technical documentation can’t.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0C5AABA6-7BD6-DB86-F144-A5AF64EC350D}"/>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AE97844C-7FC1-A3F2-E63C-162DF226D8FE}"/>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78</a:t>
            </a:fld>
            <a:endParaRPr lang="en-US">
              <a:solidFill>
                <a:srgbClr val="3DCD58"/>
              </a:solidFill>
            </a:endParaRPr>
          </a:p>
        </p:txBody>
      </p:sp>
      <p:sp>
        <p:nvSpPr>
          <p:cNvPr id="2" name="TextBox 1">
            <a:extLst>
              <a:ext uri="{FF2B5EF4-FFF2-40B4-BE49-F238E27FC236}">
                <a16:creationId xmlns:a16="http://schemas.microsoft.com/office/drawing/2014/main" id="{99A608CA-0B84-5418-A375-4C8E49F9101A}"/>
              </a:ext>
            </a:extLst>
          </p:cNvPr>
          <p:cNvSpPr txBox="1"/>
          <p:nvPr/>
        </p:nvSpPr>
        <p:spPr>
          <a:xfrm>
            <a:off x="4287289" y="4101797"/>
            <a:ext cx="4495802" cy="569387"/>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a:t>
            </a:r>
            <a:r>
              <a:rPr lang="en-US" sz="1100" b="1">
                <a:solidFill>
                  <a:schemeClr val="accent5"/>
                </a:solidFill>
              </a:rPr>
              <a:t>:  </a:t>
            </a:r>
            <a:r>
              <a:rPr lang="pl-PL" sz="1000">
                <a:solidFill>
                  <a:schemeClr val="accent5"/>
                </a:solidFill>
              </a:rPr>
              <a:t>blogs can let us show the context and perspective that can’t always be shown. It is very important to complement those elements with blog content.</a:t>
            </a:r>
            <a:endParaRPr lang="en-US" sz="1100">
              <a:solidFill>
                <a:schemeClr val="accent5"/>
              </a:solidFill>
            </a:endParaRPr>
          </a:p>
        </p:txBody>
      </p:sp>
      <p:graphicFrame>
        <p:nvGraphicFramePr>
          <p:cNvPr id="3" name="Table 2">
            <a:extLst>
              <a:ext uri="{FF2B5EF4-FFF2-40B4-BE49-F238E27FC236}">
                <a16:creationId xmlns:a16="http://schemas.microsoft.com/office/drawing/2014/main" id="{108F8CDE-BCC6-D2ED-7B44-B1087D55266D}"/>
              </a:ext>
            </a:extLst>
          </p:cNvPr>
          <p:cNvGraphicFramePr>
            <a:graphicFrameLocks noGrp="1"/>
          </p:cNvGraphicFramePr>
          <p:nvPr>
            <p:extLst>
              <p:ext uri="{D42A27DB-BD31-4B8C-83A1-F6EECF244321}">
                <p14:modId xmlns:p14="http://schemas.microsoft.com/office/powerpoint/2010/main" val="3679214051"/>
              </p:ext>
            </p:extLst>
          </p:nvPr>
        </p:nvGraphicFramePr>
        <p:xfrm>
          <a:off x="360909" y="1144523"/>
          <a:ext cx="3713711" cy="3526661"/>
        </p:xfrm>
        <a:graphic>
          <a:graphicData uri="http://schemas.openxmlformats.org/drawingml/2006/table">
            <a:tbl>
              <a:tblPr firstRow="1" bandRow="1">
                <a:tableStyleId>{5C22544A-7EE6-4342-B048-85BDC9FD1C3A}</a:tableStyleId>
              </a:tblPr>
              <a:tblGrid>
                <a:gridCol w="3713711">
                  <a:extLst>
                    <a:ext uri="{9D8B030D-6E8A-4147-A177-3AD203B41FA5}">
                      <a16:colId xmlns:a16="http://schemas.microsoft.com/office/drawing/2014/main" val="896702349"/>
                    </a:ext>
                  </a:extLst>
                </a:gridCol>
              </a:tblGrid>
              <a:tr h="328306">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198355">
                <a:tc>
                  <a:txBody>
                    <a:bodyPr/>
                    <a:lstStyle/>
                    <a:p>
                      <a:pPr>
                        <a:lnSpc>
                          <a:spcPct val="150000"/>
                        </a:lnSpc>
                        <a:spcBef>
                          <a:spcPts val="0"/>
                        </a:spcBef>
                        <a:spcAft>
                          <a:spcPts val="0"/>
                        </a:spcAft>
                        <a:buClr>
                          <a:schemeClr val="tx2"/>
                        </a:buClr>
                        <a:defRPr/>
                      </a:pPr>
                      <a:r>
                        <a:rPr lang="en-US" sz="1000" b="1"/>
                        <a:t>Blog posts often </a:t>
                      </a:r>
                      <a:r>
                        <a:rPr lang="pl-PL" sz="1000" b="1"/>
                        <a:t>explain</a:t>
                      </a:r>
                      <a:r>
                        <a:rPr lang="en-US" sz="1000" b="1"/>
                        <a:t> the “why” behind a trend </a:t>
                      </a:r>
                      <a:r>
                        <a:rPr lang="pl-PL" sz="1000" b="1"/>
                        <a:t>-</a:t>
                      </a:r>
                      <a:r>
                        <a:rPr lang="en-US" sz="1000" b="1"/>
                        <a:t> not just </a:t>
                      </a:r>
                      <a:r>
                        <a:rPr lang="pl-PL" sz="1000" b="1"/>
                        <a:t>our offer.</a:t>
                      </a:r>
                      <a:endParaRPr lang="en-US" sz="1000" b="1"/>
                    </a:p>
                    <a:p>
                      <a:pPr>
                        <a:lnSpc>
                          <a:spcPct val="150000"/>
                        </a:lnSpc>
                        <a:spcBef>
                          <a:spcPts val="0"/>
                        </a:spcBef>
                        <a:spcAft>
                          <a:spcPts val="0"/>
                        </a:spcAft>
                        <a:buClr>
                          <a:schemeClr val="tx2"/>
                        </a:buClr>
                        <a:defRPr/>
                      </a:pPr>
                      <a:endParaRPr lang="pl-PL" sz="1000" b="1"/>
                    </a:p>
                    <a:p>
                      <a:pPr>
                        <a:lnSpc>
                          <a:spcPct val="150000"/>
                        </a:lnSpc>
                        <a:spcBef>
                          <a:spcPts val="0"/>
                        </a:spcBef>
                        <a:spcAft>
                          <a:spcPts val="0"/>
                        </a:spcAft>
                        <a:buClr>
                          <a:schemeClr val="tx2"/>
                        </a:buClr>
                        <a:defRPr/>
                      </a:pPr>
                      <a:r>
                        <a:rPr lang="en-US" sz="1000" b="0"/>
                        <a:t>AI engines frequently pull from thought-leadership content to answer broad, exploratory prompts (“why does X matter,” “what's changing in Y”) where no single product page fits.</a:t>
                      </a:r>
                    </a:p>
                    <a:p>
                      <a:pPr>
                        <a:lnSpc>
                          <a:spcPct val="150000"/>
                        </a:lnSpc>
                        <a:spcBef>
                          <a:spcPts val="0"/>
                        </a:spcBef>
                        <a:spcAft>
                          <a:spcPts val="0"/>
                        </a:spcAft>
                        <a:buClr>
                          <a:schemeClr val="tx2"/>
                        </a:buClr>
                        <a:defRPr/>
                      </a:pPr>
                      <a:endParaRPr lang="pl-PL" sz="1000" b="1"/>
                    </a:p>
                    <a:p>
                      <a:pPr>
                        <a:lnSpc>
                          <a:spcPct val="150000"/>
                        </a:lnSpc>
                        <a:spcBef>
                          <a:spcPts val="0"/>
                        </a:spcBef>
                        <a:spcAft>
                          <a:spcPts val="0"/>
                        </a:spcAft>
                        <a:buClr>
                          <a:schemeClr val="tx2"/>
                        </a:buClr>
                        <a:defRPr/>
                      </a:pPr>
                      <a:r>
                        <a:rPr lang="en-US" sz="1000" b="0"/>
                        <a:t>But blogs are also where marketing voice, buried insights, and vague claims </a:t>
                      </a:r>
                      <a:r>
                        <a:rPr lang="pl-PL" sz="1000" b="0"/>
                        <a:t>slip</a:t>
                      </a:r>
                      <a:r>
                        <a:rPr lang="en-US" sz="1000" b="0"/>
                        <a:t> in most </a:t>
                      </a:r>
                      <a:r>
                        <a:rPr lang="pl-PL" sz="1000" b="0"/>
                        <a:t>-</a:t>
                      </a:r>
                      <a:r>
                        <a:rPr lang="en-US" sz="1000" b="0"/>
                        <a:t> exactly what makes content hard for a model to extract and trust.</a:t>
                      </a:r>
                      <a:r>
                        <a:rPr lang="pl-PL" sz="1000" b="0"/>
                        <a:t> That is why, writing blogs properly is challenging yet </a:t>
                      </a:r>
                      <a:r>
                        <a:rPr lang="en-AU" sz="1000" b="0"/>
                        <a:t>a </a:t>
                      </a:r>
                      <a:r>
                        <a:rPr lang="pl-PL" sz="1000" b="0"/>
                        <a:t>very important task.</a:t>
                      </a:r>
                      <a:endParaRPr lang="en-US" sz="10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7" name="Table 6">
            <a:extLst>
              <a:ext uri="{FF2B5EF4-FFF2-40B4-BE49-F238E27FC236}">
                <a16:creationId xmlns:a16="http://schemas.microsoft.com/office/drawing/2014/main" id="{1D6CC5EE-D688-418E-831E-6C401E37A2B5}"/>
              </a:ext>
            </a:extLst>
          </p:cNvPr>
          <p:cNvGraphicFramePr>
            <a:graphicFrameLocks noGrp="1"/>
          </p:cNvGraphicFramePr>
          <p:nvPr>
            <p:extLst>
              <p:ext uri="{D42A27DB-BD31-4B8C-83A1-F6EECF244321}">
                <p14:modId xmlns:p14="http://schemas.microsoft.com/office/powerpoint/2010/main" val="2627590209"/>
              </p:ext>
            </p:extLst>
          </p:nvPr>
        </p:nvGraphicFramePr>
        <p:xfrm>
          <a:off x="5354091" y="1144523"/>
          <a:ext cx="3429000" cy="2864013"/>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082219581"/>
                    </a:ext>
                  </a:extLst>
                </a:gridCol>
              </a:tblGrid>
              <a:tr h="31668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Structure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424555">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Don't bury the </a:t>
                      </a:r>
                      <a:r>
                        <a:rPr kumimoji="0" lang="pl-PL" sz="1000" b="0" i="0" u="none" strike="noStrike" kern="1200" cap="none" spc="0" normalizeH="0" baseline="0" noProof="0">
                          <a:ln>
                            <a:noFill/>
                          </a:ln>
                          <a:solidFill>
                            <a:srgbClr val="0A2F24"/>
                          </a:solidFill>
                          <a:effectLst/>
                          <a:uLnTx/>
                          <a:uFillTx/>
                          <a:latin typeface="+mn-lt"/>
                          <a:ea typeface="+mn-ea"/>
                          <a:cs typeface="+mn-cs"/>
                        </a:rPr>
                        <a:t>main message</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Write scannable </a:t>
                      </a:r>
                      <a:r>
                        <a:rPr kumimoji="0" lang="pl-PL" sz="1000" b="0" i="0" u="none" strike="noStrike" kern="1200" cap="none" spc="0" normalizeH="0" baseline="0" noProof="0">
                          <a:ln>
                            <a:noFill/>
                          </a:ln>
                          <a:solidFill>
                            <a:srgbClr val="0A2F24"/>
                          </a:solidFill>
                          <a:effectLst/>
                          <a:uLnTx/>
                          <a:uFillTx/>
                          <a:latin typeface="+mn-lt"/>
                          <a:ea typeface="+mn-ea"/>
                          <a:cs typeface="+mn-cs"/>
                        </a:rPr>
                        <a:t>headers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Add a takeaway block</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Back claims with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Name entities clearly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800378"/>
                  </a:ext>
                </a:extLst>
              </a:tr>
              <a:tr h="42455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Refresh evergreen blogs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738275"/>
                  </a:ext>
                </a:extLst>
              </a:tr>
            </a:tbl>
          </a:graphicData>
        </a:graphic>
      </p:graphicFrame>
    </p:spTree>
    <p:extLst>
      <p:ext uri="{BB962C8B-B14F-4D97-AF65-F5344CB8AC3E}">
        <p14:creationId xmlns:p14="http://schemas.microsoft.com/office/powerpoint/2010/main" val="11583747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C2C3-3F78-BB09-BDE1-2AE753B3DF47}"/>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0553858E-B4F5-1DD3-5498-84B49E5491D1}"/>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495D1E3D-7FEB-5265-D45B-C1B3DE83BF17}"/>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Lead with the answer, not the </a:t>
            </a:r>
            <a:r>
              <a:rPr lang="pl-PL" sz="2200">
                <a:solidFill>
                  <a:schemeClr val="accent5"/>
                </a:solidFill>
                <a:cs typeface="Arial"/>
              </a:rPr>
              <a:t>context</a:t>
            </a:r>
            <a:endParaRPr lang="en-US" sz="2200">
              <a:solidFill>
                <a:schemeClr val="accent5"/>
              </a:solidFill>
              <a:cs typeface="Arial"/>
            </a:endParaRPr>
          </a:p>
        </p:txBody>
      </p:sp>
      <p:sp>
        <p:nvSpPr>
          <p:cNvPr id="12" name="Text 2">
            <a:extLst>
              <a:ext uri="{FF2B5EF4-FFF2-40B4-BE49-F238E27FC236}">
                <a16:creationId xmlns:a16="http://schemas.microsoft.com/office/drawing/2014/main" id="{11FAAEF5-3955-FE8D-7B85-E45B2BEACA70}"/>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The first sentence of every section should be the fact a reader (</a:t>
            </a:r>
            <a:r>
              <a:rPr lang="pl-PL" sz="1100">
                <a:solidFill>
                  <a:schemeClr val="accent5"/>
                </a:solidFill>
                <a:cs typeface="Arial"/>
              </a:rPr>
              <a:t>including AI</a:t>
            </a:r>
            <a:r>
              <a:rPr lang="en-US" sz="1100">
                <a:solidFill>
                  <a:schemeClr val="accent5"/>
                </a:solidFill>
                <a:cs typeface="Arial"/>
              </a:rPr>
              <a:t>) </a:t>
            </a:r>
            <a:r>
              <a:rPr lang="pl-PL" sz="1100">
                <a:solidFill>
                  <a:schemeClr val="accent5"/>
                </a:solidFill>
                <a:cs typeface="Arial"/>
              </a:rPr>
              <a:t>potentially </a:t>
            </a:r>
            <a:r>
              <a:rPr lang="en-US" sz="1100">
                <a:solidFill>
                  <a:schemeClr val="accent5"/>
                </a:solidFill>
                <a:cs typeface="Arial"/>
              </a:rPr>
              <a:t>came for</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D2E1E9B3-19EB-3E6C-CCFC-5A59161817CD}"/>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84BC8E7C-89E6-32BD-2470-305E70505594}"/>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79</a:t>
            </a:fld>
            <a:endParaRPr lang="en-US">
              <a:solidFill>
                <a:srgbClr val="3DCD58"/>
              </a:solidFill>
            </a:endParaRPr>
          </a:p>
        </p:txBody>
      </p:sp>
      <p:graphicFrame>
        <p:nvGraphicFramePr>
          <p:cNvPr id="3" name="Table 2">
            <a:extLst>
              <a:ext uri="{FF2B5EF4-FFF2-40B4-BE49-F238E27FC236}">
                <a16:creationId xmlns:a16="http://schemas.microsoft.com/office/drawing/2014/main" id="{F6420B77-85C8-CEE8-9C3D-8AA9B6A79726}"/>
              </a:ext>
            </a:extLst>
          </p:cNvPr>
          <p:cNvGraphicFramePr>
            <a:graphicFrameLocks noGrp="1"/>
          </p:cNvGraphicFramePr>
          <p:nvPr>
            <p:extLst>
              <p:ext uri="{D42A27DB-BD31-4B8C-83A1-F6EECF244321}">
                <p14:modId xmlns:p14="http://schemas.microsoft.com/office/powerpoint/2010/main" val="4183383102"/>
              </p:ext>
            </p:extLst>
          </p:nvPr>
        </p:nvGraphicFramePr>
        <p:xfrm>
          <a:off x="4820299" y="1307685"/>
          <a:ext cx="3376598" cy="1370185"/>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insight burried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“As industries around the world continue to navigate an increasingly complex energy landscape, organizations are being asked to rethink long-held assumptions about how power is generated, distributed, and consumed across their operations.”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DB8EF452-F948-2378-A2FE-87E996718D49}"/>
              </a:ext>
            </a:extLst>
          </p:cNvPr>
          <p:cNvGraphicFramePr>
            <a:graphicFrameLocks noGrp="1"/>
          </p:cNvGraphicFramePr>
          <p:nvPr>
            <p:extLst>
              <p:ext uri="{D42A27DB-BD31-4B8C-83A1-F6EECF244321}">
                <p14:modId xmlns:p14="http://schemas.microsoft.com/office/powerpoint/2010/main" val="2356611271"/>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insight first</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“On-site microgrids can cut a facility's grid-outage exposure by running critical loads independently for hours at a time. Here's what that shift actually requires in practice.”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E02DF5D3-9F04-8FC9-A9B7-E85B8C35F99D}"/>
              </a:ext>
            </a:extLst>
          </p:cNvPr>
          <p:cNvSpPr txBox="1"/>
          <p:nvPr/>
        </p:nvSpPr>
        <p:spPr>
          <a:xfrm>
            <a:off x="947103" y="1307683"/>
            <a:ext cx="3181551" cy="2916936"/>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State the insight in paragraph one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Give the reader (</a:t>
            </a:r>
            <a:r>
              <a:rPr lang="pl-PL" sz="1000"/>
              <a:t>human and AI alike</a:t>
            </a:r>
            <a:r>
              <a:rPr lang="en-US" sz="1000"/>
              <a:t>) the main point before any scene-setting or industry framing.</a:t>
            </a:r>
          </a:p>
          <a:p>
            <a:pPr lvl="0">
              <a:buClr>
                <a:srgbClr val="C00000"/>
              </a:buClr>
              <a:defRPr/>
            </a:pPr>
            <a:endParaRPr lang="pl-PL" sz="1000"/>
          </a:p>
          <a:p>
            <a:pPr lvl="0">
              <a:buClr>
                <a:schemeClr val="accent5"/>
              </a:buClr>
              <a:defRPr/>
            </a:pPr>
            <a:r>
              <a:rPr lang="pl-PL" sz="1050" b="1"/>
              <a:t>C</a:t>
            </a:r>
            <a:r>
              <a:rPr lang="en-US" sz="1050" b="1" err="1"/>
              <a:t>ontext</a:t>
            </a:r>
            <a:r>
              <a:rPr lang="en-US" sz="1050" b="1"/>
              <a:t> </a:t>
            </a:r>
            <a:r>
              <a:rPr lang="pl-PL" sz="1050" b="1"/>
              <a:t>should follow the insight</a:t>
            </a:r>
            <a:endParaRPr lang="en-US" sz="1050" b="1"/>
          </a:p>
          <a:p>
            <a:pPr lvl="0">
              <a:buClr>
                <a:srgbClr val="C00000"/>
              </a:buClr>
              <a:defRPr/>
            </a:pPr>
            <a:endParaRPr lang="pl-PL" sz="1000"/>
          </a:p>
          <a:p>
            <a:pPr lvl="0">
              <a:buClr>
                <a:srgbClr val="C00000"/>
              </a:buClr>
              <a:defRPr/>
            </a:pPr>
            <a:r>
              <a:rPr lang="pl-PL" sz="1000"/>
              <a:t>Provide the b</a:t>
            </a:r>
            <a:r>
              <a:rPr lang="en-US" sz="1000" err="1"/>
              <a:t>ackground</a:t>
            </a:r>
            <a:r>
              <a:rPr lang="en-US" sz="1000"/>
              <a:t> on why the topic matters can follow the insight </a:t>
            </a:r>
            <a:r>
              <a:rPr lang="pl-PL" sz="1000"/>
              <a:t>-</a:t>
            </a:r>
            <a:r>
              <a:rPr lang="en-US" sz="1000"/>
              <a:t> never precede it.</a:t>
            </a:r>
          </a:p>
          <a:p>
            <a:pPr lvl="0">
              <a:buClr>
                <a:srgbClr val="C00000"/>
              </a:buClr>
              <a:defRPr/>
            </a:pPr>
            <a:endParaRPr lang="pl-PL" sz="1000"/>
          </a:p>
          <a:p>
            <a:pPr lvl="0">
              <a:buClr>
                <a:schemeClr val="accent5"/>
              </a:buClr>
              <a:defRPr/>
            </a:pPr>
            <a:r>
              <a:rPr lang="en-US" sz="1050" b="1"/>
              <a:t>Treat the intro as a summary</a:t>
            </a:r>
          </a:p>
          <a:p>
            <a:pPr lvl="0">
              <a:buClr>
                <a:srgbClr val="C00000"/>
              </a:buClr>
              <a:defRPr/>
            </a:pPr>
            <a:endParaRPr lang="pl-PL" sz="1000"/>
          </a:p>
          <a:p>
            <a:pPr lvl="0">
              <a:buClr>
                <a:srgbClr val="C00000"/>
              </a:buClr>
              <a:defRPr/>
            </a:pPr>
            <a:r>
              <a:rPr lang="en-US" sz="1000"/>
              <a:t>Write the opening paragraph as if it might be the only part quoted — because it often is.</a:t>
            </a:r>
          </a:p>
        </p:txBody>
      </p:sp>
    </p:spTree>
    <p:extLst>
      <p:ext uri="{BB962C8B-B14F-4D97-AF65-F5344CB8AC3E}">
        <p14:creationId xmlns:p14="http://schemas.microsoft.com/office/powerpoint/2010/main" val="39550468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1283-C320-D82E-9833-BCEB5FC743BE}"/>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1E35C1CA-0E76-C98E-0F04-EAB0458BB38D}"/>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75BAC9F0-160F-FA98-7A1C-DB08A34E69A2}"/>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Write subheadings a model can quote out of context</a:t>
            </a:r>
          </a:p>
        </p:txBody>
      </p:sp>
      <p:sp>
        <p:nvSpPr>
          <p:cNvPr id="12" name="Text 2">
            <a:extLst>
              <a:ext uri="{FF2B5EF4-FFF2-40B4-BE49-F238E27FC236}">
                <a16:creationId xmlns:a16="http://schemas.microsoft.com/office/drawing/2014/main" id="{BB1133C4-2E48-4C54-B362-0A5467BC0984}"/>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Each H2/H3 should name one idea clearly enough to stand alone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28FC95FE-5067-EFC5-D026-9D8905A9FE5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7105BD1-9A27-F5A3-E9DE-998E4C30F2CF}"/>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80</a:t>
            </a:fld>
            <a:endParaRPr lang="en-US">
              <a:solidFill>
                <a:srgbClr val="3DCD58"/>
              </a:solidFill>
            </a:endParaRPr>
          </a:p>
        </p:txBody>
      </p:sp>
      <p:graphicFrame>
        <p:nvGraphicFramePr>
          <p:cNvPr id="3" name="Table 2">
            <a:extLst>
              <a:ext uri="{FF2B5EF4-FFF2-40B4-BE49-F238E27FC236}">
                <a16:creationId xmlns:a16="http://schemas.microsoft.com/office/drawing/2014/main" id="{8AD0D155-B47A-098C-D8A3-960DA7F5FEF9}"/>
              </a:ext>
            </a:extLst>
          </p:cNvPr>
          <p:cNvGraphicFramePr>
            <a:graphicFrameLocks noGrp="1"/>
          </p:cNvGraphicFramePr>
          <p:nvPr>
            <p:extLst>
              <p:ext uri="{D42A27DB-BD31-4B8C-83A1-F6EECF244321}">
                <p14:modId xmlns:p14="http://schemas.microsoft.com/office/powerpoint/2010/main" val="3123339146"/>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vague, clever headers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“The Power of Change”</a:t>
                      </a:r>
                    </a:p>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“A New Era Begins”</a:t>
                      </a:r>
                    </a:p>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“What's Next?”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75FEDF34-5344-C8E5-03CD-DB1201102969}"/>
              </a:ext>
            </a:extLst>
          </p:cNvPr>
          <p:cNvGraphicFramePr>
            <a:graphicFrameLocks noGrp="1"/>
          </p:cNvGraphicFramePr>
          <p:nvPr>
            <p:extLst>
              <p:ext uri="{D42A27DB-BD31-4B8C-83A1-F6EECF244321}">
                <p14:modId xmlns:p14="http://schemas.microsoft.com/office/powerpoint/2010/main" val="2328630217"/>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descriptive headers</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“Why Grid Congestion Is Getting Worse”</a:t>
                      </a:r>
                    </a:p>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“How Microgrids Reduce Outage Risk”</a:t>
                      </a:r>
                    </a:p>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“What It Costs to Get Started”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4CD42DC9-3E9A-77A3-375D-835C58ED5AE2}"/>
              </a:ext>
            </a:extLst>
          </p:cNvPr>
          <p:cNvSpPr txBox="1"/>
          <p:nvPr/>
        </p:nvSpPr>
        <p:spPr>
          <a:xfrm>
            <a:off x="947103" y="1307685"/>
            <a:ext cx="3181551" cy="2916936"/>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One idea per subheading</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If a subhead covers two topics, split it — each heading should map to a single takeaway.</a:t>
            </a:r>
          </a:p>
          <a:p>
            <a:pPr lvl="0">
              <a:buClr>
                <a:srgbClr val="C00000"/>
              </a:buClr>
              <a:defRPr/>
            </a:pPr>
            <a:endParaRPr lang="pl-PL" sz="1000"/>
          </a:p>
          <a:p>
            <a:pPr lvl="0">
              <a:buClr>
                <a:schemeClr val="accent5"/>
              </a:buClr>
              <a:defRPr/>
            </a:pPr>
            <a:r>
              <a:rPr lang="en-US" sz="1050" b="1"/>
              <a:t>Prefer descriptive over clever</a:t>
            </a:r>
          </a:p>
          <a:p>
            <a:pPr lvl="0">
              <a:buClr>
                <a:srgbClr val="C00000"/>
              </a:buClr>
              <a:defRPr/>
            </a:pPr>
            <a:endParaRPr lang="pl-PL" sz="1000"/>
          </a:p>
          <a:p>
            <a:pPr lvl="0">
              <a:buClr>
                <a:srgbClr val="C00000"/>
              </a:buClr>
              <a:defRPr/>
            </a:pPr>
            <a:r>
              <a:rPr lang="en-US" sz="1000"/>
              <a:t>A plain, specific subhead extracts better than a pun or a vague teaser phrase.</a:t>
            </a:r>
          </a:p>
          <a:p>
            <a:pPr lvl="0">
              <a:buClr>
                <a:srgbClr val="C00000"/>
              </a:buClr>
              <a:defRPr/>
            </a:pPr>
            <a:endParaRPr lang="pl-PL" sz="1000"/>
          </a:p>
          <a:p>
            <a:pPr lvl="0">
              <a:buClr>
                <a:schemeClr val="accent5"/>
              </a:buClr>
              <a:defRPr/>
            </a:pPr>
            <a:r>
              <a:rPr lang="en-US" sz="1050" b="1"/>
              <a:t>Mirror how people ask</a:t>
            </a:r>
          </a:p>
          <a:p>
            <a:pPr lvl="0">
              <a:buClr>
                <a:srgbClr val="C00000"/>
              </a:buClr>
              <a:defRPr/>
            </a:pPr>
            <a:endParaRPr lang="pl-PL" sz="1000"/>
          </a:p>
          <a:p>
            <a:pPr lvl="0">
              <a:buClr>
                <a:srgbClr val="C00000"/>
              </a:buClr>
              <a:defRPr/>
            </a:pPr>
            <a:r>
              <a:rPr lang="en-US" sz="1000"/>
              <a:t>Phrase subheadings in the same way a reader would ask the question aloud.</a:t>
            </a:r>
          </a:p>
        </p:txBody>
      </p:sp>
    </p:spTree>
    <p:extLst>
      <p:ext uri="{BB962C8B-B14F-4D97-AF65-F5344CB8AC3E}">
        <p14:creationId xmlns:p14="http://schemas.microsoft.com/office/powerpoint/2010/main" val="2972452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6165-7FE1-77E0-9C5B-848DE2724EC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364AD0DD-418C-BEEE-0910-CD56E434A00B}"/>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810017B0-AB0C-442C-9666-55151CF478D7}"/>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Add a compact, quotable takeaways block</a:t>
            </a:r>
          </a:p>
        </p:txBody>
      </p:sp>
      <p:sp>
        <p:nvSpPr>
          <p:cNvPr id="12" name="Text 2">
            <a:extLst>
              <a:ext uri="{FF2B5EF4-FFF2-40B4-BE49-F238E27FC236}">
                <a16:creationId xmlns:a16="http://schemas.microsoft.com/office/drawing/2014/main" id="{3AD6B66F-BEC9-EBBC-26CD-108B69AA90E8}"/>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Give the </a:t>
            </a:r>
            <a:r>
              <a:rPr lang="pl-PL" sz="1100">
                <a:solidFill>
                  <a:schemeClr val="accent5"/>
                </a:solidFill>
                <a:cs typeface="Arial"/>
              </a:rPr>
              <a:t>AI</a:t>
            </a:r>
            <a:r>
              <a:rPr lang="en-US" sz="1100">
                <a:solidFill>
                  <a:schemeClr val="accent5"/>
                </a:solidFill>
                <a:cs typeface="Arial"/>
              </a:rPr>
              <a:t> one clean passage that captures the whole argument</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08F8AB5E-5871-A9AC-235B-C18519FACD28}"/>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202E8877-8226-D6A3-7AD4-D70963847C8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81</a:t>
            </a:fld>
            <a:endParaRPr lang="en-US">
              <a:solidFill>
                <a:srgbClr val="3DCD58"/>
              </a:solidFill>
            </a:endParaRPr>
          </a:p>
        </p:txBody>
      </p:sp>
      <p:graphicFrame>
        <p:nvGraphicFramePr>
          <p:cNvPr id="3" name="Table 2">
            <a:extLst>
              <a:ext uri="{FF2B5EF4-FFF2-40B4-BE49-F238E27FC236}">
                <a16:creationId xmlns:a16="http://schemas.microsoft.com/office/drawing/2014/main" id="{921E57D8-3280-6D5C-7DA1-373588446F68}"/>
              </a:ext>
            </a:extLst>
          </p:cNvPr>
          <p:cNvGraphicFramePr>
            <a:graphicFrameLocks noGrp="1"/>
          </p:cNvGraphicFramePr>
          <p:nvPr>
            <p:extLst>
              <p:ext uri="{D42A27DB-BD31-4B8C-83A1-F6EECF244321}">
                <p14:modId xmlns:p14="http://schemas.microsoft.com/office/powerpoint/2010/main" val="2038616236"/>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no summary at all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The article's argument is spread across six paragraphs with no summary, so a reader </a:t>
                      </a:r>
                      <a:r>
                        <a:rPr lang="pl-PL" sz="1000" b="0" i="0" kern="1200">
                          <a:solidFill>
                            <a:schemeClr val="dk1"/>
                          </a:solidFill>
                          <a:effectLst/>
                          <a:latin typeface="+mn-lt"/>
                          <a:ea typeface="+mn-ea"/>
                          <a:cs typeface="+mn-cs"/>
                        </a:rPr>
                        <a:t>–</a:t>
                      </a:r>
                      <a:r>
                        <a:rPr lang="en-US" sz="1000" b="0" i="0" kern="1200">
                          <a:solidFill>
                            <a:schemeClr val="dk1"/>
                          </a:solidFill>
                          <a:effectLst/>
                          <a:latin typeface="+mn-lt"/>
                          <a:ea typeface="+mn-ea"/>
                          <a:cs typeface="+mn-cs"/>
                        </a:rPr>
                        <a:t> </a:t>
                      </a:r>
                      <a:r>
                        <a:rPr lang="pl-PL" sz="1000" b="0" i="0" kern="1200">
                          <a:solidFill>
                            <a:schemeClr val="dk1"/>
                          </a:solidFill>
                          <a:effectLst/>
                          <a:latin typeface="+mn-lt"/>
                          <a:ea typeface="+mn-ea"/>
                          <a:cs typeface="+mn-cs"/>
                        </a:rPr>
                        <a:t>in that case AI model</a:t>
                      </a:r>
                      <a:r>
                        <a:rPr lang="en-US" sz="1000" b="0" i="0" kern="1200">
                          <a:solidFill>
                            <a:schemeClr val="dk1"/>
                          </a:solidFill>
                          <a:effectLst/>
                          <a:latin typeface="+mn-lt"/>
                          <a:ea typeface="+mn-ea"/>
                          <a:cs typeface="+mn-cs"/>
                        </a:rPr>
                        <a:t> </a:t>
                      </a:r>
                      <a:r>
                        <a:rPr lang="pl-PL" sz="1000" b="0" i="0" kern="1200">
                          <a:solidFill>
                            <a:schemeClr val="dk1"/>
                          </a:solidFill>
                          <a:effectLst/>
                          <a:latin typeface="+mn-lt"/>
                          <a:ea typeface="+mn-ea"/>
                          <a:cs typeface="+mn-cs"/>
                        </a:rPr>
                        <a:t>-</a:t>
                      </a:r>
                      <a:r>
                        <a:rPr lang="en-US" sz="1000" b="0" i="0" kern="1200">
                          <a:solidFill>
                            <a:schemeClr val="dk1"/>
                          </a:solidFill>
                          <a:effectLst/>
                          <a:latin typeface="+mn-lt"/>
                          <a:ea typeface="+mn-ea"/>
                          <a:cs typeface="+mn-cs"/>
                        </a:rPr>
                        <a:t> has to reconstruct the point from scattered sentences.</a:t>
                      </a:r>
                    </a:p>
                    <a:p>
                      <a:pPr marL="0" indent="0" algn="l" defTabSz="457184" rtl="0" eaLnBrk="1" fontAlgn="t" latinLnBrk="0" hangingPunct="1">
                        <a:lnSpc>
                          <a:spcPct val="100000"/>
                        </a:lnSpc>
                        <a:buClr>
                          <a:srgbClr val="FF0000"/>
                        </a:buClr>
                        <a:buFont typeface="Arial" panose="020B0604020202020204" pitchFamily="34" charset="0"/>
                        <a:buNone/>
                      </a:pPr>
                      <a:endParaRPr lang="en-US" sz="1000" b="0" i="1"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C8C841D0-3E59-1519-47B3-8BF05ADBBB27}"/>
              </a:ext>
            </a:extLst>
          </p:cNvPr>
          <p:cNvGraphicFramePr>
            <a:graphicFrameLocks noGrp="1"/>
          </p:cNvGraphicFramePr>
          <p:nvPr>
            <p:extLst>
              <p:ext uri="{D42A27DB-BD31-4B8C-83A1-F6EECF244321}">
                <p14:modId xmlns:p14="http://schemas.microsoft.com/office/powerpoint/2010/main" val="4137753655"/>
              </p:ext>
            </p:extLst>
          </p:nvPr>
        </p:nvGraphicFramePr>
        <p:xfrm>
          <a:off x="4820299" y="2826921"/>
          <a:ext cx="3376598" cy="1358503"/>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key takeaways block</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Key takeaways:</a:t>
                      </a:r>
                    </a:p>
                    <a:p>
                      <a:pPr marL="171450" indent="-171450" algn="l" defTabSz="457184" rtl="0" eaLnBrk="1" fontAlgn="t" latinLnBrk="0" hangingPunct="1">
                        <a:lnSpc>
                          <a:spcPct val="100000"/>
                        </a:lnSpc>
                        <a:buFont typeface="Arial" panose="020B0604020202020204" pitchFamily="34" charset="0"/>
                        <a:buChar char="•"/>
                      </a:pPr>
                      <a:r>
                        <a:rPr lang="en-US" sz="1000" b="0" i="1" kern="1200">
                          <a:solidFill>
                            <a:schemeClr val="dk1"/>
                          </a:solidFill>
                          <a:effectLst/>
                          <a:latin typeface="+mn-lt"/>
                          <a:ea typeface="+mn-ea"/>
                          <a:cs typeface="+mn-cs"/>
                        </a:rPr>
                        <a:t>Grid congestion is rising in most industrial regions</a:t>
                      </a:r>
                    </a:p>
                    <a:p>
                      <a:pPr marL="171450" indent="-171450" algn="l" defTabSz="457184" rtl="0" eaLnBrk="1" fontAlgn="t" latinLnBrk="0" hangingPunct="1">
                        <a:lnSpc>
                          <a:spcPct val="100000"/>
                        </a:lnSpc>
                        <a:buFont typeface="Arial" panose="020B0604020202020204" pitchFamily="34" charset="0"/>
                        <a:buChar char="•"/>
                      </a:pPr>
                      <a:r>
                        <a:rPr lang="en-US" sz="1000" b="0" i="1" kern="1200">
                          <a:solidFill>
                            <a:schemeClr val="dk1"/>
                          </a:solidFill>
                          <a:effectLst/>
                          <a:latin typeface="+mn-lt"/>
                          <a:ea typeface="+mn-ea"/>
                          <a:cs typeface="+mn-cs"/>
                        </a:rPr>
                        <a:t>On-site microgrids reduce outage exposure</a:t>
                      </a:r>
                    </a:p>
                    <a:p>
                      <a:pPr marL="171450" indent="-171450" algn="l" defTabSz="457184" rtl="0" eaLnBrk="1" fontAlgn="t" latinLnBrk="0" hangingPunct="1">
                        <a:lnSpc>
                          <a:spcPct val="100000"/>
                        </a:lnSpc>
                        <a:buFont typeface="Arial" panose="020B0604020202020204" pitchFamily="34" charset="0"/>
                        <a:buChar char="•"/>
                      </a:pPr>
                      <a:r>
                        <a:rPr lang="en-US" sz="1000" b="0" i="1" kern="1200">
                          <a:solidFill>
                            <a:schemeClr val="dk1"/>
                          </a:solidFill>
                          <a:effectLst/>
                          <a:latin typeface="+mn-lt"/>
                          <a:ea typeface="+mn-ea"/>
                          <a:cs typeface="+mn-cs"/>
                        </a:rPr>
                        <a:t>Payback periods now average 4–6 years</a:t>
                      </a:r>
                    </a:p>
                    <a:p>
                      <a:pPr marL="0" indent="0" algn="l" defTabSz="457184" rtl="0" eaLnBrk="1" fontAlgn="t" latinLnBrk="0" hangingPunct="1">
                        <a:lnSpc>
                          <a:spcPct val="100000"/>
                        </a:lnSpc>
                        <a:buFont typeface="Arial" panose="020B0604020202020204" pitchFamily="34" charset="0"/>
                        <a:buNone/>
                      </a:pPr>
                      <a:endParaRPr lang="en-US" sz="1000" b="0" i="1" kern="1200">
                        <a:solidFill>
                          <a:schemeClr val="dk1"/>
                        </a:solidFill>
                        <a:effectLst/>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98240659-9D4F-6CB2-1DF8-CC09CC3C040D}"/>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3–5 bullet key takeaways</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Place a short</a:t>
            </a:r>
            <a:r>
              <a:rPr lang="pl-PL" sz="1000"/>
              <a:t>-</a:t>
            </a:r>
            <a:r>
              <a:rPr lang="en-US" sz="1000"/>
              <a:t>bulleted summary near the top or bottom </a:t>
            </a:r>
            <a:r>
              <a:rPr lang="pl-PL" sz="1000"/>
              <a:t>-</a:t>
            </a:r>
            <a:r>
              <a:rPr lang="en-US" sz="1000"/>
              <a:t> not buried mid-article.</a:t>
            </a:r>
          </a:p>
          <a:p>
            <a:pPr lvl="0">
              <a:buClr>
                <a:srgbClr val="C00000"/>
              </a:buClr>
              <a:defRPr/>
            </a:pPr>
            <a:endParaRPr lang="pl-PL" sz="1000"/>
          </a:p>
          <a:p>
            <a:pPr lvl="0">
              <a:buClr>
                <a:schemeClr val="accent5"/>
              </a:buClr>
              <a:defRPr/>
            </a:pPr>
            <a:r>
              <a:rPr lang="en-US" sz="1050" b="1"/>
              <a:t>Write it standalone</a:t>
            </a:r>
          </a:p>
          <a:p>
            <a:pPr lvl="0">
              <a:buClr>
                <a:srgbClr val="C00000"/>
              </a:buClr>
              <a:defRPr/>
            </a:pPr>
            <a:endParaRPr lang="pl-PL" sz="1000"/>
          </a:p>
          <a:p>
            <a:pPr lvl="0">
              <a:buClr>
                <a:srgbClr val="C00000"/>
              </a:buClr>
              <a:defRPr/>
            </a:pPr>
            <a:r>
              <a:rPr lang="en-US" sz="1000"/>
              <a:t>Each bullet should make sense without the surrounding paragraphs for context.</a:t>
            </a:r>
          </a:p>
          <a:p>
            <a:pPr lvl="0">
              <a:buClr>
                <a:srgbClr val="C00000"/>
              </a:buClr>
              <a:defRPr/>
            </a:pPr>
            <a:endParaRPr lang="pl-PL" sz="1000"/>
          </a:p>
          <a:p>
            <a:pPr lvl="0">
              <a:buClr>
                <a:schemeClr val="accent5"/>
              </a:buClr>
              <a:defRPr/>
            </a:pPr>
            <a:r>
              <a:rPr lang="en-US" sz="1050" b="1"/>
              <a:t>Match the article's real claims</a:t>
            </a:r>
          </a:p>
          <a:p>
            <a:pPr lvl="0">
              <a:buClr>
                <a:srgbClr val="C00000"/>
              </a:buClr>
              <a:defRPr/>
            </a:pPr>
            <a:endParaRPr lang="pl-PL" sz="1000"/>
          </a:p>
          <a:p>
            <a:pPr lvl="0">
              <a:buClr>
                <a:srgbClr val="C00000"/>
              </a:buClr>
              <a:defRPr/>
            </a:pPr>
            <a:r>
              <a:rPr lang="en-US" sz="1000"/>
              <a:t>Summarize what the post actually </a:t>
            </a:r>
            <a:r>
              <a:rPr lang="pl-PL" sz="1000"/>
              <a:t>claims</a:t>
            </a:r>
            <a:r>
              <a:rPr lang="en-US" sz="1000"/>
              <a:t> </a:t>
            </a:r>
            <a:r>
              <a:rPr lang="pl-PL" sz="1000"/>
              <a:t>-</a:t>
            </a:r>
            <a:r>
              <a:rPr lang="en-US" sz="1000"/>
              <a:t> don't pad it with generic statements.</a:t>
            </a:r>
          </a:p>
        </p:txBody>
      </p:sp>
    </p:spTree>
    <p:extLst>
      <p:ext uri="{BB962C8B-B14F-4D97-AF65-F5344CB8AC3E}">
        <p14:creationId xmlns:p14="http://schemas.microsoft.com/office/powerpoint/2010/main" val="28266541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09F89-9CD1-C6AE-58F2-9C1E5E14B04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35EC3A23-D764-BCBD-C378-85CDD5787313}"/>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6D251758-B534-9B1B-C221-D650F5BF035F}"/>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Back claims with specifics, not superlatives</a:t>
            </a:r>
          </a:p>
        </p:txBody>
      </p:sp>
      <p:sp>
        <p:nvSpPr>
          <p:cNvPr id="12" name="Text 2">
            <a:extLst>
              <a:ext uri="{FF2B5EF4-FFF2-40B4-BE49-F238E27FC236}">
                <a16:creationId xmlns:a16="http://schemas.microsoft.com/office/drawing/2014/main" id="{5197ACD5-0D40-E124-1997-E6B45EE4197B}"/>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Vague industry language gives a</a:t>
            </a:r>
            <a:r>
              <a:rPr lang="pl-PL" sz="1100">
                <a:solidFill>
                  <a:schemeClr val="accent5"/>
                </a:solidFill>
                <a:cs typeface="Arial"/>
              </a:rPr>
              <a:t>n AI</a:t>
            </a:r>
            <a:r>
              <a:rPr lang="en-US" sz="1100">
                <a:solidFill>
                  <a:schemeClr val="accent5"/>
                </a:solidFill>
                <a:cs typeface="Arial"/>
              </a:rPr>
              <a:t> model nothing to quote or verify</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C2390E11-86C8-F303-5900-5CCF2817D37F}"/>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983DAC0-A13E-8932-D4B3-A9629F3B63C7}"/>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82</a:t>
            </a:fld>
            <a:endParaRPr lang="en-US">
              <a:solidFill>
                <a:srgbClr val="3DCD58"/>
              </a:solidFill>
            </a:endParaRPr>
          </a:p>
        </p:txBody>
      </p:sp>
      <p:graphicFrame>
        <p:nvGraphicFramePr>
          <p:cNvPr id="3" name="Table 2">
            <a:extLst>
              <a:ext uri="{FF2B5EF4-FFF2-40B4-BE49-F238E27FC236}">
                <a16:creationId xmlns:a16="http://schemas.microsoft.com/office/drawing/2014/main" id="{DA75F873-E71F-97F7-1BAD-B5EA5791FDA4}"/>
              </a:ext>
            </a:extLst>
          </p:cNvPr>
          <p:cNvGraphicFramePr>
            <a:graphicFrameLocks noGrp="1"/>
          </p:cNvGraphicFramePr>
          <p:nvPr>
            <p:extLst>
              <p:ext uri="{D42A27DB-BD31-4B8C-83A1-F6EECF244321}">
                <p14:modId xmlns:p14="http://schemas.microsoft.com/office/powerpoint/2010/main" val="3094616129"/>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vague superlative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“Organizations that adopt smart energy management often see significant and meaningful improvements in operational efficiency over time.”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8839F250-3562-40C5-96A1-726AFE138C48}"/>
              </a:ext>
            </a:extLst>
          </p:cNvPr>
          <p:cNvGraphicFramePr>
            <a:graphicFrameLocks noGrp="1"/>
          </p:cNvGraphicFramePr>
          <p:nvPr>
            <p:extLst>
              <p:ext uri="{D42A27DB-BD31-4B8C-83A1-F6EECF244321}">
                <p14:modId xmlns:p14="http://schemas.microsoft.com/office/powerpoint/2010/main" val="1836398664"/>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a:t>
                      </a:r>
                      <a:r>
                        <a:rPr lang="pl-PL" sz="1200" b="1">
                          <a:solidFill>
                            <a:schemeClr val="accent5"/>
                          </a:solidFill>
                          <a:latin typeface="+mn-lt"/>
                        </a:rPr>
                        <a:t>: specific and attributable</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“Facilities using automated energy management typically reduce peak demand charges by 10–15%, based on deployments across industrial sites.”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79B3E284-80C2-701F-C034-BCBACF1C26AF}"/>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Replace adjectives with numbers</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a:t>
            </a:r>
            <a:r>
              <a:rPr lang="en-US" sz="1000" i="1"/>
              <a:t>Significant savings</a:t>
            </a:r>
            <a:r>
              <a:rPr lang="en-US" sz="1000"/>
              <a:t>” isn't citable. A percentage, range, or timeframe is.</a:t>
            </a:r>
          </a:p>
          <a:p>
            <a:pPr lvl="0">
              <a:buClr>
                <a:srgbClr val="C00000"/>
              </a:buClr>
              <a:defRPr/>
            </a:pPr>
            <a:endParaRPr lang="pl-PL" sz="1000"/>
          </a:p>
          <a:p>
            <a:pPr lvl="0">
              <a:buClr>
                <a:schemeClr val="accent5"/>
              </a:buClr>
              <a:defRPr/>
            </a:pPr>
            <a:r>
              <a:rPr lang="en-US" sz="1050" b="1"/>
              <a:t>Name the source of a claim</a:t>
            </a:r>
          </a:p>
          <a:p>
            <a:pPr lvl="0">
              <a:buClr>
                <a:srgbClr val="C00000"/>
              </a:buClr>
              <a:defRPr/>
            </a:pPr>
            <a:endParaRPr lang="pl-PL" sz="1000"/>
          </a:p>
          <a:p>
            <a:pPr lvl="0">
              <a:buClr>
                <a:srgbClr val="C00000"/>
              </a:buClr>
              <a:defRPr/>
            </a:pPr>
            <a:r>
              <a:rPr lang="en-US" sz="1000"/>
              <a:t>Attribute data to its source (an internal study, a named report) rather than leaving it unsourced.</a:t>
            </a:r>
          </a:p>
          <a:p>
            <a:pPr lvl="0">
              <a:buClr>
                <a:srgbClr val="C00000"/>
              </a:buClr>
              <a:defRPr/>
            </a:pPr>
            <a:endParaRPr lang="pl-PL" sz="1000"/>
          </a:p>
          <a:p>
            <a:pPr lvl="0">
              <a:buClr>
                <a:schemeClr val="accent5"/>
              </a:buClr>
              <a:defRPr/>
            </a:pPr>
            <a:r>
              <a:rPr lang="en-US" sz="1050" b="1"/>
              <a:t>Cut hedge words that add nothing</a:t>
            </a:r>
          </a:p>
          <a:p>
            <a:pPr lvl="0">
              <a:buClr>
                <a:srgbClr val="C00000"/>
              </a:buClr>
              <a:defRPr/>
            </a:pPr>
            <a:endParaRPr lang="pl-PL" sz="1000"/>
          </a:p>
          <a:p>
            <a:pPr lvl="0">
              <a:buClr>
                <a:srgbClr val="C00000"/>
              </a:buClr>
              <a:defRPr/>
            </a:pPr>
            <a:r>
              <a:rPr lang="en-US" sz="1000"/>
              <a:t>“</a:t>
            </a:r>
            <a:r>
              <a:rPr lang="en-US" sz="1000" i="1"/>
              <a:t>Many experts believe</a:t>
            </a:r>
            <a:r>
              <a:rPr lang="en-US" sz="1000"/>
              <a:t>” and similar phrases dilute an otherwise citable claim.</a:t>
            </a:r>
          </a:p>
        </p:txBody>
      </p:sp>
    </p:spTree>
    <p:extLst>
      <p:ext uri="{BB962C8B-B14F-4D97-AF65-F5344CB8AC3E}">
        <p14:creationId xmlns:p14="http://schemas.microsoft.com/office/powerpoint/2010/main" val="1585026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7E99B-B41D-D0DA-A8DF-9433470B7C2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70F8F321-03EC-3BB1-6327-1B5ADAABA747}"/>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015D6A14-DAA1-17B9-B25F-000F08B64691}"/>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Name entities clearly instead of referencing them vaguely</a:t>
            </a:r>
          </a:p>
        </p:txBody>
      </p:sp>
      <p:sp>
        <p:nvSpPr>
          <p:cNvPr id="12" name="Text 2">
            <a:extLst>
              <a:ext uri="{FF2B5EF4-FFF2-40B4-BE49-F238E27FC236}">
                <a16:creationId xmlns:a16="http://schemas.microsoft.com/office/drawing/2014/main" id="{B5C1713C-7306-7501-9458-1609C1C92C13}"/>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Explicit names and links build the topical connections </a:t>
            </a:r>
            <a:r>
              <a:rPr lang="pl-PL" sz="1100">
                <a:solidFill>
                  <a:schemeClr val="accent5"/>
                </a:solidFill>
                <a:cs typeface="Arial"/>
              </a:rPr>
              <a:t>an AI </a:t>
            </a:r>
            <a:r>
              <a:rPr lang="en-US" sz="1100">
                <a:solidFill>
                  <a:schemeClr val="accent5"/>
                </a:solidFill>
                <a:cs typeface="Arial"/>
              </a:rPr>
              <a:t>relies on</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8AAF8862-E277-EEBB-8090-03AA1A4AB144}"/>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6F6C161-445C-5757-76E9-39E3E211857B}"/>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83</a:t>
            </a:fld>
            <a:endParaRPr lang="en-US">
              <a:solidFill>
                <a:srgbClr val="3DCD58"/>
              </a:solidFill>
            </a:endParaRPr>
          </a:p>
        </p:txBody>
      </p:sp>
      <p:graphicFrame>
        <p:nvGraphicFramePr>
          <p:cNvPr id="3" name="Table 2">
            <a:extLst>
              <a:ext uri="{FF2B5EF4-FFF2-40B4-BE49-F238E27FC236}">
                <a16:creationId xmlns:a16="http://schemas.microsoft.com/office/drawing/2014/main" id="{12D43AA8-2711-C726-3B51-467487A88CB1}"/>
              </a:ext>
            </a:extLst>
          </p:cNvPr>
          <p:cNvGraphicFramePr>
            <a:graphicFrameLocks noGrp="1"/>
          </p:cNvGraphicFramePr>
          <p:nvPr>
            <p:extLst>
              <p:ext uri="{D42A27DB-BD31-4B8C-83A1-F6EECF244321}">
                <p14:modId xmlns:p14="http://schemas.microsoft.com/office/powerpoint/2010/main" val="3237192921"/>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vague references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1" kern="1200">
                          <a:solidFill>
                            <a:schemeClr val="dk1"/>
                          </a:solidFill>
                          <a:effectLst/>
                          <a:latin typeface="+mn-lt"/>
                          <a:ea typeface="+mn-ea"/>
                          <a:cs typeface="+mn-cs"/>
                        </a:rPr>
                        <a:t>“Our platform helps you manage this. For more on the topic, click here. You might also like our other article on this subject.”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A8ED649B-4B92-A4B1-3866-B685A19314A1}"/>
              </a:ext>
            </a:extLst>
          </p:cNvPr>
          <p:cNvGraphicFramePr>
            <a:graphicFrameLocks noGrp="1"/>
          </p:cNvGraphicFramePr>
          <p:nvPr>
            <p:extLst>
              <p:ext uri="{D42A27DB-BD31-4B8C-83A1-F6EECF244321}">
                <p14:modId xmlns:p14="http://schemas.microsoft.com/office/powerpoint/2010/main" val="3829778142"/>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a:t>
                      </a:r>
                      <a:r>
                        <a:rPr lang="pl-PL" sz="1200" b="1">
                          <a:solidFill>
                            <a:schemeClr val="accent5"/>
                          </a:solidFill>
                          <a:latin typeface="+mn-lt"/>
                        </a:rPr>
                        <a:t>: named entities and links</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a:t>
                      </a:r>
                      <a:r>
                        <a:rPr lang="en-US" sz="1000" b="0" i="1" kern="1200" err="1">
                          <a:solidFill>
                            <a:schemeClr val="dk1"/>
                          </a:solidFill>
                          <a:effectLst/>
                          <a:latin typeface="+mn-lt"/>
                          <a:ea typeface="+mn-ea"/>
                          <a:cs typeface="+mn-cs"/>
                        </a:rPr>
                        <a:t>EcoStruxure</a:t>
                      </a:r>
                      <a:r>
                        <a:rPr lang="en-US" sz="1000" b="0" i="1" kern="1200">
                          <a:solidFill>
                            <a:schemeClr val="dk1"/>
                          </a:solidFill>
                          <a:effectLst/>
                          <a:latin typeface="+mn-lt"/>
                          <a:ea typeface="+mn-ea"/>
                          <a:cs typeface="+mn-cs"/>
                        </a:rPr>
                        <a:t> Microgrid Advisor helps operators model this scenario. See our guide to ‘Sizing a Commercial Microgrid’ for a full walkthrough.”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896696F4-03CA-7048-A891-A814E85D4BE1}"/>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en-US" sz="1050" b="1"/>
              <a:t>Name products and standards directly</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Say “</a:t>
            </a:r>
            <a:r>
              <a:rPr lang="en-US" sz="1000" i="1" err="1"/>
              <a:t>EcoStruxure</a:t>
            </a:r>
            <a:r>
              <a:rPr lang="en-US" sz="1000" i="1"/>
              <a:t> Microgrid Advisor</a:t>
            </a:r>
            <a:r>
              <a:rPr lang="en-US" sz="1000"/>
              <a:t>”, not “</a:t>
            </a:r>
            <a:r>
              <a:rPr lang="en-US" sz="1000" i="1"/>
              <a:t>our software platform</a:t>
            </a:r>
            <a:r>
              <a:rPr lang="en-US" sz="1000"/>
              <a:t>” </a:t>
            </a:r>
            <a:r>
              <a:rPr lang="pl-PL" sz="1000"/>
              <a:t>-</a:t>
            </a:r>
            <a:r>
              <a:rPr lang="en-US" sz="1000"/>
              <a:t> vague references can't be matched to an entity.</a:t>
            </a:r>
          </a:p>
          <a:p>
            <a:pPr lvl="0">
              <a:buClr>
                <a:srgbClr val="C00000"/>
              </a:buClr>
              <a:defRPr/>
            </a:pPr>
            <a:endParaRPr lang="pl-PL" sz="1000"/>
          </a:p>
          <a:p>
            <a:pPr lvl="0">
              <a:buClr>
                <a:schemeClr val="accent5"/>
              </a:buClr>
              <a:defRPr/>
            </a:pPr>
            <a:r>
              <a:rPr lang="en-US" sz="1050" b="1"/>
              <a:t>Link with descriptive anchor text</a:t>
            </a:r>
          </a:p>
          <a:p>
            <a:pPr lvl="0">
              <a:buClr>
                <a:srgbClr val="C00000"/>
              </a:buClr>
              <a:defRPr/>
            </a:pPr>
            <a:endParaRPr lang="pl-PL" sz="1000"/>
          </a:p>
          <a:p>
            <a:pPr lvl="0">
              <a:buClr>
                <a:srgbClr val="C00000"/>
              </a:buClr>
              <a:defRPr/>
            </a:pPr>
            <a:r>
              <a:rPr lang="en-US" sz="1000"/>
              <a:t>Use anchor text that names the destination topic, not “</a:t>
            </a:r>
            <a:r>
              <a:rPr lang="en-US" sz="1000" i="1"/>
              <a:t>click here</a:t>
            </a:r>
            <a:r>
              <a:rPr lang="en-US" sz="1000"/>
              <a:t>” or “</a:t>
            </a:r>
            <a:r>
              <a:rPr lang="en-US" sz="1000" i="1"/>
              <a:t>learn more</a:t>
            </a:r>
            <a:r>
              <a:rPr lang="en-US" sz="1000"/>
              <a:t>.”</a:t>
            </a:r>
          </a:p>
          <a:p>
            <a:pPr lvl="0">
              <a:buClr>
                <a:srgbClr val="C00000"/>
              </a:buClr>
              <a:defRPr/>
            </a:pPr>
            <a:endParaRPr lang="pl-PL" sz="1000"/>
          </a:p>
          <a:p>
            <a:pPr lvl="0">
              <a:buClr>
                <a:schemeClr val="accent5"/>
              </a:buClr>
              <a:defRPr/>
            </a:pPr>
            <a:r>
              <a:rPr lang="en-US" sz="1050" b="1"/>
              <a:t>Cross-reference related posts by name</a:t>
            </a:r>
          </a:p>
          <a:p>
            <a:pPr lvl="0">
              <a:buClr>
                <a:srgbClr val="C00000"/>
              </a:buClr>
              <a:defRPr/>
            </a:pPr>
            <a:endParaRPr lang="pl-PL" sz="1000"/>
          </a:p>
          <a:p>
            <a:pPr lvl="0">
              <a:buClr>
                <a:srgbClr val="C00000"/>
              </a:buClr>
              <a:defRPr/>
            </a:pPr>
            <a:r>
              <a:rPr lang="en-US" sz="1000"/>
              <a:t>Point to companion articles by title so the topic cluster is explicit, not implied.</a:t>
            </a:r>
          </a:p>
        </p:txBody>
      </p:sp>
    </p:spTree>
    <p:extLst>
      <p:ext uri="{BB962C8B-B14F-4D97-AF65-F5344CB8AC3E}">
        <p14:creationId xmlns:p14="http://schemas.microsoft.com/office/powerpoint/2010/main" val="22270364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975F0-4BC7-3543-1737-D8524056FD6C}"/>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2683BB1F-4E65-CA1D-4EF8-FC9AD8FE4BF6}"/>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C90FB3ED-FCF9-4E0D-C5F4-9FB45B71EC5D}"/>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Keep evergreen </a:t>
            </a:r>
            <a:r>
              <a:rPr lang="pl-PL" sz="2200">
                <a:solidFill>
                  <a:schemeClr val="accent5"/>
                </a:solidFill>
                <a:cs typeface="Arial"/>
              </a:rPr>
              <a:t>blogs</a:t>
            </a:r>
            <a:r>
              <a:rPr lang="en-US" sz="2200">
                <a:solidFill>
                  <a:schemeClr val="accent5"/>
                </a:solidFill>
                <a:cs typeface="Arial"/>
              </a:rPr>
              <a:t> dated and current</a:t>
            </a:r>
          </a:p>
        </p:txBody>
      </p:sp>
      <p:sp>
        <p:nvSpPr>
          <p:cNvPr id="12" name="Text 2">
            <a:extLst>
              <a:ext uri="{FF2B5EF4-FFF2-40B4-BE49-F238E27FC236}">
                <a16:creationId xmlns:a16="http://schemas.microsoft.com/office/drawing/2014/main" id="{821BDFF9-85D6-0F8F-4CA8-00F71F0DB88A}"/>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An undated </a:t>
            </a:r>
            <a:r>
              <a:rPr lang="pl-PL" sz="1100">
                <a:solidFill>
                  <a:schemeClr val="accent5"/>
                </a:solidFill>
                <a:cs typeface="Arial"/>
              </a:rPr>
              <a:t>blog</a:t>
            </a:r>
            <a:r>
              <a:rPr lang="en-US" sz="1100">
                <a:solidFill>
                  <a:schemeClr val="accent5"/>
                </a:solidFill>
                <a:cs typeface="Arial"/>
              </a:rPr>
              <a:t> on a fast-moving topic can't signal that it's still accurate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F01322CC-C20F-3467-3CD9-DBD7BBE2E3DC}"/>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C4EA76EE-7A1B-B25D-BECD-CC0345AC801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84</a:t>
            </a:fld>
            <a:endParaRPr lang="en-US">
              <a:solidFill>
                <a:srgbClr val="3DCD58"/>
              </a:solidFill>
            </a:endParaRPr>
          </a:p>
        </p:txBody>
      </p:sp>
      <p:graphicFrame>
        <p:nvGraphicFramePr>
          <p:cNvPr id="3" name="Table 2">
            <a:extLst>
              <a:ext uri="{FF2B5EF4-FFF2-40B4-BE49-F238E27FC236}">
                <a16:creationId xmlns:a16="http://schemas.microsoft.com/office/drawing/2014/main" id="{FC9E6875-A5F9-0231-3A05-4F1243960E06}"/>
              </a:ext>
            </a:extLst>
          </p:cNvPr>
          <p:cNvGraphicFramePr>
            <a:graphicFrameLocks noGrp="1"/>
          </p:cNvGraphicFramePr>
          <p:nvPr>
            <p:extLst>
              <p:ext uri="{D42A27DB-BD31-4B8C-83A1-F6EECF244321}">
                <p14:modId xmlns:p14="http://schemas.microsoft.com/office/powerpoint/2010/main" val="561809163"/>
              </p:ext>
            </p:extLst>
          </p:nvPr>
        </p:nvGraphicFramePr>
        <p:xfrm>
          <a:off x="4820299" y="1307685"/>
          <a:ext cx="3376598" cy="1358494"/>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87205">
                <a:tc>
                  <a:txBody>
                    <a:bodyPr/>
                    <a:lstStyle/>
                    <a:p>
                      <a:pPr marL="0" marR="0" lvl="0" indent="0" algn="ctr" defTabSz="609563" rtl="0" eaLnBrk="1" fontAlgn="auto" latinLnBrk="0" hangingPunct="1">
                        <a:lnSpc>
                          <a:spcPct val="100000"/>
                        </a:lnSpc>
                        <a:spcBef>
                          <a:spcPts val="0"/>
                        </a:spcBef>
                        <a:spcAft>
                          <a:spcPts val="0"/>
                        </a:spcAft>
                        <a:buClrTx/>
                        <a:buSzTx/>
                        <a:buFontTx/>
                        <a:buNone/>
                        <a:tabLst/>
                        <a:defRPr/>
                      </a:pPr>
                      <a:r>
                        <a:rPr lang="pl-PL" sz="1200">
                          <a:solidFill>
                            <a:schemeClr val="tx1"/>
                          </a:solidFill>
                        </a:rPr>
                        <a:t>Before: undated, stale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038126"/>
                  </a:ext>
                </a:extLst>
              </a:tr>
              <a:tr h="971289">
                <a:tc>
                  <a:txBody>
                    <a:bodyPr/>
                    <a:lstStyle/>
                    <a:p>
                      <a:pPr marL="0" indent="0" algn="l" defTabSz="457184" rtl="0" eaLnBrk="1" fontAlgn="t" latinLnBrk="0" hangingPunct="1">
                        <a:lnSpc>
                          <a:spcPct val="100000"/>
                        </a:lnSpc>
                        <a:buClr>
                          <a:srgbClr val="FF0000"/>
                        </a:buClr>
                        <a:buFont typeface="Arial" panose="020B0604020202020204" pitchFamily="34" charset="0"/>
                        <a:buNone/>
                      </a:pPr>
                      <a:r>
                        <a:rPr lang="en-US" sz="1000" b="0" i="0" kern="1200">
                          <a:solidFill>
                            <a:schemeClr val="dk1"/>
                          </a:solidFill>
                          <a:effectLst/>
                          <a:latin typeface="+mn-lt"/>
                          <a:ea typeface="+mn-ea"/>
                          <a:cs typeface="+mn-cs"/>
                        </a:rPr>
                        <a:t>No visible date on the post. Cited market figures are from an outdated period, and the post still references a discontinued product line as current.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80955424"/>
                  </a:ext>
                </a:extLst>
              </a:tr>
            </a:tbl>
          </a:graphicData>
        </a:graphic>
      </p:graphicFrame>
      <p:graphicFrame>
        <p:nvGraphicFramePr>
          <p:cNvPr id="14" name="Table 13">
            <a:extLst>
              <a:ext uri="{FF2B5EF4-FFF2-40B4-BE49-F238E27FC236}">
                <a16:creationId xmlns:a16="http://schemas.microsoft.com/office/drawing/2014/main" id="{6F272929-E396-8699-EC15-BAC22DE79D6B}"/>
              </a:ext>
            </a:extLst>
          </p:cNvPr>
          <p:cNvGraphicFramePr>
            <a:graphicFrameLocks noGrp="1"/>
          </p:cNvGraphicFramePr>
          <p:nvPr>
            <p:extLst>
              <p:ext uri="{D42A27DB-BD31-4B8C-83A1-F6EECF244321}">
                <p14:modId xmlns:p14="http://schemas.microsoft.com/office/powerpoint/2010/main" val="160662145"/>
              </p:ext>
            </p:extLst>
          </p:nvPr>
        </p:nvGraphicFramePr>
        <p:xfrm>
          <a:off x="4820299" y="2826921"/>
          <a:ext cx="3376598" cy="1357152"/>
        </p:xfrm>
        <a:graphic>
          <a:graphicData uri="http://schemas.openxmlformats.org/drawingml/2006/table">
            <a:tbl>
              <a:tblPr firstRow="1" bandRow="1">
                <a:tableStyleId>{5C22544A-7EE6-4342-B048-85BDC9FD1C3A}</a:tableStyleId>
              </a:tblPr>
              <a:tblGrid>
                <a:gridCol w="3376598">
                  <a:extLst>
                    <a:ext uri="{9D8B030D-6E8A-4147-A177-3AD203B41FA5}">
                      <a16:colId xmlns:a16="http://schemas.microsoft.com/office/drawing/2014/main" val="1448082525"/>
                    </a:ext>
                  </a:extLst>
                </a:gridCol>
              </a:tblGrid>
              <a:tr h="375523">
                <a:tc>
                  <a:txBody>
                    <a:bodyPr/>
                    <a:lstStyle/>
                    <a:p>
                      <a:pPr algn="ctr"/>
                      <a:r>
                        <a:rPr lang="en-US" sz="1200" b="1">
                          <a:solidFill>
                            <a:schemeClr val="accent5"/>
                          </a:solidFill>
                          <a:latin typeface="+mn-lt"/>
                        </a:rPr>
                        <a:t>After: </a:t>
                      </a:r>
                      <a:r>
                        <a:rPr lang="pl-PL" sz="1200" b="1">
                          <a:solidFill>
                            <a:schemeClr val="accent5"/>
                          </a:solidFill>
                          <a:latin typeface="+mn-lt"/>
                        </a:rPr>
                        <a:t>dated and refreshed</a:t>
                      </a:r>
                      <a:endParaRPr lang="en-US" sz="1200" b="1">
                        <a:solidFill>
                          <a:schemeClr val="accent5"/>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038126"/>
                  </a:ext>
                </a:extLst>
              </a:tr>
              <a:tr h="981629">
                <a:tc>
                  <a:txBody>
                    <a:bodyPr/>
                    <a:lstStyle/>
                    <a:p>
                      <a:pPr marL="0" indent="0" algn="l" defTabSz="457184" rtl="0" eaLnBrk="1" fontAlgn="t" latinLnBrk="0" hangingPunct="1">
                        <a:lnSpc>
                          <a:spcPct val="100000"/>
                        </a:lnSpc>
                        <a:buFont typeface="Arial" panose="020B0604020202020204" pitchFamily="34" charset="0"/>
                        <a:buNone/>
                      </a:pPr>
                      <a:r>
                        <a:rPr lang="en-US" sz="1000" b="0" i="1" kern="1200">
                          <a:solidFill>
                            <a:schemeClr val="dk1"/>
                          </a:solidFill>
                          <a:effectLst/>
                          <a:latin typeface="+mn-lt"/>
                          <a:ea typeface="+mn-ea"/>
                          <a:cs typeface="+mn-cs"/>
                        </a:rPr>
                        <a:t>“Published: </a:t>
                      </a:r>
                      <a:r>
                        <a:rPr lang="pl-PL" sz="1000" b="0" i="1" kern="1200">
                          <a:solidFill>
                            <a:schemeClr val="dk1"/>
                          </a:solidFill>
                          <a:effectLst/>
                          <a:latin typeface="+mn-lt"/>
                          <a:ea typeface="+mn-ea"/>
                          <a:cs typeface="+mn-cs"/>
                        </a:rPr>
                        <a:t>March </a:t>
                      </a:r>
                      <a:r>
                        <a:rPr lang="en-US" sz="1000" b="0" i="1" kern="1200">
                          <a:solidFill>
                            <a:schemeClr val="dk1"/>
                          </a:solidFill>
                          <a:effectLst/>
                          <a:latin typeface="+mn-lt"/>
                          <a:ea typeface="+mn-ea"/>
                          <a:cs typeface="+mn-cs"/>
                        </a:rPr>
                        <a:t>202</a:t>
                      </a:r>
                      <a:r>
                        <a:rPr lang="pl-PL" sz="1000" b="0" i="1" kern="1200">
                          <a:solidFill>
                            <a:schemeClr val="dk1"/>
                          </a:solidFill>
                          <a:effectLst/>
                          <a:latin typeface="+mn-lt"/>
                          <a:ea typeface="+mn-ea"/>
                          <a:cs typeface="+mn-cs"/>
                        </a:rPr>
                        <a:t>5</a:t>
                      </a:r>
                      <a:r>
                        <a:rPr lang="en-US" sz="1000" b="0" i="1" kern="1200">
                          <a:solidFill>
                            <a:schemeClr val="dk1"/>
                          </a:solidFill>
                          <a:effectLst/>
                          <a:latin typeface="+mn-lt"/>
                          <a:ea typeface="+mn-ea"/>
                          <a:cs typeface="+mn-cs"/>
                        </a:rPr>
                        <a:t> </a:t>
                      </a:r>
                      <a:r>
                        <a:rPr lang="pl-PL" sz="1000" b="0" i="1" kern="1200">
                          <a:solidFill>
                            <a:schemeClr val="dk1"/>
                          </a:solidFill>
                          <a:effectLst/>
                          <a:latin typeface="+mn-lt"/>
                          <a:ea typeface="+mn-ea"/>
                          <a:cs typeface="+mn-cs"/>
                        </a:rPr>
                        <a:t>- </a:t>
                      </a:r>
                      <a:r>
                        <a:rPr lang="en-US" sz="1000" b="0" i="1" kern="1200">
                          <a:solidFill>
                            <a:schemeClr val="dk1"/>
                          </a:solidFill>
                          <a:effectLst/>
                          <a:latin typeface="+mn-lt"/>
                          <a:ea typeface="+mn-ea"/>
                          <a:cs typeface="+mn-cs"/>
                        </a:rPr>
                        <a:t>Updated: June 2026.” </a:t>
                      </a:r>
                      <a:r>
                        <a:rPr lang="en-US" sz="1000" b="0" i="0" kern="1200">
                          <a:solidFill>
                            <a:schemeClr val="dk1"/>
                          </a:solidFill>
                          <a:effectLst/>
                          <a:latin typeface="+mn-lt"/>
                          <a:ea typeface="+mn-ea"/>
                          <a:cs typeface="+mn-cs"/>
                        </a:rPr>
                        <a:t>Figures and product references refreshed to reflect current offerings and market data.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780955424"/>
                  </a:ext>
                </a:extLst>
              </a:tr>
            </a:tbl>
          </a:graphicData>
        </a:graphic>
      </p:graphicFrame>
      <p:sp>
        <p:nvSpPr>
          <p:cNvPr id="2" name="TextBox 1">
            <a:extLst>
              <a:ext uri="{FF2B5EF4-FFF2-40B4-BE49-F238E27FC236}">
                <a16:creationId xmlns:a16="http://schemas.microsoft.com/office/drawing/2014/main" id="{6ACDEB03-DAA0-E64B-6877-D4ABFA4F7B59}"/>
              </a:ext>
            </a:extLst>
          </p:cNvPr>
          <p:cNvSpPr txBox="1"/>
          <p:nvPr/>
        </p:nvSpPr>
        <p:spPr>
          <a:xfrm>
            <a:off x="947103" y="1307685"/>
            <a:ext cx="3181551" cy="288950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50" b="1"/>
              <a:t>Show</a:t>
            </a:r>
            <a:r>
              <a:rPr lang="en-US" sz="1050" b="1"/>
              <a:t> a visible publish and update date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Display both dates near the byline, especially for regulatory or market topics that shift.</a:t>
            </a:r>
          </a:p>
          <a:p>
            <a:pPr lvl="0">
              <a:buClr>
                <a:srgbClr val="C00000"/>
              </a:buClr>
              <a:defRPr/>
            </a:pPr>
            <a:endParaRPr lang="pl-PL" sz="1000"/>
          </a:p>
          <a:p>
            <a:pPr lvl="0">
              <a:buClr>
                <a:schemeClr val="accent5"/>
              </a:buClr>
              <a:defRPr/>
            </a:pPr>
            <a:r>
              <a:rPr lang="en-US" sz="1050" b="1"/>
              <a:t>Refresh stats and examples on a cadence</a:t>
            </a:r>
          </a:p>
          <a:p>
            <a:pPr lvl="0">
              <a:buClr>
                <a:srgbClr val="C00000"/>
              </a:buClr>
              <a:defRPr/>
            </a:pPr>
            <a:endParaRPr lang="pl-PL" sz="1000"/>
          </a:p>
          <a:p>
            <a:pPr lvl="0">
              <a:buClr>
                <a:srgbClr val="C00000"/>
              </a:buClr>
              <a:defRPr/>
            </a:pPr>
            <a:r>
              <a:rPr lang="en-US" sz="1000"/>
              <a:t>Revisit evergreen </a:t>
            </a:r>
            <a:r>
              <a:rPr lang="pl-PL" sz="1000"/>
              <a:t>blogs</a:t>
            </a:r>
            <a:r>
              <a:rPr lang="en-US" sz="1000"/>
              <a:t> at least yearly to replace outdated figures and references.</a:t>
            </a:r>
          </a:p>
          <a:p>
            <a:pPr lvl="0">
              <a:buClr>
                <a:srgbClr val="C00000"/>
              </a:buClr>
              <a:defRPr/>
            </a:pPr>
            <a:endParaRPr lang="pl-PL" sz="1000"/>
          </a:p>
          <a:p>
            <a:pPr lvl="0">
              <a:buClr>
                <a:schemeClr val="accent5"/>
              </a:buClr>
              <a:defRPr/>
            </a:pPr>
            <a:r>
              <a:rPr lang="en-US" sz="1050" b="1"/>
              <a:t>Redirect or retire outdated </a:t>
            </a:r>
            <a:r>
              <a:rPr lang="pl-PL" sz="1050" b="1"/>
              <a:t>blogs</a:t>
            </a:r>
            <a:endParaRPr lang="en-US" sz="1050" b="1"/>
          </a:p>
          <a:p>
            <a:pPr lvl="0">
              <a:buClr>
                <a:srgbClr val="C00000"/>
              </a:buClr>
              <a:defRPr/>
            </a:pPr>
            <a:endParaRPr lang="pl-PL" sz="1000"/>
          </a:p>
          <a:p>
            <a:pPr lvl="0">
              <a:buClr>
                <a:srgbClr val="C00000"/>
              </a:buClr>
              <a:defRPr/>
            </a:pPr>
            <a:r>
              <a:rPr lang="en-US" sz="1000"/>
              <a:t>If a </a:t>
            </a:r>
            <a:r>
              <a:rPr lang="pl-PL" sz="1000"/>
              <a:t>blog</a:t>
            </a:r>
            <a:r>
              <a:rPr lang="en-US" sz="1000"/>
              <a:t> is superseded by newer guidance, merge, redirect, or clearly flag it as outdated.</a:t>
            </a:r>
          </a:p>
        </p:txBody>
      </p:sp>
    </p:spTree>
    <p:extLst>
      <p:ext uri="{BB962C8B-B14F-4D97-AF65-F5344CB8AC3E}">
        <p14:creationId xmlns:p14="http://schemas.microsoft.com/office/powerpoint/2010/main" val="29195771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5825-F722-3466-2E75-6C5C3569EF73}"/>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6D8BB7C8-F07C-EB13-FF0D-40FC919DC785}"/>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85D9F90-CD81-741F-6673-A02C8CEED598}"/>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Making document optimization routine</a:t>
            </a:r>
          </a:p>
        </p:txBody>
      </p:sp>
      <p:sp>
        <p:nvSpPr>
          <p:cNvPr id="12" name="Text 2">
            <a:extLst>
              <a:ext uri="{FF2B5EF4-FFF2-40B4-BE49-F238E27FC236}">
                <a16:creationId xmlns:a16="http://schemas.microsoft.com/office/drawing/2014/main" id="{30C301BA-0A94-12D8-2BD4-D568A72BA66A}"/>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Cadence and ownership for the document library</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9D2D0C77-932A-0294-25B9-524AE374A8F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43F50FC8-6837-9F61-A9FD-DCC97BFAD309}"/>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85</a:t>
            </a:fld>
            <a:endParaRPr lang="en-US">
              <a:solidFill>
                <a:srgbClr val="3DCD58"/>
              </a:solidFill>
            </a:endParaRPr>
          </a:p>
        </p:txBody>
      </p:sp>
      <p:graphicFrame>
        <p:nvGraphicFramePr>
          <p:cNvPr id="9" name="Table 8">
            <a:extLst>
              <a:ext uri="{FF2B5EF4-FFF2-40B4-BE49-F238E27FC236}">
                <a16:creationId xmlns:a16="http://schemas.microsoft.com/office/drawing/2014/main" id="{EBF2F199-C918-A4D3-5BB5-D42A4C88C48D}"/>
              </a:ext>
            </a:extLst>
          </p:cNvPr>
          <p:cNvGraphicFramePr>
            <a:graphicFrameLocks noGrp="1"/>
          </p:cNvGraphicFramePr>
          <p:nvPr>
            <p:extLst>
              <p:ext uri="{D42A27DB-BD31-4B8C-83A1-F6EECF244321}">
                <p14:modId xmlns:p14="http://schemas.microsoft.com/office/powerpoint/2010/main" val="1537271960"/>
              </p:ext>
            </p:extLst>
          </p:nvPr>
        </p:nvGraphicFramePr>
        <p:xfrm>
          <a:off x="5932959" y="3046041"/>
          <a:ext cx="2518524" cy="1120644"/>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452799">
                <a:tc>
                  <a:txBody>
                    <a:bodyPr/>
                    <a:lstStyle/>
                    <a:p>
                      <a:pPr algn="ctr"/>
                      <a:r>
                        <a:rPr lang="en-US" sz="1200" b="1">
                          <a:solidFill>
                            <a:schemeClr val="accent5"/>
                          </a:solidFill>
                        </a:rPr>
                        <a:t>Track citation status alongside traffic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663444">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Monitor whether AI engines cite your posts on core topic prompts, not just organic clicks and rankings.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0" name="Table 9">
            <a:extLst>
              <a:ext uri="{FF2B5EF4-FFF2-40B4-BE49-F238E27FC236}">
                <a16:creationId xmlns:a16="http://schemas.microsoft.com/office/drawing/2014/main" id="{D37FCB05-98D9-8086-44C7-B654A057EC9E}"/>
              </a:ext>
            </a:extLst>
          </p:cNvPr>
          <p:cNvGraphicFramePr>
            <a:graphicFrameLocks noGrp="1"/>
          </p:cNvGraphicFramePr>
          <p:nvPr>
            <p:extLst>
              <p:ext uri="{D42A27DB-BD31-4B8C-83A1-F6EECF244321}">
                <p14:modId xmlns:p14="http://schemas.microsoft.com/office/powerpoint/2010/main" val="4038520744"/>
              </p:ext>
            </p:extLst>
          </p:nvPr>
        </p:nvGraphicFramePr>
        <p:xfrm>
          <a:off x="3305118" y="1729896"/>
          <a:ext cx="2518524" cy="1151396"/>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432197">
                <a:tc>
                  <a:txBody>
                    <a:bodyPr/>
                    <a:lstStyle/>
                    <a:p>
                      <a:pPr algn="ctr"/>
                      <a:r>
                        <a:rPr lang="en-US" sz="1200" b="1">
                          <a:solidFill>
                            <a:schemeClr val="accent5"/>
                          </a:solidFill>
                        </a:rPr>
                        <a:t>Schedule an annual evergreen refresh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694196">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Revisit high-traffic evergreen posts at least once a year to update stats, examples, and product references.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2" name="Table 21">
            <a:extLst>
              <a:ext uri="{FF2B5EF4-FFF2-40B4-BE49-F238E27FC236}">
                <a16:creationId xmlns:a16="http://schemas.microsoft.com/office/drawing/2014/main" id="{D10B6E82-622A-512C-3EE3-C347E09CA2F9}"/>
              </a:ext>
            </a:extLst>
          </p:cNvPr>
          <p:cNvGraphicFramePr>
            <a:graphicFrameLocks noGrp="1"/>
          </p:cNvGraphicFramePr>
          <p:nvPr>
            <p:extLst>
              <p:ext uri="{D42A27DB-BD31-4B8C-83A1-F6EECF244321}">
                <p14:modId xmlns:p14="http://schemas.microsoft.com/office/powerpoint/2010/main" val="455848995"/>
              </p:ext>
            </p:extLst>
          </p:nvPr>
        </p:nvGraphicFramePr>
        <p:xfrm>
          <a:off x="676820" y="3046718"/>
          <a:ext cx="2518524" cy="1119967"/>
        </p:xfrm>
        <a:graphic>
          <a:graphicData uri="http://schemas.openxmlformats.org/drawingml/2006/table">
            <a:tbl>
              <a:tblPr firstRow="1" bandRow="1">
                <a:tableStyleId>{5C22544A-7EE6-4342-B048-85BDC9FD1C3A}</a:tableStyleId>
              </a:tblPr>
              <a:tblGrid>
                <a:gridCol w="25185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Keep searching for topics</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45647">
                <a:tc>
                  <a:txBody>
                    <a:bodyPr/>
                    <a:lstStyle/>
                    <a:p>
                      <a:pPr marL="0" indent="0">
                        <a:spcBef>
                          <a:spcPts val="0"/>
                        </a:spcBef>
                        <a:spcAft>
                          <a:spcPts val="0"/>
                        </a:spcAft>
                        <a:buClr>
                          <a:srgbClr val="3DCD58"/>
                        </a:buClr>
                        <a:buFont typeface="Wingdings" panose="05000000000000000000" pitchFamily="2" charset="2"/>
                        <a:buNone/>
                        <a:defRPr/>
                      </a:pPr>
                      <a:r>
                        <a:rPr lang="pl-PL" sz="1000" b="0">
                          <a:solidFill>
                            <a:schemeClr val="tx1"/>
                          </a:solidFill>
                        </a:rPr>
                        <a:t>Review and monitor the topics your a</a:t>
                      </a:r>
                      <a:r>
                        <a:rPr lang="en-AU" sz="1000" b="0">
                          <a:solidFill>
                            <a:schemeClr val="tx1"/>
                          </a:solidFill>
                        </a:rPr>
                        <a:t>u</a:t>
                      </a:r>
                      <a:r>
                        <a:rPr lang="pl-PL" sz="1000" b="0">
                          <a:solidFill>
                            <a:schemeClr val="tx1"/>
                          </a:solidFill>
                        </a:rPr>
                        <a:t>dience is </a:t>
                      </a:r>
                      <a:r>
                        <a:rPr lang="en-AU" sz="1000" b="0">
                          <a:solidFill>
                            <a:schemeClr val="tx1"/>
                          </a:solidFill>
                        </a:rPr>
                        <a:t>actively</a:t>
                      </a:r>
                      <a:r>
                        <a:rPr lang="pl-PL" sz="1000" b="0">
                          <a:solidFill>
                            <a:schemeClr val="tx1"/>
                          </a:solidFill>
                        </a:rPr>
                        <a:t> talking about. Be ready to provide information before anybody else does.</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pic>
        <p:nvPicPr>
          <p:cNvPr id="26" name="Graphic 25" descr="Continuous Improvement with solid fill">
            <a:extLst>
              <a:ext uri="{FF2B5EF4-FFF2-40B4-BE49-F238E27FC236}">
                <a16:creationId xmlns:a16="http://schemas.microsoft.com/office/drawing/2014/main" id="{E50BA2AB-B2DE-01FA-BA36-69D66727D67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00271" y="3042823"/>
            <a:ext cx="1127761" cy="1127761"/>
          </a:xfrm>
          <a:prstGeom prst="rect">
            <a:avLst/>
          </a:prstGeom>
        </p:spPr>
      </p:pic>
      <p:cxnSp>
        <p:nvCxnSpPr>
          <p:cNvPr id="34" name="Connector: Elbow 33">
            <a:extLst>
              <a:ext uri="{FF2B5EF4-FFF2-40B4-BE49-F238E27FC236}">
                <a16:creationId xmlns:a16="http://schemas.microsoft.com/office/drawing/2014/main" id="{EBB4C2F1-1C3A-6EDF-34C1-4E7B1BFF6505}"/>
              </a:ext>
            </a:extLst>
          </p:cNvPr>
          <p:cNvCxnSpPr>
            <a:cxnSpLocks/>
            <a:stCxn id="22" idx="3"/>
            <a:endCxn id="26" idx="1"/>
          </p:cNvCxnSpPr>
          <p:nvPr/>
        </p:nvCxnSpPr>
        <p:spPr>
          <a:xfrm>
            <a:off x="3195344" y="3606701"/>
            <a:ext cx="804927" cy="3"/>
          </a:xfrm>
          <a:prstGeom prst="bentConnector3">
            <a:avLst>
              <a:gd name="adj1" fmla="val 50000"/>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0" name="Connector: Elbow 39">
            <a:extLst>
              <a:ext uri="{FF2B5EF4-FFF2-40B4-BE49-F238E27FC236}">
                <a16:creationId xmlns:a16="http://schemas.microsoft.com/office/drawing/2014/main" id="{62197FDD-CEBB-EBAB-E59E-48E4ED7EE71E}"/>
              </a:ext>
            </a:extLst>
          </p:cNvPr>
          <p:cNvCxnSpPr>
            <a:cxnSpLocks/>
            <a:stCxn id="9" idx="1"/>
            <a:endCxn id="26" idx="3"/>
          </p:cNvCxnSpPr>
          <p:nvPr/>
        </p:nvCxnSpPr>
        <p:spPr>
          <a:xfrm rot="10800000" flipV="1">
            <a:off x="5128033" y="3606362"/>
            <a:ext cx="804927" cy="341"/>
          </a:xfrm>
          <a:prstGeom prst="bentConnector3">
            <a:avLst>
              <a:gd name="adj1" fmla="val 50000"/>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3A3FBB88-FA9D-D564-3B16-B14C33347066}"/>
              </a:ext>
            </a:extLst>
          </p:cNvPr>
          <p:cNvCxnSpPr>
            <a:cxnSpLocks/>
            <a:stCxn id="10" idx="2"/>
          </p:cNvCxnSpPr>
          <p:nvPr/>
        </p:nvCxnSpPr>
        <p:spPr>
          <a:xfrm>
            <a:off x="4564380" y="2881292"/>
            <a:ext cx="0" cy="449843"/>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69918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7C5E-5A6D-8545-9E32-1BDB59CE08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0D59A7D-0321-014F-E475-CFD8CA063389}"/>
              </a:ext>
            </a:extLst>
          </p:cNvPr>
          <p:cNvSpPr/>
          <p:nvPr/>
        </p:nvSpPr>
        <p:spPr>
          <a:xfrm>
            <a:off x="396002" y="1511459"/>
            <a:ext cx="8351995" cy="2976721"/>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 name="Shape 0">
            <a:extLst>
              <a:ext uri="{FF2B5EF4-FFF2-40B4-BE49-F238E27FC236}">
                <a16:creationId xmlns:a16="http://schemas.microsoft.com/office/drawing/2014/main" id="{0958F95D-3B8E-42EB-33E4-DE951333BDB1}"/>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8E34F1D3-CBFB-F839-A8A6-CD3DB7FBA510}"/>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Blog optimization checklist</a:t>
            </a:r>
          </a:p>
        </p:txBody>
      </p:sp>
      <p:sp>
        <p:nvSpPr>
          <p:cNvPr id="12" name="Text 2">
            <a:extLst>
              <a:ext uri="{FF2B5EF4-FFF2-40B4-BE49-F238E27FC236}">
                <a16:creationId xmlns:a16="http://schemas.microsoft.com/office/drawing/2014/main" id="{0D388A7F-213E-B5CC-740B-07C047994C8B}"/>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Check the boxes </a:t>
            </a:r>
            <a:r>
              <a:rPr lang="en-US" sz="1100">
                <a:solidFill>
                  <a:schemeClr val="accent5"/>
                </a:solidFill>
                <a:cs typeface="Arial"/>
              </a:rPr>
              <a:t>before publishing or refreshing any blog post</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0AC74C44-1A15-3CFC-FF89-76A2E1580DDE}"/>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872DEB98-7B6C-9E6D-F0DC-4F71731AA4E8}"/>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86</a:t>
            </a:fld>
            <a:endParaRPr lang="en-US">
              <a:solidFill>
                <a:srgbClr val="3DCD58"/>
              </a:solidFill>
            </a:endParaRPr>
          </a:p>
        </p:txBody>
      </p:sp>
      <p:sp>
        <p:nvSpPr>
          <p:cNvPr id="2" name="Shape 3">
            <a:extLst>
              <a:ext uri="{FF2B5EF4-FFF2-40B4-BE49-F238E27FC236}">
                <a16:creationId xmlns:a16="http://schemas.microsoft.com/office/drawing/2014/main" id="{1C9A8E5E-A9D4-3EB9-32E0-6CBCD9C3AF28}"/>
              </a:ext>
            </a:extLst>
          </p:cNvPr>
          <p:cNvSpPr/>
          <p:nvPr/>
        </p:nvSpPr>
        <p:spPr>
          <a:xfrm>
            <a:off x="518397" y="1743922"/>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3" name="Text 4">
            <a:extLst>
              <a:ext uri="{FF2B5EF4-FFF2-40B4-BE49-F238E27FC236}">
                <a16:creationId xmlns:a16="http://schemas.microsoft.com/office/drawing/2014/main" id="{D3FC17F5-FE8D-307E-3DB4-2E115381AF6F}"/>
              </a:ext>
            </a:extLst>
          </p:cNvPr>
          <p:cNvSpPr/>
          <p:nvPr/>
        </p:nvSpPr>
        <p:spPr>
          <a:xfrm>
            <a:off x="861297" y="1586188"/>
            <a:ext cx="3703320" cy="548640"/>
          </a:xfrm>
          <a:prstGeom prst="rect">
            <a:avLst/>
          </a:prstGeom>
          <a:noFill/>
          <a:ln/>
        </p:spPr>
        <p:txBody>
          <a:bodyPr wrap="square" rtlCol="0" anchor="ctr"/>
          <a:lstStyle/>
          <a:p>
            <a:pPr>
              <a:lnSpc>
                <a:spcPct val="110000"/>
              </a:lnSpc>
            </a:pPr>
            <a:r>
              <a:rPr lang="en-US" sz="1000"/>
              <a:t>Does the opening paragraph state the core insight?</a:t>
            </a:r>
          </a:p>
        </p:txBody>
      </p:sp>
      <p:sp>
        <p:nvSpPr>
          <p:cNvPr id="4" name="Shape 5">
            <a:extLst>
              <a:ext uri="{FF2B5EF4-FFF2-40B4-BE49-F238E27FC236}">
                <a16:creationId xmlns:a16="http://schemas.microsoft.com/office/drawing/2014/main" id="{7495C147-C568-8A16-B4DD-51D3753D4693}"/>
              </a:ext>
            </a:extLst>
          </p:cNvPr>
          <p:cNvSpPr/>
          <p:nvPr/>
        </p:nvSpPr>
        <p:spPr>
          <a:xfrm>
            <a:off x="518397" y="234376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9" name="Text 6">
            <a:extLst>
              <a:ext uri="{FF2B5EF4-FFF2-40B4-BE49-F238E27FC236}">
                <a16:creationId xmlns:a16="http://schemas.microsoft.com/office/drawing/2014/main" id="{6C1E2AA6-A2E7-A15C-442B-9FC71F63F9D0}"/>
              </a:ext>
            </a:extLst>
          </p:cNvPr>
          <p:cNvSpPr/>
          <p:nvPr/>
        </p:nvSpPr>
        <p:spPr>
          <a:xfrm>
            <a:off x="861297" y="2169118"/>
            <a:ext cx="3703320" cy="548640"/>
          </a:xfrm>
          <a:prstGeom prst="rect">
            <a:avLst/>
          </a:prstGeom>
          <a:noFill/>
          <a:ln/>
        </p:spPr>
        <p:txBody>
          <a:bodyPr wrap="square" rtlCol="0" anchor="ctr"/>
          <a:lstStyle/>
          <a:p>
            <a:pPr>
              <a:lnSpc>
                <a:spcPct val="110000"/>
              </a:lnSpc>
            </a:pPr>
            <a:r>
              <a:rPr lang="en-US" sz="1000"/>
              <a:t>Is scene-setting </a:t>
            </a:r>
            <a:r>
              <a:rPr lang="pl-PL" sz="1000"/>
              <a:t>positioned </a:t>
            </a:r>
            <a:r>
              <a:rPr lang="en-US" sz="1000"/>
              <a:t>after the main point?</a:t>
            </a:r>
          </a:p>
        </p:txBody>
      </p:sp>
      <p:sp>
        <p:nvSpPr>
          <p:cNvPr id="10" name="Shape 7">
            <a:extLst>
              <a:ext uri="{FF2B5EF4-FFF2-40B4-BE49-F238E27FC236}">
                <a16:creationId xmlns:a16="http://schemas.microsoft.com/office/drawing/2014/main" id="{0F490F33-221B-DAD6-F012-CAB8349C4E7C}"/>
              </a:ext>
            </a:extLst>
          </p:cNvPr>
          <p:cNvSpPr/>
          <p:nvPr/>
        </p:nvSpPr>
        <p:spPr>
          <a:xfrm>
            <a:off x="518397" y="2926927"/>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3" name="Text 8">
            <a:extLst>
              <a:ext uri="{FF2B5EF4-FFF2-40B4-BE49-F238E27FC236}">
                <a16:creationId xmlns:a16="http://schemas.microsoft.com/office/drawing/2014/main" id="{5FCBE99F-6B7C-F539-6377-FA4993EA7DB4}"/>
              </a:ext>
            </a:extLst>
          </p:cNvPr>
          <p:cNvSpPr/>
          <p:nvPr/>
        </p:nvSpPr>
        <p:spPr>
          <a:xfrm>
            <a:off x="861297" y="2752048"/>
            <a:ext cx="3703320" cy="548640"/>
          </a:xfrm>
          <a:prstGeom prst="rect">
            <a:avLst/>
          </a:prstGeom>
          <a:noFill/>
          <a:ln/>
        </p:spPr>
        <p:txBody>
          <a:bodyPr wrap="square" rtlCol="0" anchor="ctr"/>
          <a:lstStyle/>
          <a:p>
            <a:pPr>
              <a:lnSpc>
                <a:spcPct val="110000"/>
              </a:lnSpc>
            </a:pPr>
            <a:r>
              <a:rPr lang="en-US" sz="1000"/>
              <a:t>Does every subheading cover exactly one idea?</a:t>
            </a:r>
          </a:p>
        </p:txBody>
      </p:sp>
      <p:sp>
        <p:nvSpPr>
          <p:cNvPr id="14" name="Shape 9">
            <a:extLst>
              <a:ext uri="{FF2B5EF4-FFF2-40B4-BE49-F238E27FC236}">
                <a16:creationId xmlns:a16="http://schemas.microsoft.com/office/drawing/2014/main" id="{5AB631DF-76B8-2134-8ADA-748AA54B4E51}"/>
              </a:ext>
            </a:extLst>
          </p:cNvPr>
          <p:cNvSpPr/>
          <p:nvPr/>
        </p:nvSpPr>
        <p:spPr>
          <a:xfrm>
            <a:off x="518397" y="348632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5" name="Text 10">
            <a:extLst>
              <a:ext uri="{FF2B5EF4-FFF2-40B4-BE49-F238E27FC236}">
                <a16:creationId xmlns:a16="http://schemas.microsoft.com/office/drawing/2014/main" id="{63C859D5-0753-E8FA-8A99-A346B78EF8EB}"/>
              </a:ext>
            </a:extLst>
          </p:cNvPr>
          <p:cNvSpPr/>
          <p:nvPr/>
        </p:nvSpPr>
        <p:spPr>
          <a:xfrm>
            <a:off x="861297" y="3334978"/>
            <a:ext cx="3703320" cy="548640"/>
          </a:xfrm>
          <a:prstGeom prst="rect">
            <a:avLst/>
          </a:prstGeom>
          <a:noFill/>
          <a:ln/>
        </p:spPr>
        <p:txBody>
          <a:bodyPr wrap="square" rtlCol="0" anchor="ctr"/>
          <a:lstStyle/>
          <a:p>
            <a:pPr>
              <a:lnSpc>
                <a:spcPct val="110000"/>
              </a:lnSpc>
            </a:pPr>
            <a:r>
              <a:rPr lang="en-US" sz="1000"/>
              <a:t>Are subheadings descriptive rather than clever?</a:t>
            </a:r>
          </a:p>
        </p:txBody>
      </p:sp>
      <p:sp>
        <p:nvSpPr>
          <p:cNvPr id="17" name="Text 12">
            <a:extLst>
              <a:ext uri="{FF2B5EF4-FFF2-40B4-BE49-F238E27FC236}">
                <a16:creationId xmlns:a16="http://schemas.microsoft.com/office/drawing/2014/main" id="{D3027FA8-C09C-EE6A-5B5E-01A219618A5E}"/>
              </a:ext>
            </a:extLst>
          </p:cNvPr>
          <p:cNvSpPr/>
          <p:nvPr/>
        </p:nvSpPr>
        <p:spPr>
          <a:xfrm>
            <a:off x="5044677" y="1565614"/>
            <a:ext cx="3703320" cy="548640"/>
          </a:xfrm>
          <a:prstGeom prst="rect">
            <a:avLst/>
          </a:prstGeom>
          <a:noFill/>
          <a:ln/>
        </p:spPr>
        <p:txBody>
          <a:bodyPr wrap="square" rtlCol="0" anchor="ctr"/>
          <a:lstStyle/>
          <a:p>
            <a:pPr>
              <a:lnSpc>
                <a:spcPct val="110000"/>
              </a:lnSpc>
            </a:pPr>
            <a:r>
              <a:rPr lang="en-US" sz="1000"/>
              <a:t>Are claims backed by numbers, not superlatives?</a:t>
            </a:r>
          </a:p>
        </p:txBody>
      </p:sp>
      <p:sp>
        <p:nvSpPr>
          <p:cNvPr id="18" name="Shape 13">
            <a:extLst>
              <a:ext uri="{FF2B5EF4-FFF2-40B4-BE49-F238E27FC236}">
                <a16:creationId xmlns:a16="http://schemas.microsoft.com/office/drawing/2014/main" id="{2C9FF61C-4151-1A31-1E01-A19B6126F2C0}"/>
              </a:ext>
            </a:extLst>
          </p:cNvPr>
          <p:cNvSpPr/>
          <p:nvPr/>
        </p:nvSpPr>
        <p:spPr>
          <a:xfrm>
            <a:off x="4701777" y="1743922"/>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4" name="Shape 19">
            <a:extLst>
              <a:ext uri="{FF2B5EF4-FFF2-40B4-BE49-F238E27FC236}">
                <a16:creationId xmlns:a16="http://schemas.microsoft.com/office/drawing/2014/main" id="{7F3F1B33-A4B9-5CDD-0D49-92088EEA460D}"/>
              </a:ext>
            </a:extLst>
          </p:cNvPr>
          <p:cNvSpPr/>
          <p:nvPr/>
        </p:nvSpPr>
        <p:spPr>
          <a:xfrm>
            <a:off x="4701777" y="2343764"/>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5" name="Text 20">
            <a:extLst>
              <a:ext uri="{FF2B5EF4-FFF2-40B4-BE49-F238E27FC236}">
                <a16:creationId xmlns:a16="http://schemas.microsoft.com/office/drawing/2014/main" id="{A7F21301-6F3B-A2CD-8464-696504D5CEA0}"/>
              </a:ext>
            </a:extLst>
          </p:cNvPr>
          <p:cNvSpPr/>
          <p:nvPr/>
        </p:nvSpPr>
        <p:spPr>
          <a:xfrm>
            <a:off x="5044677" y="2186263"/>
            <a:ext cx="3703320" cy="548640"/>
          </a:xfrm>
          <a:prstGeom prst="rect">
            <a:avLst/>
          </a:prstGeom>
          <a:noFill/>
          <a:ln/>
        </p:spPr>
        <p:txBody>
          <a:bodyPr wrap="square" rtlCol="0" anchor="ctr"/>
          <a:lstStyle/>
          <a:p>
            <a:pPr>
              <a:lnSpc>
                <a:spcPct val="110000"/>
              </a:lnSpc>
            </a:pPr>
            <a:r>
              <a:rPr lang="en-US" sz="1000"/>
              <a:t>Is data attributed to a named source?</a:t>
            </a:r>
          </a:p>
        </p:txBody>
      </p:sp>
      <p:sp>
        <p:nvSpPr>
          <p:cNvPr id="26" name="Shape 21">
            <a:extLst>
              <a:ext uri="{FF2B5EF4-FFF2-40B4-BE49-F238E27FC236}">
                <a16:creationId xmlns:a16="http://schemas.microsoft.com/office/drawing/2014/main" id="{21118AB0-D05D-A2BF-A4F3-8EA00BEAD16A}"/>
              </a:ext>
            </a:extLst>
          </p:cNvPr>
          <p:cNvSpPr/>
          <p:nvPr/>
        </p:nvSpPr>
        <p:spPr>
          <a:xfrm>
            <a:off x="4701777" y="2926927"/>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7" name="Text 22">
            <a:extLst>
              <a:ext uri="{FF2B5EF4-FFF2-40B4-BE49-F238E27FC236}">
                <a16:creationId xmlns:a16="http://schemas.microsoft.com/office/drawing/2014/main" id="{77DC2D26-FA24-16D1-03C4-7A059CFA4159}"/>
              </a:ext>
            </a:extLst>
          </p:cNvPr>
          <p:cNvSpPr/>
          <p:nvPr/>
        </p:nvSpPr>
        <p:spPr>
          <a:xfrm>
            <a:off x="5044677" y="2769193"/>
            <a:ext cx="3703320" cy="548640"/>
          </a:xfrm>
          <a:prstGeom prst="rect">
            <a:avLst/>
          </a:prstGeom>
          <a:noFill/>
          <a:ln/>
        </p:spPr>
        <p:txBody>
          <a:bodyPr wrap="square" rtlCol="0" anchor="ctr"/>
          <a:lstStyle/>
          <a:p>
            <a:pPr>
              <a:lnSpc>
                <a:spcPct val="110000"/>
              </a:lnSpc>
            </a:pPr>
            <a:r>
              <a:rPr lang="en-US" sz="1000"/>
              <a:t>Are products and standards named explicitly?</a:t>
            </a:r>
          </a:p>
        </p:txBody>
      </p:sp>
      <p:sp>
        <p:nvSpPr>
          <p:cNvPr id="16" name="Shape 9">
            <a:extLst>
              <a:ext uri="{FF2B5EF4-FFF2-40B4-BE49-F238E27FC236}">
                <a16:creationId xmlns:a16="http://schemas.microsoft.com/office/drawing/2014/main" id="{397A3130-BE7B-B824-7A10-30F5BC0881A6}"/>
              </a:ext>
            </a:extLst>
          </p:cNvPr>
          <p:cNvSpPr/>
          <p:nvPr/>
        </p:nvSpPr>
        <p:spPr>
          <a:xfrm>
            <a:off x="4701777" y="348559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19" name="Text 10">
            <a:extLst>
              <a:ext uri="{FF2B5EF4-FFF2-40B4-BE49-F238E27FC236}">
                <a16:creationId xmlns:a16="http://schemas.microsoft.com/office/drawing/2014/main" id="{0B4435C6-E91A-45D5-1914-919F4D1F7DAE}"/>
              </a:ext>
            </a:extLst>
          </p:cNvPr>
          <p:cNvSpPr/>
          <p:nvPr/>
        </p:nvSpPr>
        <p:spPr>
          <a:xfrm>
            <a:off x="5044677" y="3334248"/>
            <a:ext cx="3703320" cy="548640"/>
          </a:xfrm>
          <a:prstGeom prst="rect">
            <a:avLst/>
          </a:prstGeom>
          <a:noFill/>
          <a:ln/>
        </p:spPr>
        <p:txBody>
          <a:bodyPr wrap="square" rtlCol="0" anchor="ctr"/>
          <a:lstStyle/>
          <a:p>
            <a:pPr>
              <a:lnSpc>
                <a:spcPct val="110000"/>
              </a:lnSpc>
            </a:pPr>
            <a:r>
              <a:rPr lang="en-US" sz="1000"/>
              <a:t>Do links use descriptive, topic-named anchor text?</a:t>
            </a:r>
          </a:p>
        </p:txBody>
      </p:sp>
      <p:sp>
        <p:nvSpPr>
          <p:cNvPr id="20" name="Shape 9">
            <a:extLst>
              <a:ext uri="{FF2B5EF4-FFF2-40B4-BE49-F238E27FC236}">
                <a16:creationId xmlns:a16="http://schemas.microsoft.com/office/drawing/2014/main" id="{3269094E-399A-379A-2D0F-6BDA4398C6C0}"/>
              </a:ext>
            </a:extLst>
          </p:cNvPr>
          <p:cNvSpPr/>
          <p:nvPr/>
        </p:nvSpPr>
        <p:spPr>
          <a:xfrm>
            <a:off x="518397" y="397980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1" name="Text 10">
            <a:extLst>
              <a:ext uri="{FF2B5EF4-FFF2-40B4-BE49-F238E27FC236}">
                <a16:creationId xmlns:a16="http://schemas.microsoft.com/office/drawing/2014/main" id="{3908BC04-10AC-DDF5-8DAC-E3097C00698D}"/>
              </a:ext>
            </a:extLst>
          </p:cNvPr>
          <p:cNvSpPr/>
          <p:nvPr/>
        </p:nvSpPr>
        <p:spPr>
          <a:xfrm>
            <a:off x="861297" y="3828460"/>
            <a:ext cx="3703320" cy="548640"/>
          </a:xfrm>
          <a:prstGeom prst="rect">
            <a:avLst/>
          </a:prstGeom>
          <a:noFill/>
          <a:ln/>
        </p:spPr>
        <p:txBody>
          <a:bodyPr wrap="square" rtlCol="0" anchor="ctr"/>
          <a:lstStyle/>
          <a:p>
            <a:pPr>
              <a:lnSpc>
                <a:spcPct val="110000"/>
              </a:lnSpc>
            </a:pPr>
            <a:r>
              <a:rPr lang="en-US" sz="1000"/>
              <a:t>Is there a 3–5 bullet key-takeaways block?</a:t>
            </a:r>
          </a:p>
        </p:txBody>
      </p:sp>
      <p:sp>
        <p:nvSpPr>
          <p:cNvPr id="22" name="Shape 9">
            <a:extLst>
              <a:ext uri="{FF2B5EF4-FFF2-40B4-BE49-F238E27FC236}">
                <a16:creationId xmlns:a16="http://schemas.microsoft.com/office/drawing/2014/main" id="{0E4F0355-1349-972D-F4E0-D04C18A55CCB}"/>
              </a:ext>
            </a:extLst>
          </p:cNvPr>
          <p:cNvSpPr/>
          <p:nvPr/>
        </p:nvSpPr>
        <p:spPr>
          <a:xfrm>
            <a:off x="4701777" y="3979073"/>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23" name="Text 10">
            <a:extLst>
              <a:ext uri="{FF2B5EF4-FFF2-40B4-BE49-F238E27FC236}">
                <a16:creationId xmlns:a16="http://schemas.microsoft.com/office/drawing/2014/main" id="{7F7D29BD-EAB9-ACCC-C987-EE5FD9400E87}"/>
              </a:ext>
            </a:extLst>
          </p:cNvPr>
          <p:cNvSpPr/>
          <p:nvPr/>
        </p:nvSpPr>
        <p:spPr>
          <a:xfrm>
            <a:off x="5044677" y="3827730"/>
            <a:ext cx="3703320" cy="548640"/>
          </a:xfrm>
          <a:prstGeom prst="rect">
            <a:avLst/>
          </a:prstGeom>
          <a:noFill/>
          <a:ln/>
        </p:spPr>
        <p:txBody>
          <a:bodyPr wrap="square" rtlCol="0" anchor="ctr"/>
          <a:lstStyle/>
          <a:p>
            <a:pPr>
              <a:lnSpc>
                <a:spcPct val="110000"/>
              </a:lnSpc>
            </a:pPr>
            <a:r>
              <a:rPr lang="en-US" sz="1000"/>
              <a:t>Does the post show a visible update date?</a:t>
            </a:r>
          </a:p>
        </p:txBody>
      </p:sp>
    </p:spTree>
    <p:extLst>
      <p:ext uri="{BB962C8B-B14F-4D97-AF65-F5344CB8AC3E}">
        <p14:creationId xmlns:p14="http://schemas.microsoft.com/office/powerpoint/2010/main" val="2421580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8FA24-5E91-237D-1A49-D95CA187FCB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459562A-546E-D483-3160-C5A462219B10}"/>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6" name="Title 5">
            <a:extLst>
              <a:ext uri="{FF2B5EF4-FFF2-40B4-BE49-F238E27FC236}">
                <a16:creationId xmlns:a16="http://schemas.microsoft.com/office/drawing/2014/main" id="{C8957BFB-F61C-7DBC-0634-D0A5E40F7B3A}"/>
              </a:ext>
            </a:extLst>
          </p:cNvPr>
          <p:cNvSpPr>
            <a:spLocks noGrp="1"/>
          </p:cNvSpPr>
          <p:nvPr>
            <p:ph type="title"/>
          </p:nvPr>
        </p:nvSpPr>
        <p:spPr>
          <a:xfrm>
            <a:off x="1191488" y="1341120"/>
            <a:ext cx="6352312" cy="2520255"/>
          </a:xfrm>
        </p:spPr>
        <p:txBody>
          <a:bodyPr/>
          <a:lstStyle/>
          <a:p>
            <a:r>
              <a:rPr lang="en-US"/>
              <a:t>Good thought leadership still needs</a:t>
            </a:r>
            <a:r>
              <a:rPr lang="pl-PL"/>
              <a:t> </a:t>
            </a:r>
            <a:r>
              <a:rPr lang="en-US"/>
              <a:t>a quotable s</a:t>
            </a:r>
            <a:r>
              <a:rPr lang="pl-PL"/>
              <a:t>ource</a:t>
            </a:r>
            <a:r>
              <a:rPr lang="en-US"/>
              <a:t>. Say the </a:t>
            </a:r>
            <a:r>
              <a:rPr lang="pl-PL"/>
              <a:t>important message </a:t>
            </a:r>
            <a:r>
              <a:rPr lang="en-US"/>
              <a:t>first </a:t>
            </a:r>
            <a:r>
              <a:rPr lang="pl-PL"/>
              <a:t>–</a:t>
            </a:r>
            <a:r>
              <a:rPr lang="en-US"/>
              <a:t> </a:t>
            </a:r>
            <a:r>
              <a:rPr lang="pl-PL"/>
              <a:t>then </a:t>
            </a:r>
            <a:r>
              <a:rPr lang="en-US"/>
              <a:t>tell the story around it.</a:t>
            </a:r>
            <a:endParaRPr lang="pl-PL"/>
          </a:p>
        </p:txBody>
      </p:sp>
    </p:spTree>
    <p:extLst>
      <p:ext uri="{BB962C8B-B14F-4D97-AF65-F5344CB8AC3E}">
        <p14:creationId xmlns:p14="http://schemas.microsoft.com/office/powerpoint/2010/main" val="4468570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5B156-B367-ED3D-9CF6-C6E5FE49F13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53020D6-CE84-2423-C5CF-2CCAAE85F6AD}"/>
              </a:ext>
            </a:extLst>
          </p:cNvPr>
          <p:cNvSpPr/>
          <p:nvPr/>
        </p:nvSpPr>
        <p:spPr>
          <a:xfrm>
            <a:off x="742950" y="1820791"/>
            <a:ext cx="7659831" cy="1107996"/>
          </a:xfrm>
          <a:prstGeom prst="rect">
            <a:avLst/>
          </a:prstGeom>
          <a:noFill/>
          <a:ln/>
        </p:spPr>
        <p:txBody>
          <a:bodyPr wrap="square" lIns="0" tIns="0" rIns="0" bIns="0" rtlCol="0" anchor="t">
            <a:spAutoFit/>
          </a:bodyPr>
          <a:lstStyle/>
          <a:p>
            <a:r>
              <a:rPr lang="pl-PL" sz="3600">
                <a:solidFill>
                  <a:schemeClr val="accent5"/>
                </a:solidFill>
              </a:rPr>
              <a:t>Chapter 9: Prompt into Content – Content Reverse Engineering</a:t>
            </a:r>
            <a:endParaRPr lang="en-US" sz="3600">
              <a:solidFill>
                <a:schemeClr val="accent5"/>
              </a:solidFill>
            </a:endParaRPr>
          </a:p>
        </p:txBody>
      </p:sp>
      <p:sp>
        <p:nvSpPr>
          <p:cNvPr id="5" name="Text 2">
            <a:extLst>
              <a:ext uri="{FF2B5EF4-FFF2-40B4-BE49-F238E27FC236}">
                <a16:creationId xmlns:a16="http://schemas.microsoft.com/office/drawing/2014/main" id="{EE61A689-4CE6-3E39-352B-514CFD651DF0}"/>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88AFEEDB-AC76-E874-B8E0-C5967196160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936C3DC7-A7F1-0E15-6F85-0AAE67C21073}"/>
              </a:ext>
            </a:extLst>
          </p:cNvPr>
          <p:cNvSpPr>
            <a:spLocks noGrp="1"/>
          </p:cNvSpPr>
          <p:nvPr>
            <p:ph type="body" sz="quarter" idx="4294967295"/>
          </p:nvPr>
        </p:nvSpPr>
        <p:spPr>
          <a:xfrm>
            <a:off x="742950" y="4108450"/>
            <a:ext cx="3371850" cy="215900"/>
          </a:xfrm>
        </p:spPr>
        <p:txBody>
          <a:bodyPr/>
          <a:lstStyle/>
          <a:p>
            <a:r>
              <a:rPr lang="pl-PL"/>
              <a:t>Jakub Falkowski</a:t>
            </a:r>
          </a:p>
        </p:txBody>
      </p:sp>
    </p:spTree>
    <p:extLst>
      <p:ext uri="{BB962C8B-B14F-4D97-AF65-F5344CB8AC3E}">
        <p14:creationId xmlns:p14="http://schemas.microsoft.com/office/powerpoint/2010/main" val="15081027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4027B-07C3-C94D-18EE-EA8E223E80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2B57744-D4F7-04B8-EF1B-514CD818E8AD}"/>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53C347E4-D749-B125-DB09-47B353D4D4A6}"/>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Proactive vs Reactive GEO</a:t>
            </a:r>
          </a:p>
        </p:txBody>
      </p:sp>
      <p:sp>
        <p:nvSpPr>
          <p:cNvPr id="4" name="Text 2">
            <a:extLst>
              <a:ext uri="{FF2B5EF4-FFF2-40B4-BE49-F238E27FC236}">
                <a16:creationId xmlns:a16="http://schemas.microsoft.com/office/drawing/2014/main" id="{00668DC7-9B08-77BC-A3D1-EE3C8B24E2DE}"/>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From fixing broken answers to architecting the AI knowledge base</a:t>
            </a:r>
            <a:r>
              <a:rPr lang="pl-PL" sz="1100">
                <a:solidFill>
                  <a:schemeClr val="accent5"/>
                </a:solidFill>
                <a:cs typeface="Arial"/>
              </a:rPr>
              <a:t>.</a:t>
            </a:r>
            <a:endParaRPr lang="en-US" sz="1100">
              <a:solidFill>
                <a:schemeClr val="accent5"/>
              </a:solidFill>
              <a:cs typeface="Arial"/>
            </a:endParaRPr>
          </a:p>
        </p:txBody>
      </p:sp>
      <p:graphicFrame>
        <p:nvGraphicFramePr>
          <p:cNvPr id="7" name="Table 6">
            <a:extLst>
              <a:ext uri="{FF2B5EF4-FFF2-40B4-BE49-F238E27FC236}">
                <a16:creationId xmlns:a16="http://schemas.microsoft.com/office/drawing/2014/main" id="{37B1E6D0-11A0-FEE8-C164-970404E7E69B}"/>
              </a:ext>
            </a:extLst>
          </p:cNvPr>
          <p:cNvGraphicFramePr>
            <a:graphicFrameLocks noGrp="1"/>
          </p:cNvGraphicFramePr>
          <p:nvPr>
            <p:extLst>
              <p:ext uri="{D42A27DB-BD31-4B8C-83A1-F6EECF244321}">
                <p14:modId xmlns:p14="http://schemas.microsoft.com/office/powerpoint/2010/main" val="2454365235"/>
              </p:ext>
            </p:extLst>
          </p:nvPr>
        </p:nvGraphicFramePr>
        <p:xfrm>
          <a:off x="1143886" y="2113934"/>
          <a:ext cx="2917751" cy="1977601"/>
        </p:xfrm>
        <a:graphic>
          <a:graphicData uri="http://schemas.openxmlformats.org/drawingml/2006/table">
            <a:tbl>
              <a:tblPr firstRow="1" bandRow="1">
                <a:tableStyleId>{5C22544A-7EE6-4342-B048-85BDC9FD1C3A}</a:tableStyleId>
              </a:tblPr>
              <a:tblGrid>
                <a:gridCol w="2917751">
                  <a:extLst>
                    <a:ext uri="{9D8B030D-6E8A-4147-A177-3AD203B41FA5}">
                      <a16:colId xmlns:a16="http://schemas.microsoft.com/office/drawing/2014/main" val="896702349"/>
                    </a:ext>
                  </a:extLst>
                </a:gridCol>
              </a:tblGrid>
              <a:tr h="262679">
                <a:tc>
                  <a:txBody>
                    <a:bodyPr/>
                    <a:lstStyle/>
                    <a:p>
                      <a:pPr algn="ctr"/>
                      <a:r>
                        <a:rPr lang="pl-PL" sz="1200" b="1">
                          <a:solidFill>
                            <a:schemeClr val="tx1"/>
                          </a:solidFill>
                        </a:rPr>
                        <a:t>Reactive - today</a:t>
                      </a:r>
                      <a:endParaRPr lang="en-US" sz="12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32616454"/>
                  </a:ext>
                </a:extLst>
              </a:tr>
              <a:tr h="1703281">
                <a:tc>
                  <a:txBody>
                    <a:bodyPr/>
                    <a:lstStyle/>
                    <a:p>
                      <a:pPr>
                        <a:spcBef>
                          <a:spcPts val="0"/>
                        </a:spcBef>
                        <a:spcAft>
                          <a:spcPts val="0"/>
                        </a:spcAft>
                        <a:buClr>
                          <a:srgbClr val="3DCD58"/>
                        </a:buClr>
                        <a:defRPr/>
                      </a:pPr>
                      <a:r>
                        <a:rPr lang="en-US" sz="1050" b="1"/>
                        <a:t>Focus</a:t>
                      </a:r>
                      <a:r>
                        <a:rPr lang="pl-PL" sz="1050" b="1"/>
                        <a:t>: </a:t>
                      </a:r>
                      <a:r>
                        <a:rPr lang="pl-PL" sz="1050" b="0"/>
                        <a:t>A</a:t>
                      </a:r>
                      <a:r>
                        <a:rPr lang="en-US" sz="1050" b="0" err="1"/>
                        <a:t>nalyse</a:t>
                      </a:r>
                      <a:r>
                        <a:rPr lang="en-US" sz="1050" b="0"/>
                        <a:t> how AI answers now and try to 'fix' inaccuracies.</a:t>
                      </a:r>
                      <a:endParaRPr lang="pl-PL" sz="1050" b="0"/>
                    </a:p>
                    <a:p>
                      <a:pPr>
                        <a:spcBef>
                          <a:spcPts val="0"/>
                        </a:spcBef>
                        <a:spcAft>
                          <a:spcPts val="0"/>
                        </a:spcAft>
                        <a:buClr>
                          <a:srgbClr val="3DCD58"/>
                        </a:buClr>
                        <a:defRPr/>
                      </a:pPr>
                      <a:endParaRPr lang="pl-PL" sz="1050" b="1"/>
                    </a:p>
                    <a:p>
                      <a:pPr>
                        <a:spcBef>
                          <a:spcPts val="0"/>
                        </a:spcBef>
                        <a:spcAft>
                          <a:spcPts val="0"/>
                        </a:spcAft>
                        <a:buClr>
                          <a:srgbClr val="3DCD58"/>
                        </a:buClr>
                        <a:defRPr/>
                      </a:pPr>
                      <a:r>
                        <a:rPr lang="en-US" sz="1050" b="1"/>
                        <a:t>Action</a:t>
                      </a:r>
                      <a:r>
                        <a:rPr lang="pl-PL" sz="1050" b="1"/>
                        <a:t>: </a:t>
                      </a:r>
                      <a:r>
                        <a:rPr lang="pl-PL" sz="1050" b="0"/>
                        <a:t>r</a:t>
                      </a:r>
                      <a:r>
                        <a:rPr lang="en-US" sz="1050" b="0" err="1"/>
                        <a:t>everse</a:t>
                      </a:r>
                      <a:r>
                        <a:rPr lang="en-US" sz="1050" b="0"/>
                        <a:t>-engineer existing prompts and cited pages.</a:t>
                      </a:r>
                      <a:endParaRPr lang="pl-PL" sz="1050" b="0"/>
                    </a:p>
                    <a:p>
                      <a:pPr>
                        <a:spcBef>
                          <a:spcPts val="0"/>
                        </a:spcBef>
                        <a:spcAft>
                          <a:spcPts val="0"/>
                        </a:spcAft>
                        <a:buClr>
                          <a:srgbClr val="3DCD58"/>
                        </a:buClr>
                        <a:defRPr/>
                      </a:pPr>
                      <a:endParaRPr lang="pl-PL" sz="1050" b="1"/>
                    </a:p>
                    <a:p>
                      <a:pPr>
                        <a:spcBef>
                          <a:spcPts val="0"/>
                        </a:spcBef>
                        <a:spcAft>
                          <a:spcPts val="0"/>
                        </a:spcAft>
                        <a:buClr>
                          <a:srgbClr val="3DCD58"/>
                        </a:buClr>
                        <a:defRPr/>
                      </a:pPr>
                      <a:r>
                        <a:rPr lang="en-US" sz="1050" b="1"/>
                        <a:t>Limitation</a:t>
                      </a:r>
                      <a:r>
                        <a:rPr lang="pl-PL" sz="1050" b="1"/>
                        <a:t>: </a:t>
                      </a:r>
                      <a:r>
                        <a:rPr lang="pl-PL" sz="1050" b="0"/>
                        <a:t>a</a:t>
                      </a:r>
                      <a:r>
                        <a:rPr lang="en-US" sz="1050" b="0" err="1"/>
                        <a:t>lways</a:t>
                      </a:r>
                      <a:r>
                        <a:rPr lang="en-US" sz="1050" b="0"/>
                        <a:t> playing catch-up </a:t>
                      </a:r>
                      <a:r>
                        <a:rPr lang="pl-PL" sz="1050" b="0"/>
                        <a:t>-</a:t>
                      </a:r>
                      <a:r>
                        <a:rPr lang="en-US" sz="1050" b="0"/>
                        <a:t> fighting for space in narratives competitors already 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728453341"/>
                  </a:ext>
                </a:extLst>
              </a:tr>
            </a:tbl>
          </a:graphicData>
        </a:graphic>
      </p:graphicFrame>
      <p:graphicFrame>
        <p:nvGraphicFramePr>
          <p:cNvPr id="5" name="Table 4">
            <a:extLst>
              <a:ext uri="{FF2B5EF4-FFF2-40B4-BE49-F238E27FC236}">
                <a16:creationId xmlns:a16="http://schemas.microsoft.com/office/drawing/2014/main" id="{8C7EFB21-3FA5-EAC3-7A3A-7299557C2E95}"/>
              </a:ext>
            </a:extLst>
          </p:cNvPr>
          <p:cNvGraphicFramePr>
            <a:graphicFrameLocks noGrp="1"/>
          </p:cNvGraphicFramePr>
          <p:nvPr>
            <p:extLst>
              <p:ext uri="{D42A27DB-BD31-4B8C-83A1-F6EECF244321}">
                <p14:modId xmlns:p14="http://schemas.microsoft.com/office/powerpoint/2010/main" val="2970513693"/>
              </p:ext>
            </p:extLst>
          </p:nvPr>
        </p:nvGraphicFramePr>
        <p:xfrm>
          <a:off x="5082363" y="2113935"/>
          <a:ext cx="2917751" cy="1965960"/>
        </p:xfrm>
        <a:graphic>
          <a:graphicData uri="http://schemas.openxmlformats.org/drawingml/2006/table">
            <a:tbl>
              <a:tblPr firstRow="1" bandRow="1">
                <a:tableStyleId>{5C22544A-7EE6-4342-B048-85BDC9FD1C3A}</a:tableStyleId>
              </a:tblPr>
              <a:tblGrid>
                <a:gridCol w="2917751">
                  <a:extLst>
                    <a:ext uri="{9D8B030D-6E8A-4147-A177-3AD203B41FA5}">
                      <a16:colId xmlns:a16="http://schemas.microsoft.com/office/drawing/2014/main" val="896702349"/>
                    </a:ext>
                  </a:extLst>
                </a:gridCol>
              </a:tblGrid>
              <a:tr h="260914">
                <a:tc>
                  <a:txBody>
                    <a:bodyPr/>
                    <a:lstStyle/>
                    <a:p>
                      <a:pPr algn="ctr"/>
                      <a:r>
                        <a:rPr lang="pl-PL" sz="1200" b="1">
                          <a:solidFill>
                            <a:schemeClr val="accent5"/>
                          </a:solidFill>
                        </a:rPr>
                        <a:t>Proactive – tomorrow’s aproach</a:t>
                      </a:r>
                      <a:endParaRPr lang="en-US" sz="1200" b="1">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spcBef>
                          <a:spcPts val="0"/>
                        </a:spcBef>
                        <a:spcAft>
                          <a:spcPts val="0"/>
                        </a:spcAft>
                        <a:buClr>
                          <a:srgbClr val="3DCD58"/>
                        </a:buClr>
                        <a:defRPr/>
                      </a:pPr>
                      <a:r>
                        <a:rPr lang="en-US" sz="1050" b="1"/>
                        <a:t>Focus</a:t>
                      </a:r>
                      <a:r>
                        <a:rPr lang="pl-PL" sz="1050" b="1"/>
                        <a:t>: </a:t>
                      </a:r>
                      <a:r>
                        <a:rPr lang="pl-PL" sz="1050" b="0"/>
                        <a:t>s</a:t>
                      </a:r>
                      <a:r>
                        <a:rPr lang="en-US" sz="1050" b="0" err="1"/>
                        <a:t>hape</a:t>
                      </a:r>
                      <a:r>
                        <a:rPr lang="en-US" sz="1050" b="0"/>
                        <a:t> the narrative before the AI solidifies its understanding.</a:t>
                      </a:r>
                      <a:endParaRPr lang="pl-PL" sz="1050" b="0"/>
                    </a:p>
                    <a:p>
                      <a:pPr>
                        <a:spcBef>
                          <a:spcPts val="0"/>
                        </a:spcBef>
                        <a:spcAft>
                          <a:spcPts val="0"/>
                        </a:spcAft>
                        <a:buClr>
                          <a:srgbClr val="3DCD58"/>
                        </a:buClr>
                        <a:defRPr/>
                      </a:pPr>
                      <a:endParaRPr lang="pl-PL" sz="1050" b="1"/>
                    </a:p>
                    <a:p>
                      <a:pPr>
                        <a:spcBef>
                          <a:spcPts val="0"/>
                        </a:spcBef>
                        <a:spcAft>
                          <a:spcPts val="0"/>
                        </a:spcAft>
                        <a:buClr>
                          <a:srgbClr val="3DCD58"/>
                        </a:buClr>
                        <a:defRPr/>
                      </a:pPr>
                      <a:r>
                        <a:rPr lang="en-US" sz="1050" b="1"/>
                        <a:t>Action</a:t>
                      </a:r>
                      <a:r>
                        <a:rPr lang="pl-PL" sz="1050" b="1"/>
                        <a:t>: </a:t>
                      </a:r>
                      <a:r>
                        <a:rPr lang="pl-PL" sz="1050" b="0"/>
                        <a:t>c</a:t>
                      </a:r>
                      <a:r>
                        <a:rPr lang="en-US" sz="1050" b="0" err="1"/>
                        <a:t>reate</a:t>
                      </a:r>
                      <a:r>
                        <a:rPr lang="en-US" sz="1050" b="0"/>
                        <a:t> 'citation-ready' content pillars from grounded signals and anticipated conversation chains.</a:t>
                      </a:r>
                      <a:endParaRPr lang="pl-PL" sz="1050" b="0"/>
                    </a:p>
                    <a:p>
                      <a:pPr>
                        <a:spcBef>
                          <a:spcPts val="0"/>
                        </a:spcBef>
                        <a:spcAft>
                          <a:spcPts val="0"/>
                        </a:spcAft>
                        <a:buClr>
                          <a:srgbClr val="3DCD58"/>
                        </a:buClr>
                        <a:defRPr/>
                      </a:pPr>
                      <a:endParaRPr lang="pl-PL" sz="1050" b="1"/>
                    </a:p>
                    <a:p>
                      <a:pPr>
                        <a:spcBef>
                          <a:spcPts val="0"/>
                        </a:spcBef>
                        <a:spcAft>
                          <a:spcPts val="0"/>
                        </a:spcAft>
                        <a:buClr>
                          <a:srgbClr val="3DCD58"/>
                        </a:buClr>
                        <a:defRPr/>
                      </a:pPr>
                      <a:r>
                        <a:rPr lang="en-US" sz="1050" b="1"/>
                        <a:t>Advantage</a:t>
                      </a:r>
                      <a:r>
                        <a:rPr lang="pl-PL" sz="1050" b="1"/>
                        <a:t>: </a:t>
                      </a:r>
                      <a:r>
                        <a:rPr lang="pl-PL" sz="1050" b="0"/>
                        <a:t>b</a:t>
                      </a:r>
                      <a:r>
                        <a:rPr lang="en-US" sz="1050" b="0" err="1"/>
                        <a:t>ecome</a:t>
                      </a:r>
                      <a:r>
                        <a:rPr lang="en-US" sz="1050" b="0"/>
                        <a:t> the foundational source </a:t>
                      </a:r>
                      <a:r>
                        <a:rPr lang="pl-PL" sz="1050" b="0"/>
                        <a:t>-</a:t>
                      </a:r>
                      <a:r>
                        <a:rPr lang="en-US" sz="1050" b="0"/>
                        <a:t> forcing competitors to react to our narrative.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cxnSp>
        <p:nvCxnSpPr>
          <p:cNvPr id="8" name="Straight Arrow Connector 7">
            <a:extLst>
              <a:ext uri="{FF2B5EF4-FFF2-40B4-BE49-F238E27FC236}">
                <a16:creationId xmlns:a16="http://schemas.microsoft.com/office/drawing/2014/main" id="{2536A20A-9133-4A6C-2CA7-97AB8A6794CE}"/>
              </a:ext>
            </a:extLst>
          </p:cNvPr>
          <p:cNvCxnSpPr>
            <a:cxnSpLocks/>
            <a:stCxn id="7" idx="3"/>
            <a:endCxn id="5" idx="1"/>
          </p:cNvCxnSpPr>
          <p:nvPr/>
        </p:nvCxnSpPr>
        <p:spPr>
          <a:xfrm flipV="1">
            <a:off x="4061637" y="3096915"/>
            <a:ext cx="1020726" cy="581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CB8DEDE4-A64B-4DCD-F3A0-E4C7EDD9E500}"/>
              </a:ext>
            </a:extLst>
          </p:cNvPr>
          <p:cNvSpPr txBox="1"/>
          <p:nvPr/>
        </p:nvSpPr>
        <p:spPr>
          <a:xfrm>
            <a:off x="1143886" y="4216186"/>
            <a:ext cx="6856228" cy="415498"/>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en-US" sz="1000">
                <a:solidFill>
                  <a:schemeClr val="accent5"/>
                </a:solidFill>
              </a:rPr>
              <a:t>True GEO leadership means moving from fixing broken answers to proactively architecting the AI's knowledge base.</a:t>
            </a:r>
          </a:p>
        </p:txBody>
      </p:sp>
      <p:sp>
        <p:nvSpPr>
          <p:cNvPr id="12" name="TextBox 11">
            <a:extLst>
              <a:ext uri="{FF2B5EF4-FFF2-40B4-BE49-F238E27FC236}">
                <a16:creationId xmlns:a16="http://schemas.microsoft.com/office/drawing/2014/main" id="{AE63814E-A381-F4D1-2D92-B79B0810B6F0}"/>
              </a:ext>
            </a:extLst>
          </p:cNvPr>
          <p:cNvSpPr txBox="1"/>
          <p:nvPr/>
        </p:nvSpPr>
        <p:spPr>
          <a:xfrm>
            <a:off x="1143886" y="1149906"/>
            <a:ext cx="6856228" cy="861774"/>
          </a:xfrm>
          <a:prstGeom prst="rect">
            <a:avLst/>
          </a:prstGeom>
          <a:solidFill>
            <a:schemeClr val="accent5"/>
          </a:solidFill>
          <a:ln>
            <a:solidFill>
              <a:schemeClr val="tx1"/>
            </a:solidFill>
          </a:ln>
        </p:spPr>
        <p:txBody>
          <a:bodyPr wrap="square" lIns="91440" tIns="45720" rIns="91440" bIns="45720" anchor="t">
            <a:spAutoFit/>
          </a:bodyPr>
          <a:lstStyle/>
          <a:p>
            <a:pPr lvl="0">
              <a:defRPr/>
            </a:pPr>
            <a:r>
              <a:rPr lang="pl-PL" sz="1000" b="1"/>
              <a:t>Before we start this chapter:</a:t>
            </a:r>
          </a:p>
          <a:p>
            <a:pPr lvl="0">
              <a:defRPr/>
            </a:pPr>
            <a:r>
              <a:rPr lang="pl-PL" sz="1000"/>
              <a:t>For GEO and AI visibility, it is </a:t>
            </a:r>
            <a:r>
              <a:rPr lang="pl-PL" sz="1000" b="1"/>
              <a:t>very important to be the first – provide the source of narrative</a:t>
            </a:r>
            <a:r>
              <a:rPr lang="pl-PL" sz="1000"/>
              <a:t> before anybody else. </a:t>
            </a:r>
            <a:r>
              <a:rPr lang="pl-PL" sz="1000" b="1"/>
              <a:t>This chapter is what to do when someone else took that  spot</a:t>
            </a:r>
            <a:r>
              <a:rPr lang="pl-PL" sz="1000"/>
              <a:t> from us and now we need to put an effort to claim it. It is very likely we would not need to do this if we would be proactive – securing the top spot first. </a:t>
            </a:r>
            <a:endParaRPr lang="en-US" sz="1000"/>
          </a:p>
        </p:txBody>
      </p:sp>
      <p:sp>
        <p:nvSpPr>
          <p:cNvPr id="6" name="Footer Placeholder 4">
            <a:extLst>
              <a:ext uri="{FF2B5EF4-FFF2-40B4-BE49-F238E27FC236}">
                <a16:creationId xmlns:a16="http://schemas.microsoft.com/office/drawing/2014/main" id="{CFBFA9A5-7AEF-DE7E-5088-CE49304CEF9C}"/>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9" name="Slide Number Placeholder 5">
            <a:extLst>
              <a:ext uri="{FF2B5EF4-FFF2-40B4-BE49-F238E27FC236}">
                <a16:creationId xmlns:a16="http://schemas.microsoft.com/office/drawing/2014/main" id="{0FC45530-85FA-6481-A069-FD648D1BB1F9}"/>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89</a:t>
            </a:fld>
            <a:endParaRPr lang="en-US"/>
          </a:p>
        </p:txBody>
      </p:sp>
    </p:spTree>
    <p:extLst>
      <p:ext uri="{BB962C8B-B14F-4D97-AF65-F5344CB8AC3E}">
        <p14:creationId xmlns:p14="http://schemas.microsoft.com/office/powerpoint/2010/main" val="12392797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E6E7-9695-800E-A80F-62A57D5B94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F7DE7B-113F-4C8D-5829-6EEF8E0B988F}"/>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82E42DDA-4461-BBB3-155F-D40F730A4929}"/>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Prompt optimization – goal and inspiration</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7BB3BBAE-9F5F-5DF0-86E5-10558B8F8F8B}"/>
              </a:ext>
            </a:extLst>
          </p:cNvPr>
          <p:cNvSpPr/>
          <p:nvPr/>
        </p:nvSpPr>
        <p:spPr>
          <a:xfrm>
            <a:off x="342900" y="589788"/>
            <a:ext cx="7886700" cy="274320"/>
          </a:xfrm>
          <a:prstGeom prst="rect">
            <a:avLst/>
          </a:prstGeom>
          <a:noFill/>
          <a:ln/>
        </p:spPr>
        <p:txBody>
          <a:bodyPr wrap="square" lIns="0" tIns="0" rIns="0" bIns="0" rtlCol="0" anchor="ctr"/>
          <a:lstStyle/>
          <a:p>
            <a:r>
              <a:rPr lang="pl-PL" sz="1100" b="1">
                <a:solidFill>
                  <a:schemeClr val="accent5"/>
                </a:solidFill>
                <a:cs typeface="Arial"/>
              </a:rPr>
              <a:t>What if we run out of optimization ideas or simply think that all that could be done is done? </a:t>
            </a:r>
            <a:r>
              <a:rPr lang="pl-PL" sz="1100">
                <a:solidFill>
                  <a:schemeClr val="accent5"/>
                </a:solidFill>
                <a:cs typeface="Arial"/>
              </a:rPr>
              <a:t>Sometimes the best place to look for GEO optimization ideas is what AI considers good content worth to mention and cite.</a:t>
            </a:r>
            <a:endParaRPr lang="en-US" sz="1100">
              <a:solidFill>
                <a:schemeClr val="accent5"/>
              </a:solidFill>
              <a:cs typeface="Arial"/>
            </a:endParaRPr>
          </a:p>
        </p:txBody>
      </p:sp>
      <p:pic>
        <p:nvPicPr>
          <p:cNvPr id="6" name="Picture 5">
            <a:extLst>
              <a:ext uri="{FF2B5EF4-FFF2-40B4-BE49-F238E27FC236}">
                <a16:creationId xmlns:a16="http://schemas.microsoft.com/office/drawing/2014/main" id="{1DF404F1-ED1D-FE99-21AD-3026D8DA8EC5}"/>
              </a:ext>
            </a:extLst>
          </p:cNvPr>
          <p:cNvPicPr>
            <a:picLocks noChangeAspect="1"/>
          </p:cNvPicPr>
          <p:nvPr/>
        </p:nvPicPr>
        <p:blipFill>
          <a:blip r:embed="rId3"/>
          <a:stretch>
            <a:fillRect/>
          </a:stretch>
        </p:blipFill>
        <p:spPr>
          <a:xfrm>
            <a:off x="2187172" y="1173154"/>
            <a:ext cx="4769427" cy="1827216"/>
          </a:xfrm>
          <a:prstGeom prst="rect">
            <a:avLst/>
          </a:prstGeom>
          <a:ln>
            <a:solidFill>
              <a:schemeClr val="tx1"/>
            </a:solidFill>
          </a:ln>
        </p:spPr>
      </p:pic>
      <p:graphicFrame>
        <p:nvGraphicFramePr>
          <p:cNvPr id="7" name="Table 6">
            <a:extLst>
              <a:ext uri="{FF2B5EF4-FFF2-40B4-BE49-F238E27FC236}">
                <a16:creationId xmlns:a16="http://schemas.microsoft.com/office/drawing/2014/main" id="{DED44D0A-9610-C900-278E-914005E85103}"/>
              </a:ext>
            </a:extLst>
          </p:cNvPr>
          <p:cNvGraphicFramePr>
            <a:graphicFrameLocks noGrp="1"/>
          </p:cNvGraphicFramePr>
          <p:nvPr>
            <p:extLst>
              <p:ext uri="{D42A27DB-BD31-4B8C-83A1-F6EECF244321}">
                <p14:modId xmlns:p14="http://schemas.microsoft.com/office/powerpoint/2010/main" val="1597523087"/>
              </p:ext>
            </p:extLst>
          </p:nvPr>
        </p:nvGraphicFramePr>
        <p:xfrm>
          <a:off x="342900" y="3144825"/>
          <a:ext cx="8461664" cy="1485900"/>
        </p:xfrm>
        <a:graphic>
          <a:graphicData uri="http://schemas.openxmlformats.org/drawingml/2006/table">
            <a:tbl>
              <a:tblPr firstRow="1" bandRow="1">
                <a:tableStyleId>{5C22544A-7EE6-4342-B048-85BDC9FD1C3A}</a:tableStyleId>
              </a:tblPr>
              <a:tblGrid>
                <a:gridCol w="8461664">
                  <a:extLst>
                    <a:ext uri="{9D8B030D-6E8A-4147-A177-3AD203B41FA5}">
                      <a16:colId xmlns:a16="http://schemas.microsoft.com/office/drawing/2014/main" val="896702349"/>
                    </a:ext>
                  </a:extLst>
                </a:gridCol>
              </a:tblGrid>
              <a:tr h="260914">
                <a:tc>
                  <a:txBody>
                    <a:bodyPr/>
                    <a:lstStyle/>
                    <a:p>
                      <a:pPr algn="ctr"/>
                      <a:r>
                        <a:rPr lang="en-US" sz="1200" b="1">
                          <a:solidFill>
                            <a:schemeClr val="accent5"/>
                          </a:solidFill>
                        </a:rPr>
                        <a:t>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370840">
                <a:tc>
                  <a:txBody>
                    <a:bodyPr/>
                    <a:lstStyle/>
                    <a:p>
                      <a:pPr>
                        <a:spcBef>
                          <a:spcPts val="0"/>
                        </a:spcBef>
                        <a:spcAft>
                          <a:spcPts val="0"/>
                        </a:spcAft>
                        <a:buClr>
                          <a:srgbClr val="3DCD58"/>
                        </a:buClr>
                        <a:defRPr/>
                      </a:pPr>
                      <a:r>
                        <a:rPr lang="en-US" sz="1050" b="1"/>
                        <a:t>If, despite ongoing efforts, your content is not being recognized by AI, the most effective next step </a:t>
                      </a:r>
                      <a:r>
                        <a:rPr lang="pl-PL" sz="1050" b="1"/>
                        <a:t>may be to </a:t>
                      </a:r>
                      <a:r>
                        <a:rPr lang="en-US" sz="1050" b="1"/>
                        <a:t>examine what content is being cited by AI and reverse-engineer the underlying approach for your own pages.</a:t>
                      </a:r>
                      <a:endParaRPr lang="pl-PL" sz="1050" b="1"/>
                    </a:p>
                    <a:p>
                      <a:pPr>
                        <a:spcBef>
                          <a:spcPts val="0"/>
                        </a:spcBef>
                        <a:spcAft>
                          <a:spcPts val="0"/>
                        </a:spcAft>
                        <a:buClr>
                          <a:srgbClr val="3DCD58"/>
                        </a:buClr>
                        <a:defRPr/>
                      </a:pPr>
                      <a:endParaRPr lang="pl-PL" sz="1050" b="1"/>
                    </a:p>
                    <a:p>
                      <a:pPr>
                        <a:spcBef>
                          <a:spcPts val="0"/>
                        </a:spcBef>
                        <a:spcAft>
                          <a:spcPts val="0"/>
                        </a:spcAft>
                        <a:buClr>
                          <a:srgbClr val="3DCD58"/>
                        </a:buClr>
                        <a:defRPr/>
                      </a:pPr>
                      <a:r>
                        <a:rPr lang="en-US" sz="1050" b="0"/>
                        <a:t>This does not mean copying or closely rewriting that content. Rather, the cited material should be analyzed for its context, keyword usage, tone of voice, and overall messaging. This analysis can then serve as a benchmark to inform and inspire the content strategy for your own page.</a:t>
                      </a:r>
                      <a:r>
                        <a:rPr lang="pl-PL" sz="1050" b="0"/>
                        <a:t> Very important is to also understan the 2 frameworks: </a:t>
                      </a:r>
                      <a:r>
                        <a:rPr lang="pl-PL" sz="1050" b="1"/>
                        <a:t>YMYL and E-E-A-T </a:t>
                      </a:r>
                      <a:r>
                        <a:rPr lang="pl-PL" sz="1050" b="0"/>
                        <a:t>as sometimes they can be absolute #1 AI visibility factor.</a:t>
                      </a:r>
                      <a:endParaRPr lang="en-US" sz="10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sp>
        <p:nvSpPr>
          <p:cNvPr id="5" name="Footer Placeholder 4">
            <a:extLst>
              <a:ext uri="{FF2B5EF4-FFF2-40B4-BE49-F238E27FC236}">
                <a16:creationId xmlns:a16="http://schemas.microsoft.com/office/drawing/2014/main" id="{2C3BF6EC-9F4D-8113-F7CC-11B1108A5E0D}"/>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8" name="Slide Number Placeholder 5">
            <a:extLst>
              <a:ext uri="{FF2B5EF4-FFF2-40B4-BE49-F238E27FC236}">
                <a16:creationId xmlns:a16="http://schemas.microsoft.com/office/drawing/2014/main" id="{ACEF4C42-6B4D-B56D-20EB-72755B241C15}"/>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90</a:t>
            </a:fld>
            <a:endParaRPr lang="en-US"/>
          </a:p>
        </p:txBody>
      </p:sp>
    </p:spTree>
    <p:extLst>
      <p:ext uri="{BB962C8B-B14F-4D97-AF65-F5344CB8AC3E}">
        <p14:creationId xmlns:p14="http://schemas.microsoft.com/office/powerpoint/2010/main" val="17034011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943D0-4572-AB93-6EDB-0A87AA7574F9}"/>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CEB6CB14-F422-5384-42A9-D7E251031DFE}"/>
              </a:ext>
            </a:extLst>
          </p:cNvPr>
          <p:cNvSpPr/>
          <p:nvPr/>
        </p:nvSpPr>
        <p:spPr>
          <a:xfrm>
            <a:off x="557212" y="1189319"/>
            <a:ext cx="2948940" cy="3418254"/>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05278C5D-D648-DFBA-6A9D-1E77BC8DC8C0}"/>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331FC602-6E26-5965-D2BE-1398D783B3DE}"/>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What are YMYL and E-E-A-T?</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6BEF52EE-B615-19BA-E252-D4820726F47E}"/>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There are 2 frameworks that we need to know before we try to understand why our content is not performing.</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565EC6FE-0AD5-A196-0A71-E7E0F2403CF6}"/>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8" name="Slide Number Placeholder 5">
            <a:extLst>
              <a:ext uri="{FF2B5EF4-FFF2-40B4-BE49-F238E27FC236}">
                <a16:creationId xmlns:a16="http://schemas.microsoft.com/office/drawing/2014/main" id="{2D824D8C-9554-A136-E358-98B92857029F}"/>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91</a:t>
            </a:fld>
            <a:endParaRPr lang="en-US"/>
          </a:p>
        </p:txBody>
      </p:sp>
      <p:sp>
        <p:nvSpPr>
          <p:cNvPr id="9" name="TextBox 8">
            <a:extLst>
              <a:ext uri="{FF2B5EF4-FFF2-40B4-BE49-F238E27FC236}">
                <a16:creationId xmlns:a16="http://schemas.microsoft.com/office/drawing/2014/main" id="{1FF17EB5-8FF8-F9B2-99FB-B66A9BC8B156}"/>
              </a:ext>
            </a:extLst>
          </p:cNvPr>
          <p:cNvSpPr txBox="1"/>
          <p:nvPr/>
        </p:nvSpPr>
        <p:spPr>
          <a:xfrm>
            <a:off x="3709035" y="1183559"/>
            <a:ext cx="5206365" cy="3424014"/>
          </a:xfrm>
          <a:prstGeom prst="rect">
            <a:avLst/>
          </a:prstGeom>
          <a:solidFill>
            <a:schemeClr val="accent5"/>
          </a:solidFill>
          <a:ln>
            <a:solidFill>
              <a:schemeClr val="tx1"/>
            </a:solidFill>
          </a:ln>
        </p:spPr>
        <p:txBody>
          <a:bodyPr wrap="square" lIns="91440" tIns="45720" rIns="91440" bIns="45720" anchor="t">
            <a:spAutoFit/>
          </a:bodyPr>
          <a:lstStyle/>
          <a:p>
            <a:pPr lvl="0" algn="ctr">
              <a:defRPr/>
            </a:pPr>
            <a:r>
              <a:rPr lang="pl-PL" sz="1400" b="1"/>
              <a:t>E-E-A-T Framework:</a:t>
            </a:r>
          </a:p>
          <a:p>
            <a:pPr lvl="0">
              <a:defRPr/>
            </a:pPr>
            <a:endParaRPr lang="pl-PL" sz="1050" b="1"/>
          </a:p>
          <a:p>
            <a:pPr lvl="0">
              <a:defRPr/>
            </a:pPr>
            <a:r>
              <a:rPr lang="pl-PL" sz="1050" b="1"/>
              <a:t>Experience</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effectLst/>
              <a:uLnTx/>
              <a:uFillTx/>
              <a:latin typeface="Poppins"/>
              <a:ea typeface="+mn-ea"/>
              <a:cs typeface="+mn-cs"/>
            </a:endParaRPr>
          </a:p>
          <a:p>
            <a:pPr lvl="0">
              <a:buClr>
                <a:srgbClr val="C00000"/>
              </a:buClr>
              <a:defRPr/>
            </a:pPr>
            <a:r>
              <a:rPr lang="en-US" sz="1000"/>
              <a:t>First-hand, real-world experience with the topic — having used the product, visited the place, or lived the situation.</a:t>
            </a:r>
          </a:p>
          <a:p>
            <a:pPr lvl="0">
              <a:buClr>
                <a:srgbClr val="C00000"/>
              </a:buClr>
              <a:defRPr/>
            </a:pPr>
            <a:endParaRPr lang="pl-PL" sz="1000"/>
          </a:p>
          <a:p>
            <a:pPr lvl="0">
              <a:buClr>
                <a:schemeClr val="accent5"/>
              </a:buClr>
              <a:defRPr/>
            </a:pPr>
            <a:r>
              <a:rPr lang="en-US" sz="1050" b="1"/>
              <a:t>Expertise</a:t>
            </a:r>
          </a:p>
          <a:p>
            <a:pPr lvl="0">
              <a:buClr>
                <a:srgbClr val="C00000"/>
              </a:buClr>
              <a:defRPr/>
            </a:pPr>
            <a:endParaRPr lang="pl-PL" sz="1000"/>
          </a:p>
          <a:p>
            <a:pPr lvl="0">
              <a:buClr>
                <a:srgbClr val="C00000"/>
              </a:buClr>
              <a:defRPr/>
            </a:pPr>
            <a:r>
              <a:rPr lang="en-US" sz="1000"/>
              <a:t>Depth of knowledge or skill in the subject, shown through credentials, training, or clear command of the material.</a:t>
            </a:r>
          </a:p>
          <a:p>
            <a:pPr lvl="0">
              <a:buClr>
                <a:srgbClr val="C00000"/>
              </a:buClr>
              <a:defRPr/>
            </a:pPr>
            <a:endParaRPr lang="pl-PL" sz="1000"/>
          </a:p>
          <a:p>
            <a:pPr lvl="0">
              <a:buClr>
                <a:schemeClr val="accent5"/>
              </a:buClr>
              <a:defRPr/>
            </a:pPr>
            <a:r>
              <a:rPr lang="en-US" sz="1050" b="1"/>
              <a:t>Authoritativeness</a:t>
            </a:r>
          </a:p>
          <a:p>
            <a:pPr lvl="0">
              <a:buClr>
                <a:srgbClr val="C00000"/>
              </a:buClr>
              <a:defRPr/>
            </a:pPr>
            <a:endParaRPr lang="pl-PL" sz="1000"/>
          </a:p>
          <a:p>
            <a:pPr lvl="0">
              <a:buClr>
                <a:srgbClr val="C00000"/>
              </a:buClr>
              <a:defRPr/>
            </a:pPr>
            <a:r>
              <a:rPr lang="en-US" sz="1000"/>
              <a:t>Recognition as a go-to source by others in the field — citations, reputation, and inbound references.</a:t>
            </a:r>
          </a:p>
          <a:p>
            <a:pPr lvl="0">
              <a:buClr>
                <a:srgbClr val="C00000"/>
              </a:buClr>
              <a:defRPr/>
            </a:pPr>
            <a:endParaRPr lang="pl-PL" sz="1000"/>
          </a:p>
          <a:p>
            <a:pPr lvl="0">
              <a:buClr>
                <a:schemeClr val="accent5"/>
              </a:buClr>
              <a:defRPr/>
            </a:pPr>
            <a:r>
              <a:rPr lang="en-US" sz="1050" b="1"/>
              <a:t>Trustworthiness</a:t>
            </a:r>
          </a:p>
          <a:p>
            <a:pPr lvl="0">
              <a:buClr>
                <a:srgbClr val="C00000"/>
              </a:buClr>
              <a:defRPr/>
            </a:pPr>
            <a:endParaRPr lang="pl-PL" sz="1000"/>
          </a:p>
          <a:p>
            <a:pPr lvl="0">
              <a:buClr>
                <a:srgbClr val="C00000"/>
              </a:buClr>
              <a:defRPr/>
            </a:pPr>
            <a:r>
              <a:rPr lang="en-US" sz="1000"/>
              <a:t>Accuracy, transparency, and honesty — the most heavily weighted factor, especially for YMYL topics.</a:t>
            </a:r>
          </a:p>
        </p:txBody>
      </p:sp>
      <p:sp>
        <p:nvSpPr>
          <p:cNvPr id="21" name="Shape 3">
            <a:extLst>
              <a:ext uri="{FF2B5EF4-FFF2-40B4-BE49-F238E27FC236}">
                <a16:creationId xmlns:a16="http://schemas.microsoft.com/office/drawing/2014/main" id="{115AD2AC-9E8B-0923-2C96-FC1D9DC55812}"/>
              </a:ext>
            </a:extLst>
          </p:cNvPr>
          <p:cNvSpPr/>
          <p:nvPr/>
        </p:nvSpPr>
        <p:spPr>
          <a:xfrm>
            <a:off x="1685925" y="1389298"/>
            <a:ext cx="548640" cy="579811"/>
          </a:xfrm>
          <a:prstGeom prst="ellipse">
            <a:avLst/>
          </a:prstGeom>
          <a:solidFill>
            <a:schemeClr val="tx1"/>
          </a:solidFill>
          <a:ln/>
        </p:spPr>
        <p:txBody>
          <a:bodyPr/>
          <a:lstStyle/>
          <a:p>
            <a:endParaRPr lang="pl-PL" sz="1350"/>
          </a:p>
        </p:txBody>
      </p:sp>
      <p:sp>
        <p:nvSpPr>
          <p:cNvPr id="23" name="Text 4">
            <a:extLst>
              <a:ext uri="{FF2B5EF4-FFF2-40B4-BE49-F238E27FC236}">
                <a16:creationId xmlns:a16="http://schemas.microsoft.com/office/drawing/2014/main" id="{1C964955-E667-3CCA-573A-79B416681CB4}"/>
              </a:ext>
            </a:extLst>
          </p:cNvPr>
          <p:cNvSpPr/>
          <p:nvPr/>
        </p:nvSpPr>
        <p:spPr>
          <a:xfrm>
            <a:off x="485775" y="2040809"/>
            <a:ext cx="2948940" cy="289906"/>
          </a:xfrm>
          <a:prstGeom prst="rect">
            <a:avLst/>
          </a:prstGeom>
          <a:noFill/>
          <a:ln/>
        </p:spPr>
        <p:txBody>
          <a:bodyPr wrap="square" lIns="0" tIns="0" rIns="0" bIns="0" rtlCol="0" anchor="ctr"/>
          <a:lstStyle/>
          <a:p>
            <a:pPr algn="ctr">
              <a:defRPr/>
            </a:pPr>
            <a:r>
              <a:rPr lang="en-US" sz="1400" b="1"/>
              <a:t>YMYL</a:t>
            </a:r>
          </a:p>
        </p:txBody>
      </p:sp>
      <p:sp>
        <p:nvSpPr>
          <p:cNvPr id="24" name="Text 5">
            <a:extLst>
              <a:ext uri="{FF2B5EF4-FFF2-40B4-BE49-F238E27FC236}">
                <a16:creationId xmlns:a16="http://schemas.microsoft.com/office/drawing/2014/main" id="{638E8CB8-B333-4070-13B4-90295ABDAC92}"/>
              </a:ext>
            </a:extLst>
          </p:cNvPr>
          <p:cNvSpPr/>
          <p:nvPr/>
        </p:nvSpPr>
        <p:spPr>
          <a:xfrm>
            <a:off x="485775" y="2294554"/>
            <a:ext cx="2948940" cy="217429"/>
          </a:xfrm>
          <a:prstGeom prst="rect">
            <a:avLst/>
          </a:prstGeom>
          <a:noFill/>
          <a:ln/>
        </p:spPr>
        <p:txBody>
          <a:bodyPr wrap="square" lIns="0" tIns="0" rIns="0" bIns="0" rtlCol="0" anchor="ctr"/>
          <a:lstStyle/>
          <a:p>
            <a:pPr algn="ctr"/>
            <a:r>
              <a:rPr lang="en-US" sz="1000"/>
              <a:t>“Your Money or Your Life”</a:t>
            </a:r>
          </a:p>
        </p:txBody>
      </p:sp>
      <p:sp>
        <p:nvSpPr>
          <p:cNvPr id="25" name="Text 6">
            <a:extLst>
              <a:ext uri="{FF2B5EF4-FFF2-40B4-BE49-F238E27FC236}">
                <a16:creationId xmlns:a16="http://schemas.microsoft.com/office/drawing/2014/main" id="{BFD6B5AD-350D-21DE-F20C-0B9BF4F984A5}"/>
              </a:ext>
            </a:extLst>
          </p:cNvPr>
          <p:cNvSpPr/>
          <p:nvPr/>
        </p:nvSpPr>
        <p:spPr>
          <a:xfrm>
            <a:off x="760095" y="2658028"/>
            <a:ext cx="2400300" cy="978431"/>
          </a:xfrm>
          <a:prstGeom prst="rect">
            <a:avLst/>
          </a:prstGeom>
          <a:noFill/>
          <a:ln/>
        </p:spPr>
        <p:txBody>
          <a:bodyPr wrap="square" lIns="0" tIns="0" rIns="0" bIns="0" rtlCol="0" anchor="ctr"/>
          <a:lstStyle/>
          <a:p>
            <a:pPr marL="257175" indent="-257175">
              <a:spcAft>
                <a:spcPts val="600"/>
              </a:spcAft>
              <a:buSzPct val="100000"/>
              <a:buChar char="▪"/>
            </a:pPr>
            <a:r>
              <a:rPr lang="en-US" sz="1000"/>
              <a:t>Finance </a:t>
            </a:r>
            <a:r>
              <a:rPr lang="pl-PL" sz="1000"/>
              <a:t>and</a:t>
            </a:r>
            <a:r>
              <a:rPr lang="en-US" sz="1000"/>
              <a:t> investing</a:t>
            </a:r>
          </a:p>
          <a:p>
            <a:pPr marL="257175" indent="-257175">
              <a:spcAft>
                <a:spcPts val="600"/>
              </a:spcAft>
              <a:buSzPct val="100000"/>
              <a:buChar char="▪"/>
            </a:pPr>
            <a:r>
              <a:rPr lang="en-US" sz="1000"/>
              <a:t>Health </a:t>
            </a:r>
            <a:r>
              <a:rPr lang="pl-PL" sz="1000"/>
              <a:t>and</a:t>
            </a:r>
            <a:r>
              <a:rPr lang="en-US" sz="1000"/>
              <a:t> medical</a:t>
            </a:r>
          </a:p>
          <a:p>
            <a:pPr marL="257175" indent="-257175">
              <a:spcAft>
                <a:spcPts val="600"/>
              </a:spcAft>
              <a:buSzPct val="100000"/>
              <a:buChar char="▪"/>
            </a:pPr>
            <a:r>
              <a:rPr lang="en-US" sz="1000"/>
              <a:t>Legal, civic </a:t>
            </a:r>
            <a:r>
              <a:rPr lang="pl-PL" sz="1000"/>
              <a:t>and</a:t>
            </a:r>
            <a:r>
              <a:rPr lang="en-US" sz="1000"/>
              <a:t> safety</a:t>
            </a:r>
          </a:p>
          <a:p>
            <a:pPr marL="257175" indent="-257175">
              <a:spcAft>
                <a:spcPts val="600"/>
              </a:spcAft>
              <a:buSzPct val="100000"/>
              <a:buChar char="▪"/>
            </a:pPr>
            <a:r>
              <a:rPr lang="en-US" sz="1000"/>
              <a:t>Major life decisions</a:t>
            </a:r>
          </a:p>
        </p:txBody>
      </p:sp>
      <p:sp>
        <p:nvSpPr>
          <p:cNvPr id="26" name="Text 7">
            <a:extLst>
              <a:ext uri="{FF2B5EF4-FFF2-40B4-BE49-F238E27FC236}">
                <a16:creationId xmlns:a16="http://schemas.microsoft.com/office/drawing/2014/main" id="{28BBE367-65BA-CC59-61C0-562E75A6FD74}"/>
              </a:ext>
            </a:extLst>
          </p:cNvPr>
          <p:cNvSpPr/>
          <p:nvPr/>
        </p:nvSpPr>
        <p:spPr>
          <a:xfrm>
            <a:off x="725805" y="3732703"/>
            <a:ext cx="2468880" cy="724764"/>
          </a:xfrm>
          <a:prstGeom prst="rect">
            <a:avLst/>
          </a:prstGeom>
          <a:noFill/>
          <a:ln/>
        </p:spPr>
        <p:txBody>
          <a:bodyPr wrap="square" lIns="0" tIns="0" rIns="0" bIns="0" rtlCol="0" anchor="t"/>
          <a:lstStyle/>
          <a:p>
            <a:pPr algn="ctr"/>
            <a:r>
              <a:rPr lang="en-US" sz="1000"/>
              <a:t>Content that can affect a reader’s health, finances, safety, or wellbeing — held to the highest quality bar by search and generative engines alike</a:t>
            </a:r>
            <a:r>
              <a:rPr lang="pl-PL" sz="1000"/>
              <a:t>.</a:t>
            </a:r>
            <a:endParaRPr lang="en-US" sz="825"/>
          </a:p>
        </p:txBody>
      </p:sp>
      <p:pic>
        <p:nvPicPr>
          <p:cNvPr id="29" name="Graphic 28" descr="Weights Uneven with solid fill">
            <a:extLst>
              <a:ext uri="{FF2B5EF4-FFF2-40B4-BE49-F238E27FC236}">
                <a16:creationId xmlns:a16="http://schemas.microsoft.com/office/drawing/2014/main" id="{6EEAF58A-DA9B-F98F-D317-9324178DF5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7356" y="1438786"/>
            <a:ext cx="505778" cy="505778"/>
          </a:xfrm>
          <a:prstGeom prst="rect">
            <a:avLst/>
          </a:prstGeom>
        </p:spPr>
      </p:pic>
    </p:spTree>
    <p:extLst>
      <p:ext uri="{BB962C8B-B14F-4D97-AF65-F5344CB8AC3E}">
        <p14:creationId xmlns:p14="http://schemas.microsoft.com/office/powerpoint/2010/main" val="23354092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67226-685E-DAF3-0E9C-D2195A16536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73BF25-3AE1-489E-CDD2-9A07F5EA5DE2}"/>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3FCA8D16-4C6F-B119-3BDD-6B817D3ED239}"/>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Why are YMYL and E-E-A-T so important?</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0037EBF2-9AF9-9856-0D20-53DE70B6EF2A}"/>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And how knowing them can help us beeing mentioned and cited.</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5B761B17-2C25-A6C3-0B49-0BF4B6E0EC3B}"/>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8" name="Slide Number Placeholder 5">
            <a:extLst>
              <a:ext uri="{FF2B5EF4-FFF2-40B4-BE49-F238E27FC236}">
                <a16:creationId xmlns:a16="http://schemas.microsoft.com/office/drawing/2014/main" id="{20F33CE6-7205-D109-235A-655BEB991E32}"/>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92</a:t>
            </a:fld>
            <a:endParaRPr lang="en-US"/>
          </a:p>
        </p:txBody>
      </p:sp>
      <p:sp>
        <p:nvSpPr>
          <p:cNvPr id="6" name="Shape 2">
            <a:extLst>
              <a:ext uri="{FF2B5EF4-FFF2-40B4-BE49-F238E27FC236}">
                <a16:creationId xmlns:a16="http://schemas.microsoft.com/office/drawing/2014/main" id="{553B3926-44E0-4D56-A643-0359302DF0D8}"/>
              </a:ext>
            </a:extLst>
          </p:cNvPr>
          <p:cNvSpPr/>
          <p:nvPr/>
        </p:nvSpPr>
        <p:spPr>
          <a:xfrm>
            <a:off x="342900" y="1326194"/>
            <a:ext cx="4097655" cy="1423035"/>
          </a:xfrm>
          <a:prstGeom prst="roundRect">
            <a:avLst>
              <a:gd name="adj" fmla="val 5783"/>
            </a:avLst>
          </a:prstGeom>
          <a:solidFill>
            <a:schemeClr val="accent5"/>
          </a:solidFill>
          <a:ln>
            <a:solidFill>
              <a:schemeClr val="tx1"/>
            </a:solidFill>
          </a:ln>
          <a:effectLst>
            <a:outerShdw blurRad="63500" dist="25400" dir="5400000" algn="bl" rotWithShape="0">
              <a:srgbClr val="666666">
                <a:alpha val="20000"/>
              </a:srgbClr>
            </a:outerShdw>
          </a:effectLst>
        </p:spPr>
        <p:txBody>
          <a:bodyPr/>
          <a:lstStyle/>
          <a:p>
            <a:endParaRPr lang="pl-PL"/>
          </a:p>
        </p:txBody>
      </p:sp>
      <p:sp>
        <p:nvSpPr>
          <p:cNvPr id="7" name="Shape 3">
            <a:extLst>
              <a:ext uri="{FF2B5EF4-FFF2-40B4-BE49-F238E27FC236}">
                <a16:creationId xmlns:a16="http://schemas.microsoft.com/office/drawing/2014/main" id="{749DBBC7-C005-6902-0AAB-1DE59F3BC482}"/>
              </a:ext>
            </a:extLst>
          </p:cNvPr>
          <p:cNvSpPr/>
          <p:nvPr/>
        </p:nvSpPr>
        <p:spPr>
          <a:xfrm>
            <a:off x="582930" y="1566224"/>
            <a:ext cx="493776" cy="493776"/>
          </a:xfrm>
          <a:prstGeom prst="ellipse">
            <a:avLst/>
          </a:prstGeom>
          <a:solidFill>
            <a:schemeClr val="tx1"/>
          </a:solidFill>
          <a:ln/>
        </p:spPr>
        <p:txBody>
          <a:bodyPr/>
          <a:lstStyle/>
          <a:p>
            <a:endParaRPr lang="pl-PL"/>
          </a:p>
        </p:txBody>
      </p:sp>
      <p:sp>
        <p:nvSpPr>
          <p:cNvPr id="11" name="Text 4">
            <a:extLst>
              <a:ext uri="{FF2B5EF4-FFF2-40B4-BE49-F238E27FC236}">
                <a16:creationId xmlns:a16="http://schemas.microsoft.com/office/drawing/2014/main" id="{7C176169-52BF-8BC7-A59C-07A159607E62}"/>
              </a:ext>
            </a:extLst>
          </p:cNvPr>
          <p:cNvSpPr/>
          <p:nvPr/>
        </p:nvSpPr>
        <p:spPr>
          <a:xfrm>
            <a:off x="1282446" y="1545650"/>
            <a:ext cx="2918079" cy="274320"/>
          </a:xfrm>
          <a:prstGeom prst="rect">
            <a:avLst/>
          </a:prstGeom>
          <a:noFill/>
          <a:ln/>
        </p:spPr>
        <p:txBody>
          <a:bodyPr wrap="square" lIns="0" tIns="0" rIns="0" bIns="0" rtlCol="0" anchor="t"/>
          <a:lstStyle/>
          <a:p>
            <a:pPr>
              <a:buClr>
                <a:schemeClr val="accent5"/>
              </a:buClr>
              <a:defRPr/>
            </a:pPr>
            <a:r>
              <a:rPr lang="en-US" sz="1050" b="1"/>
              <a:t>Higher stakes, stricter filter</a:t>
            </a:r>
          </a:p>
        </p:txBody>
      </p:sp>
      <p:sp>
        <p:nvSpPr>
          <p:cNvPr id="12" name="Text 5">
            <a:extLst>
              <a:ext uri="{FF2B5EF4-FFF2-40B4-BE49-F238E27FC236}">
                <a16:creationId xmlns:a16="http://schemas.microsoft.com/office/drawing/2014/main" id="{78A28EA0-26F0-F1D0-6863-3E95771DBA6E}"/>
              </a:ext>
            </a:extLst>
          </p:cNvPr>
          <p:cNvSpPr/>
          <p:nvPr/>
        </p:nvSpPr>
        <p:spPr>
          <a:xfrm>
            <a:off x="1282446" y="1840544"/>
            <a:ext cx="2918079" cy="771525"/>
          </a:xfrm>
          <a:prstGeom prst="rect">
            <a:avLst/>
          </a:prstGeom>
          <a:noFill/>
          <a:ln/>
        </p:spPr>
        <p:txBody>
          <a:bodyPr wrap="square" lIns="0" tIns="0" rIns="0" bIns="0" rtlCol="0" anchor="t"/>
          <a:lstStyle/>
          <a:p>
            <a:pPr>
              <a:lnSpc>
                <a:spcPct val="110000"/>
              </a:lnSpc>
              <a:buClr>
                <a:srgbClr val="C00000"/>
              </a:buClr>
              <a:defRPr/>
            </a:pPr>
            <a:r>
              <a:rPr lang="en-US" sz="1000"/>
              <a:t>An AI answer carries the platform’s authority, not just a link — so </a:t>
            </a:r>
            <a:r>
              <a:rPr lang="en-US" sz="1000" b="1"/>
              <a:t>YMYL</a:t>
            </a:r>
            <a:r>
              <a:rPr lang="en-US" sz="1000"/>
              <a:t> sources get vetted harder before they’re used.</a:t>
            </a:r>
          </a:p>
        </p:txBody>
      </p:sp>
      <p:sp>
        <p:nvSpPr>
          <p:cNvPr id="13" name="Shape 6">
            <a:extLst>
              <a:ext uri="{FF2B5EF4-FFF2-40B4-BE49-F238E27FC236}">
                <a16:creationId xmlns:a16="http://schemas.microsoft.com/office/drawing/2014/main" id="{A6E511FC-9EF0-2C3F-00B0-50C8EE095E1D}"/>
              </a:ext>
            </a:extLst>
          </p:cNvPr>
          <p:cNvSpPr/>
          <p:nvPr/>
        </p:nvSpPr>
        <p:spPr>
          <a:xfrm>
            <a:off x="4680585" y="1326194"/>
            <a:ext cx="4097655" cy="1423035"/>
          </a:xfrm>
          <a:prstGeom prst="roundRect">
            <a:avLst>
              <a:gd name="adj" fmla="val 5783"/>
            </a:avLst>
          </a:prstGeom>
          <a:solidFill>
            <a:schemeClr val="accent5"/>
          </a:solidFill>
          <a:ln>
            <a:solidFill>
              <a:schemeClr val="tx1"/>
            </a:solidFill>
          </a:ln>
          <a:effectLst>
            <a:outerShdw blurRad="63500" dist="25400" dir="5400000" algn="bl" rotWithShape="0">
              <a:srgbClr val="666666">
                <a:alpha val="20000"/>
              </a:srgbClr>
            </a:outerShdw>
          </a:effectLst>
        </p:spPr>
        <p:txBody>
          <a:bodyPr/>
          <a:lstStyle/>
          <a:p>
            <a:endParaRPr lang="pl-PL"/>
          </a:p>
        </p:txBody>
      </p:sp>
      <p:sp>
        <p:nvSpPr>
          <p:cNvPr id="14" name="Shape 7">
            <a:extLst>
              <a:ext uri="{FF2B5EF4-FFF2-40B4-BE49-F238E27FC236}">
                <a16:creationId xmlns:a16="http://schemas.microsoft.com/office/drawing/2014/main" id="{91B8A5DD-66BF-6212-FCD4-F5194356732A}"/>
              </a:ext>
            </a:extLst>
          </p:cNvPr>
          <p:cNvSpPr/>
          <p:nvPr/>
        </p:nvSpPr>
        <p:spPr>
          <a:xfrm>
            <a:off x="4920615" y="1566224"/>
            <a:ext cx="493776" cy="493776"/>
          </a:xfrm>
          <a:prstGeom prst="ellipse">
            <a:avLst/>
          </a:prstGeom>
          <a:solidFill>
            <a:schemeClr val="tx1"/>
          </a:solidFill>
          <a:ln/>
        </p:spPr>
        <p:txBody>
          <a:bodyPr/>
          <a:lstStyle/>
          <a:p>
            <a:endParaRPr lang="pl-PL"/>
          </a:p>
        </p:txBody>
      </p:sp>
      <p:sp>
        <p:nvSpPr>
          <p:cNvPr id="16" name="Text 8">
            <a:extLst>
              <a:ext uri="{FF2B5EF4-FFF2-40B4-BE49-F238E27FC236}">
                <a16:creationId xmlns:a16="http://schemas.microsoft.com/office/drawing/2014/main" id="{8F8FF58F-7EA2-C545-B55F-32B96E45F3D5}"/>
              </a:ext>
            </a:extLst>
          </p:cNvPr>
          <p:cNvSpPr/>
          <p:nvPr/>
        </p:nvSpPr>
        <p:spPr>
          <a:xfrm>
            <a:off x="5620131" y="1545650"/>
            <a:ext cx="2918079" cy="274320"/>
          </a:xfrm>
          <a:prstGeom prst="rect">
            <a:avLst/>
          </a:prstGeom>
          <a:noFill/>
          <a:ln/>
        </p:spPr>
        <p:txBody>
          <a:bodyPr wrap="square" lIns="0" tIns="0" rIns="0" bIns="0" rtlCol="0" anchor="t"/>
          <a:lstStyle/>
          <a:p>
            <a:pPr>
              <a:buClr>
                <a:schemeClr val="accent5"/>
              </a:buClr>
              <a:defRPr/>
            </a:pPr>
            <a:r>
              <a:rPr lang="en-US" sz="1050" b="1"/>
              <a:t>E-E-A-T is the trust proxy</a:t>
            </a:r>
          </a:p>
        </p:txBody>
      </p:sp>
      <p:sp>
        <p:nvSpPr>
          <p:cNvPr id="17" name="Text 9">
            <a:extLst>
              <a:ext uri="{FF2B5EF4-FFF2-40B4-BE49-F238E27FC236}">
                <a16:creationId xmlns:a16="http://schemas.microsoft.com/office/drawing/2014/main" id="{441D489C-82C4-4AEF-41EA-94F316AF7C26}"/>
              </a:ext>
            </a:extLst>
          </p:cNvPr>
          <p:cNvSpPr/>
          <p:nvPr/>
        </p:nvSpPr>
        <p:spPr>
          <a:xfrm>
            <a:off x="5620131" y="1840544"/>
            <a:ext cx="2918079" cy="771525"/>
          </a:xfrm>
          <a:prstGeom prst="rect">
            <a:avLst/>
          </a:prstGeom>
          <a:noFill/>
          <a:ln/>
        </p:spPr>
        <p:txBody>
          <a:bodyPr wrap="square" lIns="0" tIns="0" rIns="0" bIns="0" rtlCol="0" anchor="t"/>
          <a:lstStyle/>
          <a:p>
            <a:pPr>
              <a:lnSpc>
                <a:spcPct val="110000"/>
              </a:lnSpc>
              <a:buClr>
                <a:srgbClr val="C00000"/>
              </a:buClr>
              <a:defRPr/>
            </a:pPr>
            <a:r>
              <a:rPr lang="en-US" sz="1000"/>
              <a:t>AI can’t verify truth directly, so it leans on experience, expertise, authority, and trust to judge who’s citable.</a:t>
            </a:r>
          </a:p>
        </p:txBody>
      </p:sp>
      <p:sp>
        <p:nvSpPr>
          <p:cNvPr id="18" name="Shape 10">
            <a:extLst>
              <a:ext uri="{FF2B5EF4-FFF2-40B4-BE49-F238E27FC236}">
                <a16:creationId xmlns:a16="http://schemas.microsoft.com/office/drawing/2014/main" id="{835F999B-2B03-DD85-9E2F-77F66EF716D9}"/>
              </a:ext>
            </a:extLst>
          </p:cNvPr>
          <p:cNvSpPr/>
          <p:nvPr/>
        </p:nvSpPr>
        <p:spPr>
          <a:xfrm>
            <a:off x="342900" y="2989259"/>
            <a:ext cx="4097655" cy="1423035"/>
          </a:xfrm>
          <a:prstGeom prst="roundRect">
            <a:avLst>
              <a:gd name="adj" fmla="val 5783"/>
            </a:avLst>
          </a:prstGeom>
          <a:solidFill>
            <a:schemeClr val="accent5"/>
          </a:solidFill>
          <a:ln>
            <a:solidFill>
              <a:schemeClr val="tx1"/>
            </a:solidFill>
          </a:ln>
          <a:effectLst>
            <a:outerShdw blurRad="63500" dist="25400" dir="5400000" algn="bl" rotWithShape="0">
              <a:srgbClr val="666666">
                <a:alpha val="20000"/>
              </a:srgbClr>
            </a:outerShdw>
          </a:effectLst>
        </p:spPr>
        <p:txBody>
          <a:bodyPr/>
          <a:lstStyle/>
          <a:p>
            <a:endParaRPr lang="pl-PL"/>
          </a:p>
        </p:txBody>
      </p:sp>
      <p:sp>
        <p:nvSpPr>
          <p:cNvPr id="19" name="Shape 11">
            <a:extLst>
              <a:ext uri="{FF2B5EF4-FFF2-40B4-BE49-F238E27FC236}">
                <a16:creationId xmlns:a16="http://schemas.microsoft.com/office/drawing/2014/main" id="{6931BEC6-BE87-D29D-D68D-E81950750836}"/>
              </a:ext>
            </a:extLst>
          </p:cNvPr>
          <p:cNvSpPr/>
          <p:nvPr/>
        </p:nvSpPr>
        <p:spPr>
          <a:xfrm>
            <a:off x="582930" y="3229289"/>
            <a:ext cx="493776" cy="493776"/>
          </a:xfrm>
          <a:prstGeom prst="ellipse">
            <a:avLst/>
          </a:prstGeom>
          <a:solidFill>
            <a:schemeClr val="tx1"/>
          </a:solidFill>
          <a:ln/>
        </p:spPr>
        <p:txBody>
          <a:bodyPr/>
          <a:lstStyle/>
          <a:p>
            <a:endParaRPr lang="pl-PL"/>
          </a:p>
        </p:txBody>
      </p:sp>
      <p:sp>
        <p:nvSpPr>
          <p:cNvPr id="22" name="Text 12">
            <a:extLst>
              <a:ext uri="{FF2B5EF4-FFF2-40B4-BE49-F238E27FC236}">
                <a16:creationId xmlns:a16="http://schemas.microsoft.com/office/drawing/2014/main" id="{9B0A665E-271A-DACC-AB38-E26810A6455F}"/>
              </a:ext>
            </a:extLst>
          </p:cNvPr>
          <p:cNvSpPr/>
          <p:nvPr/>
        </p:nvSpPr>
        <p:spPr>
          <a:xfrm>
            <a:off x="1282446" y="3208715"/>
            <a:ext cx="2918079" cy="274320"/>
          </a:xfrm>
          <a:prstGeom prst="rect">
            <a:avLst/>
          </a:prstGeom>
          <a:noFill/>
          <a:ln/>
        </p:spPr>
        <p:txBody>
          <a:bodyPr wrap="square" lIns="0" tIns="0" rIns="0" bIns="0" rtlCol="0" anchor="t"/>
          <a:lstStyle/>
          <a:p>
            <a:pPr>
              <a:buClr>
                <a:schemeClr val="accent5"/>
              </a:buClr>
              <a:defRPr/>
            </a:pPr>
            <a:r>
              <a:rPr lang="en-US" sz="1050" b="1"/>
              <a:t>Fewer citations, harder cut</a:t>
            </a:r>
          </a:p>
        </p:txBody>
      </p:sp>
      <p:sp>
        <p:nvSpPr>
          <p:cNvPr id="28" name="Text 13">
            <a:extLst>
              <a:ext uri="{FF2B5EF4-FFF2-40B4-BE49-F238E27FC236}">
                <a16:creationId xmlns:a16="http://schemas.microsoft.com/office/drawing/2014/main" id="{C0AB0CF7-EA77-CCE4-9388-0E6733196AE1}"/>
              </a:ext>
            </a:extLst>
          </p:cNvPr>
          <p:cNvSpPr/>
          <p:nvPr/>
        </p:nvSpPr>
        <p:spPr>
          <a:xfrm>
            <a:off x="1282446" y="3503609"/>
            <a:ext cx="2918079" cy="771525"/>
          </a:xfrm>
          <a:prstGeom prst="rect">
            <a:avLst/>
          </a:prstGeom>
          <a:noFill/>
          <a:ln/>
        </p:spPr>
        <p:txBody>
          <a:bodyPr wrap="square" lIns="0" tIns="0" rIns="0" bIns="0" rtlCol="0" anchor="t"/>
          <a:lstStyle/>
          <a:p>
            <a:pPr>
              <a:lnSpc>
                <a:spcPct val="110000"/>
              </a:lnSpc>
              <a:buClr>
                <a:srgbClr val="C00000"/>
              </a:buClr>
              <a:defRPr/>
            </a:pPr>
            <a:r>
              <a:rPr lang="en-US" sz="1000"/>
              <a:t>Search shows 10 links; AI answers cite 3–5. Weak </a:t>
            </a:r>
            <a:r>
              <a:rPr lang="en-US" sz="1000" b="1"/>
              <a:t>E-E-A-T</a:t>
            </a:r>
            <a:r>
              <a:rPr lang="en-US" sz="1000"/>
              <a:t> means exclusion — not just a lower rank.</a:t>
            </a:r>
          </a:p>
        </p:txBody>
      </p:sp>
      <p:sp>
        <p:nvSpPr>
          <p:cNvPr id="30" name="Shape 14">
            <a:extLst>
              <a:ext uri="{FF2B5EF4-FFF2-40B4-BE49-F238E27FC236}">
                <a16:creationId xmlns:a16="http://schemas.microsoft.com/office/drawing/2014/main" id="{02DE26EA-FCB1-89C5-4997-E5CF4377D24C}"/>
              </a:ext>
            </a:extLst>
          </p:cNvPr>
          <p:cNvSpPr/>
          <p:nvPr/>
        </p:nvSpPr>
        <p:spPr>
          <a:xfrm>
            <a:off x="4680585" y="2989259"/>
            <a:ext cx="4097655" cy="1423035"/>
          </a:xfrm>
          <a:prstGeom prst="roundRect">
            <a:avLst>
              <a:gd name="adj" fmla="val 5783"/>
            </a:avLst>
          </a:prstGeom>
          <a:solidFill>
            <a:schemeClr val="accent5"/>
          </a:solidFill>
          <a:ln>
            <a:solidFill>
              <a:schemeClr val="tx1"/>
            </a:solidFill>
          </a:ln>
          <a:effectLst>
            <a:outerShdw blurRad="63500" dist="25400" dir="5400000" algn="bl" rotWithShape="0">
              <a:srgbClr val="666666">
                <a:alpha val="20000"/>
              </a:srgbClr>
            </a:outerShdw>
          </a:effectLst>
        </p:spPr>
        <p:txBody>
          <a:bodyPr/>
          <a:lstStyle/>
          <a:p>
            <a:endParaRPr lang="pl-PL"/>
          </a:p>
        </p:txBody>
      </p:sp>
      <p:sp>
        <p:nvSpPr>
          <p:cNvPr id="31" name="Shape 15">
            <a:extLst>
              <a:ext uri="{FF2B5EF4-FFF2-40B4-BE49-F238E27FC236}">
                <a16:creationId xmlns:a16="http://schemas.microsoft.com/office/drawing/2014/main" id="{8524875B-78F3-D88C-11C1-F41EF7491259}"/>
              </a:ext>
            </a:extLst>
          </p:cNvPr>
          <p:cNvSpPr/>
          <p:nvPr/>
        </p:nvSpPr>
        <p:spPr>
          <a:xfrm>
            <a:off x="4920615" y="3229289"/>
            <a:ext cx="493776" cy="493776"/>
          </a:xfrm>
          <a:prstGeom prst="ellipse">
            <a:avLst/>
          </a:prstGeom>
          <a:solidFill>
            <a:schemeClr val="tx1"/>
          </a:solidFill>
          <a:ln/>
        </p:spPr>
        <p:txBody>
          <a:bodyPr/>
          <a:lstStyle/>
          <a:p>
            <a:endParaRPr lang="pl-PL"/>
          </a:p>
        </p:txBody>
      </p:sp>
      <p:sp>
        <p:nvSpPr>
          <p:cNvPr id="33" name="Text 16">
            <a:extLst>
              <a:ext uri="{FF2B5EF4-FFF2-40B4-BE49-F238E27FC236}">
                <a16:creationId xmlns:a16="http://schemas.microsoft.com/office/drawing/2014/main" id="{121344E6-B99D-83E4-6C68-8F3C61924031}"/>
              </a:ext>
            </a:extLst>
          </p:cNvPr>
          <p:cNvSpPr/>
          <p:nvPr/>
        </p:nvSpPr>
        <p:spPr>
          <a:xfrm>
            <a:off x="5620131" y="3208715"/>
            <a:ext cx="2918079" cy="274320"/>
          </a:xfrm>
          <a:prstGeom prst="rect">
            <a:avLst/>
          </a:prstGeom>
          <a:noFill/>
          <a:ln/>
        </p:spPr>
        <p:txBody>
          <a:bodyPr wrap="square" lIns="0" tIns="0" rIns="0" bIns="0" rtlCol="0" anchor="t"/>
          <a:lstStyle/>
          <a:p>
            <a:pPr>
              <a:buClr>
                <a:schemeClr val="accent5"/>
              </a:buClr>
              <a:defRPr/>
            </a:pPr>
            <a:r>
              <a:rPr lang="en-US" sz="1050" b="1"/>
              <a:t>Trust is hardest to fake</a:t>
            </a:r>
          </a:p>
        </p:txBody>
      </p:sp>
      <p:sp>
        <p:nvSpPr>
          <p:cNvPr id="34" name="Text 17">
            <a:extLst>
              <a:ext uri="{FF2B5EF4-FFF2-40B4-BE49-F238E27FC236}">
                <a16:creationId xmlns:a16="http://schemas.microsoft.com/office/drawing/2014/main" id="{7511176A-B515-3C4C-93C4-27D5DE0375EB}"/>
              </a:ext>
            </a:extLst>
          </p:cNvPr>
          <p:cNvSpPr/>
          <p:nvPr/>
        </p:nvSpPr>
        <p:spPr>
          <a:xfrm>
            <a:off x="5620131" y="3503609"/>
            <a:ext cx="2918079" cy="771525"/>
          </a:xfrm>
          <a:prstGeom prst="rect">
            <a:avLst/>
          </a:prstGeom>
          <a:noFill/>
          <a:ln/>
        </p:spPr>
        <p:txBody>
          <a:bodyPr wrap="square" lIns="0" tIns="0" rIns="0" bIns="0" rtlCol="0" anchor="t"/>
          <a:lstStyle/>
          <a:p>
            <a:pPr>
              <a:lnSpc>
                <a:spcPct val="110000"/>
              </a:lnSpc>
              <a:buClr>
                <a:srgbClr val="C00000"/>
              </a:buClr>
              <a:defRPr/>
            </a:pPr>
            <a:r>
              <a:rPr lang="en-US" sz="1000"/>
              <a:t>Real credentials, transparent authorship, and consistent accuracy are what actually earn the citation.</a:t>
            </a:r>
          </a:p>
        </p:txBody>
      </p:sp>
      <p:sp>
        <p:nvSpPr>
          <p:cNvPr id="35" name="TextBox 34">
            <a:extLst>
              <a:ext uri="{FF2B5EF4-FFF2-40B4-BE49-F238E27FC236}">
                <a16:creationId xmlns:a16="http://schemas.microsoft.com/office/drawing/2014/main" id="{9C793921-5378-F959-0314-A87D424CC9C5}"/>
              </a:ext>
            </a:extLst>
          </p:cNvPr>
          <p:cNvSpPr txBox="1"/>
          <p:nvPr/>
        </p:nvSpPr>
        <p:spPr>
          <a:xfrm>
            <a:off x="2360364" y="4626103"/>
            <a:ext cx="4423044" cy="261610"/>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Important: </a:t>
            </a:r>
            <a:r>
              <a:rPr lang="en-US" sz="1000">
                <a:solidFill>
                  <a:schemeClr val="accent5"/>
                </a:solidFill>
              </a:rPr>
              <a:t>no E-E-A-T, no citation — especially on YMYL topics.</a:t>
            </a:r>
          </a:p>
        </p:txBody>
      </p:sp>
      <p:pic>
        <p:nvPicPr>
          <p:cNvPr id="37" name="Graphic 36" descr="Shield Tick with solid fill">
            <a:extLst>
              <a:ext uri="{FF2B5EF4-FFF2-40B4-BE49-F238E27FC236}">
                <a16:creationId xmlns:a16="http://schemas.microsoft.com/office/drawing/2014/main" id="{1A13D99E-5BD6-73EA-EF1B-025DD6D90B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0360" y="3269034"/>
            <a:ext cx="414286" cy="414286"/>
          </a:xfrm>
          <a:prstGeom prst="rect">
            <a:avLst/>
          </a:prstGeom>
        </p:spPr>
      </p:pic>
      <p:pic>
        <p:nvPicPr>
          <p:cNvPr id="39" name="Graphic 38" descr="Graduation cap with solid fill">
            <a:extLst>
              <a:ext uri="{FF2B5EF4-FFF2-40B4-BE49-F238E27FC236}">
                <a16:creationId xmlns:a16="http://schemas.microsoft.com/office/drawing/2014/main" id="{A59C7533-FCBF-890C-069F-B502A66BCA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0360" y="1612827"/>
            <a:ext cx="414286" cy="414286"/>
          </a:xfrm>
          <a:prstGeom prst="rect">
            <a:avLst/>
          </a:prstGeom>
        </p:spPr>
      </p:pic>
      <p:pic>
        <p:nvPicPr>
          <p:cNvPr id="41" name="Graphic 40" descr="Court with solid fill">
            <a:extLst>
              <a:ext uri="{FF2B5EF4-FFF2-40B4-BE49-F238E27FC236}">
                <a16:creationId xmlns:a16="http://schemas.microsoft.com/office/drawing/2014/main" id="{D139C4DC-0D57-43B5-5BD1-B90787F9A0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675" y="3269034"/>
            <a:ext cx="414286" cy="414286"/>
          </a:xfrm>
          <a:prstGeom prst="rect">
            <a:avLst/>
          </a:prstGeom>
        </p:spPr>
      </p:pic>
      <p:pic>
        <p:nvPicPr>
          <p:cNvPr id="43" name="Graphic 42" descr="Filter with solid fill">
            <a:extLst>
              <a:ext uri="{FF2B5EF4-FFF2-40B4-BE49-F238E27FC236}">
                <a16:creationId xmlns:a16="http://schemas.microsoft.com/office/drawing/2014/main" id="{603585C6-6D0C-5189-B26F-13E8DF8B8C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2675" y="1623425"/>
            <a:ext cx="414286" cy="414286"/>
          </a:xfrm>
          <a:prstGeom prst="rect">
            <a:avLst/>
          </a:prstGeom>
        </p:spPr>
      </p:pic>
    </p:spTree>
    <p:extLst>
      <p:ext uri="{BB962C8B-B14F-4D97-AF65-F5344CB8AC3E}">
        <p14:creationId xmlns:p14="http://schemas.microsoft.com/office/powerpoint/2010/main" val="22707987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B0A01-C233-10F5-E615-296575FDE1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F4B977A-98A4-6C92-704D-49D4EA8EAEBB}"/>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42EF2FEB-25DF-3EAE-FA65-965DFB6B0715}"/>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latin typeface="+mj-lt"/>
                <a:ea typeface="+mj-ea"/>
                <a:cs typeface="Arial"/>
              </a:rPr>
              <a:t>The </a:t>
            </a:r>
            <a:r>
              <a:rPr lang="pl-PL" sz="2200">
                <a:solidFill>
                  <a:schemeClr val="accent5"/>
                </a:solidFill>
                <a:latin typeface="+mj-lt"/>
                <a:ea typeface="+mj-ea"/>
                <a:cs typeface="Arial"/>
              </a:rPr>
              <a:t>How</a:t>
            </a:r>
            <a:r>
              <a:rPr lang="en-US" sz="2200">
                <a:solidFill>
                  <a:schemeClr val="accent5"/>
                </a:solidFill>
                <a:latin typeface="+mj-lt"/>
                <a:ea typeface="+mj-ea"/>
                <a:cs typeface="Arial"/>
              </a:rPr>
              <a:t>: a 5-step prompt audit</a:t>
            </a:r>
          </a:p>
        </p:txBody>
      </p:sp>
      <p:sp>
        <p:nvSpPr>
          <p:cNvPr id="4" name="Text 2">
            <a:extLst>
              <a:ext uri="{FF2B5EF4-FFF2-40B4-BE49-F238E27FC236}">
                <a16:creationId xmlns:a16="http://schemas.microsoft.com/office/drawing/2014/main" id="{8DB66006-EA22-9176-E4A5-CF065912D8B6}"/>
              </a:ext>
            </a:extLst>
          </p:cNvPr>
          <p:cNvSpPr/>
          <p:nvPr/>
        </p:nvSpPr>
        <p:spPr>
          <a:xfrm>
            <a:off x="342900" y="661797"/>
            <a:ext cx="7886700" cy="274320"/>
          </a:xfrm>
          <a:prstGeom prst="rect">
            <a:avLst/>
          </a:prstGeom>
          <a:noFill/>
          <a:ln/>
        </p:spPr>
        <p:txBody>
          <a:bodyPr wrap="square" lIns="0" tIns="0" rIns="0" bIns="0" rtlCol="0" anchor="ctr"/>
          <a:lstStyle/>
          <a:p>
            <a:r>
              <a:rPr lang="en-US" sz="1100">
                <a:solidFill>
                  <a:schemeClr val="accent5"/>
                </a:solidFill>
                <a:cs typeface="Arial"/>
              </a:rPr>
              <a:t>Run this on every prompt where Schneider Electric is absent from the AI answer</a:t>
            </a:r>
            <a:r>
              <a:rPr lang="pl-PL" sz="1100">
                <a:solidFill>
                  <a:schemeClr val="accent5"/>
                </a:solidFill>
                <a:cs typeface="Arial"/>
              </a:rPr>
              <a:t> - e</a:t>
            </a:r>
            <a:r>
              <a:rPr lang="en-US" sz="1100">
                <a:solidFill>
                  <a:schemeClr val="accent5"/>
                </a:solidFill>
                <a:cs typeface="Arial"/>
              </a:rPr>
              <a:t>ach step below unpacks the specific questions to ask and what to log.</a:t>
            </a:r>
          </a:p>
          <a:p>
            <a:r>
              <a:rPr lang="pl-PL" sz="1100">
                <a:solidFill>
                  <a:schemeClr val="accent5"/>
                </a:solidFill>
                <a:cs typeface="Arial"/>
              </a:rPr>
              <a:t>  </a:t>
            </a:r>
            <a:endParaRPr lang="en-US" sz="1100">
              <a:solidFill>
                <a:schemeClr val="accent5"/>
              </a:solidFill>
              <a:cs typeface="Arial"/>
            </a:endParaRPr>
          </a:p>
        </p:txBody>
      </p:sp>
      <p:sp>
        <p:nvSpPr>
          <p:cNvPr id="11" name="Shape 2">
            <a:extLst>
              <a:ext uri="{FF2B5EF4-FFF2-40B4-BE49-F238E27FC236}">
                <a16:creationId xmlns:a16="http://schemas.microsoft.com/office/drawing/2014/main" id="{85D17631-0616-AE51-224B-B31BC38D8849}"/>
              </a:ext>
            </a:extLst>
          </p:cNvPr>
          <p:cNvSpPr/>
          <p:nvPr/>
        </p:nvSpPr>
        <p:spPr>
          <a:xfrm>
            <a:off x="396932" y="2157499"/>
            <a:ext cx="1474470" cy="1577340"/>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12" name="Shape 3">
            <a:extLst>
              <a:ext uri="{FF2B5EF4-FFF2-40B4-BE49-F238E27FC236}">
                <a16:creationId xmlns:a16="http://schemas.microsoft.com/office/drawing/2014/main" id="{4FF968EF-FC81-5C97-00D3-B9584B6CCE95}"/>
              </a:ext>
            </a:extLst>
          </p:cNvPr>
          <p:cNvSpPr/>
          <p:nvPr/>
        </p:nvSpPr>
        <p:spPr>
          <a:xfrm>
            <a:off x="894137" y="2328949"/>
            <a:ext cx="480060" cy="480060"/>
          </a:xfrm>
          <a:prstGeom prst="ellipse">
            <a:avLst/>
          </a:prstGeom>
          <a:solidFill>
            <a:schemeClr val="tx1"/>
          </a:solidFill>
          <a:ln/>
        </p:spPr>
        <p:txBody>
          <a:bodyPr/>
          <a:lstStyle/>
          <a:p>
            <a:endParaRPr lang="pl-PL" sz="1350"/>
          </a:p>
        </p:txBody>
      </p:sp>
      <p:pic>
        <p:nvPicPr>
          <p:cNvPr id="13" name="Image 0" descr="/home/claude/geo_deck/icons/search.png">
            <a:extLst>
              <a:ext uri="{FF2B5EF4-FFF2-40B4-BE49-F238E27FC236}">
                <a16:creationId xmlns:a16="http://schemas.microsoft.com/office/drawing/2014/main" id="{5D4567DD-85BA-FBC7-AF2B-8531E3B63ACF}"/>
              </a:ext>
            </a:extLst>
          </p:cNvPr>
          <p:cNvPicPr>
            <a:picLocks noChangeAspect="1"/>
          </p:cNvPicPr>
          <p:nvPr/>
        </p:nvPicPr>
        <p:blipFill>
          <a:blip r:embed="rId3"/>
          <a:stretch>
            <a:fillRect/>
          </a:stretch>
        </p:blipFill>
        <p:spPr>
          <a:xfrm>
            <a:off x="997007" y="2431819"/>
            <a:ext cx="274320" cy="274320"/>
          </a:xfrm>
          <a:prstGeom prst="rect">
            <a:avLst/>
          </a:prstGeom>
          <a:solidFill>
            <a:schemeClr val="tx1"/>
          </a:solidFill>
        </p:spPr>
      </p:pic>
      <p:sp>
        <p:nvSpPr>
          <p:cNvPr id="14" name="Text 4">
            <a:extLst>
              <a:ext uri="{FF2B5EF4-FFF2-40B4-BE49-F238E27FC236}">
                <a16:creationId xmlns:a16="http://schemas.microsoft.com/office/drawing/2014/main" id="{ACD47F7B-E7B1-C430-9A96-2D95AA9F0BF4}"/>
              </a:ext>
            </a:extLst>
          </p:cNvPr>
          <p:cNvSpPr/>
          <p:nvPr/>
        </p:nvSpPr>
        <p:spPr>
          <a:xfrm>
            <a:off x="465512" y="2226079"/>
            <a:ext cx="342900" cy="240030"/>
          </a:xfrm>
          <a:prstGeom prst="rect">
            <a:avLst/>
          </a:prstGeom>
          <a:noFill/>
          <a:ln/>
        </p:spPr>
        <p:txBody>
          <a:bodyPr wrap="square" rtlCol="0" anchor="ctr"/>
          <a:lstStyle/>
          <a:p>
            <a:endParaRPr lang="en-US" sz="975"/>
          </a:p>
        </p:txBody>
      </p:sp>
      <p:sp>
        <p:nvSpPr>
          <p:cNvPr id="15" name="Text 5">
            <a:extLst>
              <a:ext uri="{FF2B5EF4-FFF2-40B4-BE49-F238E27FC236}">
                <a16:creationId xmlns:a16="http://schemas.microsoft.com/office/drawing/2014/main" id="{59EA2B06-706E-89AA-DEF9-92269E52D452}"/>
              </a:ext>
            </a:extLst>
          </p:cNvPr>
          <p:cNvSpPr/>
          <p:nvPr/>
        </p:nvSpPr>
        <p:spPr>
          <a:xfrm>
            <a:off x="465512" y="2911879"/>
            <a:ext cx="1337310" cy="274320"/>
          </a:xfrm>
          <a:prstGeom prst="rect">
            <a:avLst/>
          </a:prstGeom>
          <a:noFill/>
          <a:ln/>
        </p:spPr>
        <p:txBody>
          <a:bodyPr wrap="square" rtlCol="0" anchor="ctr"/>
          <a:lstStyle/>
          <a:p>
            <a:pPr algn="ctr"/>
            <a:r>
              <a:rPr lang="en-US" sz="1100" b="1">
                <a:cs typeface="Arial"/>
              </a:rPr>
              <a:t>Context</a:t>
            </a:r>
          </a:p>
        </p:txBody>
      </p:sp>
      <p:sp>
        <p:nvSpPr>
          <p:cNvPr id="16" name="Text 6">
            <a:extLst>
              <a:ext uri="{FF2B5EF4-FFF2-40B4-BE49-F238E27FC236}">
                <a16:creationId xmlns:a16="http://schemas.microsoft.com/office/drawing/2014/main" id="{C14C9B1C-48B1-18DF-8396-83EB2E64AC12}"/>
              </a:ext>
            </a:extLst>
          </p:cNvPr>
          <p:cNvSpPr/>
          <p:nvPr/>
        </p:nvSpPr>
        <p:spPr>
          <a:xfrm>
            <a:off x="499802" y="3220489"/>
            <a:ext cx="1268730" cy="445770"/>
          </a:xfrm>
          <a:prstGeom prst="rect">
            <a:avLst/>
          </a:prstGeom>
          <a:noFill/>
          <a:ln/>
        </p:spPr>
        <p:txBody>
          <a:bodyPr wrap="square" rtlCol="0" anchor="ctr"/>
          <a:lstStyle/>
          <a:p>
            <a:pPr algn="ctr">
              <a:lnSpc>
                <a:spcPct val="115000"/>
              </a:lnSpc>
            </a:pPr>
            <a:r>
              <a:rPr lang="en-US" sz="1100">
                <a:cs typeface="Arial"/>
              </a:rPr>
              <a:t>Intent behind the prompt</a:t>
            </a:r>
          </a:p>
        </p:txBody>
      </p:sp>
      <p:pic>
        <p:nvPicPr>
          <p:cNvPr id="17" name="Image 1" descr="/home/claude/geo_deck/icons/arrow.png">
            <a:extLst>
              <a:ext uri="{FF2B5EF4-FFF2-40B4-BE49-F238E27FC236}">
                <a16:creationId xmlns:a16="http://schemas.microsoft.com/office/drawing/2014/main" id="{3E9436A6-CBF2-51BD-D18C-42F46A5769E1}"/>
              </a:ext>
            </a:extLst>
          </p:cNvPr>
          <p:cNvPicPr>
            <a:picLocks noChangeAspect="1"/>
          </p:cNvPicPr>
          <p:nvPr/>
        </p:nvPicPr>
        <p:blipFill>
          <a:blip r:embed="rId4"/>
          <a:stretch>
            <a:fillRect/>
          </a:stretch>
        </p:blipFill>
        <p:spPr>
          <a:xfrm>
            <a:off x="1891976" y="2843299"/>
            <a:ext cx="178308" cy="205740"/>
          </a:xfrm>
          <a:prstGeom prst="rect">
            <a:avLst/>
          </a:prstGeom>
        </p:spPr>
      </p:pic>
      <p:sp>
        <p:nvSpPr>
          <p:cNvPr id="18" name="Shape 7">
            <a:extLst>
              <a:ext uri="{FF2B5EF4-FFF2-40B4-BE49-F238E27FC236}">
                <a16:creationId xmlns:a16="http://schemas.microsoft.com/office/drawing/2014/main" id="{00868982-14BB-E434-702D-146FC019526C}"/>
              </a:ext>
            </a:extLst>
          </p:cNvPr>
          <p:cNvSpPr/>
          <p:nvPr/>
        </p:nvSpPr>
        <p:spPr>
          <a:xfrm>
            <a:off x="2090858" y="2157499"/>
            <a:ext cx="1474470" cy="1577340"/>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19" name="Shape 8">
            <a:extLst>
              <a:ext uri="{FF2B5EF4-FFF2-40B4-BE49-F238E27FC236}">
                <a16:creationId xmlns:a16="http://schemas.microsoft.com/office/drawing/2014/main" id="{A15A5D48-17A8-6116-E9A1-FA3736E4A6EA}"/>
              </a:ext>
            </a:extLst>
          </p:cNvPr>
          <p:cNvSpPr/>
          <p:nvPr/>
        </p:nvSpPr>
        <p:spPr>
          <a:xfrm>
            <a:off x="2588063" y="2328949"/>
            <a:ext cx="480060" cy="480060"/>
          </a:xfrm>
          <a:prstGeom prst="ellipse">
            <a:avLst/>
          </a:prstGeom>
          <a:solidFill>
            <a:schemeClr val="tx1"/>
          </a:solidFill>
          <a:ln/>
        </p:spPr>
        <p:txBody>
          <a:bodyPr/>
          <a:lstStyle/>
          <a:p>
            <a:endParaRPr lang="pl-PL" sz="1350"/>
          </a:p>
        </p:txBody>
      </p:sp>
      <p:pic>
        <p:nvPicPr>
          <p:cNvPr id="20" name="Image 2" descr="/home/claude/geo_deck/icons/tags.png">
            <a:extLst>
              <a:ext uri="{FF2B5EF4-FFF2-40B4-BE49-F238E27FC236}">
                <a16:creationId xmlns:a16="http://schemas.microsoft.com/office/drawing/2014/main" id="{5617B3B6-D41B-9D14-6A80-2C16D4CBA212}"/>
              </a:ext>
            </a:extLst>
          </p:cNvPr>
          <p:cNvPicPr>
            <a:picLocks noChangeAspect="1"/>
          </p:cNvPicPr>
          <p:nvPr/>
        </p:nvPicPr>
        <p:blipFill>
          <a:blip r:embed="rId5"/>
          <a:stretch>
            <a:fillRect/>
          </a:stretch>
        </p:blipFill>
        <p:spPr>
          <a:xfrm>
            <a:off x="2690933" y="2431819"/>
            <a:ext cx="274320" cy="274320"/>
          </a:xfrm>
          <a:prstGeom prst="rect">
            <a:avLst/>
          </a:prstGeom>
          <a:solidFill>
            <a:schemeClr val="tx1"/>
          </a:solidFill>
        </p:spPr>
      </p:pic>
      <p:sp>
        <p:nvSpPr>
          <p:cNvPr id="21" name="Text 9">
            <a:extLst>
              <a:ext uri="{FF2B5EF4-FFF2-40B4-BE49-F238E27FC236}">
                <a16:creationId xmlns:a16="http://schemas.microsoft.com/office/drawing/2014/main" id="{961133EC-5440-96B4-92D8-F184160C9B93}"/>
              </a:ext>
            </a:extLst>
          </p:cNvPr>
          <p:cNvSpPr/>
          <p:nvPr/>
        </p:nvSpPr>
        <p:spPr>
          <a:xfrm>
            <a:off x="2159438" y="2226079"/>
            <a:ext cx="342900" cy="240030"/>
          </a:xfrm>
          <a:prstGeom prst="rect">
            <a:avLst/>
          </a:prstGeom>
          <a:noFill/>
          <a:ln/>
        </p:spPr>
        <p:txBody>
          <a:bodyPr wrap="square" rtlCol="0" anchor="ctr"/>
          <a:lstStyle/>
          <a:p>
            <a:endParaRPr lang="en-US" sz="975"/>
          </a:p>
        </p:txBody>
      </p:sp>
      <p:sp>
        <p:nvSpPr>
          <p:cNvPr id="22" name="Text 10">
            <a:extLst>
              <a:ext uri="{FF2B5EF4-FFF2-40B4-BE49-F238E27FC236}">
                <a16:creationId xmlns:a16="http://schemas.microsoft.com/office/drawing/2014/main" id="{E551304C-C167-BBFB-9B97-D138D78D57E5}"/>
              </a:ext>
            </a:extLst>
          </p:cNvPr>
          <p:cNvSpPr/>
          <p:nvPr/>
        </p:nvSpPr>
        <p:spPr>
          <a:xfrm>
            <a:off x="2159438" y="2911879"/>
            <a:ext cx="1337310" cy="274320"/>
          </a:xfrm>
          <a:prstGeom prst="rect">
            <a:avLst/>
          </a:prstGeom>
          <a:noFill/>
          <a:ln/>
        </p:spPr>
        <p:txBody>
          <a:bodyPr wrap="square" rtlCol="0" anchor="ctr"/>
          <a:lstStyle/>
          <a:p>
            <a:pPr algn="ctr"/>
            <a:r>
              <a:rPr lang="en-US" sz="1100" b="1">
                <a:cs typeface="Arial"/>
              </a:rPr>
              <a:t>Keywords</a:t>
            </a:r>
          </a:p>
        </p:txBody>
      </p:sp>
      <p:sp>
        <p:nvSpPr>
          <p:cNvPr id="23" name="Text 11">
            <a:extLst>
              <a:ext uri="{FF2B5EF4-FFF2-40B4-BE49-F238E27FC236}">
                <a16:creationId xmlns:a16="http://schemas.microsoft.com/office/drawing/2014/main" id="{65C7207D-2E62-873F-25B9-2EC3F37E0C8C}"/>
              </a:ext>
            </a:extLst>
          </p:cNvPr>
          <p:cNvSpPr/>
          <p:nvPr/>
        </p:nvSpPr>
        <p:spPr>
          <a:xfrm>
            <a:off x="2193728" y="3220489"/>
            <a:ext cx="1268730" cy="445770"/>
          </a:xfrm>
          <a:prstGeom prst="rect">
            <a:avLst/>
          </a:prstGeom>
          <a:noFill/>
          <a:ln/>
        </p:spPr>
        <p:txBody>
          <a:bodyPr wrap="square" rtlCol="0" anchor="ctr"/>
          <a:lstStyle/>
          <a:p>
            <a:pPr algn="ctr">
              <a:lnSpc>
                <a:spcPct val="115000"/>
              </a:lnSpc>
            </a:pPr>
            <a:r>
              <a:rPr lang="en-US" sz="1100">
                <a:cs typeface="Arial"/>
              </a:rPr>
              <a:t>Terms the answer uses</a:t>
            </a:r>
          </a:p>
        </p:txBody>
      </p:sp>
      <p:pic>
        <p:nvPicPr>
          <p:cNvPr id="24" name="Image 3" descr="/home/claude/geo_deck/icons/arrow.png">
            <a:extLst>
              <a:ext uri="{FF2B5EF4-FFF2-40B4-BE49-F238E27FC236}">
                <a16:creationId xmlns:a16="http://schemas.microsoft.com/office/drawing/2014/main" id="{05DE0242-9640-27F6-6994-40F35F5ACAC8}"/>
              </a:ext>
            </a:extLst>
          </p:cNvPr>
          <p:cNvPicPr>
            <a:picLocks noChangeAspect="1"/>
          </p:cNvPicPr>
          <p:nvPr/>
        </p:nvPicPr>
        <p:blipFill>
          <a:blip r:embed="rId4"/>
          <a:stretch>
            <a:fillRect/>
          </a:stretch>
        </p:blipFill>
        <p:spPr>
          <a:xfrm>
            <a:off x="3585902" y="2843299"/>
            <a:ext cx="178308" cy="205740"/>
          </a:xfrm>
          <a:prstGeom prst="rect">
            <a:avLst/>
          </a:prstGeom>
        </p:spPr>
      </p:pic>
      <p:sp>
        <p:nvSpPr>
          <p:cNvPr id="25" name="Shape 12">
            <a:extLst>
              <a:ext uri="{FF2B5EF4-FFF2-40B4-BE49-F238E27FC236}">
                <a16:creationId xmlns:a16="http://schemas.microsoft.com/office/drawing/2014/main" id="{7934B7D7-DF46-8469-0E1C-DC3BF361321F}"/>
              </a:ext>
            </a:extLst>
          </p:cNvPr>
          <p:cNvSpPr/>
          <p:nvPr/>
        </p:nvSpPr>
        <p:spPr>
          <a:xfrm>
            <a:off x="3784784" y="2157499"/>
            <a:ext cx="1474470" cy="1577340"/>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26" name="Shape 13">
            <a:extLst>
              <a:ext uri="{FF2B5EF4-FFF2-40B4-BE49-F238E27FC236}">
                <a16:creationId xmlns:a16="http://schemas.microsoft.com/office/drawing/2014/main" id="{81B6D0D0-9776-96E3-109C-98F0E415D2C9}"/>
              </a:ext>
            </a:extLst>
          </p:cNvPr>
          <p:cNvSpPr/>
          <p:nvPr/>
        </p:nvSpPr>
        <p:spPr>
          <a:xfrm>
            <a:off x="4281989" y="2328949"/>
            <a:ext cx="480060" cy="480060"/>
          </a:xfrm>
          <a:prstGeom prst="ellipse">
            <a:avLst/>
          </a:prstGeom>
          <a:solidFill>
            <a:schemeClr val="tx1"/>
          </a:solidFill>
          <a:ln/>
        </p:spPr>
        <p:txBody>
          <a:bodyPr/>
          <a:lstStyle/>
          <a:p>
            <a:endParaRPr lang="pl-PL" sz="1350"/>
          </a:p>
        </p:txBody>
      </p:sp>
      <p:pic>
        <p:nvPicPr>
          <p:cNvPr id="27" name="Image 4" descr="/home/claude/geo_deck/icons/message.png">
            <a:extLst>
              <a:ext uri="{FF2B5EF4-FFF2-40B4-BE49-F238E27FC236}">
                <a16:creationId xmlns:a16="http://schemas.microsoft.com/office/drawing/2014/main" id="{77DB0292-3F57-9C94-5175-C28304574502}"/>
              </a:ext>
            </a:extLst>
          </p:cNvPr>
          <p:cNvPicPr>
            <a:picLocks noChangeAspect="1"/>
          </p:cNvPicPr>
          <p:nvPr/>
        </p:nvPicPr>
        <p:blipFill>
          <a:blip r:embed="rId6"/>
          <a:stretch>
            <a:fillRect/>
          </a:stretch>
        </p:blipFill>
        <p:spPr>
          <a:xfrm>
            <a:off x="4384859" y="2431819"/>
            <a:ext cx="274320" cy="274320"/>
          </a:xfrm>
          <a:prstGeom prst="rect">
            <a:avLst/>
          </a:prstGeom>
          <a:solidFill>
            <a:schemeClr val="tx1"/>
          </a:solidFill>
        </p:spPr>
      </p:pic>
      <p:sp>
        <p:nvSpPr>
          <p:cNvPr id="29" name="Text 15">
            <a:extLst>
              <a:ext uri="{FF2B5EF4-FFF2-40B4-BE49-F238E27FC236}">
                <a16:creationId xmlns:a16="http://schemas.microsoft.com/office/drawing/2014/main" id="{749EB0F3-64E9-48DB-44DA-6A5EF676E7DA}"/>
              </a:ext>
            </a:extLst>
          </p:cNvPr>
          <p:cNvSpPr/>
          <p:nvPr/>
        </p:nvSpPr>
        <p:spPr>
          <a:xfrm>
            <a:off x="3853364" y="2911879"/>
            <a:ext cx="1337310" cy="274320"/>
          </a:xfrm>
          <a:prstGeom prst="rect">
            <a:avLst/>
          </a:prstGeom>
          <a:noFill/>
          <a:ln/>
        </p:spPr>
        <p:txBody>
          <a:bodyPr wrap="square" rtlCol="0" anchor="ctr"/>
          <a:lstStyle/>
          <a:p>
            <a:pPr algn="ctr"/>
            <a:r>
              <a:rPr lang="en-US" sz="1100" b="1">
                <a:cs typeface="Arial"/>
              </a:rPr>
              <a:t>Tone of voice</a:t>
            </a:r>
          </a:p>
        </p:txBody>
      </p:sp>
      <p:sp>
        <p:nvSpPr>
          <p:cNvPr id="30" name="Text 16">
            <a:extLst>
              <a:ext uri="{FF2B5EF4-FFF2-40B4-BE49-F238E27FC236}">
                <a16:creationId xmlns:a16="http://schemas.microsoft.com/office/drawing/2014/main" id="{19F1C8D8-D343-B5F1-F85F-5CBDC8B8392C}"/>
              </a:ext>
            </a:extLst>
          </p:cNvPr>
          <p:cNvSpPr/>
          <p:nvPr/>
        </p:nvSpPr>
        <p:spPr>
          <a:xfrm>
            <a:off x="3887654" y="3220489"/>
            <a:ext cx="1268730" cy="445770"/>
          </a:xfrm>
          <a:prstGeom prst="rect">
            <a:avLst/>
          </a:prstGeom>
          <a:noFill/>
          <a:ln/>
        </p:spPr>
        <p:txBody>
          <a:bodyPr wrap="square" rtlCol="0" anchor="ctr"/>
          <a:lstStyle/>
          <a:p>
            <a:pPr algn="ctr">
              <a:lnSpc>
                <a:spcPct val="115000"/>
              </a:lnSpc>
            </a:pPr>
            <a:r>
              <a:rPr lang="en-US" sz="1100">
                <a:cs typeface="Arial"/>
              </a:rPr>
              <a:t>How it's said</a:t>
            </a:r>
          </a:p>
        </p:txBody>
      </p:sp>
      <p:pic>
        <p:nvPicPr>
          <p:cNvPr id="31" name="Image 5" descr="/home/claude/geo_deck/icons/arrow.png">
            <a:extLst>
              <a:ext uri="{FF2B5EF4-FFF2-40B4-BE49-F238E27FC236}">
                <a16:creationId xmlns:a16="http://schemas.microsoft.com/office/drawing/2014/main" id="{A2B5D6E4-2C2D-6A0B-2C36-13DB204D6CC1}"/>
              </a:ext>
            </a:extLst>
          </p:cNvPr>
          <p:cNvPicPr>
            <a:picLocks noChangeAspect="1"/>
          </p:cNvPicPr>
          <p:nvPr/>
        </p:nvPicPr>
        <p:blipFill>
          <a:blip r:embed="rId4"/>
          <a:stretch>
            <a:fillRect/>
          </a:stretch>
        </p:blipFill>
        <p:spPr>
          <a:xfrm>
            <a:off x="5279828" y="2843299"/>
            <a:ext cx="178308" cy="205740"/>
          </a:xfrm>
          <a:prstGeom prst="rect">
            <a:avLst/>
          </a:prstGeom>
        </p:spPr>
      </p:pic>
      <p:sp>
        <p:nvSpPr>
          <p:cNvPr id="32" name="Shape 17">
            <a:extLst>
              <a:ext uri="{FF2B5EF4-FFF2-40B4-BE49-F238E27FC236}">
                <a16:creationId xmlns:a16="http://schemas.microsoft.com/office/drawing/2014/main" id="{848F856A-267A-FEC2-CB11-85E740262B69}"/>
              </a:ext>
            </a:extLst>
          </p:cNvPr>
          <p:cNvSpPr/>
          <p:nvPr/>
        </p:nvSpPr>
        <p:spPr>
          <a:xfrm>
            <a:off x="5478710" y="2157499"/>
            <a:ext cx="1474470" cy="1577340"/>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33" name="Shape 18">
            <a:extLst>
              <a:ext uri="{FF2B5EF4-FFF2-40B4-BE49-F238E27FC236}">
                <a16:creationId xmlns:a16="http://schemas.microsoft.com/office/drawing/2014/main" id="{7E59262A-CE98-7B69-2D79-D119D95F8065}"/>
              </a:ext>
            </a:extLst>
          </p:cNvPr>
          <p:cNvSpPr/>
          <p:nvPr/>
        </p:nvSpPr>
        <p:spPr>
          <a:xfrm>
            <a:off x="5975915" y="2328949"/>
            <a:ext cx="480060" cy="480060"/>
          </a:xfrm>
          <a:prstGeom prst="ellipse">
            <a:avLst/>
          </a:prstGeom>
          <a:solidFill>
            <a:schemeClr val="tx1"/>
          </a:solidFill>
          <a:ln/>
        </p:spPr>
        <p:txBody>
          <a:bodyPr/>
          <a:lstStyle/>
          <a:p>
            <a:endParaRPr lang="pl-PL" sz="1350"/>
          </a:p>
        </p:txBody>
      </p:sp>
      <p:pic>
        <p:nvPicPr>
          <p:cNvPr id="34" name="Image 6" descr="/home/claude/geo_deck/icons/clipboard.png">
            <a:extLst>
              <a:ext uri="{FF2B5EF4-FFF2-40B4-BE49-F238E27FC236}">
                <a16:creationId xmlns:a16="http://schemas.microsoft.com/office/drawing/2014/main" id="{F58A5B00-53D0-15B5-EA5B-2C32C1906E38}"/>
              </a:ext>
            </a:extLst>
          </p:cNvPr>
          <p:cNvPicPr>
            <a:picLocks noChangeAspect="1"/>
          </p:cNvPicPr>
          <p:nvPr/>
        </p:nvPicPr>
        <p:blipFill>
          <a:blip r:embed="rId7"/>
          <a:stretch>
            <a:fillRect/>
          </a:stretch>
        </p:blipFill>
        <p:spPr>
          <a:xfrm>
            <a:off x="6078785" y="2431819"/>
            <a:ext cx="274320" cy="274320"/>
          </a:xfrm>
          <a:prstGeom prst="rect">
            <a:avLst/>
          </a:prstGeom>
          <a:solidFill>
            <a:schemeClr val="tx1"/>
          </a:solidFill>
        </p:spPr>
      </p:pic>
      <p:sp>
        <p:nvSpPr>
          <p:cNvPr id="36" name="Text 20">
            <a:extLst>
              <a:ext uri="{FF2B5EF4-FFF2-40B4-BE49-F238E27FC236}">
                <a16:creationId xmlns:a16="http://schemas.microsoft.com/office/drawing/2014/main" id="{17310DFB-60E0-250D-A0DE-69C0436265CD}"/>
              </a:ext>
            </a:extLst>
          </p:cNvPr>
          <p:cNvSpPr/>
          <p:nvPr/>
        </p:nvSpPr>
        <p:spPr>
          <a:xfrm>
            <a:off x="5547290" y="2911879"/>
            <a:ext cx="1337310" cy="274320"/>
          </a:xfrm>
          <a:prstGeom prst="rect">
            <a:avLst/>
          </a:prstGeom>
          <a:noFill/>
          <a:ln/>
        </p:spPr>
        <p:txBody>
          <a:bodyPr wrap="square" rtlCol="0" anchor="ctr"/>
          <a:lstStyle/>
          <a:p>
            <a:pPr algn="ctr"/>
            <a:r>
              <a:rPr lang="en-US" sz="1100" b="1">
                <a:cs typeface="Arial"/>
              </a:rPr>
              <a:t>Messaging</a:t>
            </a:r>
          </a:p>
        </p:txBody>
      </p:sp>
      <p:sp>
        <p:nvSpPr>
          <p:cNvPr id="37" name="Text 21">
            <a:extLst>
              <a:ext uri="{FF2B5EF4-FFF2-40B4-BE49-F238E27FC236}">
                <a16:creationId xmlns:a16="http://schemas.microsoft.com/office/drawing/2014/main" id="{9C117668-FAB2-3C20-3A32-22C40EB48507}"/>
              </a:ext>
            </a:extLst>
          </p:cNvPr>
          <p:cNvSpPr/>
          <p:nvPr/>
        </p:nvSpPr>
        <p:spPr>
          <a:xfrm>
            <a:off x="5458136" y="3220489"/>
            <a:ext cx="1515618" cy="445770"/>
          </a:xfrm>
          <a:prstGeom prst="rect">
            <a:avLst/>
          </a:prstGeom>
          <a:noFill/>
          <a:ln/>
        </p:spPr>
        <p:txBody>
          <a:bodyPr wrap="square" rtlCol="0" anchor="ctr"/>
          <a:lstStyle/>
          <a:p>
            <a:pPr algn="ctr">
              <a:lnSpc>
                <a:spcPct val="115000"/>
              </a:lnSpc>
            </a:pPr>
            <a:r>
              <a:rPr lang="en-US" sz="1100">
                <a:cs typeface="Arial"/>
              </a:rPr>
              <a:t>What it claims </a:t>
            </a:r>
            <a:r>
              <a:rPr lang="pl-PL" sz="1100">
                <a:cs typeface="Arial"/>
              </a:rPr>
              <a:t>and</a:t>
            </a:r>
            <a:r>
              <a:rPr lang="en-US" sz="1100">
                <a:cs typeface="Arial"/>
              </a:rPr>
              <a:t> how it's proven</a:t>
            </a:r>
          </a:p>
        </p:txBody>
      </p:sp>
      <p:pic>
        <p:nvPicPr>
          <p:cNvPr id="38" name="Image 7" descr="/home/claude/geo_deck/icons/arrow.png">
            <a:extLst>
              <a:ext uri="{FF2B5EF4-FFF2-40B4-BE49-F238E27FC236}">
                <a16:creationId xmlns:a16="http://schemas.microsoft.com/office/drawing/2014/main" id="{16CD2844-6B44-42A6-FD8B-4200A865AB5A}"/>
              </a:ext>
            </a:extLst>
          </p:cNvPr>
          <p:cNvPicPr>
            <a:picLocks noChangeAspect="1"/>
          </p:cNvPicPr>
          <p:nvPr/>
        </p:nvPicPr>
        <p:blipFill>
          <a:blip r:embed="rId4"/>
          <a:stretch>
            <a:fillRect/>
          </a:stretch>
        </p:blipFill>
        <p:spPr>
          <a:xfrm>
            <a:off x="6973754" y="2843299"/>
            <a:ext cx="178308" cy="205740"/>
          </a:xfrm>
          <a:prstGeom prst="rect">
            <a:avLst/>
          </a:prstGeom>
        </p:spPr>
      </p:pic>
      <p:sp>
        <p:nvSpPr>
          <p:cNvPr id="39" name="Shape 22">
            <a:extLst>
              <a:ext uri="{FF2B5EF4-FFF2-40B4-BE49-F238E27FC236}">
                <a16:creationId xmlns:a16="http://schemas.microsoft.com/office/drawing/2014/main" id="{C592CEBE-D783-0765-59E3-F6DCC3D3AB0C}"/>
              </a:ext>
            </a:extLst>
          </p:cNvPr>
          <p:cNvSpPr/>
          <p:nvPr/>
        </p:nvSpPr>
        <p:spPr>
          <a:xfrm>
            <a:off x="7172636" y="2157499"/>
            <a:ext cx="1474470" cy="1577340"/>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40" name="Shape 23">
            <a:extLst>
              <a:ext uri="{FF2B5EF4-FFF2-40B4-BE49-F238E27FC236}">
                <a16:creationId xmlns:a16="http://schemas.microsoft.com/office/drawing/2014/main" id="{1290D94F-6907-4DF9-CB11-4E948D7086AA}"/>
              </a:ext>
            </a:extLst>
          </p:cNvPr>
          <p:cNvSpPr/>
          <p:nvPr/>
        </p:nvSpPr>
        <p:spPr>
          <a:xfrm>
            <a:off x="7669841" y="2328949"/>
            <a:ext cx="480060" cy="480060"/>
          </a:xfrm>
          <a:prstGeom prst="ellipse">
            <a:avLst/>
          </a:prstGeom>
          <a:solidFill>
            <a:schemeClr val="tx1"/>
          </a:solidFill>
          <a:ln/>
        </p:spPr>
        <p:txBody>
          <a:bodyPr/>
          <a:lstStyle/>
          <a:p>
            <a:endParaRPr lang="pl-PL" sz="1350"/>
          </a:p>
        </p:txBody>
      </p:sp>
      <p:pic>
        <p:nvPicPr>
          <p:cNvPr id="41" name="Image 8" descr="/home/claude/geo_deck/icons/users.png">
            <a:extLst>
              <a:ext uri="{FF2B5EF4-FFF2-40B4-BE49-F238E27FC236}">
                <a16:creationId xmlns:a16="http://schemas.microsoft.com/office/drawing/2014/main" id="{2D9E9682-277E-A03C-89AC-C7F449EE1CC8}"/>
              </a:ext>
            </a:extLst>
          </p:cNvPr>
          <p:cNvPicPr>
            <a:picLocks noChangeAspect="1"/>
          </p:cNvPicPr>
          <p:nvPr/>
        </p:nvPicPr>
        <p:blipFill>
          <a:blip r:embed="rId8"/>
          <a:stretch>
            <a:fillRect/>
          </a:stretch>
        </p:blipFill>
        <p:spPr>
          <a:xfrm>
            <a:off x="7772711" y="2431819"/>
            <a:ext cx="274320" cy="274320"/>
          </a:xfrm>
          <a:prstGeom prst="rect">
            <a:avLst/>
          </a:prstGeom>
          <a:solidFill>
            <a:schemeClr val="tx1"/>
          </a:solidFill>
        </p:spPr>
      </p:pic>
      <p:sp>
        <p:nvSpPr>
          <p:cNvPr id="43" name="Text 25">
            <a:extLst>
              <a:ext uri="{FF2B5EF4-FFF2-40B4-BE49-F238E27FC236}">
                <a16:creationId xmlns:a16="http://schemas.microsoft.com/office/drawing/2014/main" id="{E6840912-1A4B-C42E-7F3D-DDD9C1E01281}"/>
              </a:ext>
            </a:extLst>
          </p:cNvPr>
          <p:cNvSpPr/>
          <p:nvPr/>
        </p:nvSpPr>
        <p:spPr>
          <a:xfrm>
            <a:off x="7241216" y="2911879"/>
            <a:ext cx="1337310" cy="274320"/>
          </a:xfrm>
          <a:prstGeom prst="rect">
            <a:avLst/>
          </a:prstGeom>
          <a:noFill/>
          <a:ln/>
        </p:spPr>
        <p:txBody>
          <a:bodyPr wrap="square" rtlCol="0" anchor="ctr"/>
          <a:lstStyle/>
          <a:p>
            <a:pPr algn="ctr"/>
            <a:r>
              <a:rPr lang="en-US" sz="1100" b="1">
                <a:cs typeface="Arial"/>
              </a:rPr>
              <a:t>Sources cited</a:t>
            </a:r>
          </a:p>
        </p:txBody>
      </p:sp>
      <p:sp>
        <p:nvSpPr>
          <p:cNvPr id="44" name="Text 26">
            <a:extLst>
              <a:ext uri="{FF2B5EF4-FFF2-40B4-BE49-F238E27FC236}">
                <a16:creationId xmlns:a16="http://schemas.microsoft.com/office/drawing/2014/main" id="{E4C8FE00-EA49-C996-F090-AD94CCB06DFE}"/>
              </a:ext>
            </a:extLst>
          </p:cNvPr>
          <p:cNvSpPr/>
          <p:nvPr/>
        </p:nvSpPr>
        <p:spPr>
          <a:xfrm>
            <a:off x="7275506" y="3220489"/>
            <a:ext cx="1268730" cy="445770"/>
          </a:xfrm>
          <a:prstGeom prst="rect">
            <a:avLst/>
          </a:prstGeom>
          <a:noFill/>
          <a:ln/>
        </p:spPr>
        <p:txBody>
          <a:bodyPr wrap="square" rtlCol="0" anchor="ctr"/>
          <a:lstStyle/>
          <a:p>
            <a:pPr algn="ctr">
              <a:lnSpc>
                <a:spcPct val="115000"/>
              </a:lnSpc>
            </a:pPr>
            <a:r>
              <a:rPr lang="en-US" sz="1100">
                <a:cs typeface="Arial"/>
              </a:rPr>
              <a:t>Who's winning instead</a:t>
            </a:r>
          </a:p>
        </p:txBody>
      </p:sp>
      <p:sp>
        <p:nvSpPr>
          <p:cNvPr id="5" name="Footer Placeholder 4">
            <a:extLst>
              <a:ext uri="{FF2B5EF4-FFF2-40B4-BE49-F238E27FC236}">
                <a16:creationId xmlns:a16="http://schemas.microsoft.com/office/drawing/2014/main" id="{A9094BFF-CCAA-E50B-B1F8-E7FF9287F4EC}"/>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6" name="Slide Number Placeholder 5">
            <a:extLst>
              <a:ext uri="{FF2B5EF4-FFF2-40B4-BE49-F238E27FC236}">
                <a16:creationId xmlns:a16="http://schemas.microsoft.com/office/drawing/2014/main" id="{4108CB32-60EF-C84B-B8E7-947F42530E05}"/>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93</a:t>
            </a:fld>
            <a:endParaRPr lang="en-US"/>
          </a:p>
        </p:txBody>
      </p:sp>
    </p:spTree>
    <p:extLst>
      <p:ext uri="{BB962C8B-B14F-4D97-AF65-F5344CB8AC3E}">
        <p14:creationId xmlns:p14="http://schemas.microsoft.com/office/powerpoint/2010/main" val="38307737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D783-C51E-D2ED-3B80-075ABDE807C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809D6163-0D24-D02C-59B0-92A1C78827F7}"/>
              </a:ext>
            </a:extLst>
          </p:cNvPr>
          <p:cNvSpPr/>
          <p:nvPr/>
        </p:nvSpPr>
        <p:spPr>
          <a:xfrm>
            <a:off x="905394" y="1410639"/>
            <a:ext cx="5392882" cy="3034145"/>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3E735F09-466A-F1DF-847B-2DFCCC6D6F0E}"/>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42843E4B-3D98-2A6F-F54B-8E5877F3DC3A}"/>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Step 1: Context</a:t>
            </a:r>
          </a:p>
        </p:txBody>
      </p:sp>
      <p:sp>
        <p:nvSpPr>
          <p:cNvPr id="4" name="Text 2">
            <a:extLst>
              <a:ext uri="{FF2B5EF4-FFF2-40B4-BE49-F238E27FC236}">
                <a16:creationId xmlns:a16="http://schemas.microsoft.com/office/drawing/2014/main" id="{82704C9E-1E04-40AF-1A53-D71C592B317D}"/>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Read the prompt the way the model does</a:t>
            </a:r>
            <a:r>
              <a:rPr lang="pl-PL" sz="1100">
                <a:solidFill>
                  <a:schemeClr val="accent5"/>
                </a:solidFill>
                <a:cs typeface="Arial"/>
              </a:rPr>
              <a:t>.</a:t>
            </a:r>
            <a:endParaRPr lang="en-US" sz="1100">
              <a:solidFill>
                <a:schemeClr val="accent5"/>
              </a:solidFill>
              <a:cs typeface="Arial"/>
            </a:endParaRPr>
          </a:p>
        </p:txBody>
      </p:sp>
      <p:sp>
        <p:nvSpPr>
          <p:cNvPr id="8" name="Shape 3">
            <a:extLst>
              <a:ext uri="{FF2B5EF4-FFF2-40B4-BE49-F238E27FC236}">
                <a16:creationId xmlns:a16="http://schemas.microsoft.com/office/drawing/2014/main" id="{813C0A7F-F96C-4544-E931-07AFABFD187A}"/>
              </a:ext>
            </a:extLst>
          </p:cNvPr>
          <p:cNvSpPr/>
          <p:nvPr/>
        </p:nvSpPr>
        <p:spPr>
          <a:xfrm>
            <a:off x="987828" y="1625730"/>
            <a:ext cx="342900" cy="342900"/>
          </a:xfrm>
          <a:prstGeom prst="roundRect">
            <a:avLst>
              <a:gd name="adj" fmla="val 20000"/>
            </a:avLst>
          </a:prstGeom>
          <a:solidFill>
            <a:schemeClr val="tx1"/>
          </a:solidFill>
          <a:ln/>
        </p:spPr>
        <p:txBody>
          <a:bodyPr/>
          <a:lstStyle/>
          <a:p>
            <a:endParaRPr lang="pl-PL" sz="1350"/>
          </a:p>
        </p:txBody>
      </p:sp>
      <p:pic>
        <p:nvPicPr>
          <p:cNvPr id="9" name="Image 0" descr="/home/claude/geo_deck/icons/search.png">
            <a:extLst>
              <a:ext uri="{FF2B5EF4-FFF2-40B4-BE49-F238E27FC236}">
                <a16:creationId xmlns:a16="http://schemas.microsoft.com/office/drawing/2014/main" id="{663D8F54-D7A8-5859-A28F-953F2AB5BA59}"/>
              </a:ext>
            </a:extLst>
          </p:cNvPr>
          <p:cNvPicPr>
            <a:picLocks noChangeAspect="1"/>
          </p:cNvPicPr>
          <p:nvPr/>
        </p:nvPicPr>
        <p:blipFill>
          <a:blip r:embed="rId3"/>
          <a:stretch>
            <a:fillRect/>
          </a:stretch>
        </p:blipFill>
        <p:spPr>
          <a:xfrm>
            <a:off x="1063266" y="1701168"/>
            <a:ext cx="192024" cy="192024"/>
          </a:xfrm>
          <a:prstGeom prst="rect">
            <a:avLst/>
          </a:prstGeom>
        </p:spPr>
      </p:pic>
      <p:sp>
        <p:nvSpPr>
          <p:cNvPr id="10" name="Text 4">
            <a:extLst>
              <a:ext uri="{FF2B5EF4-FFF2-40B4-BE49-F238E27FC236}">
                <a16:creationId xmlns:a16="http://schemas.microsoft.com/office/drawing/2014/main" id="{B50B6476-A447-5384-0A29-2C2F82892E32}"/>
              </a:ext>
            </a:extLst>
          </p:cNvPr>
          <p:cNvSpPr/>
          <p:nvPr/>
        </p:nvSpPr>
        <p:spPr>
          <a:xfrm>
            <a:off x="1467888" y="1591440"/>
            <a:ext cx="4732020" cy="219456"/>
          </a:xfrm>
          <a:prstGeom prst="rect">
            <a:avLst/>
          </a:prstGeom>
          <a:noFill/>
          <a:ln/>
        </p:spPr>
        <p:txBody>
          <a:bodyPr wrap="square" rtlCol="0" anchor="ctr"/>
          <a:lstStyle/>
          <a:p>
            <a:r>
              <a:rPr lang="en-US" sz="1050" b="1">
                <a:solidFill>
                  <a:schemeClr val="dk1"/>
                </a:solidFill>
              </a:rPr>
              <a:t>What is the real intent?</a:t>
            </a:r>
          </a:p>
        </p:txBody>
      </p:sp>
      <p:sp>
        <p:nvSpPr>
          <p:cNvPr id="11" name="Text 5">
            <a:extLst>
              <a:ext uri="{FF2B5EF4-FFF2-40B4-BE49-F238E27FC236}">
                <a16:creationId xmlns:a16="http://schemas.microsoft.com/office/drawing/2014/main" id="{BCC97EA6-20B9-E389-4E04-A8272A87EEB9}"/>
              </a:ext>
            </a:extLst>
          </p:cNvPr>
          <p:cNvSpPr/>
          <p:nvPr/>
        </p:nvSpPr>
        <p:spPr>
          <a:xfrm>
            <a:off x="1467888" y="1817754"/>
            <a:ext cx="4732020" cy="445770"/>
          </a:xfrm>
          <a:prstGeom prst="rect">
            <a:avLst/>
          </a:prstGeom>
          <a:noFill/>
          <a:ln/>
        </p:spPr>
        <p:txBody>
          <a:bodyPr wrap="square" rtlCol="0" anchor="ctr"/>
          <a:lstStyle/>
          <a:p>
            <a:pPr>
              <a:lnSpc>
                <a:spcPct val="120000"/>
              </a:lnSpc>
            </a:pPr>
            <a:r>
              <a:rPr lang="en-US" sz="900">
                <a:solidFill>
                  <a:schemeClr val="dk1"/>
                </a:solidFill>
              </a:rPr>
              <a:t>Informational, comparison, troubleshooting, or purchase-decision </a:t>
            </a:r>
            <a:r>
              <a:rPr lang="pl-PL" sz="900">
                <a:solidFill>
                  <a:schemeClr val="dk1"/>
                </a:solidFill>
              </a:rPr>
              <a:t>-</a:t>
            </a:r>
            <a:r>
              <a:rPr lang="en-US" sz="900">
                <a:solidFill>
                  <a:schemeClr val="dk1"/>
                </a:solidFill>
              </a:rPr>
              <a:t> the answer format the model chose is a clue to how it classified the question.</a:t>
            </a:r>
          </a:p>
        </p:txBody>
      </p:sp>
      <p:sp>
        <p:nvSpPr>
          <p:cNvPr id="12" name="Shape 6">
            <a:extLst>
              <a:ext uri="{FF2B5EF4-FFF2-40B4-BE49-F238E27FC236}">
                <a16:creationId xmlns:a16="http://schemas.microsoft.com/office/drawing/2014/main" id="{D3F8765B-24C1-F5DB-05F8-D8467EEEE9C7}"/>
              </a:ext>
            </a:extLst>
          </p:cNvPr>
          <p:cNvSpPr/>
          <p:nvPr/>
        </p:nvSpPr>
        <p:spPr>
          <a:xfrm>
            <a:off x="987828" y="2297814"/>
            <a:ext cx="342900" cy="342900"/>
          </a:xfrm>
          <a:prstGeom prst="roundRect">
            <a:avLst>
              <a:gd name="adj" fmla="val 20000"/>
            </a:avLst>
          </a:prstGeom>
          <a:solidFill>
            <a:schemeClr val="tx1"/>
          </a:solidFill>
          <a:ln/>
        </p:spPr>
        <p:txBody>
          <a:bodyPr/>
          <a:lstStyle/>
          <a:p>
            <a:endParaRPr lang="pl-PL" sz="1350"/>
          </a:p>
        </p:txBody>
      </p:sp>
      <p:pic>
        <p:nvPicPr>
          <p:cNvPr id="13" name="Image 1" descr="/home/claude/geo_deck/icons/brain.png">
            <a:extLst>
              <a:ext uri="{FF2B5EF4-FFF2-40B4-BE49-F238E27FC236}">
                <a16:creationId xmlns:a16="http://schemas.microsoft.com/office/drawing/2014/main" id="{7C842365-74F1-6FF4-5BCF-5523825BEA50}"/>
              </a:ext>
            </a:extLst>
          </p:cNvPr>
          <p:cNvPicPr>
            <a:picLocks noChangeAspect="1"/>
          </p:cNvPicPr>
          <p:nvPr/>
        </p:nvPicPr>
        <p:blipFill>
          <a:blip r:embed="rId4"/>
          <a:stretch>
            <a:fillRect/>
          </a:stretch>
        </p:blipFill>
        <p:spPr>
          <a:xfrm>
            <a:off x="1063266" y="2373252"/>
            <a:ext cx="192024" cy="192024"/>
          </a:xfrm>
          <a:prstGeom prst="rect">
            <a:avLst/>
          </a:prstGeom>
        </p:spPr>
      </p:pic>
      <p:sp>
        <p:nvSpPr>
          <p:cNvPr id="14" name="Text 7">
            <a:extLst>
              <a:ext uri="{FF2B5EF4-FFF2-40B4-BE49-F238E27FC236}">
                <a16:creationId xmlns:a16="http://schemas.microsoft.com/office/drawing/2014/main" id="{D201BDE2-5836-F21B-6419-33D6CD965555}"/>
              </a:ext>
            </a:extLst>
          </p:cNvPr>
          <p:cNvSpPr/>
          <p:nvPr/>
        </p:nvSpPr>
        <p:spPr>
          <a:xfrm>
            <a:off x="1467888" y="2263524"/>
            <a:ext cx="4732020" cy="219456"/>
          </a:xfrm>
          <a:prstGeom prst="rect">
            <a:avLst/>
          </a:prstGeom>
          <a:noFill/>
          <a:ln/>
        </p:spPr>
        <p:txBody>
          <a:bodyPr wrap="square" rtlCol="0" anchor="ctr"/>
          <a:lstStyle/>
          <a:p>
            <a:r>
              <a:rPr lang="en-US" sz="1050" b="1">
                <a:solidFill>
                  <a:schemeClr val="dk1"/>
                </a:solidFill>
              </a:rPr>
              <a:t>What entities does the AI attach to it?</a:t>
            </a:r>
          </a:p>
        </p:txBody>
      </p:sp>
      <p:sp>
        <p:nvSpPr>
          <p:cNvPr id="15" name="Text 8">
            <a:extLst>
              <a:ext uri="{FF2B5EF4-FFF2-40B4-BE49-F238E27FC236}">
                <a16:creationId xmlns:a16="http://schemas.microsoft.com/office/drawing/2014/main" id="{5C95F586-7DF2-6FC1-A0D2-C7385A4C25DA}"/>
              </a:ext>
            </a:extLst>
          </p:cNvPr>
          <p:cNvSpPr/>
          <p:nvPr/>
        </p:nvSpPr>
        <p:spPr>
          <a:xfrm>
            <a:off x="1467888" y="2489838"/>
            <a:ext cx="4732020" cy="445770"/>
          </a:xfrm>
          <a:prstGeom prst="rect">
            <a:avLst/>
          </a:prstGeom>
          <a:noFill/>
          <a:ln/>
        </p:spPr>
        <p:txBody>
          <a:bodyPr wrap="square" rtlCol="0" anchor="ctr"/>
          <a:lstStyle/>
          <a:p>
            <a:pPr>
              <a:lnSpc>
                <a:spcPct val="120000"/>
              </a:lnSpc>
            </a:pPr>
            <a:r>
              <a:rPr lang="en-US" sz="900">
                <a:solidFill>
                  <a:schemeClr val="dk1"/>
                </a:solidFill>
              </a:rPr>
              <a:t>Which products, standards, industries, or competitor names appear alongside the topic, even if unprompted?</a:t>
            </a:r>
          </a:p>
        </p:txBody>
      </p:sp>
      <p:sp>
        <p:nvSpPr>
          <p:cNvPr id="16" name="Shape 9">
            <a:extLst>
              <a:ext uri="{FF2B5EF4-FFF2-40B4-BE49-F238E27FC236}">
                <a16:creationId xmlns:a16="http://schemas.microsoft.com/office/drawing/2014/main" id="{5A9E3696-A74E-BE86-D15A-E09FADA3D457}"/>
              </a:ext>
            </a:extLst>
          </p:cNvPr>
          <p:cNvSpPr/>
          <p:nvPr/>
        </p:nvSpPr>
        <p:spPr>
          <a:xfrm>
            <a:off x="987828" y="2969898"/>
            <a:ext cx="342900" cy="342900"/>
          </a:xfrm>
          <a:prstGeom prst="roundRect">
            <a:avLst>
              <a:gd name="adj" fmla="val 20000"/>
            </a:avLst>
          </a:prstGeom>
          <a:solidFill>
            <a:schemeClr val="tx1"/>
          </a:solidFill>
          <a:ln/>
        </p:spPr>
        <p:txBody>
          <a:bodyPr/>
          <a:lstStyle/>
          <a:p>
            <a:endParaRPr lang="pl-PL" sz="1350"/>
          </a:p>
        </p:txBody>
      </p:sp>
      <p:pic>
        <p:nvPicPr>
          <p:cNvPr id="17" name="Image 2" descr="/home/claude/geo_deck/icons/adjust.png">
            <a:extLst>
              <a:ext uri="{FF2B5EF4-FFF2-40B4-BE49-F238E27FC236}">
                <a16:creationId xmlns:a16="http://schemas.microsoft.com/office/drawing/2014/main" id="{823AE9E5-A1FA-F781-42F9-41E9A9CC00F0}"/>
              </a:ext>
            </a:extLst>
          </p:cNvPr>
          <p:cNvPicPr>
            <a:picLocks noChangeAspect="1"/>
          </p:cNvPicPr>
          <p:nvPr/>
        </p:nvPicPr>
        <p:blipFill>
          <a:blip r:embed="rId5"/>
          <a:stretch>
            <a:fillRect/>
          </a:stretch>
        </p:blipFill>
        <p:spPr>
          <a:xfrm>
            <a:off x="1063266" y="3045336"/>
            <a:ext cx="192024" cy="192024"/>
          </a:xfrm>
          <a:prstGeom prst="rect">
            <a:avLst/>
          </a:prstGeom>
        </p:spPr>
      </p:pic>
      <p:sp>
        <p:nvSpPr>
          <p:cNvPr id="18" name="Text 10">
            <a:extLst>
              <a:ext uri="{FF2B5EF4-FFF2-40B4-BE49-F238E27FC236}">
                <a16:creationId xmlns:a16="http://schemas.microsoft.com/office/drawing/2014/main" id="{B475B670-3D5E-184B-C2BB-0D33092859C9}"/>
              </a:ext>
            </a:extLst>
          </p:cNvPr>
          <p:cNvSpPr/>
          <p:nvPr/>
        </p:nvSpPr>
        <p:spPr>
          <a:xfrm>
            <a:off x="1467888" y="2935608"/>
            <a:ext cx="4732020" cy="219456"/>
          </a:xfrm>
          <a:prstGeom prst="rect">
            <a:avLst/>
          </a:prstGeom>
          <a:noFill/>
          <a:ln/>
        </p:spPr>
        <p:txBody>
          <a:bodyPr wrap="square" rtlCol="0" anchor="ctr"/>
          <a:lstStyle/>
          <a:p>
            <a:r>
              <a:rPr lang="en-US" sz="1050" b="1">
                <a:solidFill>
                  <a:schemeClr val="dk1"/>
                </a:solidFill>
              </a:rPr>
              <a:t>How broad or narrow is the scope?</a:t>
            </a:r>
          </a:p>
        </p:txBody>
      </p:sp>
      <p:sp>
        <p:nvSpPr>
          <p:cNvPr id="19" name="Text 11">
            <a:extLst>
              <a:ext uri="{FF2B5EF4-FFF2-40B4-BE49-F238E27FC236}">
                <a16:creationId xmlns:a16="http://schemas.microsoft.com/office/drawing/2014/main" id="{3D734704-FD33-E4F9-167C-70477E5B4102}"/>
              </a:ext>
            </a:extLst>
          </p:cNvPr>
          <p:cNvSpPr/>
          <p:nvPr/>
        </p:nvSpPr>
        <p:spPr>
          <a:xfrm>
            <a:off x="1467888" y="3161922"/>
            <a:ext cx="4732020" cy="445770"/>
          </a:xfrm>
          <a:prstGeom prst="rect">
            <a:avLst/>
          </a:prstGeom>
          <a:noFill/>
          <a:ln/>
        </p:spPr>
        <p:txBody>
          <a:bodyPr wrap="square" rtlCol="0" anchor="ctr"/>
          <a:lstStyle/>
          <a:p>
            <a:pPr>
              <a:lnSpc>
                <a:spcPct val="120000"/>
              </a:lnSpc>
            </a:pPr>
            <a:r>
              <a:rPr lang="en-US" sz="900">
                <a:solidFill>
                  <a:schemeClr val="dk1"/>
                </a:solidFill>
              </a:rPr>
              <a:t>A category-level question and a specific technical detail question call for very different page types and depth.</a:t>
            </a:r>
          </a:p>
        </p:txBody>
      </p:sp>
      <p:sp>
        <p:nvSpPr>
          <p:cNvPr id="20" name="Shape 12">
            <a:extLst>
              <a:ext uri="{FF2B5EF4-FFF2-40B4-BE49-F238E27FC236}">
                <a16:creationId xmlns:a16="http://schemas.microsoft.com/office/drawing/2014/main" id="{153B6EB1-8107-D0AA-65A1-AAFAA27965AB}"/>
              </a:ext>
            </a:extLst>
          </p:cNvPr>
          <p:cNvSpPr/>
          <p:nvPr/>
        </p:nvSpPr>
        <p:spPr>
          <a:xfrm>
            <a:off x="987828" y="3641982"/>
            <a:ext cx="342900" cy="342900"/>
          </a:xfrm>
          <a:prstGeom prst="roundRect">
            <a:avLst>
              <a:gd name="adj" fmla="val 20000"/>
            </a:avLst>
          </a:prstGeom>
          <a:solidFill>
            <a:schemeClr val="tx1"/>
          </a:solidFill>
          <a:ln/>
        </p:spPr>
        <p:txBody>
          <a:bodyPr/>
          <a:lstStyle/>
          <a:p>
            <a:endParaRPr lang="pl-PL" sz="1350"/>
          </a:p>
        </p:txBody>
      </p:sp>
      <p:pic>
        <p:nvPicPr>
          <p:cNvPr id="21" name="Image 3" descr="/home/claude/geo_deck/icons/filecheck.png">
            <a:extLst>
              <a:ext uri="{FF2B5EF4-FFF2-40B4-BE49-F238E27FC236}">
                <a16:creationId xmlns:a16="http://schemas.microsoft.com/office/drawing/2014/main" id="{BEE9E557-CFC9-7E11-760F-6594E9925FF4}"/>
              </a:ext>
            </a:extLst>
          </p:cNvPr>
          <p:cNvPicPr>
            <a:picLocks noChangeAspect="1"/>
          </p:cNvPicPr>
          <p:nvPr/>
        </p:nvPicPr>
        <p:blipFill>
          <a:blip r:embed="rId6"/>
          <a:stretch>
            <a:fillRect/>
          </a:stretch>
        </p:blipFill>
        <p:spPr>
          <a:xfrm>
            <a:off x="1063266" y="3717420"/>
            <a:ext cx="192024" cy="192024"/>
          </a:xfrm>
          <a:prstGeom prst="rect">
            <a:avLst/>
          </a:prstGeom>
        </p:spPr>
      </p:pic>
      <p:sp>
        <p:nvSpPr>
          <p:cNvPr id="22" name="Text 13">
            <a:extLst>
              <a:ext uri="{FF2B5EF4-FFF2-40B4-BE49-F238E27FC236}">
                <a16:creationId xmlns:a16="http://schemas.microsoft.com/office/drawing/2014/main" id="{4D34FC16-6099-3276-1AC9-F1C2E664FA0E}"/>
              </a:ext>
            </a:extLst>
          </p:cNvPr>
          <p:cNvSpPr/>
          <p:nvPr/>
        </p:nvSpPr>
        <p:spPr>
          <a:xfrm>
            <a:off x="1467888" y="3607692"/>
            <a:ext cx="4732020" cy="219456"/>
          </a:xfrm>
          <a:prstGeom prst="rect">
            <a:avLst/>
          </a:prstGeom>
          <a:noFill/>
          <a:ln/>
        </p:spPr>
        <p:txBody>
          <a:bodyPr wrap="square" rtlCol="0" anchor="ctr"/>
          <a:lstStyle/>
          <a:p>
            <a:r>
              <a:rPr lang="en-US" sz="1050" b="1">
                <a:solidFill>
                  <a:schemeClr val="dk1"/>
                </a:solidFill>
              </a:rPr>
              <a:t>Where should </a:t>
            </a:r>
            <a:r>
              <a:rPr lang="pl-PL" sz="1050" b="1">
                <a:solidFill>
                  <a:schemeClr val="dk1"/>
                </a:solidFill>
              </a:rPr>
              <a:t>our</a:t>
            </a:r>
            <a:r>
              <a:rPr lang="en-US" sz="1050" b="1">
                <a:solidFill>
                  <a:schemeClr val="dk1"/>
                </a:solidFill>
              </a:rPr>
              <a:t> content already fit?</a:t>
            </a:r>
          </a:p>
        </p:txBody>
      </p:sp>
      <p:sp>
        <p:nvSpPr>
          <p:cNvPr id="23" name="Text 14">
            <a:extLst>
              <a:ext uri="{FF2B5EF4-FFF2-40B4-BE49-F238E27FC236}">
                <a16:creationId xmlns:a16="http://schemas.microsoft.com/office/drawing/2014/main" id="{CB4A958E-5782-EA7C-4843-EF41354E17F1}"/>
              </a:ext>
            </a:extLst>
          </p:cNvPr>
          <p:cNvSpPr/>
          <p:nvPr/>
        </p:nvSpPr>
        <p:spPr>
          <a:xfrm>
            <a:off x="1467888" y="3834006"/>
            <a:ext cx="4732020" cy="445770"/>
          </a:xfrm>
          <a:prstGeom prst="rect">
            <a:avLst/>
          </a:prstGeom>
          <a:noFill/>
          <a:ln/>
        </p:spPr>
        <p:txBody>
          <a:bodyPr wrap="square" rtlCol="0" anchor="ctr"/>
          <a:lstStyle/>
          <a:p>
            <a:pPr>
              <a:lnSpc>
                <a:spcPct val="120000"/>
              </a:lnSpc>
            </a:pPr>
            <a:r>
              <a:rPr lang="en-US" sz="900">
                <a:solidFill>
                  <a:schemeClr val="dk1"/>
                </a:solidFill>
              </a:rPr>
              <a:t>Map the prompt to the closest existing page </a:t>
            </a:r>
            <a:r>
              <a:rPr lang="pl-PL" sz="900">
                <a:solidFill>
                  <a:schemeClr val="dk1"/>
                </a:solidFill>
              </a:rPr>
              <a:t>-</a:t>
            </a:r>
            <a:r>
              <a:rPr lang="en-US" sz="900">
                <a:solidFill>
                  <a:schemeClr val="dk1"/>
                </a:solidFill>
              </a:rPr>
              <a:t> the gap is often in fit, not in topic coverage</a:t>
            </a:r>
            <a:r>
              <a:rPr lang="en-US" sz="900">
                <a:solidFill>
                  <a:srgbClr val="44554B"/>
                </a:solidFill>
                <a:latin typeface="Calibri" pitchFamily="34" charset="0"/>
                <a:ea typeface="Calibri" pitchFamily="34" charset="-122"/>
                <a:cs typeface="Calibri" pitchFamily="34" charset="-120"/>
              </a:rPr>
              <a:t>.</a:t>
            </a:r>
            <a:endParaRPr lang="en-US" sz="900"/>
          </a:p>
        </p:txBody>
      </p:sp>
      <p:sp>
        <p:nvSpPr>
          <p:cNvPr id="25" name="TextBox 24">
            <a:extLst>
              <a:ext uri="{FF2B5EF4-FFF2-40B4-BE49-F238E27FC236}">
                <a16:creationId xmlns:a16="http://schemas.microsoft.com/office/drawing/2014/main" id="{83C118AB-4820-FDEB-438C-C59C5345781B}"/>
              </a:ext>
            </a:extLst>
          </p:cNvPr>
          <p:cNvSpPr txBox="1"/>
          <p:nvPr/>
        </p:nvSpPr>
        <p:spPr>
          <a:xfrm>
            <a:off x="6446652" y="2077346"/>
            <a:ext cx="1791954" cy="1646605"/>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Log this: </a:t>
            </a:r>
          </a:p>
          <a:p>
            <a:pPr lvl="0" algn="ctr">
              <a:defRPr/>
            </a:pPr>
            <a:r>
              <a:rPr lang="en-US" sz="1000">
                <a:solidFill>
                  <a:schemeClr val="accent5"/>
                </a:solidFill>
              </a:rPr>
              <a:t>Record the verbatim prompt, the inferred intent, and every entity the AI surfaces </a:t>
            </a:r>
            <a:r>
              <a:rPr lang="pl-PL" sz="1000">
                <a:solidFill>
                  <a:schemeClr val="accent5"/>
                </a:solidFill>
              </a:rPr>
              <a:t>-</a:t>
            </a:r>
            <a:r>
              <a:rPr lang="en-US" sz="1000">
                <a:solidFill>
                  <a:schemeClr val="accent5"/>
                </a:solidFill>
              </a:rPr>
              <a:t> including competitors and unrelated brands. This becomes your baseline for every later step.</a:t>
            </a:r>
          </a:p>
        </p:txBody>
      </p:sp>
      <p:sp>
        <p:nvSpPr>
          <p:cNvPr id="5" name="Footer Placeholder 4">
            <a:extLst>
              <a:ext uri="{FF2B5EF4-FFF2-40B4-BE49-F238E27FC236}">
                <a16:creationId xmlns:a16="http://schemas.microsoft.com/office/drawing/2014/main" id="{B2140CF2-F468-10F3-60C1-DECAB75EB1CB}"/>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6" name="Slide Number Placeholder 5">
            <a:extLst>
              <a:ext uri="{FF2B5EF4-FFF2-40B4-BE49-F238E27FC236}">
                <a16:creationId xmlns:a16="http://schemas.microsoft.com/office/drawing/2014/main" id="{98A726B8-1E46-0312-78A6-17B933BC2CCD}"/>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94</a:t>
            </a:fld>
            <a:endParaRPr lang="en-US"/>
          </a:p>
        </p:txBody>
      </p:sp>
    </p:spTree>
    <p:extLst>
      <p:ext uri="{BB962C8B-B14F-4D97-AF65-F5344CB8AC3E}">
        <p14:creationId xmlns:p14="http://schemas.microsoft.com/office/powerpoint/2010/main" val="37250139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9E73-43FF-C5BF-08A0-FBF191F8985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69357AD9-4651-431F-EA12-984AD8D3C68C}"/>
              </a:ext>
            </a:extLst>
          </p:cNvPr>
          <p:cNvSpPr/>
          <p:nvPr/>
        </p:nvSpPr>
        <p:spPr>
          <a:xfrm>
            <a:off x="905394" y="1410639"/>
            <a:ext cx="5392882" cy="3034145"/>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49B56688-40A8-864F-3176-CFCA3EA80FB8}"/>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AD8F74D4-61E7-EB06-5540-9C5EF6B5E3DC}"/>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Step 2: Keyword Usage</a:t>
            </a:r>
          </a:p>
        </p:txBody>
      </p:sp>
      <p:sp>
        <p:nvSpPr>
          <p:cNvPr id="4" name="Text 2">
            <a:extLst>
              <a:ext uri="{FF2B5EF4-FFF2-40B4-BE49-F238E27FC236}">
                <a16:creationId xmlns:a16="http://schemas.microsoft.com/office/drawing/2014/main" id="{D42B81A3-E0FA-E571-B8E8-85347F8FDD11}"/>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Compare their vocabulary to ours</a:t>
            </a:r>
            <a:r>
              <a:rPr lang="pl-PL" sz="1100">
                <a:solidFill>
                  <a:schemeClr val="accent5"/>
                </a:solidFill>
                <a:cs typeface="Arial"/>
              </a:rPr>
              <a:t>.</a:t>
            </a:r>
            <a:endParaRPr lang="en-US" sz="1100">
              <a:solidFill>
                <a:schemeClr val="accent5"/>
              </a:solidFill>
              <a:cs typeface="Arial"/>
            </a:endParaRPr>
          </a:p>
        </p:txBody>
      </p:sp>
      <p:sp>
        <p:nvSpPr>
          <p:cNvPr id="8" name="Shape 3">
            <a:extLst>
              <a:ext uri="{FF2B5EF4-FFF2-40B4-BE49-F238E27FC236}">
                <a16:creationId xmlns:a16="http://schemas.microsoft.com/office/drawing/2014/main" id="{A1A3302D-5608-C5C1-40BC-D02F5C597DA8}"/>
              </a:ext>
            </a:extLst>
          </p:cNvPr>
          <p:cNvSpPr/>
          <p:nvPr/>
        </p:nvSpPr>
        <p:spPr>
          <a:xfrm>
            <a:off x="987828" y="1625730"/>
            <a:ext cx="342900" cy="342900"/>
          </a:xfrm>
          <a:prstGeom prst="roundRect">
            <a:avLst>
              <a:gd name="adj" fmla="val 20000"/>
            </a:avLst>
          </a:prstGeom>
          <a:solidFill>
            <a:schemeClr val="tx1"/>
          </a:solidFill>
          <a:ln/>
        </p:spPr>
        <p:txBody>
          <a:bodyPr/>
          <a:lstStyle/>
          <a:p>
            <a:endParaRPr lang="pl-PL" sz="1350"/>
          </a:p>
        </p:txBody>
      </p:sp>
      <p:pic>
        <p:nvPicPr>
          <p:cNvPr id="9" name="Image 0" descr="/home/claude/geo_deck/icons/search.png">
            <a:extLst>
              <a:ext uri="{FF2B5EF4-FFF2-40B4-BE49-F238E27FC236}">
                <a16:creationId xmlns:a16="http://schemas.microsoft.com/office/drawing/2014/main" id="{A55EC8ED-9436-5359-088A-D9F5248F9532}"/>
              </a:ext>
            </a:extLst>
          </p:cNvPr>
          <p:cNvPicPr>
            <a:picLocks noChangeAspect="1"/>
          </p:cNvPicPr>
          <p:nvPr/>
        </p:nvPicPr>
        <p:blipFill>
          <a:blip r:embed="rId3"/>
          <a:stretch>
            <a:fillRect/>
          </a:stretch>
        </p:blipFill>
        <p:spPr>
          <a:xfrm>
            <a:off x="1063266" y="1701168"/>
            <a:ext cx="192024" cy="192024"/>
          </a:xfrm>
          <a:prstGeom prst="rect">
            <a:avLst/>
          </a:prstGeom>
        </p:spPr>
      </p:pic>
      <p:sp>
        <p:nvSpPr>
          <p:cNvPr id="10" name="Text 4">
            <a:extLst>
              <a:ext uri="{FF2B5EF4-FFF2-40B4-BE49-F238E27FC236}">
                <a16:creationId xmlns:a16="http://schemas.microsoft.com/office/drawing/2014/main" id="{9A036985-4725-73F7-09DE-07B638D08EC5}"/>
              </a:ext>
            </a:extLst>
          </p:cNvPr>
          <p:cNvSpPr/>
          <p:nvPr/>
        </p:nvSpPr>
        <p:spPr>
          <a:xfrm>
            <a:off x="1467888" y="1591440"/>
            <a:ext cx="4732020" cy="219456"/>
          </a:xfrm>
          <a:prstGeom prst="rect">
            <a:avLst/>
          </a:prstGeom>
          <a:noFill/>
          <a:ln/>
        </p:spPr>
        <p:txBody>
          <a:bodyPr wrap="square" rtlCol="0" anchor="ctr"/>
          <a:lstStyle/>
          <a:p>
            <a:r>
              <a:rPr lang="en-US" sz="1050" b="1">
                <a:solidFill>
                  <a:schemeClr val="dk1"/>
                </a:solidFill>
              </a:rPr>
              <a:t>Exact phrasing match</a:t>
            </a:r>
          </a:p>
        </p:txBody>
      </p:sp>
      <p:sp>
        <p:nvSpPr>
          <p:cNvPr id="11" name="Text 5">
            <a:extLst>
              <a:ext uri="{FF2B5EF4-FFF2-40B4-BE49-F238E27FC236}">
                <a16:creationId xmlns:a16="http://schemas.microsoft.com/office/drawing/2014/main" id="{35E1C5E3-6AFE-D9E9-2873-3AA7F543DE56}"/>
              </a:ext>
            </a:extLst>
          </p:cNvPr>
          <p:cNvSpPr/>
          <p:nvPr/>
        </p:nvSpPr>
        <p:spPr>
          <a:xfrm>
            <a:off x="1467888" y="1745745"/>
            <a:ext cx="4732020" cy="445770"/>
          </a:xfrm>
          <a:prstGeom prst="rect">
            <a:avLst/>
          </a:prstGeom>
          <a:noFill/>
          <a:ln/>
        </p:spPr>
        <p:txBody>
          <a:bodyPr wrap="square" rtlCol="0" anchor="t"/>
          <a:lstStyle/>
          <a:p>
            <a:pPr>
              <a:lnSpc>
                <a:spcPct val="120000"/>
              </a:lnSpc>
            </a:pPr>
            <a:r>
              <a:rPr lang="en-US" sz="900">
                <a:solidFill>
                  <a:schemeClr val="dk1"/>
                </a:solidFill>
              </a:rPr>
              <a:t>Does the cited content mirror the user's own words, or does it rely on internal product naming and jargon?</a:t>
            </a:r>
          </a:p>
        </p:txBody>
      </p:sp>
      <p:sp>
        <p:nvSpPr>
          <p:cNvPr id="12" name="Shape 6">
            <a:extLst>
              <a:ext uri="{FF2B5EF4-FFF2-40B4-BE49-F238E27FC236}">
                <a16:creationId xmlns:a16="http://schemas.microsoft.com/office/drawing/2014/main" id="{619DF7D5-A254-926A-ABB3-0ED4ADD4291E}"/>
              </a:ext>
            </a:extLst>
          </p:cNvPr>
          <p:cNvSpPr/>
          <p:nvPr/>
        </p:nvSpPr>
        <p:spPr>
          <a:xfrm>
            <a:off x="987828" y="2297814"/>
            <a:ext cx="342900" cy="342900"/>
          </a:xfrm>
          <a:prstGeom prst="roundRect">
            <a:avLst>
              <a:gd name="adj" fmla="val 20000"/>
            </a:avLst>
          </a:prstGeom>
          <a:solidFill>
            <a:schemeClr val="tx1"/>
          </a:solidFill>
          <a:ln/>
        </p:spPr>
        <p:txBody>
          <a:bodyPr/>
          <a:lstStyle/>
          <a:p>
            <a:endParaRPr lang="pl-PL" sz="1350"/>
          </a:p>
        </p:txBody>
      </p:sp>
      <p:sp>
        <p:nvSpPr>
          <p:cNvPr id="14" name="Text 7">
            <a:extLst>
              <a:ext uri="{FF2B5EF4-FFF2-40B4-BE49-F238E27FC236}">
                <a16:creationId xmlns:a16="http://schemas.microsoft.com/office/drawing/2014/main" id="{86FACD7A-A37C-E239-EFD4-C53796BE9F08}"/>
              </a:ext>
            </a:extLst>
          </p:cNvPr>
          <p:cNvSpPr/>
          <p:nvPr/>
        </p:nvSpPr>
        <p:spPr>
          <a:xfrm>
            <a:off x="1467888" y="2263524"/>
            <a:ext cx="4732020" cy="219456"/>
          </a:xfrm>
          <a:prstGeom prst="rect">
            <a:avLst/>
          </a:prstGeom>
          <a:noFill/>
          <a:ln/>
        </p:spPr>
        <p:txBody>
          <a:bodyPr wrap="square" rtlCol="0" anchor="ctr"/>
          <a:lstStyle/>
          <a:p>
            <a:r>
              <a:rPr lang="en-US" sz="1050" b="1">
                <a:solidFill>
                  <a:schemeClr val="dk1"/>
                </a:solidFill>
              </a:rPr>
              <a:t>Technical / brand-specific terms</a:t>
            </a:r>
          </a:p>
        </p:txBody>
      </p:sp>
      <p:sp>
        <p:nvSpPr>
          <p:cNvPr id="15" name="Text 8">
            <a:extLst>
              <a:ext uri="{FF2B5EF4-FFF2-40B4-BE49-F238E27FC236}">
                <a16:creationId xmlns:a16="http://schemas.microsoft.com/office/drawing/2014/main" id="{368BAF88-84FD-3BBC-4549-407A01F7B29C}"/>
              </a:ext>
            </a:extLst>
          </p:cNvPr>
          <p:cNvSpPr/>
          <p:nvPr/>
        </p:nvSpPr>
        <p:spPr>
          <a:xfrm>
            <a:off x="1467888" y="2421258"/>
            <a:ext cx="4732020" cy="445770"/>
          </a:xfrm>
          <a:prstGeom prst="rect">
            <a:avLst/>
          </a:prstGeom>
          <a:noFill/>
          <a:ln/>
        </p:spPr>
        <p:txBody>
          <a:bodyPr wrap="square" rtlCol="0" anchor="t"/>
          <a:lstStyle/>
          <a:p>
            <a:pPr>
              <a:lnSpc>
                <a:spcPct val="120000"/>
              </a:lnSpc>
            </a:pPr>
            <a:r>
              <a:rPr lang="en-US" sz="900">
                <a:solidFill>
                  <a:schemeClr val="dk1"/>
                </a:solidFill>
              </a:rPr>
              <a:t>Note precise terms the AI repeats (model families, standards, part numbers) </a:t>
            </a:r>
            <a:r>
              <a:rPr lang="pl-PL" sz="900">
                <a:solidFill>
                  <a:schemeClr val="dk1"/>
                </a:solidFill>
              </a:rPr>
              <a:t>-</a:t>
            </a:r>
            <a:r>
              <a:rPr lang="en-US" sz="900">
                <a:solidFill>
                  <a:schemeClr val="dk1"/>
                </a:solidFill>
              </a:rPr>
              <a:t> these anchor citation-worthy answers.</a:t>
            </a:r>
          </a:p>
        </p:txBody>
      </p:sp>
      <p:sp>
        <p:nvSpPr>
          <p:cNvPr id="16" name="Shape 9">
            <a:extLst>
              <a:ext uri="{FF2B5EF4-FFF2-40B4-BE49-F238E27FC236}">
                <a16:creationId xmlns:a16="http://schemas.microsoft.com/office/drawing/2014/main" id="{CC9D7269-9D14-60E4-11DD-F56BDD351F53}"/>
              </a:ext>
            </a:extLst>
          </p:cNvPr>
          <p:cNvSpPr/>
          <p:nvPr/>
        </p:nvSpPr>
        <p:spPr>
          <a:xfrm>
            <a:off x="987828" y="2969898"/>
            <a:ext cx="342900" cy="342900"/>
          </a:xfrm>
          <a:prstGeom prst="roundRect">
            <a:avLst>
              <a:gd name="adj" fmla="val 20000"/>
            </a:avLst>
          </a:prstGeom>
          <a:solidFill>
            <a:schemeClr val="tx1"/>
          </a:solidFill>
          <a:ln/>
        </p:spPr>
        <p:txBody>
          <a:bodyPr/>
          <a:lstStyle/>
          <a:p>
            <a:endParaRPr lang="pl-PL" sz="1350"/>
          </a:p>
        </p:txBody>
      </p:sp>
      <p:sp>
        <p:nvSpPr>
          <p:cNvPr id="18" name="Text 10">
            <a:extLst>
              <a:ext uri="{FF2B5EF4-FFF2-40B4-BE49-F238E27FC236}">
                <a16:creationId xmlns:a16="http://schemas.microsoft.com/office/drawing/2014/main" id="{009B9255-F8D9-0020-AF2D-BF5CE6CA24BA}"/>
              </a:ext>
            </a:extLst>
          </p:cNvPr>
          <p:cNvSpPr/>
          <p:nvPr/>
        </p:nvSpPr>
        <p:spPr>
          <a:xfrm>
            <a:off x="1467888" y="2935608"/>
            <a:ext cx="4732020" cy="219456"/>
          </a:xfrm>
          <a:prstGeom prst="rect">
            <a:avLst/>
          </a:prstGeom>
          <a:noFill/>
          <a:ln/>
        </p:spPr>
        <p:txBody>
          <a:bodyPr wrap="square" rtlCol="0" anchor="ctr"/>
          <a:lstStyle/>
          <a:p>
            <a:r>
              <a:rPr lang="en-US" sz="1050" b="1">
                <a:solidFill>
                  <a:schemeClr val="dk1"/>
                </a:solidFill>
              </a:rPr>
              <a:t>Synonyms </a:t>
            </a:r>
            <a:r>
              <a:rPr lang="pl-PL" sz="1050" b="1">
                <a:solidFill>
                  <a:schemeClr val="dk1"/>
                </a:solidFill>
              </a:rPr>
              <a:t>and</a:t>
            </a:r>
            <a:r>
              <a:rPr lang="en-US" sz="1050" b="1">
                <a:solidFill>
                  <a:schemeClr val="dk1"/>
                </a:solidFill>
              </a:rPr>
              <a:t> related terms</a:t>
            </a:r>
          </a:p>
        </p:txBody>
      </p:sp>
      <p:sp>
        <p:nvSpPr>
          <p:cNvPr id="19" name="Text 11">
            <a:extLst>
              <a:ext uri="{FF2B5EF4-FFF2-40B4-BE49-F238E27FC236}">
                <a16:creationId xmlns:a16="http://schemas.microsoft.com/office/drawing/2014/main" id="{9234FBA7-6569-2707-20BE-3A64231FE2EB}"/>
              </a:ext>
            </a:extLst>
          </p:cNvPr>
          <p:cNvSpPr/>
          <p:nvPr/>
        </p:nvSpPr>
        <p:spPr>
          <a:xfrm>
            <a:off x="1467888" y="3112373"/>
            <a:ext cx="4732020" cy="322400"/>
          </a:xfrm>
          <a:prstGeom prst="rect">
            <a:avLst/>
          </a:prstGeom>
          <a:noFill/>
          <a:ln/>
        </p:spPr>
        <p:txBody>
          <a:bodyPr wrap="square" rtlCol="0" anchor="t"/>
          <a:lstStyle/>
          <a:p>
            <a:pPr>
              <a:lnSpc>
                <a:spcPct val="120000"/>
              </a:lnSpc>
            </a:pPr>
            <a:r>
              <a:rPr lang="pl-PL" sz="900">
                <a:solidFill>
                  <a:schemeClr val="dk1"/>
                </a:solidFill>
              </a:rPr>
              <a:t>Check how deep the content ventures into the topic, to support main message.</a:t>
            </a:r>
            <a:endParaRPr lang="en-US" sz="900">
              <a:solidFill>
                <a:schemeClr val="dk1"/>
              </a:solidFill>
            </a:endParaRPr>
          </a:p>
        </p:txBody>
      </p:sp>
      <p:sp>
        <p:nvSpPr>
          <p:cNvPr id="20" name="Shape 12">
            <a:extLst>
              <a:ext uri="{FF2B5EF4-FFF2-40B4-BE49-F238E27FC236}">
                <a16:creationId xmlns:a16="http://schemas.microsoft.com/office/drawing/2014/main" id="{33B3EB8F-A988-38CD-129B-0AA40A46AA37}"/>
              </a:ext>
            </a:extLst>
          </p:cNvPr>
          <p:cNvSpPr/>
          <p:nvPr/>
        </p:nvSpPr>
        <p:spPr>
          <a:xfrm>
            <a:off x="987828" y="3641982"/>
            <a:ext cx="342900" cy="342900"/>
          </a:xfrm>
          <a:prstGeom prst="roundRect">
            <a:avLst>
              <a:gd name="adj" fmla="val 20000"/>
            </a:avLst>
          </a:prstGeom>
          <a:solidFill>
            <a:schemeClr val="tx1"/>
          </a:solidFill>
          <a:ln/>
        </p:spPr>
        <p:txBody>
          <a:bodyPr/>
          <a:lstStyle/>
          <a:p>
            <a:endParaRPr lang="pl-PL" sz="1350"/>
          </a:p>
        </p:txBody>
      </p:sp>
      <p:sp>
        <p:nvSpPr>
          <p:cNvPr id="22" name="Text 13">
            <a:extLst>
              <a:ext uri="{FF2B5EF4-FFF2-40B4-BE49-F238E27FC236}">
                <a16:creationId xmlns:a16="http://schemas.microsoft.com/office/drawing/2014/main" id="{1A898A35-C015-E0F4-E837-B367F9DB1D50}"/>
              </a:ext>
            </a:extLst>
          </p:cNvPr>
          <p:cNvSpPr/>
          <p:nvPr/>
        </p:nvSpPr>
        <p:spPr>
          <a:xfrm>
            <a:off x="1467888" y="3607692"/>
            <a:ext cx="4732020" cy="219456"/>
          </a:xfrm>
          <a:prstGeom prst="rect">
            <a:avLst/>
          </a:prstGeom>
          <a:noFill/>
          <a:ln/>
        </p:spPr>
        <p:txBody>
          <a:bodyPr wrap="square" rtlCol="0" anchor="ctr"/>
          <a:lstStyle/>
          <a:p>
            <a:r>
              <a:rPr lang="en-US" sz="1050" b="1">
                <a:solidFill>
                  <a:schemeClr val="dk1"/>
                </a:solidFill>
              </a:rPr>
              <a:t>Jargon check</a:t>
            </a:r>
          </a:p>
        </p:txBody>
      </p:sp>
      <p:sp>
        <p:nvSpPr>
          <p:cNvPr id="23" name="Text 14">
            <a:extLst>
              <a:ext uri="{FF2B5EF4-FFF2-40B4-BE49-F238E27FC236}">
                <a16:creationId xmlns:a16="http://schemas.microsoft.com/office/drawing/2014/main" id="{83FD4CD0-4F93-9DD7-817B-074FFDF344B4}"/>
              </a:ext>
            </a:extLst>
          </p:cNvPr>
          <p:cNvSpPr/>
          <p:nvPr/>
        </p:nvSpPr>
        <p:spPr>
          <a:xfrm>
            <a:off x="1467888" y="3761997"/>
            <a:ext cx="4732020" cy="445770"/>
          </a:xfrm>
          <a:prstGeom prst="rect">
            <a:avLst/>
          </a:prstGeom>
          <a:noFill/>
          <a:ln/>
        </p:spPr>
        <p:txBody>
          <a:bodyPr wrap="square" rtlCol="0" anchor="t"/>
          <a:lstStyle/>
          <a:p>
            <a:pPr>
              <a:lnSpc>
                <a:spcPct val="120000"/>
              </a:lnSpc>
            </a:pPr>
            <a:r>
              <a:rPr lang="en-US" sz="900">
                <a:solidFill>
                  <a:schemeClr val="dk1"/>
                </a:solidFill>
              </a:rPr>
              <a:t>Flag any </a:t>
            </a:r>
            <a:r>
              <a:rPr lang="pl-PL" sz="900">
                <a:solidFill>
                  <a:schemeClr val="dk1"/>
                </a:solidFill>
              </a:rPr>
              <a:t>brand</a:t>
            </a:r>
            <a:r>
              <a:rPr lang="en-US" sz="900">
                <a:solidFill>
                  <a:schemeClr val="dk1"/>
                </a:solidFill>
              </a:rPr>
              <a:t>-only terminology in our content that a general audience </a:t>
            </a:r>
            <a:r>
              <a:rPr lang="pl-PL" sz="900">
                <a:solidFill>
                  <a:schemeClr val="dk1"/>
                </a:solidFill>
              </a:rPr>
              <a:t>-</a:t>
            </a:r>
            <a:r>
              <a:rPr lang="en-US" sz="900">
                <a:solidFill>
                  <a:schemeClr val="dk1"/>
                </a:solidFill>
              </a:rPr>
              <a:t> or the model </a:t>
            </a:r>
            <a:r>
              <a:rPr lang="pl-PL" sz="900">
                <a:solidFill>
                  <a:schemeClr val="dk1"/>
                </a:solidFill>
              </a:rPr>
              <a:t>-</a:t>
            </a:r>
            <a:r>
              <a:rPr lang="en-US" sz="900">
                <a:solidFill>
                  <a:schemeClr val="dk1"/>
                </a:solidFill>
              </a:rPr>
              <a:t> wouldn't recognize.</a:t>
            </a:r>
          </a:p>
        </p:txBody>
      </p:sp>
      <p:sp>
        <p:nvSpPr>
          <p:cNvPr id="25" name="TextBox 24">
            <a:extLst>
              <a:ext uri="{FF2B5EF4-FFF2-40B4-BE49-F238E27FC236}">
                <a16:creationId xmlns:a16="http://schemas.microsoft.com/office/drawing/2014/main" id="{6B17BC7B-0C0D-1366-A603-F0D09EA70960}"/>
              </a:ext>
            </a:extLst>
          </p:cNvPr>
          <p:cNvSpPr txBox="1"/>
          <p:nvPr/>
        </p:nvSpPr>
        <p:spPr>
          <a:xfrm>
            <a:off x="6446651" y="2289074"/>
            <a:ext cx="1955167" cy="1031051"/>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Log this: </a:t>
            </a:r>
          </a:p>
          <a:p>
            <a:pPr lvl="0" algn="ctr">
              <a:defRPr/>
            </a:pPr>
            <a:r>
              <a:rPr lang="en-US" sz="1000">
                <a:solidFill>
                  <a:schemeClr val="accent5"/>
                </a:solidFill>
              </a:rPr>
              <a:t>Build a two-column term list: “terms the cited answer uses” vs. “terms our page uses.” Every mismatch is a candidate edit.</a:t>
            </a:r>
          </a:p>
        </p:txBody>
      </p:sp>
      <p:pic>
        <p:nvPicPr>
          <p:cNvPr id="5" name="Image 1" descr="/home/claude/geo_deck/icons/tags.png">
            <a:extLst>
              <a:ext uri="{FF2B5EF4-FFF2-40B4-BE49-F238E27FC236}">
                <a16:creationId xmlns:a16="http://schemas.microsoft.com/office/drawing/2014/main" id="{80066C7B-BF19-3052-15C5-D62A113C3D74}"/>
              </a:ext>
            </a:extLst>
          </p:cNvPr>
          <p:cNvPicPr>
            <a:picLocks noChangeAspect="1"/>
          </p:cNvPicPr>
          <p:nvPr/>
        </p:nvPicPr>
        <p:blipFill>
          <a:blip r:embed="rId4"/>
          <a:stretch>
            <a:fillRect/>
          </a:stretch>
        </p:blipFill>
        <p:spPr>
          <a:xfrm>
            <a:off x="1063266" y="2370447"/>
            <a:ext cx="192024" cy="192024"/>
          </a:xfrm>
          <a:prstGeom prst="rect">
            <a:avLst/>
          </a:prstGeom>
        </p:spPr>
      </p:pic>
      <p:pic>
        <p:nvPicPr>
          <p:cNvPr id="6" name="Image 2" descr="/home/claude/geo_deck/icons/listcheck.png">
            <a:extLst>
              <a:ext uri="{FF2B5EF4-FFF2-40B4-BE49-F238E27FC236}">
                <a16:creationId xmlns:a16="http://schemas.microsoft.com/office/drawing/2014/main" id="{3915BE6D-5C94-F40E-9CC8-947E2FA412D9}"/>
              </a:ext>
            </a:extLst>
          </p:cNvPr>
          <p:cNvPicPr>
            <a:picLocks noChangeAspect="1"/>
          </p:cNvPicPr>
          <p:nvPr/>
        </p:nvPicPr>
        <p:blipFill>
          <a:blip r:embed="rId5"/>
          <a:stretch>
            <a:fillRect/>
          </a:stretch>
        </p:blipFill>
        <p:spPr>
          <a:xfrm>
            <a:off x="1063266" y="3042531"/>
            <a:ext cx="192024" cy="192024"/>
          </a:xfrm>
          <a:prstGeom prst="rect">
            <a:avLst/>
          </a:prstGeom>
        </p:spPr>
      </p:pic>
      <p:pic>
        <p:nvPicPr>
          <p:cNvPr id="7" name="Image 3" descr="/home/claude/geo_deck/icons/brain.png">
            <a:extLst>
              <a:ext uri="{FF2B5EF4-FFF2-40B4-BE49-F238E27FC236}">
                <a16:creationId xmlns:a16="http://schemas.microsoft.com/office/drawing/2014/main" id="{11FC9603-F1FB-5409-5C71-8B7AA14F1258}"/>
              </a:ext>
            </a:extLst>
          </p:cNvPr>
          <p:cNvPicPr>
            <a:picLocks noChangeAspect="1"/>
          </p:cNvPicPr>
          <p:nvPr/>
        </p:nvPicPr>
        <p:blipFill>
          <a:blip r:embed="rId6"/>
          <a:stretch>
            <a:fillRect/>
          </a:stretch>
        </p:blipFill>
        <p:spPr>
          <a:xfrm>
            <a:off x="1063266" y="3714615"/>
            <a:ext cx="192024" cy="192024"/>
          </a:xfrm>
          <a:prstGeom prst="rect">
            <a:avLst/>
          </a:prstGeom>
        </p:spPr>
      </p:pic>
      <p:sp>
        <p:nvSpPr>
          <p:cNvPr id="13" name="Footer Placeholder 4">
            <a:extLst>
              <a:ext uri="{FF2B5EF4-FFF2-40B4-BE49-F238E27FC236}">
                <a16:creationId xmlns:a16="http://schemas.microsoft.com/office/drawing/2014/main" id="{5276E869-36B5-A673-799E-6A5495881623}"/>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17" name="Slide Number Placeholder 5">
            <a:extLst>
              <a:ext uri="{FF2B5EF4-FFF2-40B4-BE49-F238E27FC236}">
                <a16:creationId xmlns:a16="http://schemas.microsoft.com/office/drawing/2014/main" id="{5C174171-BCB8-A3A5-0B0D-017509B175A4}"/>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95</a:t>
            </a:fld>
            <a:endParaRPr lang="en-US"/>
          </a:p>
        </p:txBody>
      </p:sp>
    </p:spTree>
    <p:extLst>
      <p:ext uri="{BB962C8B-B14F-4D97-AF65-F5344CB8AC3E}">
        <p14:creationId xmlns:p14="http://schemas.microsoft.com/office/powerpoint/2010/main" val="9137326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8B218-D91F-C623-A27C-D6015D7D8AE0}"/>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A002839-99EC-9498-9A32-757C4F00B34A}"/>
              </a:ext>
            </a:extLst>
          </p:cNvPr>
          <p:cNvSpPr/>
          <p:nvPr/>
        </p:nvSpPr>
        <p:spPr>
          <a:xfrm>
            <a:off x="905394" y="1410639"/>
            <a:ext cx="5392882" cy="3034145"/>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8F83DD7F-235F-088B-7B83-0055E311ACEA}"/>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65DABF66-21B7-2517-A08A-B5F27F0DB388}"/>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Step 3: Tone of Voice</a:t>
            </a:r>
          </a:p>
        </p:txBody>
      </p:sp>
      <p:sp>
        <p:nvSpPr>
          <p:cNvPr id="4" name="Text 2">
            <a:extLst>
              <a:ext uri="{FF2B5EF4-FFF2-40B4-BE49-F238E27FC236}">
                <a16:creationId xmlns:a16="http://schemas.microsoft.com/office/drawing/2014/main" id="{796A083E-A9C9-7318-1AD2-E90C12B630D0}"/>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Decode how the winning content speaks</a:t>
            </a:r>
            <a:r>
              <a:rPr lang="pl-PL" sz="1100">
                <a:solidFill>
                  <a:schemeClr val="accent5"/>
                </a:solidFill>
                <a:cs typeface="Arial"/>
              </a:rPr>
              <a:t>.</a:t>
            </a:r>
            <a:endParaRPr lang="en-US" sz="1100">
              <a:solidFill>
                <a:schemeClr val="accent5"/>
              </a:solidFill>
              <a:cs typeface="Arial"/>
            </a:endParaRPr>
          </a:p>
        </p:txBody>
      </p:sp>
      <p:sp>
        <p:nvSpPr>
          <p:cNvPr id="8" name="Shape 3">
            <a:extLst>
              <a:ext uri="{FF2B5EF4-FFF2-40B4-BE49-F238E27FC236}">
                <a16:creationId xmlns:a16="http://schemas.microsoft.com/office/drawing/2014/main" id="{5B125FA7-A0DA-A354-6264-C4B76E9EA28F}"/>
              </a:ext>
            </a:extLst>
          </p:cNvPr>
          <p:cNvSpPr/>
          <p:nvPr/>
        </p:nvSpPr>
        <p:spPr>
          <a:xfrm>
            <a:off x="987828" y="1625730"/>
            <a:ext cx="342900" cy="342900"/>
          </a:xfrm>
          <a:prstGeom prst="roundRect">
            <a:avLst>
              <a:gd name="adj" fmla="val 20000"/>
            </a:avLst>
          </a:prstGeom>
          <a:solidFill>
            <a:schemeClr val="tx1"/>
          </a:solidFill>
          <a:ln/>
        </p:spPr>
        <p:txBody>
          <a:bodyPr/>
          <a:lstStyle/>
          <a:p>
            <a:endParaRPr lang="pl-PL" sz="1350"/>
          </a:p>
        </p:txBody>
      </p:sp>
      <p:sp>
        <p:nvSpPr>
          <p:cNvPr id="10" name="Text 4">
            <a:extLst>
              <a:ext uri="{FF2B5EF4-FFF2-40B4-BE49-F238E27FC236}">
                <a16:creationId xmlns:a16="http://schemas.microsoft.com/office/drawing/2014/main" id="{075F2833-F371-2030-2AD5-E03A50708AEB}"/>
              </a:ext>
            </a:extLst>
          </p:cNvPr>
          <p:cNvSpPr/>
          <p:nvPr/>
        </p:nvSpPr>
        <p:spPr>
          <a:xfrm>
            <a:off x="1467888" y="1591440"/>
            <a:ext cx="4732020" cy="219456"/>
          </a:xfrm>
          <a:prstGeom prst="rect">
            <a:avLst/>
          </a:prstGeom>
          <a:noFill/>
          <a:ln/>
        </p:spPr>
        <p:txBody>
          <a:bodyPr wrap="square" rtlCol="0" anchor="ctr"/>
          <a:lstStyle/>
          <a:p>
            <a:r>
              <a:rPr lang="en-US" sz="1050" b="1">
                <a:solidFill>
                  <a:schemeClr val="dk1"/>
                </a:solidFill>
              </a:rPr>
              <a:t>Formality level</a:t>
            </a:r>
          </a:p>
        </p:txBody>
      </p:sp>
      <p:sp>
        <p:nvSpPr>
          <p:cNvPr id="11" name="Text 5">
            <a:extLst>
              <a:ext uri="{FF2B5EF4-FFF2-40B4-BE49-F238E27FC236}">
                <a16:creationId xmlns:a16="http://schemas.microsoft.com/office/drawing/2014/main" id="{14230DBC-77AA-4C02-CCBB-7F6A85D3666F}"/>
              </a:ext>
            </a:extLst>
          </p:cNvPr>
          <p:cNvSpPr/>
          <p:nvPr/>
        </p:nvSpPr>
        <p:spPr>
          <a:xfrm>
            <a:off x="1467888" y="1745745"/>
            <a:ext cx="4732020" cy="445770"/>
          </a:xfrm>
          <a:prstGeom prst="rect">
            <a:avLst/>
          </a:prstGeom>
          <a:noFill/>
          <a:ln/>
        </p:spPr>
        <p:txBody>
          <a:bodyPr wrap="square" rtlCol="0" anchor="t"/>
          <a:lstStyle/>
          <a:p>
            <a:pPr>
              <a:lnSpc>
                <a:spcPct val="120000"/>
              </a:lnSpc>
            </a:pPr>
            <a:r>
              <a:rPr lang="en-US" sz="900">
                <a:solidFill>
                  <a:schemeClr val="dk1"/>
                </a:solidFill>
              </a:rPr>
              <a:t>Technical and precise, or conversational and plain-language? Match the register the model is already rewarding.</a:t>
            </a:r>
          </a:p>
        </p:txBody>
      </p:sp>
      <p:sp>
        <p:nvSpPr>
          <p:cNvPr id="12" name="Shape 6">
            <a:extLst>
              <a:ext uri="{FF2B5EF4-FFF2-40B4-BE49-F238E27FC236}">
                <a16:creationId xmlns:a16="http://schemas.microsoft.com/office/drawing/2014/main" id="{4D807560-78DF-2E2E-6DBD-52A7BD949498}"/>
              </a:ext>
            </a:extLst>
          </p:cNvPr>
          <p:cNvSpPr/>
          <p:nvPr/>
        </p:nvSpPr>
        <p:spPr>
          <a:xfrm>
            <a:off x="987828" y="2297814"/>
            <a:ext cx="342900" cy="342900"/>
          </a:xfrm>
          <a:prstGeom prst="roundRect">
            <a:avLst>
              <a:gd name="adj" fmla="val 20000"/>
            </a:avLst>
          </a:prstGeom>
          <a:solidFill>
            <a:schemeClr val="tx1"/>
          </a:solidFill>
          <a:ln/>
        </p:spPr>
        <p:txBody>
          <a:bodyPr/>
          <a:lstStyle/>
          <a:p>
            <a:endParaRPr lang="pl-PL" sz="1350"/>
          </a:p>
        </p:txBody>
      </p:sp>
      <p:sp>
        <p:nvSpPr>
          <p:cNvPr id="14" name="Text 7">
            <a:extLst>
              <a:ext uri="{FF2B5EF4-FFF2-40B4-BE49-F238E27FC236}">
                <a16:creationId xmlns:a16="http://schemas.microsoft.com/office/drawing/2014/main" id="{869CF0CE-5171-949C-330B-A2A6CEF04D9A}"/>
              </a:ext>
            </a:extLst>
          </p:cNvPr>
          <p:cNvSpPr/>
          <p:nvPr/>
        </p:nvSpPr>
        <p:spPr>
          <a:xfrm>
            <a:off x="1467888" y="2263524"/>
            <a:ext cx="4732020" cy="219456"/>
          </a:xfrm>
          <a:prstGeom prst="rect">
            <a:avLst/>
          </a:prstGeom>
          <a:noFill/>
          <a:ln/>
        </p:spPr>
        <p:txBody>
          <a:bodyPr wrap="square" rtlCol="0" anchor="ctr"/>
          <a:lstStyle/>
          <a:p>
            <a:r>
              <a:rPr lang="en-US" sz="1050" b="1">
                <a:solidFill>
                  <a:schemeClr val="dk1"/>
                </a:solidFill>
              </a:rPr>
              <a:t>Perspective</a:t>
            </a:r>
          </a:p>
        </p:txBody>
      </p:sp>
      <p:sp>
        <p:nvSpPr>
          <p:cNvPr id="15" name="Text 8">
            <a:extLst>
              <a:ext uri="{FF2B5EF4-FFF2-40B4-BE49-F238E27FC236}">
                <a16:creationId xmlns:a16="http://schemas.microsoft.com/office/drawing/2014/main" id="{7E7158B6-579D-684B-6933-A86C55F419A9}"/>
              </a:ext>
            </a:extLst>
          </p:cNvPr>
          <p:cNvSpPr/>
          <p:nvPr/>
        </p:nvSpPr>
        <p:spPr>
          <a:xfrm>
            <a:off x="1467888" y="2417829"/>
            <a:ext cx="4732020" cy="445770"/>
          </a:xfrm>
          <a:prstGeom prst="rect">
            <a:avLst/>
          </a:prstGeom>
          <a:noFill/>
          <a:ln/>
        </p:spPr>
        <p:txBody>
          <a:bodyPr wrap="square" rtlCol="0" anchor="t"/>
          <a:lstStyle/>
          <a:p>
            <a:pPr>
              <a:lnSpc>
                <a:spcPct val="120000"/>
              </a:lnSpc>
            </a:pPr>
            <a:r>
              <a:rPr lang="en-US" sz="900">
                <a:solidFill>
                  <a:schemeClr val="dk1"/>
                </a:solidFill>
              </a:rPr>
              <a:t>Neutral third-party explainer, instructional how-to, or first-person vendor voice </a:t>
            </a:r>
            <a:r>
              <a:rPr lang="pl-PL" sz="900">
                <a:solidFill>
                  <a:schemeClr val="dk1"/>
                </a:solidFill>
              </a:rPr>
              <a:t>-</a:t>
            </a:r>
            <a:r>
              <a:rPr lang="en-US" sz="900">
                <a:solidFill>
                  <a:schemeClr val="dk1"/>
                </a:solidFill>
              </a:rPr>
              <a:t> each reads differently to an answer engine.</a:t>
            </a:r>
          </a:p>
        </p:txBody>
      </p:sp>
      <p:sp>
        <p:nvSpPr>
          <p:cNvPr id="16" name="Shape 9">
            <a:extLst>
              <a:ext uri="{FF2B5EF4-FFF2-40B4-BE49-F238E27FC236}">
                <a16:creationId xmlns:a16="http://schemas.microsoft.com/office/drawing/2014/main" id="{1D8B70A4-60BE-7DA7-7417-369A7C2ADC08}"/>
              </a:ext>
            </a:extLst>
          </p:cNvPr>
          <p:cNvSpPr/>
          <p:nvPr/>
        </p:nvSpPr>
        <p:spPr>
          <a:xfrm>
            <a:off x="987828" y="2969898"/>
            <a:ext cx="342900" cy="342900"/>
          </a:xfrm>
          <a:prstGeom prst="roundRect">
            <a:avLst>
              <a:gd name="adj" fmla="val 20000"/>
            </a:avLst>
          </a:prstGeom>
          <a:solidFill>
            <a:schemeClr val="tx1"/>
          </a:solidFill>
          <a:ln/>
        </p:spPr>
        <p:txBody>
          <a:bodyPr/>
          <a:lstStyle/>
          <a:p>
            <a:endParaRPr lang="pl-PL" sz="1350"/>
          </a:p>
        </p:txBody>
      </p:sp>
      <p:sp>
        <p:nvSpPr>
          <p:cNvPr id="18" name="Text 10">
            <a:extLst>
              <a:ext uri="{FF2B5EF4-FFF2-40B4-BE49-F238E27FC236}">
                <a16:creationId xmlns:a16="http://schemas.microsoft.com/office/drawing/2014/main" id="{B29067C7-7E8F-A366-190C-F8337E5759D9}"/>
              </a:ext>
            </a:extLst>
          </p:cNvPr>
          <p:cNvSpPr/>
          <p:nvPr/>
        </p:nvSpPr>
        <p:spPr>
          <a:xfrm>
            <a:off x="1467888" y="2935608"/>
            <a:ext cx="4732020" cy="219456"/>
          </a:xfrm>
          <a:prstGeom prst="rect">
            <a:avLst/>
          </a:prstGeom>
          <a:noFill/>
          <a:ln/>
        </p:spPr>
        <p:txBody>
          <a:bodyPr wrap="square" rtlCol="0" anchor="ctr"/>
          <a:lstStyle/>
          <a:p>
            <a:r>
              <a:rPr lang="en-US" sz="1050" b="1">
                <a:solidFill>
                  <a:schemeClr val="dk1"/>
                </a:solidFill>
              </a:rPr>
              <a:t>Confidence </a:t>
            </a:r>
            <a:r>
              <a:rPr lang="pl-PL" sz="1050" b="1">
                <a:solidFill>
                  <a:schemeClr val="dk1"/>
                </a:solidFill>
              </a:rPr>
              <a:t>and</a:t>
            </a:r>
            <a:r>
              <a:rPr lang="en-US" sz="1050" b="1">
                <a:solidFill>
                  <a:schemeClr val="dk1"/>
                </a:solidFill>
              </a:rPr>
              <a:t> specificity</a:t>
            </a:r>
          </a:p>
        </p:txBody>
      </p:sp>
      <p:sp>
        <p:nvSpPr>
          <p:cNvPr id="19" name="Text 11">
            <a:extLst>
              <a:ext uri="{FF2B5EF4-FFF2-40B4-BE49-F238E27FC236}">
                <a16:creationId xmlns:a16="http://schemas.microsoft.com/office/drawing/2014/main" id="{5C307EDA-9C08-1C8F-50C2-1A0080C7449A}"/>
              </a:ext>
            </a:extLst>
          </p:cNvPr>
          <p:cNvSpPr/>
          <p:nvPr/>
        </p:nvSpPr>
        <p:spPr>
          <a:xfrm>
            <a:off x="1467888" y="3089913"/>
            <a:ext cx="4732020" cy="445770"/>
          </a:xfrm>
          <a:prstGeom prst="rect">
            <a:avLst/>
          </a:prstGeom>
          <a:noFill/>
          <a:ln/>
        </p:spPr>
        <p:txBody>
          <a:bodyPr wrap="square" rtlCol="0" anchor="t"/>
          <a:lstStyle/>
          <a:p>
            <a:pPr>
              <a:lnSpc>
                <a:spcPct val="120000"/>
              </a:lnSpc>
            </a:pPr>
            <a:r>
              <a:rPr lang="en-US" sz="900">
                <a:solidFill>
                  <a:schemeClr val="dk1"/>
                </a:solidFill>
              </a:rPr>
              <a:t>Direct numbers and steps outperform hedged marketing language (“it depends,” “contact us”).</a:t>
            </a:r>
          </a:p>
        </p:txBody>
      </p:sp>
      <p:sp>
        <p:nvSpPr>
          <p:cNvPr id="20" name="Shape 12">
            <a:extLst>
              <a:ext uri="{FF2B5EF4-FFF2-40B4-BE49-F238E27FC236}">
                <a16:creationId xmlns:a16="http://schemas.microsoft.com/office/drawing/2014/main" id="{E549E5F6-BE0B-9498-C787-2C7A8E59EF51}"/>
              </a:ext>
            </a:extLst>
          </p:cNvPr>
          <p:cNvSpPr/>
          <p:nvPr/>
        </p:nvSpPr>
        <p:spPr>
          <a:xfrm>
            <a:off x="987828" y="3641982"/>
            <a:ext cx="342900" cy="342900"/>
          </a:xfrm>
          <a:prstGeom prst="roundRect">
            <a:avLst>
              <a:gd name="adj" fmla="val 20000"/>
            </a:avLst>
          </a:prstGeom>
          <a:solidFill>
            <a:schemeClr val="tx1"/>
          </a:solidFill>
          <a:ln/>
        </p:spPr>
        <p:txBody>
          <a:bodyPr/>
          <a:lstStyle/>
          <a:p>
            <a:endParaRPr lang="pl-PL" sz="1350"/>
          </a:p>
        </p:txBody>
      </p:sp>
      <p:sp>
        <p:nvSpPr>
          <p:cNvPr id="22" name="Text 13">
            <a:extLst>
              <a:ext uri="{FF2B5EF4-FFF2-40B4-BE49-F238E27FC236}">
                <a16:creationId xmlns:a16="http://schemas.microsoft.com/office/drawing/2014/main" id="{77951289-5052-54D9-0116-025F7E227CA1}"/>
              </a:ext>
            </a:extLst>
          </p:cNvPr>
          <p:cNvSpPr/>
          <p:nvPr/>
        </p:nvSpPr>
        <p:spPr>
          <a:xfrm>
            <a:off x="1467888" y="3607692"/>
            <a:ext cx="4732020" cy="219456"/>
          </a:xfrm>
          <a:prstGeom prst="rect">
            <a:avLst/>
          </a:prstGeom>
          <a:noFill/>
          <a:ln/>
        </p:spPr>
        <p:txBody>
          <a:bodyPr wrap="square" rtlCol="0" anchor="ctr"/>
          <a:lstStyle/>
          <a:p>
            <a:r>
              <a:rPr lang="en-US" sz="1050" b="1">
                <a:solidFill>
                  <a:schemeClr val="dk1"/>
                </a:solidFill>
              </a:rPr>
              <a:t>Voice check</a:t>
            </a:r>
          </a:p>
        </p:txBody>
      </p:sp>
      <p:sp>
        <p:nvSpPr>
          <p:cNvPr id="23" name="Text 14">
            <a:extLst>
              <a:ext uri="{FF2B5EF4-FFF2-40B4-BE49-F238E27FC236}">
                <a16:creationId xmlns:a16="http://schemas.microsoft.com/office/drawing/2014/main" id="{22234453-097A-32DB-7840-BA29D57ABADA}"/>
              </a:ext>
            </a:extLst>
          </p:cNvPr>
          <p:cNvSpPr/>
          <p:nvPr/>
        </p:nvSpPr>
        <p:spPr>
          <a:xfrm>
            <a:off x="1467888" y="3761997"/>
            <a:ext cx="4732020" cy="445770"/>
          </a:xfrm>
          <a:prstGeom prst="rect">
            <a:avLst/>
          </a:prstGeom>
          <a:noFill/>
          <a:ln/>
        </p:spPr>
        <p:txBody>
          <a:bodyPr wrap="square" rtlCol="0" anchor="t"/>
          <a:lstStyle/>
          <a:p>
            <a:pPr>
              <a:lnSpc>
                <a:spcPct val="120000"/>
              </a:lnSpc>
            </a:pPr>
            <a:r>
              <a:rPr lang="en-US" sz="900">
                <a:solidFill>
                  <a:schemeClr val="dk1"/>
                </a:solidFill>
              </a:rPr>
              <a:t>Does the cited content sound like a trusted expert, or like a brand talking about itself? Ours should read as the former.</a:t>
            </a:r>
          </a:p>
        </p:txBody>
      </p:sp>
      <p:sp>
        <p:nvSpPr>
          <p:cNvPr id="25" name="TextBox 24">
            <a:extLst>
              <a:ext uri="{FF2B5EF4-FFF2-40B4-BE49-F238E27FC236}">
                <a16:creationId xmlns:a16="http://schemas.microsoft.com/office/drawing/2014/main" id="{B25436DA-B9E9-9253-981A-7271F3E89945}"/>
              </a:ext>
            </a:extLst>
          </p:cNvPr>
          <p:cNvSpPr txBox="1"/>
          <p:nvPr/>
        </p:nvSpPr>
        <p:spPr>
          <a:xfrm>
            <a:off x="6435436" y="2353756"/>
            <a:ext cx="1791954" cy="1031051"/>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Log this: </a:t>
            </a:r>
          </a:p>
          <a:p>
            <a:pPr lvl="0" algn="ctr">
              <a:defRPr/>
            </a:pPr>
            <a:r>
              <a:rPr lang="en-US" sz="1000">
                <a:solidFill>
                  <a:schemeClr val="accent5"/>
                </a:solidFill>
              </a:rPr>
              <a:t>Rate the cited answer on formality, perspective, and confidence </a:t>
            </a:r>
            <a:r>
              <a:rPr lang="pl-PL" sz="1000">
                <a:solidFill>
                  <a:schemeClr val="accent5"/>
                </a:solidFill>
              </a:rPr>
              <a:t>-</a:t>
            </a:r>
            <a:r>
              <a:rPr lang="en-US" sz="1000">
                <a:solidFill>
                  <a:schemeClr val="accent5"/>
                </a:solidFill>
              </a:rPr>
              <a:t> then rate our current page the same way, side by side.</a:t>
            </a:r>
          </a:p>
        </p:txBody>
      </p:sp>
      <p:pic>
        <p:nvPicPr>
          <p:cNvPr id="13" name="Image 1" descr="/home/claude/geo_deck/icons/users.png">
            <a:extLst>
              <a:ext uri="{FF2B5EF4-FFF2-40B4-BE49-F238E27FC236}">
                <a16:creationId xmlns:a16="http://schemas.microsoft.com/office/drawing/2014/main" id="{70791173-7F20-1F02-B084-0E62AA275F9B}"/>
              </a:ext>
            </a:extLst>
          </p:cNvPr>
          <p:cNvPicPr>
            <a:picLocks noChangeAspect="1"/>
          </p:cNvPicPr>
          <p:nvPr/>
        </p:nvPicPr>
        <p:blipFill>
          <a:blip r:embed="rId3"/>
          <a:stretch>
            <a:fillRect/>
          </a:stretch>
        </p:blipFill>
        <p:spPr>
          <a:xfrm>
            <a:off x="1063266" y="2370447"/>
            <a:ext cx="192024" cy="192024"/>
          </a:xfrm>
          <a:prstGeom prst="rect">
            <a:avLst/>
          </a:prstGeom>
        </p:spPr>
      </p:pic>
      <p:pic>
        <p:nvPicPr>
          <p:cNvPr id="17" name="Image 2" descr="/home/claude/geo_deck/icons/target.png">
            <a:extLst>
              <a:ext uri="{FF2B5EF4-FFF2-40B4-BE49-F238E27FC236}">
                <a16:creationId xmlns:a16="http://schemas.microsoft.com/office/drawing/2014/main" id="{C5D19149-6F74-4084-FD4D-F8CD16C62E31}"/>
              </a:ext>
            </a:extLst>
          </p:cNvPr>
          <p:cNvPicPr>
            <a:picLocks noChangeAspect="1"/>
          </p:cNvPicPr>
          <p:nvPr/>
        </p:nvPicPr>
        <p:blipFill>
          <a:blip r:embed="rId4"/>
          <a:stretch>
            <a:fillRect/>
          </a:stretch>
        </p:blipFill>
        <p:spPr>
          <a:xfrm>
            <a:off x="1063266" y="3042531"/>
            <a:ext cx="192024" cy="192024"/>
          </a:xfrm>
          <a:prstGeom prst="rect">
            <a:avLst/>
          </a:prstGeom>
        </p:spPr>
      </p:pic>
      <p:pic>
        <p:nvPicPr>
          <p:cNvPr id="21" name="Image 3" descr="/home/claude/geo_deck/icons/quote.png">
            <a:extLst>
              <a:ext uri="{FF2B5EF4-FFF2-40B4-BE49-F238E27FC236}">
                <a16:creationId xmlns:a16="http://schemas.microsoft.com/office/drawing/2014/main" id="{39CF3B02-0094-C7A1-AEA5-D72DE2C82E22}"/>
              </a:ext>
            </a:extLst>
          </p:cNvPr>
          <p:cNvPicPr>
            <a:picLocks noChangeAspect="1"/>
          </p:cNvPicPr>
          <p:nvPr/>
        </p:nvPicPr>
        <p:blipFill>
          <a:blip r:embed="rId5"/>
          <a:stretch>
            <a:fillRect/>
          </a:stretch>
        </p:blipFill>
        <p:spPr>
          <a:xfrm>
            <a:off x="1063266" y="3714615"/>
            <a:ext cx="192024" cy="192024"/>
          </a:xfrm>
          <a:prstGeom prst="rect">
            <a:avLst/>
          </a:prstGeom>
        </p:spPr>
      </p:pic>
      <p:pic>
        <p:nvPicPr>
          <p:cNvPr id="26" name="Image 0" descr="/home/claude/geo_deck/icons/adjust.png">
            <a:extLst>
              <a:ext uri="{FF2B5EF4-FFF2-40B4-BE49-F238E27FC236}">
                <a16:creationId xmlns:a16="http://schemas.microsoft.com/office/drawing/2014/main" id="{0E8E192F-7457-35A7-30FD-00F5FA240889}"/>
              </a:ext>
            </a:extLst>
          </p:cNvPr>
          <p:cNvPicPr>
            <a:picLocks noChangeAspect="1"/>
          </p:cNvPicPr>
          <p:nvPr/>
        </p:nvPicPr>
        <p:blipFill>
          <a:blip r:embed="rId6"/>
          <a:stretch>
            <a:fillRect/>
          </a:stretch>
        </p:blipFill>
        <p:spPr>
          <a:xfrm>
            <a:off x="1063266" y="1701168"/>
            <a:ext cx="192024" cy="192024"/>
          </a:xfrm>
          <a:prstGeom prst="rect">
            <a:avLst/>
          </a:prstGeom>
        </p:spPr>
      </p:pic>
      <p:sp>
        <p:nvSpPr>
          <p:cNvPr id="5" name="Footer Placeholder 4">
            <a:extLst>
              <a:ext uri="{FF2B5EF4-FFF2-40B4-BE49-F238E27FC236}">
                <a16:creationId xmlns:a16="http://schemas.microsoft.com/office/drawing/2014/main" id="{E17F5573-28D6-DC11-EF0D-3B63558FC913}"/>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6" name="Slide Number Placeholder 5">
            <a:extLst>
              <a:ext uri="{FF2B5EF4-FFF2-40B4-BE49-F238E27FC236}">
                <a16:creationId xmlns:a16="http://schemas.microsoft.com/office/drawing/2014/main" id="{AB3CC9D1-6C6A-BE97-5561-957D875176E9}"/>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96</a:t>
            </a:fld>
            <a:endParaRPr lang="en-US"/>
          </a:p>
        </p:txBody>
      </p:sp>
    </p:spTree>
    <p:extLst>
      <p:ext uri="{BB962C8B-B14F-4D97-AF65-F5344CB8AC3E}">
        <p14:creationId xmlns:p14="http://schemas.microsoft.com/office/powerpoint/2010/main" val="6740203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3F919-7CA1-AD67-FB46-9772E1F2495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986591FA-DB26-9BBE-B2FC-72484A2CFB3E}"/>
              </a:ext>
            </a:extLst>
          </p:cNvPr>
          <p:cNvSpPr/>
          <p:nvPr/>
        </p:nvSpPr>
        <p:spPr>
          <a:xfrm>
            <a:off x="905394" y="1410639"/>
            <a:ext cx="5392882" cy="3034145"/>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59EB4B5B-19C3-0141-AD4C-52B1BBF0FDD5}"/>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756B7AF5-2D21-3B72-B102-8B88EE19D035}"/>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Step 4: Messaging</a:t>
            </a:r>
          </a:p>
        </p:txBody>
      </p:sp>
      <p:sp>
        <p:nvSpPr>
          <p:cNvPr id="4" name="Text 2">
            <a:extLst>
              <a:ext uri="{FF2B5EF4-FFF2-40B4-BE49-F238E27FC236}">
                <a16:creationId xmlns:a16="http://schemas.microsoft.com/office/drawing/2014/main" id="{B7333E1D-5C63-A904-1B24-59406F23DF21}"/>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Unpack what the answer actually proves</a:t>
            </a:r>
            <a:r>
              <a:rPr lang="pl-PL" sz="1100">
                <a:solidFill>
                  <a:schemeClr val="accent5"/>
                </a:solidFill>
                <a:cs typeface="Arial"/>
              </a:rPr>
              <a:t>.</a:t>
            </a:r>
            <a:endParaRPr lang="en-US" sz="1100">
              <a:solidFill>
                <a:schemeClr val="accent5"/>
              </a:solidFill>
              <a:cs typeface="Arial"/>
            </a:endParaRPr>
          </a:p>
        </p:txBody>
      </p:sp>
      <p:sp>
        <p:nvSpPr>
          <p:cNvPr id="8" name="Shape 3">
            <a:extLst>
              <a:ext uri="{FF2B5EF4-FFF2-40B4-BE49-F238E27FC236}">
                <a16:creationId xmlns:a16="http://schemas.microsoft.com/office/drawing/2014/main" id="{39BFEE77-64BC-39D7-D241-993E679B4E8F}"/>
              </a:ext>
            </a:extLst>
          </p:cNvPr>
          <p:cNvSpPr/>
          <p:nvPr/>
        </p:nvSpPr>
        <p:spPr>
          <a:xfrm>
            <a:off x="987828" y="1625730"/>
            <a:ext cx="342900" cy="342900"/>
          </a:xfrm>
          <a:prstGeom prst="roundRect">
            <a:avLst>
              <a:gd name="adj" fmla="val 20000"/>
            </a:avLst>
          </a:prstGeom>
          <a:solidFill>
            <a:schemeClr val="tx1"/>
          </a:solidFill>
          <a:ln/>
        </p:spPr>
        <p:txBody>
          <a:bodyPr/>
          <a:lstStyle/>
          <a:p>
            <a:endParaRPr lang="pl-PL" sz="1350"/>
          </a:p>
        </p:txBody>
      </p:sp>
      <p:sp>
        <p:nvSpPr>
          <p:cNvPr id="10" name="Text 4">
            <a:extLst>
              <a:ext uri="{FF2B5EF4-FFF2-40B4-BE49-F238E27FC236}">
                <a16:creationId xmlns:a16="http://schemas.microsoft.com/office/drawing/2014/main" id="{4D43A4E0-3808-B08B-D8DF-9FF8680B4F47}"/>
              </a:ext>
            </a:extLst>
          </p:cNvPr>
          <p:cNvSpPr/>
          <p:nvPr/>
        </p:nvSpPr>
        <p:spPr>
          <a:xfrm>
            <a:off x="1467888" y="1591440"/>
            <a:ext cx="4732020" cy="219456"/>
          </a:xfrm>
          <a:prstGeom prst="rect">
            <a:avLst/>
          </a:prstGeom>
          <a:noFill/>
          <a:ln/>
        </p:spPr>
        <p:txBody>
          <a:bodyPr wrap="square" rtlCol="0" anchor="ctr"/>
          <a:lstStyle/>
          <a:p>
            <a:r>
              <a:rPr lang="en-US" sz="1050" b="1">
                <a:solidFill>
                  <a:schemeClr val="dk1"/>
                </a:solidFill>
              </a:rPr>
              <a:t>Anchoring facts</a:t>
            </a:r>
          </a:p>
        </p:txBody>
      </p:sp>
      <p:sp>
        <p:nvSpPr>
          <p:cNvPr id="11" name="Text 5">
            <a:extLst>
              <a:ext uri="{FF2B5EF4-FFF2-40B4-BE49-F238E27FC236}">
                <a16:creationId xmlns:a16="http://schemas.microsoft.com/office/drawing/2014/main" id="{E3180339-B6B1-C178-8D6E-2778FC053C8F}"/>
              </a:ext>
            </a:extLst>
          </p:cNvPr>
          <p:cNvSpPr/>
          <p:nvPr/>
        </p:nvSpPr>
        <p:spPr>
          <a:xfrm>
            <a:off x="1467888" y="1723449"/>
            <a:ext cx="4732020" cy="445770"/>
          </a:xfrm>
          <a:prstGeom prst="rect">
            <a:avLst/>
          </a:prstGeom>
          <a:noFill/>
          <a:ln/>
        </p:spPr>
        <p:txBody>
          <a:bodyPr wrap="square" rtlCol="0" anchor="t"/>
          <a:lstStyle/>
          <a:p>
            <a:pPr>
              <a:lnSpc>
                <a:spcPct val="120000"/>
              </a:lnSpc>
            </a:pPr>
            <a:r>
              <a:rPr lang="en-US" sz="900">
                <a:solidFill>
                  <a:schemeClr val="dk1"/>
                </a:solidFill>
              </a:rPr>
              <a:t>What specific numbers, ranges, or mechanisms does the answer lead with? These are usually the exact sentence quoted.</a:t>
            </a:r>
          </a:p>
        </p:txBody>
      </p:sp>
      <p:sp>
        <p:nvSpPr>
          <p:cNvPr id="12" name="Shape 6">
            <a:extLst>
              <a:ext uri="{FF2B5EF4-FFF2-40B4-BE49-F238E27FC236}">
                <a16:creationId xmlns:a16="http://schemas.microsoft.com/office/drawing/2014/main" id="{FD68ACA4-C3A5-ECCD-DCE6-8090E295653B}"/>
              </a:ext>
            </a:extLst>
          </p:cNvPr>
          <p:cNvSpPr/>
          <p:nvPr/>
        </p:nvSpPr>
        <p:spPr>
          <a:xfrm>
            <a:off x="987828" y="2297814"/>
            <a:ext cx="342900" cy="342900"/>
          </a:xfrm>
          <a:prstGeom prst="roundRect">
            <a:avLst>
              <a:gd name="adj" fmla="val 20000"/>
            </a:avLst>
          </a:prstGeom>
          <a:solidFill>
            <a:schemeClr val="tx1"/>
          </a:solidFill>
          <a:ln/>
        </p:spPr>
        <p:txBody>
          <a:bodyPr/>
          <a:lstStyle/>
          <a:p>
            <a:endParaRPr lang="pl-PL" sz="1350"/>
          </a:p>
        </p:txBody>
      </p:sp>
      <p:sp>
        <p:nvSpPr>
          <p:cNvPr id="14" name="Text 7">
            <a:extLst>
              <a:ext uri="{FF2B5EF4-FFF2-40B4-BE49-F238E27FC236}">
                <a16:creationId xmlns:a16="http://schemas.microsoft.com/office/drawing/2014/main" id="{EDD93670-7C37-1A16-3B8D-333E1C7B3D80}"/>
              </a:ext>
            </a:extLst>
          </p:cNvPr>
          <p:cNvSpPr/>
          <p:nvPr/>
        </p:nvSpPr>
        <p:spPr>
          <a:xfrm>
            <a:off x="1467888" y="2263524"/>
            <a:ext cx="4732020" cy="219456"/>
          </a:xfrm>
          <a:prstGeom prst="rect">
            <a:avLst/>
          </a:prstGeom>
          <a:noFill/>
          <a:ln/>
        </p:spPr>
        <p:txBody>
          <a:bodyPr wrap="square" rtlCol="0" anchor="ctr"/>
          <a:lstStyle/>
          <a:p>
            <a:r>
              <a:rPr lang="en-US" sz="1050" b="1">
                <a:solidFill>
                  <a:schemeClr val="dk1"/>
                </a:solidFill>
              </a:rPr>
              <a:t>Structure used</a:t>
            </a:r>
          </a:p>
        </p:txBody>
      </p:sp>
      <p:sp>
        <p:nvSpPr>
          <p:cNvPr id="15" name="Text 8">
            <a:extLst>
              <a:ext uri="{FF2B5EF4-FFF2-40B4-BE49-F238E27FC236}">
                <a16:creationId xmlns:a16="http://schemas.microsoft.com/office/drawing/2014/main" id="{15800A13-2E24-5964-0B36-C0F732A2BCC6}"/>
              </a:ext>
            </a:extLst>
          </p:cNvPr>
          <p:cNvSpPr/>
          <p:nvPr/>
        </p:nvSpPr>
        <p:spPr>
          <a:xfrm>
            <a:off x="1467888" y="2395533"/>
            <a:ext cx="4732020" cy="445770"/>
          </a:xfrm>
          <a:prstGeom prst="rect">
            <a:avLst/>
          </a:prstGeom>
          <a:noFill/>
          <a:ln/>
        </p:spPr>
        <p:txBody>
          <a:bodyPr wrap="square" rtlCol="0" anchor="t"/>
          <a:lstStyle/>
          <a:p>
            <a:pPr>
              <a:lnSpc>
                <a:spcPct val="120000"/>
              </a:lnSpc>
            </a:pPr>
            <a:r>
              <a:rPr lang="en-US" sz="900">
                <a:solidFill>
                  <a:schemeClr val="dk1"/>
                </a:solidFill>
              </a:rPr>
              <a:t>Direct answer first, then a scannable list or steps — versus a buried answer inside narrative paragraphs.</a:t>
            </a:r>
          </a:p>
        </p:txBody>
      </p:sp>
      <p:sp>
        <p:nvSpPr>
          <p:cNvPr id="16" name="Shape 9">
            <a:extLst>
              <a:ext uri="{FF2B5EF4-FFF2-40B4-BE49-F238E27FC236}">
                <a16:creationId xmlns:a16="http://schemas.microsoft.com/office/drawing/2014/main" id="{31FC8AD6-1C1C-4DC2-BE0D-6BB72C598AD4}"/>
              </a:ext>
            </a:extLst>
          </p:cNvPr>
          <p:cNvSpPr/>
          <p:nvPr/>
        </p:nvSpPr>
        <p:spPr>
          <a:xfrm>
            <a:off x="987828" y="2969898"/>
            <a:ext cx="342900" cy="342900"/>
          </a:xfrm>
          <a:prstGeom prst="roundRect">
            <a:avLst>
              <a:gd name="adj" fmla="val 20000"/>
            </a:avLst>
          </a:prstGeom>
          <a:solidFill>
            <a:schemeClr val="tx1"/>
          </a:solidFill>
          <a:ln/>
        </p:spPr>
        <p:txBody>
          <a:bodyPr/>
          <a:lstStyle/>
          <a:p>
            <a:endParaRPr lang="pl-PL" sz="1350"/>
          </a:p>
        </p:txBody>
      </p:sp>
      <p:sp>
        <p:nvSpPr>
          <p:cNvPr id="18" name="Text 10">
            <a:extLst>
              <a:ext uri="{FF2B5EF4-FFF2-40B4-BE49-F238E27FC236}">
                <a16:creationId xmlns:a16="http://schemas.microsoft.com/office/drawing/2014/main" id="{9907F8EC-918C-402A-4B1A-7A40FBEC8FDB}"/>
              </a:ext>
            </a:extLst>
          </p:cNvPr>
          <p:cNvSpPr/>
          <p:nvPr/>
        </p:nvSpPr>
        <p:spPr>
          <a:xfrm>
            <a:off x="1467888" y="2935608"/>
            <a:ext cx="4732020" cy="219456"/>
          </a:xfrm>
          <a:prstGeom prst="rect">
            <a:avLst/>
          </a:prstGeom>
          <a:noFill/>
          <a:ln/>
        </p:spPr>
        <p:txBody>
          <a:bodyPr wrap="square" rtlCol="0" anchor="ctr"/>
          <a:lstStyle/>
          <a:p>
            <a:r>
              <a:rPr lang="en-US" sz="1050" b="1">
                <a:solidFill>
                  <a:schemeClr val="dk1"/>
                </a:solidFill>
              </a:rPr>
              <a:t>Proof points</a:t>
            </a:r>
          </a:p>
        </p:txBody>
      </p:sp>
      <p:sp>
        <p:nvSpPr>
          <p:cNvPr id="19" name="Text 11">
            <a:extLst>
              <a:ext uri="{FF2B5EF4-FFF2-40B4-BE49-F238E27FC236}">
                <a16:creationId xmlns:a16="http://schemas.microsoft.com/office/drawing/2014/main" id="{FE5D0C66-735C-E74B-6369-F4A7DF8B9782}"/>
              </a:ext>
            </a:extLst>
          </p:cNvPr>
          <p:cNvSpPr/>
          <p:nvPr/>
        </p:nvSpPr>
        <p:spPr>
          <a:xfrm>
            <a:off x="1467888" y="3067617"/>
            <a:ext cx="4732020" cy="445770"/>
          </a:xfrm>
          <a:prstGeom prst="rect">
            <a:avLst/>
          </a:prstGeom>
          <a:noFill/>
          <a:ln/>
        </p:spPr>
        <p:txBody>
          <a:bodyPr wrap="square" rtlCol="0" anchor="t"/>
          <a:lstStyle/>
          <a:p>
            <a:pPr>
              <a:lnSpc>
                <a:spcPct val="120000"/>
              </a:lnSpc>
            </a:pPr>
            <a:r>
              <a:rPr lang="en-US" sz="900">
                <a:solidFill>
                  <a:schemeClr val="dk1"/>
                </a:solidFill>
              </a:rPr>
              <a:t>Named studies, product-specific behavior, or diagnostic detail that a generic competitor couldn't easily replicate.</a:t>
            </a:r>
          </a:p>
        </p:txBody>
      </p:sp>
      <p:sp>
        <p:nvSpPr>
          <p:cNvPr id="20" name="Shape 12">
            <a:extLst>
              <a:ext uri="{FF2B5EF4-FFF2-40B4-BE49-F238E27FC236}">
                <a16:creationId xmlns:a16="http://schemas.microsoft.com/office/drawing/2014/main" id="{108840D5-1A44-90A6-BC2E-8FC58AE8A4F5}"/>
              </a:ext>
            </a:extLst>
          </p:cNvPr>
          <p:cNvSpPr/>
          <p:nvPr/>
        </p:nvSpPr>
        <p:spPr>
          <a:xfrm>
            <a:off x="987828" y="3641982"/>
            <a:ext cx="342900" cy="342900"/>
          </a:xfrm>
          <a:prstGeom prst="roundRect">
            <a:avLst>
              <a:gd name="adj" fmla="val 20000"/>
            </a:avLst>
          </a:prstGeom>
          <a:solidFill>
            <a:schemeClr val="tx1"/>
          </a:solidFill>
          <a:ln/>
        </p:spPr>
        <p:txBody>
          <a:bodyPr/>
          <a:lstStyle/>
          <a:p>
            <a:endParaRPr lang="pl-PL" sz="1350"/>
          </a:p>
        </p:txBody>
      </p:sp>
      <p:sp>
        <p:nvSpPr>
          <p:cNvPr id="22" name="Text 13">
            <a:extLst>
              <a:ext uri="{FF2B5EF4-FFF2-40B4-BE49-F238E27FC236}">
                <a16:creationId xmlns:a16="http://schemas.microsoft.com/office/drawing/2014/main" id="{7836ECFE-9566-3175-B85B-6DAD8CA5DF65}"/>
              </a:ext>
            </a:extLst>
          </p:cNvPr>
          <p:cNvSpPr/>
          <p:nvPr/>
        </p:nvSpPr>
        <p:spPr>
          <a:xfrm>
            <a:off x="1467888" y="3607692"/>
            <a:ext cx="4732020" cy="219456"/>
          </a:xfrm>
          <a:prstGeom prst="rect">
            <a:avLst/>
          </a:prstGeom>
          <a:noFill/>
          <a:ln/>
        </p:spPr>
        <p:txBody>
          <a:bodyPr wrap="square" rtlCol="0" anchor="ctr"/>
          <a:lstStyle/>
          <a:p>
            <a:r>
              <a:rPr lang="en-US" sz="1050" b="1">
                <a:solidFill>
                  <a:schemeClr val="dk1"/>
                </a:solidFill>
              </a:rPr>
              <a:t>Self-containment</a:t>
            </a:r>
          </a:p>
        </p:txBody>
      </p:sp>
      <p:sp>
        <p:nvSpPr>
          <p:cNvPr id="23" name="Text 14">
            <a:extLst>
              <a:ext uri="{FF2B5EF4-FFF2-40B4-BE49-F238E27FC236}">
                <a16:creationId xmlns:a16="http://schemas.microsoft.com/office/drawing/2014/main" id="{6CC43252-947F-EA74-E010-274B39711953}"/>
              </a:ext>
            </a:extLst>
          </p:cNvPr>
          <p:cNvSpPr/>
          <p:nvPr/>
        </p:nvSpPr>
        <p:spPr>
          <a:xfrm>
            <a:off x="1467888" y="3739701"/>
            <a:ext cx="4732020" cy="445770"/>
          </a:xfrm>
          <a:prstGeom prst="rect">
            <a:avLst/>
          </a:prstGeom>
          <a:noFill/>
          <a:ln/>
        </p:spPr>
        <p:txBody>
          <a:bodyPr wrap="square" rtlCol="0" anchor="t"/>
          <a:lstStyle/>
          <a:p>
            <a:pPr>
              <a:lnSpc>
                <a:spcPct val="120000"/>
              </a:lnSpc>
            </a:pPr>
            <a:r>
              <a:rPr lang="en-US" sz="900">
                <a:solidFill>
                  <a:schemeClr val="dk1"/>
                </a:solidFill>
              </a:rPr>
              <a:t>Does the answer resolve the question fully in place, or does it require a click-through to be useful?</a:t>
            </a:r>
          </a:p>
        </p:txBody>
      </p:sp>
      <p:sp>
        <p:nvSpPr>
          <p:cNvPr id="25" name="TextBox 24">
            <a:extLst>
              <a:ext uri="{FF2B5EF4-FFF2-40B4-BE49-F238E27FC236}">
                <a16:creationId xmlns:a16="http://schemas.microsoft.com/office/drawing/2014/main" id="{4993104A-570A-39FB-41C9-E56BE73A1125}"/>
              </a:ext>
            </a:extLst>
          </p:cNvPr>
          <p:cNvSpPr txBox="1"/>
          <p:nvPr/>
        </p:nvSpPr>
        <p:spPr>
          <a:xfrm>
            <a:off x="6446652" y="2246623"/>
            <a:ext cx="1791954" cy="1338828"/>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Log this: </a:t>
            </a:r>
          </a:p>
          <a:p>
            <a:pPr lvl="0" algn="ctr">
              <a:defRPr/>
            </a:pPr>
            <a:r>
              <a:rPr lang="en-US" sz="1000">
                <a:solidFill>
                  <a:schemeClr val="accent5"/>
                </a:solidFill>
              </a:rPr>
              <a:t>Extract the single sentence most likely to be quoted verbatim from the winning content. Then check: does our page have an equivalent </a:t>
            </a:r>
            <a:r>
              <a:rPr lang="pl-PL" sz="1000">
                <a:solidFill>
                  <a:schemeClr val="accent5"/>
                </a:solidFill>
              </a:rPr>
              <a:t>message</a:t>
            </a:r>
            <a:r>
              <a:rPr lang="en-US" sz="1000">
                <a:solidFill>
                  <a:schemeClr val="accent5"/>
                </a:solidFill>
              </a:rPr>
              <a:t>?</a:t>
            </a:r>
          </a:p>
        </p:txBody>
      </p:sp>
      <p:pic>
        <p:nvPicPr>
          <p:cNvPr id="5" name="Image 1" descr="/home/claude/geo_deck/icons/listcheck.png">
            <a:extLst>
              <a:ext uri="{FF2B5EF4-FFF2-40B4-BE49-F238E27FC236}">
                <a16:creationId xmlns:a16="http://schemas.microsoft.com/office/drawing/2014/main" id="{E7F272B4-952D-461C-6EB2-54CF7FF16778}"/>
              </a:ext>
            </a:extLst>
          </p:cNvPr>
          <p:cNvPicPr>
            <a:picLocks noChangeAspect="1"/>
          </p:cNvPicPr>
          <p:nvPr/>
        </p:nvPicPr>
        <p:blipFill>
          <a:blip r:embed="rId3"/>
          <a:stretch>
            <a:fillRect/>
          </a:stretch>
        </p:blipFill>
        <p:spPr>
          <a:xfrm>
            <a:off x="1063266" y="2370447"/>
            <a:ext cx="192024" cy="192024"/>
          </a:xfrm>
          <a:prstGeom prst="rect">
            <a:avLst/>
          </a:prstGeom>
        </p:spPr>
      </p:pic>
      <p:pic>
        <p:nvPicPr>
          <p:cNvPr id="6" name="Image 2" descr="/home/claude/geo_deck/icons/chart.png">
            <a:extLst>
              <a:ext uri="{FF2B5EF4-FFF2-40B4-BE49-F238E27FC236}">
                <a16:creationId xmlns:a16="http://schemas.microsoft.com/office/drawing/2014/main" id="{02544B29-FAC3-B5FE-B366-BB0A41B8AED4}"/>
              </a:ext>
            </a:extLst>
          </p:cNvPr>
          <p:cNvPicPr>
            <a:picLocks noChangeAspect="1"/>
          </p:cNvPicPr>
          <p:nvPr/>
        </p:nvPicPr>
        <p:blipFill>
          <a:blip r:embed="rId4"/>
          <a:stretch>
            <a:fillRect/>
          </a:stretch>
        </p:blipFill>
        <p:spPr>
          <a:xfrm>
            <a:off x="1063266" y="3042531"/>
            <a:ext cx="192024" cy="192024"/>
          </a:xfrm>
          <a:prstGeom prst="rect">
            <a:avLst/>
          </a:prstGeom>
        </p:spPr>
      </p:pic>
      <p:pic>
        <p:nvPicPr>
          <p:cNvPr id="7" name="Image 3" descr="/home/claude/geo_deck/icons/message.png">
            <a:extLst>
              <a:ext uri="{FF2B5EF4-FFF2-40B4-BE49-F238E27FC236}">
                <a16:creationId xmlns:a16="http://schemas.microsoft.com/office/drawing/2014/main" id="{6C776B38-E9A3-EB5A-6E98-39864B8D86DB}"/>
              </a:ext>
            </a:extLst>
          </p:cNvPr>
          <p:cNvPicPr>
            <a:picLocks noChangeAspect="1"/>
          </p:cNvPicPr>
          <p:nvPr/>
        </p:nvPicPr>
        <p:blipFill>
          <a:blip r:embed="rId5"/>
          <a:stretch>
            <a:fillRect/>
          </a:stretch>
        </p:blipFill>
        <p:spPr>
          <a:xfrm>
            <a:off x="1063266" y="3714615"/>
            <a:ext cx="192024" cy="192024"/>
          </a:xfrm>
          <a:prstGeom prst="rect">
            <a:avLst/>
          </a:prstGeom>
        </p:spPr>
      </p:pic>
      <p:pic>
        <p:nvPicPr>
          <p:cNvPr id="9" name="Image 0" descr="/home/claude/geo_deck/icons/filecheck.png">
            <a:extLst>
              <a:ext uri="{FF2B5EF4-FFF2-40B4-BE49-F238E27FC236}">
                <a16:creationId xmlns:a16="http://schemas.microsoft.com/office/drawing/2014/main" id="{8D6D0FD5-66B8-1677-274D-E6EA2782BB70}"/>
              </a:ext>
            </a:extLst>
          </p:cNvPr>
          <p:cNvPicPr>
            <a:picLocks noChangeAspect="1"/>
          </p:cNvPicPr>
          <p:nvPr/>
        </p:nvPicPr>
        <p:blipFill>
          <a:blip r:embed="rId6"/>
          <a:stretch>
            <a:fillRect/>
          </a:stretch>
        </p:blipFill>
        <p:spPr>
          <a:xfrm>
            <a:off x="1063266" y="1701168"/>
            <a:ext cx="192024" cy="192024"/>
          </a:xfrm>
          <a:prstGeom prst="rect">
            <a:avLst/>
          </a:prstGeom>
        </p:spPr>
      </p:pic>
      <p:sp>
        <p:nvSpPr>
          <p:cNvPr id="13" name="Footer Placeholder 4">
            <a:extLst>
              <a:ext uri="{FF2B5EF4-FFF2-40B4-BE49-F238E27FC236}">
                <a16:creationId xmlns:a16="http://schemas.microsoft.com/office/drawing/2014/main" id="{FC3D837B-31F3-4E0A-5FB8-A6A8A1514AD8}"/>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17" name="Slide Number Placeholder 5">
            <a:extLst>
              <a:ext uri="{FF2B5EF4-FFF2-40B4-BE49-F238E27FC236}">
                <a16:creationId xmlns:a16="http://schemas.microsoft.com/office/drawing/2014/main" id="{A7D0631F-993D-8BA9-B976-F17A4D842E66}"/>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97</a:t>
            </a:fld>
            <a:endParaRPr lang="en-US"/>
          </a:p>
        </p:txBody>
      </p:sp>
    </p:spTree>
    <p:extLst>
      <p:ext uri="{BB962C8B-B14F-4D97-AF65-F5344CB8AC3E}">
        <p14:creationId xmlns:p14="http://schemas.microsoft.com/office/powerpoint/2010/main" val="24529901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118A7-600C-7F52-1857-CF832906F7B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35C0C0F4-B20A-9DC3-89BF-EC9955789F97}"/>
              </a:ext>
            </a:extLst>
          </p:cNvPr>
          <p:cNvSpPr/>
          <p:nvPr/>
        </p:nvSpPr>
        <p:spPr>
          <a:xfrm>
            <a:off x="905394" y="1410639"/>
            <a:ext cx="5392882" cy="3034145"/>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2" name="Shape 0">
            <a:extLst>
              <a:ext uri="{FF2B5EF4-FFF2-40B4-BE49-F238E27FC236}">
                <a16:creationId xmlns:a16="http://schemas.microsoft.com/office/drawing/2014/main" id="{BAE025A8-BF14-9AE6-6483-155703D352B7}"/>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E813944F-3C63-3592-6BB0-3C41313CB87E}"/>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Step 5: Sources cited</a:t>
            </a:r>
          </a:p>
        </p:txBody>
      </p:sp>
      <p:sp>
        <p:nvSpPr>
          <p:cNvPr id="4" name="Text 2">
            <a:extLst>
              <a:ext uri="{FF2B5EF4-FFF2-40B4-BE49-F238E27FC236}">
                <a16:creationId xmlns:a16="http://schemas.microsoft.com/office/drawing/2014/main" id="{07A2E541-C2A1-2DAE-BAFF-CF6ABD362935}"/>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Study who is winning the citation </a:t>
            </a:r>
            <a:r>
              <a:rPr lang="pl-PL" sz="1100">
                <a:solidFill>
                  <a:schemeClr val="accent5"/>
                </a:solidFill>
                <a:cs typeface="Arial"/>
              </a:rPr>
              <a:t>-</a:t>
            </a:r>
            <a:r>
              <a:rPr lang="en-US" sz="1100">
                <a:solidFill>
                  <a:schemeClr val="accent5"/>
                </a:solidFill>
                <a:cs typeface="Arial"/>
              </a:rPr>
              <a:t> and why</a:t>
            </a:r>
            <a:r>
              <a:rPr lang="pl-PL" sz="1100">
                <a:solidFill>
                  <a:schemeClr val="accent5"/>
                </a:solidFill>
                <a:cs typeface="Arial"/>
              </a:rPr>
              <a:t>.</a:t>
            </a:r>
            <a:endParaRPr lang="en-US" sz="1100">
              <a:solidFill>
                <a:schemeClr val="accent5"/>
              </a:solidFill>
              <a:cs typeface="Arial"/>
            </a:endParaRPr>
          </a:p>
        </p:txBody>
      </p:sp>
      <p:sp>
        <p:nvSpPr>
          <p:cNvPr id="8" name="Shape 3">
            <a:extLst>
              <a:ext uri="{FF2B5EF4-FFF2-40B4-BE49-F238E27FC236}">
                <a16:creationId xmlns:a16="http://schemas.microsoft.com/office/drawing/2014/main" id="{A84797F9-6FBE-CF29-33D8-C9A94CBFE6B7}"/>
              </a:ext>
            </a:extLst>
          </p:cNvPr>
          <p:cNvSpPr/>
          <p:nvPr/>
        </p:nvSpPr>
        <p:spPr>
          <a:xfrm>
            <a:off x="987828" y="1625730"/>
            <a:ext cx="342900" cy="342900"/>
          </a:xfrm>
          <a:prstGeom prst="roundRect">
            <a:avLst>
              <a:gd name="adj" fmla="val 20000"/>
            </a:avLst>
          </a:prstGeom>
          <a:solidFill>
            <a:schemeClr val="tx1"/>
          </a:solidFill>
          <a:ln/>
        </p:spPr>
        <p:txBody>
          <a:bodyPr/>
          <a:lstStyle/>
          <a:p>
            <a:endParaRPr lang="pl-PL" sz="1350"/>
          </a:p>
        </p:txBody>
      </p:sp>
      <p:sp>
        <p:nvSpPr>
          <p:cNvPr id="10" name="Text 4">
            <a:extLst>
              <a:ext uri="{FF2B5EF4-FFF2-40B4-BE49-F238E27FC236}">
                <a16:creationId xmlns:a16="http://schemas.microsoft.com/office/drawing/2014/main" id="{6C4AFD9D-13BF-7E34-E117-2FA018E5D871}"/>
              </a:ext>
            </a:extLst>
          </p:cNvPr>
          <p:cNvSpPr/>
          <p:nvPr/>
        </p:nvSpPr>
        <p:spPr>
          <a:xfrm>
            <a:off x="1467888" y="1591440"/>
            <a:ext cx="4732020" cy="219456"/>
          </a:xfrm>
          <a:prstGeom prst="rect">
            <a:avLst/>
          </a:prstGeom>
          <a:noFill/>
          <a:ln/>
        </p:spPr>
        <p:txBody>
          <a:bodyPr wrap="square" rtlCol="0" anchor="ctr"/>
          <a:lstStyle/>
          <a:p>
            <a:r>
              <a:rPr lang="en-US" sz="1050" b="1">
                <a:solidFill>
                  <a:schemeClr val="dk1"/>
                </a:solidFill>
              </a:rPr>
              <a:t>Who is cited?</a:t>
            </a:r>
          </a:p>
        </p:txBody>
      </p:sp>
      <p:sp>
        <p:nvSpPr>
          <p:cNvPr id="11" name="Text 5">
            <a:extLst>
              <a:ext uri="{FF2B5EF4-FFF2-40B4-BE49-F238E27FC236}">
                <a16:creationId xmlns:a16="http://schemas.microsoft.com/office/drawing/2014/main" id="{EF9B8C32-8A75-7AEE-09E9-9314A3F77D02}"/>
              </a:ext>
            </a:extLst>
          </p:cNvPr>
          <p:cNvSpPr/>
          <p:nvPr/>
        </p:nvSpPr>
        <p:spPr>
          <a:xfrm>
            <a:off x="1467888" y="1747065"/>
            <a:ext cx="4732020" cy="445770"/>
          </a:xfrm>
          <a:prstGeom prst="rect">
            <a:avLst/>
          </a:prstGeom>
          <a:noFill/>
          <a:ln/>
        </p:spPr>
        <p:txBody>
          <a:bodyPr wrap="square" rtlCol="0" anchor="t"/>
          <a:lstStyle/>
          <a:p>
            <a:pPr>
              <a:lnSpc>
                <a:spcPct val="120000"/>
              </a:lnSpc>
            </a:pPr>
            <a:r>
              <a:rPr lang="en-US" sz="900">
                <a:solidFill>
                  <a:schemeClr val="dk1"/>
                </a:solidFill>
              </a:rPr>
              <a:t>Direct competitors, independent reviewers, forums, distributors, or industry publications </a:t>
            </a:r>
            <a:r>
              <a:rPr lang="pl-PL" sz="900">
                <a:solidFill>
                  <a:schemeClr val="dk1"/>
                </a:solidFill>
              </a:rPr>
              <a:t>-</a:t>
            </a:r>
            <a:r>
              <a:rPr lang="en-US" sz="900">
                <a:solidFill>
                  <a:schemeClr val="dk1"/>
                </a:solidFill>
              </a:rPr>
              <a:t> each implies a different fix.</a:t>
            </a:r>
          </a:p>
        </p:txBody>
      </p:sp>
      <p:sp>
        <p:nvSpPr>
          <p:cNvPr id="12" name="Shape 6">
            <a:extLst>
              <a:ext uri="{FF2B5EF4-FFF2-40B4-BE49-F238E27FC236}">
                <a16:creationId xmlns:a16="http://schemas.microsoft.com/office/drawing/2014/main" id="{AE9C70CE-1A29-C5E8-F17E-D8BAFB2BDFA2}"/>
              </a:ext>
            </a:extLst>
          </p:cNvPr>
          <p:cNvSpPr/>
          <p:nvPr/>
        </p:nvSpPr>
        <p:spPr>
          <a:xfrm>
            <a:off x="987828" y="2297814"/>
            <a:ext cx="342900" cy="342900"/>
          </a:xfrm>
          <a:prstGeom prst="roundRect">
            <a:avLst>
              <a:gd name="adj" fmla="val 20000"/>
            </a:avLst>
          </a:prstGeom>
          <a:solidFill>
            <a:schemeClr val="tx1"/>
          </a:solidFill>
          <a:ln/>
        </p:spPr>
        <p:txBody>
          <a:bodyPr/>
          <a:lstStyle/>
          <a:p>
            <a:endParaRPr lang="pl-PL" sz="1350"/>
          </a:p>
        </p:txBody>
      </p:sp>
      <p:sp>
        <p:nvSpPr>
          <p:cNvPr id="14" name="Text 7">
            <a:extLst>
              <a:ext uri="{FF2B5EF4-FFF2-40B4-BE49-F238E27FC236}">
                <a16:creationId xmlns:a16="http://schemas.microsoft.com/office/drawing/2014/main" id="{FE465D91-93C4-B340-008A-EEE62AA8A207}"/>
              </a:ext>
            </a:extLst>
          </p:cNvPr>
          <p:cNvSpPr/>
          <p:nvPr/>
        </p:nvSpPr>
        <p:spPr>
          <a:xfrm>
            <a:off x="1467888" y="2263524"/>
            <a:ext cx="4732020" cy="219456"/>
          </a:xfrm>
          <a:prstGeom prst="rect">
            <a:avLst/>
          </a:prstGeom>
          <a:noFill/>
          <a:ln/>
        </p:spPr>
        <p:txBody>
          <a:bodyPr wrap="square" rtlCol="0" anchor="ctr"/>
          <a:lstStyle/>
          <a:p>
            <a:r>
              <a:rPr lang="en-US" sz="1050" b="1">
                <a:solidFill>
                  <a:schemeClr val="dk1"/>
                </a:solidFill>
              </a:rPr>
              <a:t>What format do they use?</a:t>
            </a:r>
          </a:p>
        </p:txBody>
      </p:sp>
      <p:sp>
        <p:nvSpPr>
          <p:cNvPr id="15" name="Text 8">
            <a:extLst>
              <a:ext uri="{FF2B5EF4-FFF2-40B4-BE49-F238E27FC236}">
                <a16:creationId xmlns:a16="http://schemas.microsoft.com/office/drawing/2014/main" id="{D2CEE51B-C588-4DF0-C215-4F1059CB2572}"/>
              </a:ext>
            </a:extLst>
          </p:cNvPr>
          <p:cNvSpPr/>
          <p:nvPr/>
        </p:nvSpPr>
        <p:spPr>
          <a:xfrm>
            <a:off x="1467888" y="2419149"/>
            <a:ext cx="4732020" cy="445770"/>
          </a:xfrm>
          <a:prstGeom prst="rect">
            <a:avLst/>
          </a:prstGeom>
          <a:noFill/>
          <a:ln/>
        </p:spPr>
        <p:txBody>
          <a:bodyPr wrap="square" rtlCol="0" anchor="t"/>
          <a:lstStyle/>
          <a:p>
            <a:pPr>
              <a:lnSpc>
                <a:spcPct val="120000"/>
              </a:lnSpc>
            </a:pPr>
            <a:r>
              <a:rPr lang="pl-PL" sz="900">
                <a:solidFill>
                  <a:schemeClr val="dk1"/>
                </a:solidFill>
              </a:rPr>
              <a:t>Editorial page, </a:t>
            </a:r>
            <a:r>
              <a:rPr lang="en-US" sz="900">
                <a:solidFill>
                  <a:schemeClr val="dk1"/>
                </a:solidFill>
              </a:rPr>
              <a:t>FAQ page, how-to guide, structured spec sheet, or </a:t>
            </a:r>
            <a:r>
              <a:rPr lang="pl-PL" sz="900">
                <a:solidFill>
                  <a:schemeClr val="dk1"/>
                </a:solidFill>
              </a:rPr>
              <a:t>blog -</a:t>
            </a:r>
            <a:r>
              <a:rPr lang="en-US" sz="900">
                <a:solidFill>
                  <a:schemeClr val="dk1"/>
                </a:solidFill>
              </a:rPr>
              <a:t> note the format the model favored.</a:t>
            </a:r>
          </a:p>
        </p:txBody>
      </p:sp>
      <p:sp>
        <p:nvSpPr>
          <p:cNvPr id="16" name="Shape 9">
            <a:extLst>
              <a:ext uri="{FF2B5EF4-FFF2-40B4-BE49-F238E27FC236}">
                <a16:creationId xmlns:a16="http://schemas.microsoft.com/office/drawing/2014/main" id="{D8CF2E01-22A8-B508-0727-5A8D1F678C86}"/>
              </a:ext>
            </a:extLst>
          </p:cNvPr>
          <p:cNvSpPr/>
          <p:nvPr/>
        </p:nvSpPr>
        <p:spPr>
          <a:xfrm>
            <a:off x="987828" y="2969898"/>
            <a:ext cx="342900" cy="342900"/>
          </a:xfrm>
          <a:prstGeom prst="roundRect">
            <a:avLst>
              <a:gd name="adj" fmla="val 20000"/>
            </a:avLst>
          </a:prstGeom>
          <a:solidFill>
            <a:schemeClr val="tx1"/>
          </a:solidFill>
          <a:ln/>
        </p:spPr>
        <p:txBody>
          <a:bodyPr/>
          <a:lstStyle/>
          <a:p>
            <a:endParaRPr lang="pl-PL" sz="1350"/>
          </a:p>
        </p:txBody>
      </p:sp>
      <p:sp>
        <p:nvSpPr>
          <p:cNvPr id="18" name="Text 10">
            <a:extLst>
              <a:ext uri="{FF2B5EF4-FFF2-40B4-BE49-F238E27FC236}">
                <a16:creationId xmlns:a16="http://schemas.microsoft.com/office/drawing/2014/main" id="{CD5BB893-D68B-0911-8994-D3130D6442E0}"/>
              </a:ext>
            </a:extLst>
          </p:cNvPr>
          <p:cNvSpPr/>
          <p:nvPr/>
        </p:nvSpPr>
        <p:spPr>
          <a:xfrm>
            <a:off x="1467888" y="2935608"/>
            <a:ext cx="4732020" cy="219456"/>
          </a:xfrm>
          <a:prstGeom prst="rect">
            <a:avLst/>
          </a:prstGeom>
          <a:noFill/>
          <a:ln/>
        </p:spPr>
        <p:txBody>
          <a:bodyPr wrap="square" rtlCol="0" anchor="ctr"/>
          <a:lstStyle/>
          <a:p>
            <a:r>
              <a:rPr lang="en-US" sz="1050" b="1">
                <a:solidFill>
                  <a:schemeClr val="dk1"/>
                </a:solidFill>
              </a:rPr>
              <a:t>What authority signals do they show?</a:t>
            </a:r>
          </a:p>
        </p:txBody>
      </p:sp>
      <p:sp>
        <p:nvSpPr>
          <p:cNvPr id="19" name="Text 11">
            <a:extLst>
              <a:ext uri="{FF2B5EF4-FFF2-40B4-BE49-F238E27FC236}">
                <a16:creationId xmlns:a16="http://schemas.microsoft.com/office/drawing/2014/main" id="{60826C93-2163-E504-DD19-B466C5A44BFA}"/>
              </a:ext>
            </a:extLst>
          </p:cNvPr>
          <p:cNvSpPr/>
          <p:nvPr/>
        </p:nvSpPr>
        <p:spPr>
          <a:xfrm>
            <a:off x="1467888" y="3091233"/>
            <a:ext cx="4732020" cy="445770"/>
          </a:xfrm>
          <a:prstGeom prst="rect">
            <a:avLst/>
          </a:prstGeom>
          <a:noFill/>
          <a:ln/>
        </p:spPr>
        <p:txBody>
          <a:bodyPr wrap="square" rtlCol="0" anchor="t"/>
          <a:lstStyle/>
          <a:p>
            <a:pPr>
              <a:lnSpc>
                <a:spcPct val="120000"/>
              </a:lnSpc>
            </a:pPr>
            <a:r>
              <a:rPr lang="en-US" sz="900">
                <a:solidFill>
                  <a:schemeClr val="dk1"/>
                </a:solidFill>
              </a:rPr>
              <a:t>Named authorship, cited studies, visible expertise, freshness — signals we can match or exceed.</a:t>
            </a:r>
          </a:p>
        </p:txBody>
      </p:sp>
      <p:sp>
        <p:nvSpPr>
          <p:cNvPr id="20" name="Shape 12">
            <a:extLst>
              <a:ext uri="{FF2B5EF4-FFF2-40B4-BE49-F238E27FC236}">
                <a16:creationId xmlns:a16="http://schemas.microsoft.com/office/drawing/2014/main" id="{CD2EE2F9-8CE6-BF08-7026-6B47F52F81A6}"/>
              </a:ext>
            </a:extLst>
          </p:cNvPr>
          <p:cNvSpPr/>
          <p:nvPr/>
        </p:nvSpPr>
        <p:spPr>
          <a:xfrm>
            <a:off x="987828" y="3641982"/>
            <a:ext cx="342900" cy="342900"/>
          </a:xfrm>
          <a:prstGeom prst="roundRect">
            <a:avLst>
              <a:gd name="adj" fmla="val 20000"/>
            </a:avLst>
          </a:prstGeom>
          <a:solidFill>
            <a:schemeClr val="tx1"/>
          </a:solidFill>
          <a:ln/>
        </p:spPr>
        <p:txBody>
          <a:bodyPr/>
          <a:lstStyle/>
          <a:p>
            <a:endParaRPr lang="pl-PL" sz="1350"/>
          </a:p>
        </p:txBody>
      </p:sp>
      <p:sp>
        <p:nvSpPr>
          <p:cNvPr id="22" name="Text 13">
            <a:extLst>
              <a:ext uri="{FF2B5EF4-FFF2-40B4-BE49-F238E27FC236}">
                <a16:creationId xmlns:a16="http://schemas.microsoft.com/office/drawing/2014/main" id="{4A3E65DA-8F78-998B-F499-561A9D2B1EE3}"/>
              </a:ext>
            </a:extLst>
          </p:cNvPr>
          <p:cNvSpPr/>
          <p:nvPr/>
        </p:nvSpPr>
        <p:spPr>
          <a:xfrm>
            <a:off x="1467888" y="3607692"/>
            <a:ext cx="4732020" cy="219456"/>
          </a:xfrm>
          <a:prstGeom prst="rect">
            <a:avLst/>
          </a:prstGeom>
          <a:noFill/>
          <a:ln/>
        </p:spPr>
        <p:txBody>
          <a:bodyPr wrap="square" rtlCol="0" anchor="ctr"/>
          <a:lstStyle/>
          <a:p>
            <a:r>
              <a:rPr lang="en-US" sz="1050" b="1">
                <a:solidFill>
                  <a:schemeClr val="dk1"/>
                </a:solidFill>
              </a:rPr>
              <a:t>Is it a one-off or a pattern?</a:t>
            </a:r>
          </a:p>
        </p:txBody>
      </p:sp>
      <p:sp>
        <p:nvSpPr>
          <p:cNvPr id="23" name="Text 14">
            <a:extLst>
              <a:ext uri="{FF2B5EF4-FFF2-40B4-BE49-F238E27FC236}">
                <a16:creationId xmlns:a16="http://schemas.microsoft.com/office/drawing/2014/main" id="{BA5223DB-CD5E-1C4E-FF86-7D62FAA8EC54}"/>
              </a:ext>
            </a:extLst>
          </p:cNvPr>
          <p:cNvSpPr/>
          <p:nvPr/>
        </p:nvSpPr>
        <p:spPr>
          <a:xfrm>
            <a:off x="1467888" y="3763317"/>
            <a:ext cx="4732020" cy="445770"/>
          </a:xfrm>
          <a:prstGeom prst="rect">
            <a:avLst/>
          </a:prstGeom>
          <a:noFill/>
          <a:ln/>
        </p:spPr>
        <p:txBody>
          <a:bodyPr wrap="square" rtlCol="0" anchor="t"/>
          <a:lstStyle/>
          <a:p>
            <a:pPr>
              <a:lnSpc>
                <a:spcPct val="120000"/>
              </a:lnSpc>
            </a:pPr>
            <a:r>
              <a:rPr lang="en-US" sz="900">
                <a:solidFill>
                  <a:schemeClr val="dk1"/>
                </a:solidFill>
              </a:rPr>
              <a:t>Check 3–5 related prompts. A source that recurs across variants is worth a deeper competitive teardown.</a:t>
            </a:r>
          </a:p>
        </p:txBody>
      </p:sp>
      <p:sp>
        <p:nvSpPr>
          <p:cNvPr id="25" name="TextBox 24">
            <a:extLst>
              <a:ext uri="{FF2B5EF4-FFF2-40B4-BE49-F238E27FC236}">
                <a16:creationId xmlns:a16="http://schemas.microsoft.com/office/drawing/2014/main" id="{918AC194-16C8-AB91-D9EA-33CBD45B8D7B}"/>
              </a:ext>
            </a:extLst>
          </p:cNvPr>
          <p:cNvSpPr txBox="1"/>
          <p:nvPr/>
        </p:nvSpPr>
        <p:spPr>
          <a:xfrm>
            <a:off x="6437646" y="2176083"/>
            <a:ext cx="1791954" cy="1354217"/>
          </a:xfrm>
          <a:prstGeom prst="rect">
            <a:avLst/>
          </a:prstGeom>
          <a:solidFill>
            <a:schemeClr val="tx1"/>
          </a:solidFill>
          <a:ln>
            <a:noFill/>
          </a:ln>
        </p:spPr>
        <p:txBody>
          <a:bodyPr wrap="square" lIns="91440" tIns="45720" rIns="91440" bIns="45720" anchor="t">
            <a:spAutoFit/>
          </a:bodyPr>
          <a:lstStyle/>
          <a:p>
            <a:pPr lvl="0" algn="ctr">
              <a:defRPr/>
            </a:pPr>
            <a:r>
              <a:rPr lang="pl-PL" sz="1100" b="1">
                <a:solidFill>
                  <a:schemeClr val="accent5"/>
                </a:solidFill>
              </a:rPr>
              <a:t>Log this: </a:t>
            </a:r>
          </a:p>
          <a:p>
            <a:pPr lvl="0" algn="ctr">
              <a:defRPr/>
            </a:pPr>
            <a:r>
              <a:rPr lang="en-US" sz="1000">
                <a:solidFill>
                  <a:schemeClr val="accent5"/>
                </a:solidFill>
              </a:rPr>
              <a:t>Keep a running “cited-instead-of-us” source list per topic cluster</a:t>
            </a:r>
            <a:r>
              <a:rPr lang="pl-PL" sz="1000">
                <a:solidFill>
                  <a:schemeClr val="accent5"/>
                </a:solidFill>
              </a:rPr>
              <a:t> – check the results every month</a:t>
            </a:r>
            <a:r>
              <a:rPr lang="en-US" sz="1000">
                <a:solidFill>
                  <a:schemeClr val="accent5"/>
                </a:solidFill>
              </a:rPr>
              <a:t>. Recurring domains become priority benchmarks</a:t>
            </a:r>
            <a:r>
              <a:rPr lang="en-US" sz="1100">
                <a:solidFill>
                  <a:schemeClr val="accent5"/>
                </a:solidFill>
              </a:rPr>
              <a:t>.</a:t>
            </a:r>
          </a:p>
        </p:txBody>
      </p:sp>
      <p:pic>
        <p:nvPicPr>
          <p:cNvPr id="13" name="Image 1" descr="/home/claude/geo_deck/icons/clipboard.png">
            <a:extLst>
              <a:ext uri="{FF2B5EF4-FFF2-40B4-BE49-F238E27FC236}">
                <a16:creationId xmlns:a16="http://schemas.microsoft.com/office/drawing/2014/main" id="{3028A2A6-76FE-0E32-8EA7-A2AA113762FF}"/>
              </a:ext>
            </a:extLst>
          </p:cNvPr>
          <p:cNvPicPr>
            <a:picLocks noChangeAspect="1"/>
          </p:cNvPicPr>
          <p:nvPr/>
        </p:nvPicPr>
        <p:blipFill>
          <a:blip r:embed="rId3"/>
          <a:stretch>
            <a:fillRect/>
          </a:stretch>
        </p:blipFill>
        <p:spPr>
          <a:xfrm>
            <a:off x="1063266" y="2370447"/>
            <a:ext cx="192024" cy="192024"/>
          </a:xfrm>
          <a:prstGeom prst="rect">
            <a:avLst/>
          </a:prstGeom>
        </p:spPr>
      </p:pic>
      <p:pic>
        <p:nvPicPr>
          <p:cNvPr id="17" name="Image 2" descr="/home/claude/geo_deck/icons/filecheck.png">
            <a:extLst>
              <a:ext uri="{FF2B5EF4-FFF2-40B4-BE49-F238E27FC236}">
                <a16:creationId xmlns:a16="http://schemas.microsoft.com/office/drawing/2014/main" id="{F9F9D574-C58C-A32A-FC5E-B719B160DE7D}"/>
              </a:ext>
            </a:extLst>
          </p:cNvPr>
          <p:cNvPicPr>
            <a:picLocks noChangeAspect="1"/>
          </p:cNvPicPr>
          <p:nvPr/>
        </p:nvPicPr>
        <p:blipFill>
          <a:blip r:embed="rId4"/>
          <a:stretch>
            <a:fillRect/>
          </a:stretch>
        </p:blipFill>
        <p:spPr>
          <a:xfrm>
            <a:off x="1063266" y="3042531"/>
            <a:ext cx="192024" cy="192024"/>
          </a:xfrm>
          <a:prstGeom prst="rect">
            <a:avLst/>
          </a:prstGeom>
        </p:spPr>
      </p:pic>
      <p:pic>
        <p:nvPicPr>
          <p:cNvPr id="21" name="Image 3" descr="/home/claude/geo_deck/icons/refresh.png">
            <a:extLst>
              <a:ext uri="{FF2B5EF4-FFF2-40B4-BE49-F238E27FC236}">
                <a16:creationId xmlns:a16="http://schemas.microsoft.com/office/drawing/2014/main" id="{74E5C468-11B9-4611-E9CA-8BB44B91344A}"/>
              </a:ext>
            </a:extLst>
          </p:cNvPr>
          <p:cNvPicPr>
            <a:picLocks noChangeAspect="1"/>
          </p:cNvPicPr>
          <p:nvPr/>
        </p:nvPicPr>
        <p:blipFill>
          <a:blip r:embed="rId5"/>
          <a:stretch>
            <a:fillRect/>
          </a:stretch>
        </p:blipFill>
        <p:spPr>
          <a:xfrm>
            <a:off x="1063266" y="3714615"/>
            <a:ext cx="192024" cy="192024"/>
          </a:xfrm>
          <a:prstGeom prst="rect">
            <a:avLst/>
          </a:prstGeom>
        </p:spPr>
      </p:pic>
      <p:pic>
        <p:nvPicPr>
          <p:cNvPr id="26" name="Image 0" descr="/home/claude/geo_deck/icons/search.png">
            <a:extLst>
              <a:ext uri="{FF2B5EF4-FFF2-40B4-BE49-F238E27FC236}">
                <a16:creationId xmlns:a16="http://schemas.microsoft.com/office/drawing/2014/main" id="{5E9EA690-609A-62F3-2CFF-E9B5D2C8529D}"/>
              </a:ext>
            </a:extLst>
          </p:cNvPr>
          <p:cNvPicPr>
            <a:picLocks noChangeAspect="1"/>
          </p:cNvPicPr>
          <p:nvPr/>
        </p:nvPicPr>
        <p:blipFill>
          <a:blip r:embed="rId6"/>
          <a:stretch>
            <a:fillRect/>
          </a:stretch>
        </p:blipFill>
        <p:spPr>
          <a:xfrm>
            <a:off x="1063266" y="1701168"/>
            <a:ext cx="192024" cy="192024"/>
          </a:xfrm>
          <a:prstGeom prst="rect">
            <a:avLst/>
          </a:prstGeom>
        </p:spPr>
      </p:pic>
      <p:sp>
        <p:nvSpPr>
          <p:cNvPr id="5" name="Footer Placeholder 4">
            <a:extLst>
              <a:ext uri="{FF2B5EF4-FFF2-40B4-BE49-F238E27FC236}">
                <a16:creationId xmlns:a16="http://schemas.microsoft.com/office/drawing/2014/main" id="{DCE7E4E6-5B5B-0347-2EBE-061256094872}"/>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6" name="Slide Number Placeholder 5">
            <a:extLst>
              <a:ext uri="{FF2B5EF4-FFF2-40B4-BE49-F238E27FC236}">
                <a16:creationId xmlns:a16="http://schemas.microsoft.com/office/drawing/2014/main" id="{F07CB033-5D4D-5C61-A728-5049A34160F2}"/>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98</a:t>
            </a:fld>
            <a:endParaRPr lang="en-US"/>
          </a:p>
        </p:txBody>
      </p:sp>
    </p:spTree>
    <p:extLst>
      <p:ext uri="{BB962C8B-B14F-4D97-AF65-F5344CB8AC3E}">
        <p14:creationId xmlns:p14="http://schemas.microsoft.com/office/powerpoint/2010/main" val="15396007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F4AA7-A624-1C4D-001D-5AA9E11E2B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739CFA-F2D9-8620-AC36-09236F89C5F3}"/>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8EC7B4E0-B4E0-DD46-BC08-6342590897A0}"/>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Prompt Analysis Example</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0FE5BDC1-EE4B-5542-7CBC-07344193E561}"/>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5" name="Rectangle 4">
            <a:extLst>
              <a:ext uri="{FF2B5EF4-FFF2-40B4-BE49-F238E27FC236}">
                <a16:creationId xmlns:a16="http://schemas.microsoft.com/office/drawing/2014/main" id="{5D1827AC-F729-C009-D385-9759205E8697}"/>
              </a:ext>
            </a:extLst>
          </p:cNvPr>
          <p:cNvSpPr/>
          <p:nvPr/>
        </p:nvSpPr>
        <p:spPr>
          <a:xfrm>
            <a:off x="342900" y="1124712"/>
            <a:ext cx="3110346" cy="436419"/>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b="1">
                <a:solidFill>
                  <a:schemeClr val="dk1"/>
                </a:solidFill>
              </a:rPr>
              <a:t>The prompt: </a:t>
            </a:r>
            <a:r>
              <a:rPr lang="en-US" sz="1050" i="1">
                <a:solidFill>
                  <a:schemeClr val="dk1"/>
                </a:solidFill>
              </a:rPr>
              <a:t>what are the best industrial solutions for food and beverage business?</a:t>
            </a:r>
            <a:r>
              <a:rPr lang="pl-PL" sz="1050" i="1">
                <a:solidFill>
                  <a:schemeClr val="dk1"/>
                </a:solidFill>
              </a:rPr>
              <a:t>*</a:t>
            </a:r>
            <a:endParaRPr lang="en-US" sz="1050" i="1">
              <a:solidFill>
                <a:schemeClr val="dk1"/>
              </a:solidFill>
            </a:endParaRPr>
          </a:p>
        </p:txBody>
      </p:sp>
      <p:pic>
        <p:nvPicPr>
          <p:cNvPr id="9" name="Picture 8">
            <a:extLst>
              <a:ext uri="{FF2B5EF4-FFF2-40B4-BE49-F238E27FC236}">
                <a16:creationId xmlns:a16="http://schemas.microsoft.com/office/drawing/2014/main" id="{2330C616-F9EC-C75E-F3DA-B5BC4EE1FCAF}"/>
              </a:ext>
            </a:extLst>
          </p:cNvPr>
          <p:cNvPicPr>
            <a:picLocks noChangeAspect="1"/>
          </p:cNvPicPr>
          <p:nvPr/>
        </p:nvPicPr>
        <p:blipFill>
          <a:blip r:embed="rId3"/>
          <a:stretch>
            <a:fillRect/>
          </a:stretch>
        </p:blipFill>
        <p:spPr>
          <a:xfrm>
            <a:off x="1226013" y="1657143"/>
            <a:ext cx="6691745" cy="2985844"/>
          </a:xfrm>
          <a:prstGeom prst="rect">
            <a:avLst/>
          </a:prstGeom>
        </p:spPr>
      </p:pic>
      <p:cxnSp>
        <p:nvCxnSpPr>
          <p:cNvPr id="10" name="Straight Arrow Connector 9">
            <a:extLst>
              <a:ext uri="{FF2B5EF4-FFF2-40B4-BE49-F238E27FC236}">
                <a16:creationId xmlns:a16="http://schemas.microsoft.com/office/drawing/2014/main" id="{ACE50A2C-67F1-CAA0-9343-B506652D7E4D}"/>
              </a:ext>
            </a:extLst>
          </p:cNvPr>
          <p:cNvCxnSpPr>
            <a:cxnSpLocks/>
          </p:cNvCxnSpPr>
          <p:nvPr/>
        </p:nvCxnSpPr>
        <p:spPr>
          <a:xfrm flipH="1" flipV="1">
            <a:off x="6837218" y="2431473"/>
            <a:ext cx="980209" cy="60407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12" name="Rectangle 11">
            <a:extLst>
              <a:ext uri="{FF2B5EF4-FFF2-40B4-BE49-F238E27FC236}">
                <a16:creationId xmlns:a16="http://schemas.microsoft.com/office/drawing/2014/main" id="{AD5E78E6-8A2B-4BAC-53A3-2B66E0FA43BD}"/>
              </a:ext>
            </a:extLst>
          </p:cNvPr>
          <p:cNvSpPr/>
          <p:nvPr/>
        </p:nvSpPr>
        <p:spPr>
          <a:xfrm>
            <a:off x="7817427" y="2595937"/>
            <a:ext cx="1208809" cy="879230"/>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b="1">
                <a:solidFill>
                  <a:schemeClr val="dk1"/>
                </a:solidFill>
              </a:rPr>
              <a:t>Sources cited </a:t>
            </a:r>
            <a:r>
              <a:rPr lang="pl-PL" sz="1050">
                <a:solidFill>
                  <a:schemeClr val="dk1"/>
                </a:solidFill>
              </a:rPr>
              <a:t>– content needs to be analyzed</a:t>
            </a:r>
            <a:endParaRPr lang="en-US" sz="1050" i="1">
              <a:solidFill>
                <a:schemeClr val="dk1"/>
              </a:solidFill>
            </a:endParaRPr>
          </a:p>
        </p:txBody>
      </p:sp>
      <p:cxnSp>
        <p:nvCxnSpPr>
          <p:cNvPr id="15" name="Straight Arrow Connector 14">
            <a:extLst>
              <a:ext uri="{FF2B5EF4-FFF2-40B4-BE49-F238E27FC236}">
                <a16:creationId xmlns:a16="http://schemas.microsoft.com/office/drawing/2014/main" id="{960E6D1C-8BB1-17B5-47C5-E895A138134D}"/>
              </a:ext>
            </a:extLst>
          </p:cNvPr>
          <p:cNvCxnSpPr>
            <a:cxnSpLocks/>
            <a:stCxn id="12" idx="1"/>
          </p:cNvCxnSpPr>
          <p:nvPr/>
        </p:nvCxnSpPr>
        <p:spPr>
          <a:xfrm flipH="1">
            <a:off x="7010400" y="3035552"/>
            <a:ext cx="807027"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BA571A25-7E3F-80D9-D159-F6E538D8EDBB}"/>
              </a:ext>
            </a:extLst>
          </p:cNvPr>
          <p:cNvCxnSpPr>
            <a:cxnSpLocks/>
            <a:stCxn id="12" idx="1"/>
          </p:cNvCxnSpPr>
          <p:nvPr/>
        </p:nvCxnSpPr>
        <p:spPr>
          <a:xfrm flipH="1">
            <a:off x="6837218" y="3035552"/>
            <a:ext cx="980209" cy="592015"/>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2" name="Rectangle 21">
            <a:extLst>
              <a:ext uri="{FF2B5EF4-FFF2-40B4-BE49-F238E27FC236}">
                <a16:creationId xmlns:a16="http://schemas.microsoft.com/office/drawing/2014/main" id="{BD973D92-1AFD-A13E-EA88-2356FECC2FD4}"/>
              </a:ext>
            </a:extLst>
          </p:cNvPr>
          <p:cNvSpPr/>
          <p:nvPr/>
        </p:nvSpPr>
        <p:spPr>
          <a:xfrm>
            <a:off x="17205" y="2571750"/>
            <a:ext cx="987250" cy="879230"/>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b="1">
                <a:solidFill>
                  <a:schemeClr val="dk1"/>
                </a:solidFill>
              </a:rPr>
              <a:t>Mentions </a:t>
            </a:r>
            <a:r>
              <a:rPr lang="pl-PL" sz="1050">
                <a:solidFill>
                  <a:schemeClr val="dk1"/>
                </a:solidFill>
              </a:rPr>
              <a:t>– content needs to be analyzed</a:t>
            </a:r>
            <a:endParaRPr lang="en-US" sz="1050" i="1">
              <a:solidFill>
                <a:schemeClr val="dk1"/>
              </a:solidFill>
            </a:endParaRPr>
          </a:p>
        </p:txBody>
      </p:sp>
      <p:cxnSp>
        <p:nvCxnSpPr>
          <p:cNvPr id="23" name="Straight Arrow Connector 22">
            <a:extLst>
              <a:ext uri="{FF2B5EF4-FFF2-40B4-BE49-F238E27FC236}">
                <a16:creationId xmlns:a16="http://schemas.microsoft.com/office/drawing/2014/main" id="{0107B321-9BE1-D31F-4A93-A175DBD6FD7D}"/>
              </a:ext>
            </a:extLst>
          </p:cNvPr>
          <p:cNvCxnSpPr>
            <a:cxnSpLocks/>
            <a:stCxn id="22" idx="3"/>
          </p:cNvCxnSpPr>
          <p:nvPr/>
        </p:nvCxnSpPr>
        <p:spPr>
          <a:xfrm flipV="1">
            <a:off x="1004455" y="2571750"/>
            <a:ext cx="322118" cy="439615"/>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71A83451-789F-AD9F-1034-B468DE224104}"/>
              </a:ext>
            </a:extLst>
          </p:cNvPr>
          <p:cNvCxnSpPr>
            <a:cxnSpLocks/>
            <a:stCxn id="22" idx="3"/>
          </p:cNvCxnSpPr>
          <p:nvPr/>
        </p:nvCxnSpPr>
        <p:spPr>
          <a:xfrm>
            <a:off x="1004455" y="3011365"/>
            <a:ext cx="394854"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25" name="Straight Arrow Connector 24">
            <a:extLst>
              <a:ext uri="{FF2B5EF4-FFF2-40B4-BE49-F238E27FC236}">
                <a16:creationId xmlns:a16="http://schemas.microsoft.com/office/drawing/2014/main" id="{00532050-1570-D223-301E-8A1E7EFC2F27}"/>
              </a:ext>
            </a:extLst>
          </p:cNvPr>
          <p:cNvCxnSpPr>
            <a:cxnSpLocks/>
            <a:stCxn id="22" idx="3"/>
          </p:cNvCxnSpPr>
          <p:nvPr/>
        </p:nvCxnSpPr>
        <p:spPr>
          <a:xfrm>
            <a:off x="1004455" y="3011365"/>
            <a:ext cx="394854" cy="265235"/>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35" name="TextBox 34">
            <a:extLst>
              <a:ext uri="{FF2B5EF4-FFF2-40B4-BE49-F238E27FC236}">
                <a16:creationId xmlns:a16="http://schemas.microsoft.com/office/drawing/2014/main" id="{D84426BA-7B89-2A32-1843-082C90B0ADE7}"/>
              </a:ext>
            </a:extLst>
          </p:cNvPr>
          <p:cNvSpPr txBox="1"/>
          <p:nvPr/>
        </p:nvSpPr>
        <p:spPr>
          <a:xfrm>
            <a:off x="396585" y="4741130"/>
            <a:ext cx="2072640" cy="107722"/>
          </a:xfrm>
          <a:prstGeom prst="rect">
            <a:avLst/>
          </a:prstGeom>
        </p:spPr>
        <p:txBody>
          <a:bodyPr vert="horz" wrap="square" lIns="0" tIns="0" rIns="0" bIns="0" rtlCol="0">
            <a:spAutoFit/>
          </a:bodyPr>
          <a:lstStyle/>
          <a:p>
            <a:pPr algn="l"/>
            <a:r>
              <a:rPr lang="pl-PL" sz="700"/>
              <a:t>*Source: Google Gemini</a:t>
            </a:r>
          </a:p>
        </p:txBody>
      </p:sp>
      <p:sp>
        <p:nvSpPr>
          <p:cNvPr id="39" name="Rectangle 38">
            <a:extLst>
              <a:ext uri="{FF2B5EF4-FFF2-40B4-BE49-F238E27FC236}">
                <a16:creationId xmlns:a16="http://schemas.microsoft.com/office/drawing/2014/main" id="{C6231D28-F8E5-1671-1691-F586EE2B2B13}"/>
              </a:ext>
            </a:extLst>
          </p:cNvPr>
          <p:cNvSpPr/>
          <p:nvPr/>
        </p:nvSpPr>
        <p:spPr>
          <a:xfrm>
            <a:off x="2435628" y="2370317"/>
            <a:ext cx="2441172"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0" name="Rectangle 39">
            <a:extLst>
              <a:ext uri="{FF2B5EF4-FFF2-40B4-BE49-F238E27FC236}">
                <a16:creationId xmlns:a16="http://schemas.microsoft.com/office/drawing/2014/main" id="{BE9DE9BE-3411-9576-FF5A-5697E789F33A}"/>
              </a:ext>
            </a:extLst>
          </p:cNvPr>
          <p:cNvSpPr/>
          <p:nvPr/>
        </p:nvSpPr>
        <p:spPr>
          <a:xfrm>
            <a:off x="1399309" y="2521527"/>
            <a:ext cx="2553566"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1" name="Rectangle 40">
            <a:extLst>
              <a:ext uri="{FF2B5EF4-FFF2-40B4-BE49-F238E27FC236}">
                <a16:creationId xmlns:a16="http://schemas.microsoft.com/office/drawing/2014/main" id="{5377CC79-9592-975C-868C-AC810AF8FFB0}"/>
              </a:ext>
            </a:extLst>
          </p:cNvPr>
          <p:cNvSpPr/>
          <p:nvPr/>
        </p:nvSpPr>
        <p:spPr>
          <a:xfrm>
            <a:off x="2676092" y="2884341"/>
            <a:ext cx="2441172"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2" name="Rectangle 41">
            <a:extLst>
              <a:ext uri="{FF2B5EF4-FFF2-40B4-BE49-F238E27FC236}">
                <a16:creationId xmlns:a16="http://schemas.microsoft.com/office/drawing/2014/main" id="{51A390EE-C743-0B32-7F90-8FA2C5C8588F}"/>
              </a:ext>
            </a:extLst>
          </p:cNvPr>
          <p:cNvSpPr/>
          <p:nvPr/>
        </p:nvSpPr>
        <p:spPr>
          <a:xfrm>
            <a:off x="2603356" y="3234701"/>
            <a:ext cx="2553566"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3" name="Rectangle 42">
            <a:extLst>
              <a:ext uri="{FF2B5EF4-FFF2-40B4-BE49-F238E27FC236}">
                <a16:creationId xmlns:a16="http://schemas.microsoft.com/office/drawing/2014/main" id="{80D289C9-9C57-BA36-FBD7-C3FCB1BFD9AA}"/>
              </a:ext>
            </a:extLst>
          </p:cNvPr>
          <p:cNvSpPr/>
          <p:nvPr/>
        </p:nvSpPr>
        <p:spPr>
          <a:xfrm>
            <a:off x="1399309" y="3385911"/>
            <a:ext cx="2277341"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4" name="Rectangle 43">
            <a:extLst>
              <a:ext uri="{FF2B5EF4-FFF2-40B4-BE49-F238E27FC236}">
                <a16:creationId xmlns:a16="http://schemas.microsoft.com/office/drawing/2014/main" id="{BC536B4D-A6E7-1A21-06B8-8A7A13992ECD}"/>
              </a:ext>
            </a:extLst>
          </p:cNvPr>
          <p:cNvSpPr/>
          <p:nvPr/>
        </p:nvSpPr>
        <p:spPr>
          <a:xfrm>
            <a:off x="1382769" y="3028836"/>
            <a:ext cx="2851093"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5" name="Rectangle 44">
            <a:extLst>
              <a:ext uri="{FF2B5EF4-FFF2-40B4-BE49-F238E27FC236}">
                <a16:creationId xmlns:a16="http://schemas.microsoft.com/office/drawing/2014/main" id="{D5DBB7A1-9466-1203-6E7A-60E2F1E0C82D}"/>
              </a:ext>
            </a:extLst>
          </p:cNvPr>
          <p:cNvSpPr/>
          <p:nvPr/>
        </p:nvSpPr>
        <p:spPr>
          <a:xfrm>
            <a:off x="1235478" y="1988827"/>
            <a:ext cx="3881786"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6" name="Rectangle 45">
            <a:extLst>
              <a:ext uri="{FF2B5EF4-FFF2-40B4-BE49-F238E27FC236}">
                <a16:creationId xmlns:a16="http://schemas.microsoft.com/office/drawing/2014/main" id="{154B92B1-6A30-3B94-45A3-6FDF580410CF}"/>
              </a:ext>
            </a:extLst>
          </p:cNvPr>
          <p:cNvSpPr/>
          <p:nvPr/>
        </p:nvSpPr>
        <p:spPr>
          <a:xfrm>
            <a:off x="1235478" y="2132135"/>
            <a:ext cx="394854"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47" name="Rectangle 46">
            <a:extLst>
              <a:ext uri="{FF2B5EF4-FFF2-40B4-BE49-F238E27FC236}">
                <a16:creationId xmlns:a16="http://schemas.microsoft.com/office/drawing/2014/main" id="{A2487994-5BAB-F787-C709-4460B88375D9}"/>
              </a:ext>
            </a:extLst>
          </p:cNvPr>
          <p:cNvSpPr/>
          <p:nvPr/>
        </p:nvSpPr>
        <p:spPr>
          <a:xfrm>
            <a:off x="4779818" y="1561131"/>
            <a:ext cx="1208809" cy="297126"/>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b="1">
                <a:solidFill>
                  <a:schemeClr val="dk1"/>
                </a:solidFill>
              </a:rPr>
              <a:t>Main message</a:t>
            </a:r>
            <a:endParaRPr lang="en-US" sz="1050" i="1">
              <a:solidFill>
                <a:schemeClr val="dk1"/>
              </a:solidFill>
            </a:endParaRPr>
          </a:p>
        </p:txBody>
      </p:sp>
      <p:cxnSp>
        <p:nvCxnSpPr>
          <p:cNvPr id="48" name="Straight Arrow Connector 47">
            <a:extLst>
              <a:ext uri="{FF2B5EF4-FFF2-40B4-BE49-F238E27FC236}">
                <a16:creationId xmlns:a16="http://schemas.microsoft.com/office/drawing/2014/main" id="{AFB5A374-F209-1961-F022-C277E8491C9D}"/>
              </a:ext>
            </a:extLst>
          </p:cNvPr>
          <p:cNvCxnSpPr>
            <a:cxnSpLocks/>
            <a:stCxn id="47" idx="1"/>
            <a:endCxn id="45" idx="0"/>
          </p:cNvCxnSpPr>
          <p:nvPr/>
        </p:nvCxnSpPr>
        <p:spPr>
          <a:xfrm flipH="1">
            <a:off x="3176371" y="1709694"/>
            <a:ext cx="1603447" cy="279133"/>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51" name="Rectangle 50">
            <a:extLst>
              <a:ext uri="{FF2B5EF4-FFF2-40B4-BE49-F238E27FC236}">
                <a16:creationId xmlns:a16="http://schemas.microsoft.com/office/drawing/2014/main" id="{D25D8E21-188B-F521-4718-C4B226BC93C8}"/>
              </a:ext>
            </a:extLst>
          </p:cNvPr>
          <p:cNvSpPr/>
          <p:nvPr/>
        </p:nvSpPr>
        <p:spPr>
          <a:xfrm>
            <a:off x="4128656" y="3616191"/>
            <a:ext cx="1454728" cy="39816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a:solidFill>
                  <a:schemeClr val="dk1"/>
                </a:solidFill>
              </a:rPr>
              <a:t>Main messages from cited sources</a:t>
            </a:r>
            <a:endParaRPr lang="en-US" sz="1050">
              <a:solidFill>
                <a:schemeClr val="dk1"/>
              </a:solidFill>
            </a:endParaRPr>
          </a:p>
        </p:txBody>
      </p:sp>
      <p:cxnSp>
        <p:nvCxnSpPr>
          <p:cNvPr id="52" name="Straight Arrow Connector 51">
            <a:extLst>
              <a:ext uri="{FF2B5EF4-FFF2-40B4-BE49-F238E27FC236}">
                <a16:creationId xmlns:a16="http://schemas.microsoft.com/office/drawing/2014/main" id="{CAE7C3CD-4C15-1678-0C01-4C7A52E212AA}"/>
              </a:ext>
            </a:extLst>
          </p:cNvPr>
          <p:cNvCxnSpPr>
            <a:cxnSpLocks/>
            <a:stCxn id="51" idx="0"/>
            <a:endCxn id="40" idx="3"/>
          </p:cNvCxnSpPr>
          <p:nvPr/>
        </p:nvCxnSpPr>
        <p:spPr>
          <a:xfrm flipH="1" flipV="1">
            <a:off x="3952875" y="2597132"/>
            <a:ext cx="903145" cy="101905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5" name="Straight Arrow Connector 54">
            <a:extLst>
              <a:ext uri="{FF2B5EF4-FFF2-40B4-BE49-F238E27FC236}">
                <a16:creationId xmlns:a16="http://schemas.microsoft.com/office/drawing/2014/main" id="{24576DAA-393C-0D8C-FB6B-E0518CCA9BAE}"/>
              </a:ext>
            </a:extLst>
          </p:cNvPr>
          <p:cNvCxnSpPr>
            <a:cxnSpLocks/>
            <a:stCxn id="51" idx="0"/>
            <a:endCxn id="44" idx="3"/>
          </p:cNvCxnSpPr>
          <p:nvPr/>
        </p:nvCxnSpPr>
        <p:spPr>
          <a:xfrm flipH="1" flipV="1">
            <a:off x="4233862" y="3104441"/>
            <a:ext cx="622158" cy="51175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8" name="Straight Arrow Connector 57">
            <a:extLst>
              <a:ext uri="{FF2B5EF4-FFF2-40B4-BE49-F238E27FC236}">
                <a16:creationId xmlns:a16="http://schemas.microsoft.com/office/drawing/2014/main" id="{4FA651C5-194A-F552-B309-33199B57D36F}"/>
              </a:ext>
            </a:extLst>
          </p:cNvPr>
          <p:cNvCxnSpPr>
            <a:cxnSpLocks/>
            <a:endCxn id="43" idx="3"/>
          </p:cNvCxnSpPr>
          <p:nvPr/>
        </p:nvCxnSpPr>
        <p:spPr>
          <a:xfrm flipH="1" flipV="1">
            <a:off x="3676650" y="3461516"/>
            <a:ext cx="1179370" cy="15121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79" name="Straight Arrow Connector 78">
            <a:extLst>
              <a:ext uri="{FF2B5EF4-FFF2-40B4-BE49-F238E27FC236}">
                <a16:creationId xmlns:a16="http://schemas.microsoft.com/office/drawing/2014/main" id="{562E864D-6665-A002-0415-A69738D4C57F}"/>
              </a:ext>
            </a:extLst>
          </p:cNvPr>
          <p:cNvCxnSpPr>
            <a:cxnSpLocks/>
            <a:stCxn id="12" idx="1"/>
          </p:cNvCxnSpPr>
          <p:nvPr/>
        </p:nvCxnSpPr>
        <p:spPr>
          <a:xfrm flipH="1">
            <a:off x="6788727" y="3035552"/>
            <a:ext cx="1028700" cy="137840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82" name="Text 2">
            <a:extLst>
              <a:ext uri="{FF2B5EF4-FFF2-40B4-BE49-F238E27FC236}">
                <a16:creationId xmlns:a16="http://schemas.microsoft.com/office/drawing/2014/main" id="{3B6DFDBB-3550-FCC8-9B93-022AA7B0644A}"/>
              </a:ext>
            </a:extLst>
          </p:cNvPr>
          <p:cNvSpPr/>
          <p:nvPr/>
        </p:nvSpPr>
        <p:spPr>
          <a:xfrm>
            <a:off x="342900" y="580289"/>
            <a:ext cx="7886700" cy="274320"/>
          </a:xfrm>
          <a:prstGeom prst="rect">
            <a:avLst/>
          </a:prstGeom>
          <a:noFill/>
          <a:ln/>
        </p:spPr>
        <p:txBody>
          <a:bodyPr wrap="square" lIns="0" tIns="0" rIns="0" bIns="0" rtlCol="0" anchor="ctr"/>
          <a:lstStyle/>
          <a:p>
            <a:r>
              <a:rPr lang="en-US" sz="1100">
                <a:solidFill>
                  <a:schemeClr val="accent5"/>
                </a:solidFill>
                <a:cs typeface="Arial"/>
              </a:rPr>
              <a:t>AI answer</a:t>
            </a:r>
          </a:p>
        </p:txBody>
      </p:sp>
      <p:sp>
        <p:nvSpPr>
          <p:cNvPr id="6" name="Footer Placeholder 4">
            <a:extLst>
              <a:ext uri="{FF2B5EF4-FFF2-40B4-BE49-F238E27FC236}">
                <a16:creationId xmlns:a16="http://schemas.microsoft.com/office/drawing/2014/main" id="{C1BFEF6A-BF41-2A97-5B84-F7839F5E8C16}"/>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7" name="Slide Number Placeholder 5">
            <a:extLst>
              <a:ext uri="{FF2B5EF4-FFF2-40B4-BE49-F238E27FC236}">
                <a16:creationId xmlns:a16="http://schemas.microsoft.com/office/drawing/2014/main" id="{4F05A244-2818-69AA-BF06-A941B6327880}"/>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99</a:t>
            </a:fld>
            <a:endParaRPr lang="en-US"/>
          </a:p>
        </p:txBody>
      </p:sp>
    </p:spTree>
    <p:extLst>
      <p:ext uri="{BB962C8B-B14F-4D97-AF65-F5344CB8AC3E}">
        <p14:creationId xmlns:p14="http://schemas.microsoft.com/office/powerpoint/2010/main" val="233408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EC1AD-CE41-58E8-4B14-7C007987C9C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E75E768-47BA-C480-A8A9-B0C33A4A441D}"/>
              </a:ext>
            </a:extLst>
          </p:cNvPr>
          <p:cNvPicPr>
            <a:picLocks noChangeAspect="1"/>
          </p:cNvPicPr>
          <p:nvPr/>
        </p:nvPicPr>
        <p:blipFill>
          <a:blip r:embed="rId3"/>
          <a:stretch>
            <a:fillRect/>
          </a:stretch>
        </p:blipFill>
        <p:spPr>
          <a:xfrm>
            <a:off x="1433363" y="1781162"/>
            <a:ext cx="6051225" cy="2772550"/>
          </a:xfrm>
          <a:prstGeom prst="rect">
            <a:avLst/>
          </a:prstGeom>
        </p:spPr>
      </p:pic>
      <p:sp>
        <p:nvSpPr>
          <p:cNvPr id="2" name="Shape 0">
            <a:extLst>
              <a:ext uri="{FF2B5EF4-FFF2-40B4-BE49-F238E27FC236}">
                <a16:creationId xmlns:a16="http://schemas.microsoft.com/office/drawing/2014/main" id="{CDB32E47-A3C9-82B5-BE0C-C3040E44B849}"/>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118E73B8-438C-B724-E311-97DD469FAE19}"/>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Prompt Analysis Example</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B0F2E733-52CA-2B53-44B3-3F25F8448B47}"/>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5" name="Rectangle 4">
            <a:extLst>
              <a:ext uri="{FF2B5EF4-FFF2-40B4-BE49-F238E27FC236}">
                <a16:creationId xmlns:a16="http://schemas.microsoft.com/office/drawing/2014/main" id="{817E24F3-4166-6A9A-4FB7-9BD5E3DA2B0F}"/>
              </a:ext>
            </a:extLst>
          </p:cNvPr>
          <p:cNvSpPr/>
          <p:nvPr/>
        </p:nvSpPr>
        <p:spPr>
          <a:xfrm>
            <a:off x="342900" y="1124712"/>
            <a:ext cx="3110346" cy="436419"/>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b="1">
                <a:solidFill>
                  <a:schemeClr val="dk1"/>
                </a:solidFill>
              </a:rPr>
              <a:t>The prompt: </a:t>
            </a:r>
            <a:r>
              <a:rPr lang="en-US" sz="1050" i="1">
                <a:solidFill>
                  <a:schemeClr val="dk1"/>
                </a:solidFill>
              </a:rPr>
              <a:t>what are the best industrial solutions for food and beverage business?</a:t>
            </a:r>
            <a:r>
              <a:rPr lang="pl-PL" sz="1050" i="1">
                <a:solidFill>
                  <a:schemeClr val="dk1"/>
                </a:solidFill>
              </a:rPr>
              <a:t>*</a:t>
            </a:r>
            <a:endParaRPr lang="en-US" sz="1050" i="1">
              <a:solidFill>
                <a:schemeClr val="dk1"/>
              </a:solidFill>
            </a:endParaRPr>
          </a:p>
        </p:txBody>
      </p:sp>
      <p:sp>
        <p:nvSpPr>
          <p:cNvPr id="82" name="Text 2">
            <a:extLst>
              <a:ext uri="{FF2B5EF4-FFF2-40B4-BE49-F238E27FC236}">
                <a16:creationId xmlns:a16="http://schemas.microsoft.com/office/drawing/2014/main" id="{CD5B090A-1B7C-0278-8CA3-F231B97EB93F}"/>
              </a:ext>
            </a:extLst>
          </p:cNvPr>
          <p:cNvSpPr/>
          <p:nvPr/>
        </p:nvSpPr>
        <p:spPr>
          <a:xfrm>
            <a:off x="342900" y="580289"/>
            <a:ext cx="7886700" cy="274320"/>
          </a:xfrm>
          <a:prstGeom prst="rect">
            <a:avLst/>
          </a:prstGeom>
          <a:noFill/>
          <a:ln/>
        </p:spPr>
        <p:txBody>
          <a:bodyPr wrap="square" lIns="0" tIns="0" rIns="0" bIns="0" rtlCol="0" anchor="ctr"/>
          <a:lstStyle/>
          <a:p>
            <a:r>
              <a:rPr lang="pl-PL" sz="1100">
                <a:solidFill>
                  <a:schemeClr val="accent5"/>
                </a:solidFill>
                <a:cs typeface="Arial"/>
              </a:rPr>
              <a:t>C</a:t>
            </a:r>
            <a:r>
              <a:rPr lang="en-US" sz="1100" err="1">
                <a:solidFill>
                  <a:schemeClr val="accent5"/>
                </a:solidFill>
                <a:cs typeface="Arial"/>
              </a:rPr>
              <a:t>ited</a:t>
            </a:r>
            <a:r>
              <a:rPr lang="en-US" sz="1100">
                <a:solidFill>
                  <a:schemeClr val="accent5"/>
                </a:solidFill>
                <a:cs typeface="Arial"/>
              </a:rPr>
              <a:t> page example</a:t>
            </a:r>
          </a:p>
        </p:txBody>
      </p:sp>
      <p:sp>
        <p:nvSpPr>
          <p:cNvPr id="35" name="TextBox 34">
            <a:extLst>
              <a:ext uri="{FF2B5EF4-FFF2-40B4-BE49-F238E27FC236}">
                <a16:creationId xmlns:a16="http://schemas.microsoft.com/office/drawing/2014/main" id="{D62B4B3A-504E-566F-AB1E-3CB3393F049A}"/>
              </a:ext>
            </a:extLst>
          </p:cNvPr>
          <p:cNvSpPr txBox="1"/>
          <p:nvPr/>
        </p:nvSpPr>
        <p:spPr>
          <a:xfrm>
            <a:off x="398463" y="4732354"/>
            <a:ext cx="2072640" cy="107722"/>
          </a:xfrm>
          <a:prstGeom prst="rect">
            <a:avLst/>
          </a:prstGeom>
        </p:spPr>
        <p:txBody>
          <a:bodyPr vert="horz" wrap="square" lIns="0" tIns="0" rIns="0" bIns="0" rtlCol="0">
            <a:spAutoFit/>
          </a:bodyPr>
          <a:lstStyle/>
          <a:p>
            <a:pPr algn="l"/>
            <a:r>
              <a:rPr lang="pl-PL" sz="700"/>
              <a:t>*Source: Google Gemini</a:t>
            </a:r>
          </a:p>
        </p:txBody>
      </p:sp>
      <p:sp>
        <p:nvSpPr>
          <p:cNvPr id="10" name="Rectangle 9">
            <a:extLst>
              <a:ext uri="{FF2B5EF4-FFF2-40B4-BE49-F238E27FC236}">
                <a16:creationId xmlns:a16="http://schemas.microsoft.com/office/drawing/2014/main" id="{A837AC45-85A2-E47A-6DB2-D0E5BD23E29B}"/>
              </a:ext>
            </a:extLst>
          </p:cNvPr>
          <p:cNvSpPr/>
          <p:nvPr/>
        </p:nvSpPr>
        <p:spPr>
          <a:xfrm>
            <a:off x="2573132" y="3091832"/>
            <a:ext cx="1806363" cy="1260162"/>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11" name="Rectangle 10">
            <a:extLst>
              <a:ext uri="{FF2B5EF4-FFF2-40B4-BE49-F238E27FC236}">
                <a16:creationId xmlns:a16="http://schemas.microsoft.com/office/drawing/2014/main" id="{FA0312F0-D701-6476-1260-6211C030DA38}"/>
              </a:ext>
            </a:extLst>
          </p:cNvPr>
          <p:cNvSpPr/>
          <p:nvPr/>
        </p:nvSpPr>
        <p:spPr>
          <a:xfrm>
            <a:off x="4458975" y="3091832"/>
            <a:ext cx="1806363" cy="1260162"/>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12" name="Rectangle 11">
            <a:extLst>
              <a:ext uri="{FF2B5EF4-FFF2-40B4-BE49-F238E27FC236}">
                <a16:creationId xmlns:a16="http://schemas.microsoft.com/office/drawing/2014/main" id="{6E636CD5-CB1F-59B6-3ED0-A5C8E0B9C648}"/>
              </a:ext>
            </a:extLst>
          </p:cNvPr>
          <p:cNvSpPr/>
          <p:nvPr/>
        </p:nvSpPr>
        <p:spPr>
          <a:xfrm>
            <a:off x="550035" y="3332652"/>
            <a:ext cx="1454728" cy="1081219"/>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a:solidFill>
                  <a:schemeClr val="dk1"/>
                </a:solidFill>
              </a:rPr>
              <a:t>Context, main messages and potential answer to the prompt should be on the top of the page</a:t>
            </a:r>
            <a:endParaRPr lang="en-US" sz="1050">
              <a:solidFill>
                <a:schemeClr val="dk1"/>
              </a:solidFill>
            </a:endParaRPr>
          </a:p>
        </p:txBody>
      </p:sp>
      <p:cxnSp>
        <p:nvCxnSpPr>
          <p:cNvPr id="13" name="Straight Arrow Connector 12">
            <a:extLst>
              <a:ext uri="{FF2B5EF4-FFF2-40B4-BE49-F238E27FC236}">
                <a16:creationId xmlns:a16="http://schemas.microsoft.com/office/drawing/2014/main" id="{9002E084-CBA5-2E0F-D026-BC31D70D5F06}"/>
              </a:ext>
            </a:extLst>
          </p:cNvPr>
          <p:cNvCxnSpPr>
            <a:cxnSpLocks/>
            <a:stCxn id="12" idx="3"/>
            <a:endCxn id="10" idx="1"/>
          </p:cNvCxnSpPr>
          <p:nvPr/>
        </p:nvCxnSpPr>
        <p:spPr>
          <a:xfrm flipV="1">
            <a:off x="2004763" y="3721913"/>
            <a:ext cx="568369" cy="15134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17" name="Rectangle 16">
            <a:extLst>
              <a:ext uri="{FF2B5EF4-FFF2-40B4-BE49-F238E27FC236}">
                <a16:creationId xmlns:a16="http://schemas.microsoft.com/office/drawing/2014/main" id="{F8069030-EFBD-4ABF-5A44-1D21D8F9607D}"/>
              </a:ext>
            </a:extLst>
          </p:cNvPr>
          <p:cNvSpPr/>
          <p:nvPr/>
        </p:nvSpPr>
        <p:spPr>
          <a:xfrm>
            <a:off x="4572000" y="1533363"/>
            <a:ext cx="1849809" cy="717456"/>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a:solidFill>
                  <a:schemeClr val="dk1"/>
                </a:solidFill>
              </a:rPr>
              <a:t>Infographic for content presentation modality – positive signal sent to AI.</a:t>
            </a:r>
            <a:endParaRPr lang="en-US" sz="1050">
              <a:solidFill>
                <a:schemeClr val="dk1"/>
              </a:solidFill>
            </a:endParaRPr>
          </a:p>
        </p:txBody>
      </p:sp>
      <p:cxnSp>
        <p:nvCxnSpPr>
          <p:cNvPr id="18" name="Straight Arrow Connector 17">
            <a:extLst>
              <a:ext uri="{FF2B5EF4-FFF2-40B4-BE49-F238E27FC236}">
                <a16:creationId xmlns:a16="http://schemas.microsoft.com/office/drawing/2014/main" id="{D4CB24BB-71C1-8ED5-BA81-C3AA87399788}"/>
              </a:ext>
            </a:extLst>
          </p:cNvPr>
          <p:cNvCxnSpPr>
            <a:cxnSpLocks/>
            <a:stCxn id="17" idx="2"/>
            <a:endCxn id="11" idx="0"/>
          </p:cNvCxnSpPr>
          <p:nvPr/>
        </p:nvCxnSpPr>
        <p:spPr>
          <a:xfrm flipH="1">
            <a:off x="5362157" y="2250819"/>
            <a:ext cx="134748" cy="841013"/>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5" name="Rectangle 24">
            <a:extLst>
              <a:ext uri="{FF2B5EF4-FFF2-40B4-BE49-F238E27FC236}">
                <a16:creationId xmlns:a16="http://schemas.microsoft.com/office/drawing/2014/main" id="{B8D9E241-7592-673A-A119-9871E4529DE8}"/>
              </a:ext>
            </a:extLst>
          </p:cNvPr>
          <p:cNvSpPr/>
          <p:nvPr/>
        </p:nvSpPr>
        <p:spPr>
          <a:xfrm>
            <a:off x="1656544" y="2286672"/>
            <a:ext cx="696438" cy="151210"/>
          </a:xfrm>
          <a:prstGeom prst="rect">
            <a:avLst/>
          </a:prstGeom>
          <a:solidFill>
            <a:schemeClr val="tx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cxnSp>
        <p:nvCxnSpPr>
          <p:cNvPr id="26" name="Straight Arrow Connector 25">
            <a:extLst>
              <a:ext uri="{FF2B5EF4-FFF2-40B4-BE49-F238E27FC236}">
                <a16:creationId xmlns:a16="http://schemas.microsoft.com/office/drawing/2014/main" id="{851AE84D-92A8-8E15-CB45-668F355B88DB}"/>
              </a:ext>
            </a:extLst>
          </p:cNvPr>
          <p:cNvCxnSpPr>
            <a:cxnSpLocks/>
            <a:stCxn id="29" idx="0"/>
            <a:endCxn id="10" idx="2"/>
          </p:cNvCxnSpPr>
          <p:nvPr/>
        </p:nvCxnSpPr>
        <p:spPr>
          <a:xfrm flipV="1">
            <a:off x="3476314" y="4351994"/>
            <a:ext cx="0" cy="283827"/>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9" name="Rectangle 28">
            <a:extLst>
              <a:ext uri="{FF2B5EF4-FFF2-40B4-BE49-F238E27FC236}">
                <a16:creationId xmlns:a16="http://schemas.microsoft.com/office/drawing/2014/main" id="{38450EB5-FB50-8946-B2CB-B1B151FD6707}"/>
              </a:ext>
            </a:extLst>
          </p:cNvPr>
          <p:cNvSpPr/>
          <p:nvPr/>
        </p:nvSpPr>
        <p:spPr>
          <a:xfrm>
            <a:off x="2824994" y="4635821"/>
            <a:ext cx="1302640" cy="479081"/>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a:solidFill>
                  <a:schemeClr val="dk1"/>
                </a:solidFill>
              </a:rPr>
              <a:t>Tone of voice and vocabulary used</a:t>
            </a:r>
            <a:endParaRPr lang="en-US" sz="1050">
              <a:solidFill>
                <a:schemeClr val="dk1"/>
              </a:solidFill>
            </a:endParaRPr>
          </a:p>
        </p:txBody>
      </p:sp>
      <p:sp>
        <p:nvSpPr>
          <p:cNvPr id="32" name="Rectangle 31">
            <a:extLst>
              <a:ext uri="{FF2B5EF4-FFF2-40B4-BE49-F238E27FC236}">
                <a16:creationId xmlns:a16="http://schemas.microsoft.com/office/drawing/2014/main" id="{866A31B4-387D-BDD9-5102-5AF826558920}"/>
              </a:ext>
            </a:extLst>
          </p:cNvPr>
          <p:cNvSpPr/>
          <p:nvPr/>
        </p:nvSpPr>
        <p:spPr>
          <a:xfrm>
            <a:off x="110278" y="2101194"/>
            <a:ext cx="1323086" cy="336688"/>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a:solidFill>
                  <a:schemeClr val="dk1"/>
                </a:solidFill>
              </a:rPr>
              <a:t>CTA and links</a:t>
            </a:r>
            <a:endParaRPr lang="en-US" sz="1050">
              <a:solidFill>
                <a:schemeClr val="dk1"/>
              </a:solidFill>
            </a:endParaRPr>
          </a:p>
        </p:txBody>
      </p:sp>
      <p:cxnSp>
        <p:nvCxnSpPr>
          <p:cNvPr id="36" name="Straight Arrow Connector 35">
            <a:extLst>
              <a:ext uri="{FF2B5EF4-FFF2-40B4-BE49-F238E27FC236}">
                <a16:creationId xmlns:a16="http://schemas.microsoft.com/office/drawing/2014/main" id="{C66F67DC-6FF5-99CC-7C65-962EDC0822B1}"/>
              </a:ext>
            </a:extLst>
          </p:cNvPr>
          <p:cNvCxnSpPr>
            <a:cxnSpLocks/>
            <a:stCxn id="32" idx="3"/>
            <a:endCxn id="25" idx="1"/>
          </p:cNvCxnSpPr>
          <p:nvPr/>
        </p:nvCxnSpPr>
        <p:spPr>
          <a:xfrm>
            <a:off x="1433364" y="2269538"/>
            <a:ext cx="223180" cy="92739"/>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41" name="Rectangle 40">
            <a:extLst>
              <a:ext uri="{FF2B5EF4-FFF2-40B4-BE49-F238E27FC236}">
                <a16:creationId xmlns:a16="http://schemas.microsoft.com/office/drawing/2014/main" id="{310AC3E2-C2D8-206B-58AE-EA940667E937}"/>
              </a:ext>
            </a:extLst>
          </p:cNvPr>
          <p:cNvSpPr/>
          <p:nvPr/>
        </p:nvSpPr>
        <p:spPr>
          <a:xfrm>
            <a:off x="6488186" y="3363185"/>
            <a:ext cx="1606027" cy="717456"/>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buClr>
                <a:srgbClr val="3DCD58"/>
              </a:buClr>
              <a:defRPr/>
            </a:pPr>
            <a:r>
              <a:rPr lang="pl-PL" sz="1050">
                <a:solidFill>
                  <a:schemeClr val="dk1"/>
                </a:solidFill>
              </a:rPr>
              <a:t>Examine the rest of the page following the 5 step analysis.</a:t>
            </a:r>
            <a:endParaRPr lang="en-US" sz="1050">
              <a:solidFill>
                <a:schemeClr val="dk1"/>
              </a:solidFill>
            </a:endParaRPr>
          </a:p>
        </p:txBody>
      </p:sp>
      <p:sp>
        <p:nvSpPr>
          <p:cNvPr id="6" name="Footer Placeholder 4">
            <a:extLst>
              <a:ext uri="{FF2B5EF4-FFF2-40B4-BE49-F238E27FC236}">
                <a16:creationId xmlns:a16="http://schemas.microsoft.com/office/drawing/2014/main" id="{F7857329-1F47-B3C5-3DF9-963FCE54AE96}"/>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7" name="Slide Number Placeholder 5">
            <a:extLst>
              <a:ext uri="{FF2B5EF4-FFF2-40B4-BE49-F238E27FC236}">
                <a16:creationId xmlns:a16="http://schemas.microsoft.com/office/drawing/2014/main" id="{E6A03770-73A2-D0FB-3949-EDB612DB120D}"/>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100</a:t>
            </a:fld>
            <a:endParaRPr lang="en-US"/>
          </a:p>
        </p:txBody>
      </p:sp>
    </p:spTree>
    <p:extLst>
      <p:ext uri="{BB962C8B-B14F-4D97-AF65-F5344CB8AC3E}">
        <p14:creationId xmlns:p14="http://schemas.microsoft.com/office/powerpoint/2010/main" val="32754392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D65E3-C04A-B69E-74A2-32E7CA96F3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BE9EB8-563F-99E9-0859-16B622E67401}"/>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39D61CEE-DF54-9A5C-80E2-D48FE503DB96}"/>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latin typeface="+mj-lt"/>
                <a:ea typeface="+mj-ea"/>
                <a:cs typeface="Arial"/>
              </a:rPr>
              <a:t>From analysis to action: the reverse-engineering worksheet</a:t>
            </a:r>
            <a:r>
              <a:rPr lang="pl-PL" sz="2200">
                <a:solidFill>
                  <a:schemeClr val="accent5"/>
                </a:solidFill>
                <a:latin typeface="+mj-lt"/>
                <a:ea typeface="+mj-ea"/>
                <a:cs typeface="Arial"/>
              </a:rPr>
              <a:t> - example</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024D5CED-A0B4-9893-C8FA-EC3B390F49D2}"/>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graphicFrame>
        <p:nvGraphicFramePr>
          <p:cNvPr id="6" name="Table 5">
            <a:extLst>
              <a:ext uri="{FF2B5EF4-FFF2-40B4-BE49-F238E27FC236}">
                <a16:creationId xmlns:a16="http://schemas.microsoft.com/office/drawing/2014/main" id="{3C83D8FB-13A7-CCD9-5174-EB7DBD39B4AE}"/>
              </a:ext>
            </a:extLst>
          </p:cNvPr>
          <p:cNvGraphicFramePr>
            <a:graphicFrameLocks noGrp="1"/>
          </p:cNvGraphicFramePr>
          <p:nvPr>
            <p:extLst>
              <p:ext uri="{D42A27DB-BD31-4B8C-83A1-F6EECF244321}">
                <p14:modId xmlns:p14="http://schemas.microsoft.com/office/powerpoint/2010/main" val="36949439"/>
              </p:ext>
            </p:extLst>
          </p:nvPr>
        </p:nvGraphicFramePr>
        <p:xfrm>
          <a:off x="342900" y="1316182"/>
          <a:ext cx="8127332" cy="2883725"/>
        </p:xfrm>
        <a:graphic>
          <a:graphicData uri="http://schemas.openxmlformats.org/drawingml/2006/table">
            <a:tbl>
              <a:tblPr firstRow="1" bandRow="1">
                <a:tableStyleId>{5C22544A-7EE6-4342-B048-85BDC9FD1C3A}</a:tableStyleId>
              </a:tblPr>
              <a:tblGrid>
                <a:gridCol w="2031833">
                  <a:extLst>
                    <a:ext uri="{9D8B030D-6E8A-4147-A177-3AD203B41FA5}">
                      <a16:colId xmlns:a16="http://schemas.microsoft.com/office/drawing/2014/main" val="2031092225"/>
                    </a:ext>
                  </a:extLst>
                </a:gridCol>
                <a:gridCol w="2031833">
                  <a:extLst>
                    <a:ext uri="{9D8B030D-6E8A-4147-A177-3AD203B41FA5}">
                      <a16:colId xmlns:a16="http://schemas.microsoft.com/office/drawing/2014/main" val="1829063130"/>
                    </a:ext>
                  </a:extLst>
                </a:gridCol>
                <a:gridCol w="2159239">
                  <a:extLst>
                    <a:ext uri="{9D8B030D-6E8A-4147-A177-3AD203B41FA5}">
                      <a16:colId xmlns:a16="http://schemas.microsoft.com/office/drawing/2014/main" val="4194614690"/>
                    </a:ext>
                  </a:extLst>
                </a:gridCol>
                <a:gridCol w="1904427">
                  <a:extLst>
                    <a:ext uri="{9D8B030D-6E8A-4147-A177-3AD203B41FA5}">
                      <a16:colId xmlns:a16="http://schemas.microsoft.com/office/drawing/2014/main" val="2940014517"/>
                    </a:ext>
                  </a:extLst>
                </a:gridCol>
              </a:tblGrid>
              <a:tr h="473113">
                <a:tc>
                  <a:txBody>
                    <a:bodyPr/>
                    <a:lstStyle/>
                    <a:p>
                      <a:pPr algn="ctr"/>
                      <a:r>
                        <a:rPr lang="pl-PL" sz="1400">
                          <a:solidFill>
                            <a:schemeClr val="accent5"/>
                          </a:solidFill>
                        </a:rPr>
                        <a:t>Dimensions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pl-PL" sz="1400">
                          <a:solidFill>
                            <a:schemeClr val="tx1"/>
                          </a:solidFill>
                        </a:rPr>
                        <a:t>Observed in cited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r>
                        <a:rPr lang="pl-PL" sz="1400">
                          <a:solidFill>
                            <a:schemeClr val="tx1"/>
                          </a:solidFill>
                        </a:rPr>
                        <a:t>Gap on our page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pl-PL" sz="1400">
                          <a:solidFill>
                            <a:schemeClr val="tx1"/>
                          </a:solidFill>
                        </a:rPr>
                        <a:t>Optimization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074596679"/>
                  </a:ext>
                </a:extLst>
              </a:tr>
              <a:tr h="473113">
                <a:tc>
                  <a:txBody>
                    <a:bodyPr/>
                    <a:lstStyle/>
                    <a:p>
                      <a:pPr algn="ctr"/>
                      <a:r>
                        <a:rPr lang="pl-PL" sz="1400">
                          <a:solidFill>
                            <a:schemeClr val="tx1"/>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Prompt framed as troubleshooting</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Page framed as a product pitch</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Reframe intro as a direct diagnostic answer</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35406079"/>
                  </a:ext>
                </a:extLst>
              </a:tr>
              <a:tr h="473113">
                <a:tc>
                  <a:txBody>
                    <a:bodyPr/>
                    <a:lstStyle/>
                    <a:p>
                      <a:pPr algn="ctr"/>
                      <a:r>
                        <a:rPr lang="pl-PL" sz="1400">
                          <a:solidFill>
                            <a:schemeClr val="tx1"/>
                          </a:solidFill>
                        </a:rPr>
                        <a:t>Keywords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Uses precise technical term</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Page uses internal product name only</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Add the user-facing term alongside ours</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74986924"/>
                  </a:ext>
                </a:extLst>
              </a:tr>
              <a:tr h="473113">
                <a:tc>
                  <a:txBody>
                    <a:bodyPr/>
                    <a:lstStyle/>
                    <a:p>
                      <a:pPr algn="ctr"/>
                      <a:r>
                        <a:rPr lang="pl-PL" sz="1400">
                          <a:solidFill>
                            <a:schemeClr val="tx1"/>
                          </a:solidFill>
                        </a:rPr>
                        <a:t>Tone of Voice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Neutral, expert, instructional</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Marketing-forward, hedged</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Rewrite in direct advisory voice</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68738821"/>
                  </a:ext>
                </a:extLst>
              </a:tr>
              <a:tr h="473113">
                <a:tc>
                  <a:txBody>
                    <a:bodyPr/>
                    <a:lstStyle/>
                    <a:p>
                      <a:pPr algn="ctr"/>
                      <a:r>
                        <a:rPr lang="pl-PL" sz="1400">
                          <a:solidFill>
                            <a:schemeClr val="tx1"/>
                          </a:solidFill>
                        </a:rPr>
                        <a:t>Messaging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Leads with a specific number</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Answer buried in paragraph 3</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Move the number to the first sentence</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92995098"/>
                  </a:ext>
                </a:extLst>
              </a:tr>
              <a:tr h="473113">
                <a:tc>
                  <a:txBody>
                    <a:bodyPr/>
                    <a:lstStyle/>
                    <a:p>
                      <a:pPr algn="ctr"/>
                      <a:r>
                        <a:rPr lang="pl-PL" sz="1400">
                          <a:solidFill>
                            <a:schemeClr val="tx1"/>
                          </a:solidFill>
                        </a:rPr>
                        <a:t>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Independent review site cited</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No comparable independent-style content</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indent="0" algn="l" defTabSz="457184" rtl="0" eaLnBrk="1" latinLnBrk="0" hangingPunct="1">
                        <a:buNone/>
                      </a:pPr>
                      <a:r>
                        <a:rPr lang="en-US" sz="1100" kern="1200">
                          <a:solidFill>
                            <a:schemeClr val="tx1"/>
                          </a:solidFill>
                          <a:latin typeface="+mn-lt"/>
                          <a:ea typeface="+mn-ea"/>
                          <a:cs typeface="+mn-cs"/>
                        </a:rPr>
                        <a:t>Publish an unbiased comparison page</a:t>
                      </a:r>
                    </a:p>
                  </a:txBody>
                  <a:tcPr marL="41148" marR="41148" marT="41148" marB="41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1594334"/>
                  </a:ext>
                </a:extLst>
              </a:tr>
            </a:tbl>
          </a:graphicData>
        </a:graphic>
      </p:graphicFrame>
      <p:sp>
        <p:nvSpPr>
          <p:cNvPr id="5" name="Footer Placeholder 4">
            <a:extLst>
              <a:ext uri="{FF2B5EF4-FFF2-40B4-BE49-F238E27FC236}">
                <a16:creationId xmlns:a16="http://schemas.microsoft.com/office/drawing/2014/main" id="{7E130779-0951-6621-D7AC-F9578AA79EE5}"/>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7" name="Slide Number Placeholder 5">
            <a:extLst>
              <a:ext uri="{FF2B5EF4-FFF2-40B4-BE49-F238E27FC236}">
                <a16:creationId xmlns:a16="http://schemas.microsoft.com/office/drawing/2014/main" id="{2BDCEFD0-55B2-1E04-8BF7-FB925058679E}"/>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101</a:t>
            </a:fld>
            <a:endParaRPr lang="en-US"/>
          </a:p>
        </p:txBody>
      </p:sp>
    </p:spTree>
    <p:extLst>
      <p:ext uri="{BB962C8B-B14F-4D97-AF65-F5344CB8AC3E}">
        <p14:creationId xmlns:p14="http://schemas.microsoft.com/office/powerpoint/2010/main" val="20466967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CD519-317E-FFDF-3C98-413F4F47DA84}"/>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FEC77BBE-B275-9F93-E1EC-BF31DA52AE23}"/>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5245318C-EE65-24C3-F0E2-11890D770BF4}"/>
              </a:ext>
            </a:extLst>
          </p:cNvPr>
          <p:cNvSpPr/>
          <p:nvPr/>
        </p:nvSpPr>
        <p:spPr>
          <a:xfrm>
            <a:off x="342899" y="192024"/>
            <a:ext cx="8357755" cy="377190"/>
          </a:xfrm>
          <a:prstGeom prst="rect">
            <a:avLst/>
          </a:prstGeom>
          <a:noFill/>
          <a:ln/>
        </p:spPr>
        <p:txBody>
          <a:bodyPr wrap="square" lIns="0" tIns="0" rIns="0" bIns="0" rtlCol="0" anchor="ctr"/>
          <a:lstStyle/>
          <a:p>
            <a:r>
              <a:rPr lang="en-US" sz="2200">
                <a:solidFill>
                  <a:schemeClr val="accent5"/>
                </a:solidFill>
                <a:cs typeface="Arial"/>
              </a:rPr>
              <a:t>Making this a habit, not a </a:t>
            </a:r>
            <a:r>
              <a:rPr lang="pl-PL" sz="2200">
                <a:solidFill>
                  <a:schemeClr val="accent5"/>
                </a:solidFill>
                <a:cs typeface="Arial"/>
              </a:rPr>
              <a:t>one time action</a:t>
            </a:r>
            <a:endParaRPr lang="en-US" sz="2200">
              <a:solidFill>
                <a:schemeClr val="accent5"/>
              </a:solidFill>
              <a:cs typeface="Arial"/>
            </a:endParaRPr>
          </a:p>
        </p:txBody>
      </p:sp>
      <p:sp>
        <p:nvSpPr>
          <p:cNvPr id="12" name="Text 2">
            <a:extLst>
              <a:ext uri="{FF2B5EF4-FFF2-40B4-BE49-F238E27FC236}">
                <a16:creationId xmlns:a16="http://schemas.microsoft.com/office/drawing/2014/main" id="{3897A991-E29C-CB1A-4807-B9A04209BBA3}"/>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bg1"/>
              </a:solidFill>
              <a:cs typeface="Arial"/>
            </a:endParaRPr>
          </a:p>
        </p:txBody>
      </p:sp>
      <p:sp>
        <p:nvSpPr>
          <p:cNvPr id="5" name="Footer Placeholder 4">
            <a:extLst>
              <a:ext uri="{FF2B5EF4-FFF2-40B4-BE49-F238E27FC236}">
                <a16:creationId xmlns:a16="http://schemas.microsoft.com/office/drawing/2014/main" id="{ECC4A0DD-3066-3352-6BC8-9A3BD6244AB2}"/>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BAEBCEBB-6A5A-E3A8-B4A2-B0C17CA0BD23}"/>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102</a:t>
            </a:fld>
            <a:endParaRPr lang="en-US">
              <a:solidFill>
                <a:srgbClr val="3DCD58"/>
              </a:solidFill>
            </a:endParaRPr>
          </a:p>
        </p:txBody>
      </p:sp>
      <p:sp>
        <p:nvSpPr>
          <p:cNvPr id="15" name="Text 2">
            <a:extLst>
              <a:ext uri="{FF2B5EF4-FFF2-40B4-BE49-F238E27FC236}">
                <a16:creationId xmlns:a16="http://schemas.microsoft.com/office/drawing/2014/main" id="{5BDE5619-EE94-B4CE-066E-DA391FBC3776}"/>
              </a:ext>
            </a:extLst>
          </p:cNvPr>
          <p:cNvSpPr/>
          <p:nvPr/>
        </p:nvSpPr>
        <p:spPr>
          <a:xfrm>
            <a:off x="342900" y="589787"/>
            <a:ext cx="7886700" cy="274320"/>
          </a:xfrm>
          <a:prstGeom prst="rect">
            <a:avLst/>
          </a:prstGeom>
          <a:noFill/>
          <a:ln/>
        </p:spPr>
        <p:txBody>
          <a:bodyPr wrap="square" lIns="0" tIns="0" rIns="0" bIns="0" rtlCol="0" anchor="ctr"/>
          <a:lstStyle/>
          <a:p>
            <a:r>
              <a:rPr lang="pl-PL" sz="1100">
                <a:solidFill>
                  <a:schemeClr val="accent5"/>
                </a:solidFill>
                <a:cs typeface="Arial"/>
              </a:rPr>
              <a:t>Own and grow your content.</a:t>
            </a:r>
            <a:endParaRPr lang="en-US" sz="1100">
              <a:solidFill>
                <a:schemeClr val="accent5"/>
              </a:solidFill>
              <a:cs typeface="Arial"/>
            </a:endParaRPr>
          </a:p>
        </p:txBody>
      </p:sp>
      <p:sp>
        <p:nvSpPr>
          <p:cNvPr id="4" name="TextBox 3">
            <a:extLst>
              <a:ext uri="{FF2B5EF4-FFF2-40B4-BE49-F238E27FC236}">
                <a16:creationId xmlns:a16="http://schemas.microsoft.com/office/drawing/2014/main" id="{BA189715-4821-11F5-A14E-B00B7DFB8325}"/>
              </a:ext>
            </a:extLst>
          </p:cNvPr>
          <p:cNvSpPr txBox="1"/>
          <p:nvPr/>
        </p:nvSpPr>
        <p:spPr>
          <a:xfrm>
            <a:off x="4646468" y="1805090"/>
            <a:ext cx="2706624" cy="969264"/>
          </a:xfrm>
          <a:prstGeom prst="rect">
            <a:avLst/>
          </a:prstGeom>
          <a:solidFill>
            <a:schemeClr val="tx1"/>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500"/>
              </a:spcBef>
              <a:spcAft>
                <a:spcPts val="500"/>
              </a:spcAft>
              <a:buClr>
                <a:srgbClr val="009530"/>
              </a:buClr>
              <a:buSzTx/>
              <a:buFontTx/>
              <a:buNone/>
              <a:tabLst/>
              <a:defRPr/>
            </a:pPr>
            <a:r>
              <a:rPr kumimoji="0" lang="pl-PL" sz="1000" b="1" i="0" u="none" strike="noStrike" kern="1200" cap="none" spc="0" normalizeH="0" baseline="0" noProof="0">
                <a:ln>
                  <a:noFill/>
                </a:ln>
                <a:solidFill>
                  <a:schemeClr val="accent5"/>
                </a:solidFill>
                <a:effectLst/>
                <a:uLnTx/>
                <a:uFillTx/>
                <a:latin typeface="Poppins"/>
                <a:ea typeface="+mn-ea"/>
                <a:cs typeface="+mn-cs"/>
              </a:rPr>
              <a:t>If you do not own the content – cooperate with the owner</a:t>
            </a:r>
            <a:endParaRPr kumimoji="0" lang="en-US" sz="1000" b="1" i="0" u="none" strike="noStrike" kern="1200" cap="none" spc="0" normalizeH="0" baseline="0" noProof="0">
              <a:ln>
                <a:noFill/>
              </a:ln>
              <a:solidFill>
                <a:schemeClr val="accent5"/>
              </a:solidFill>
              <a:effectLst/>
              <a:uLnTx/>
              <a:uFillTx/>
              <a:latin typeface="Poppins"/>
              <a:ea typeface="+mn-ea"/>
              <a:cs typeface="+mn-cs"/>
            </a:endParaRPr>
          </a:p>
          <a:p>
            <a:pPr marR="0" lvl="0" algn="l" defTabSz="457184" rtl="0" eaLnBrk="1" fontAlgn="auto" latinLnBrk="0" hangingPunct="1">
              <a:lnSpc>
                <a:spcPct val="100000"/>
              </a:lnSpc>
              <a:spcBef>
                <a:spcPts val="500"/>
              </a:spcBef>
              <a:spcAft>
                <a:spcPts val="500"/>
              </a:spcAft>
              <a:buClr>
                <a:srgbClr val="009530"/>
              </a:buClr>
              <a:buSzTx/>
              <a:tabLst/>
              <a:defRPr/>
            </a:pPr>
            <a:r>
              <a:rPr kumimoji="0" lang="pl-PL" sz="1000" b="0" i="0" u="none" strike="noStrike" kern="1200" cap="none" spc="0" normalizeH="0" baseline="0" noProof="0">
                <a:ln>
                  <a:noFill/>
                </a:ln>
                <a:solidFill>
                  <a:schemeClr val="accent5"/>
                </a:solidFill>
                <a:effectLst/>
                <a:uLnTx/>
                <a:uFillTx/>
                <a:latin typeface="Poppins"/>
                <a:ea typeface="+mn-ea"/>
                <a:cs typeface="+mn-cs"/>
              </a:rPr>
              <a:t>Identify and connect with key stakeholders for the content that impacts your business</a:t>
            </a:r>
            <a:endParaRPr kumimoji="0" lang="en-US" sz="1000" b="0" i="0" u="none" strike="noStrike" kern="1200" cap="none" spc="0" normalizeH="0" baseline="0" noProof="0">
              <a:ln>
                <a:noFill/>
              </a:ln>
              <a:solidFill>
                <a:schemeClr val="accent5"/>
              </a:solidFill>
              <a:effectLst/>
              <a:uLnTx/>
              <a:uFillTx/>
              <a:latin typeface="Poppins"/>
              <a:ea typeface="+mn-ea"/>
              <a:cs typeface="+mn-cs"/>
            </a:endParaRPr>
          </a:p>
        </p:txBody>
      </p:sp>
      <p:sp>
        <p:nvSpPr>
          <p:cNvPr id="7" name="TextBox 6">
            <a:extLst>
              <a:ext uri="{FF2B5EF4-FFF2-40B4-BE49-F238E27FC236}">
                <a16:creationId xmlns:a16="http://schemas.microsoft.com/office/drawing/2014/main" id="{5CF10D9E-687F-DC8B-694D-49509A89DD4F}"/>
              </a:ext>
            </a:extLst>
          </p:cNvPr>
          <p:cNvSpPr txBox="1"/>
          <p:nvPr/>
        </p:nvSpPr>
        <p:spPr>
          <a:xfrm>
            <a:off x="4646468" y="2863997"/>
            <a:ext cx="2706624" cy="969264"/>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Poppins"/>
                <a:ea typeface="+mn-ea"/>
                <a:cs typeface="+mn-cs"/>
              </a:rPr>
              <a:t>Track citation status as a metric</a:t>
            </a:r>
          </a:p>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0A2F24"/>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0"/>
              </a:spcAft>
              <a:buClr>
                <a:srgbClr val="009530"/>
              </a:buClr>
              <a:buSzTx/>
              <a:tabLst/>
              <a:defRPr/>
            </a:pPr>
            <a:r>
              <a:rPr kumimoji="0" lang="en-US" sz="1000" b="0" i="0" u="none" strike="noStrike" kern="1200" cap="none" spc="0" normalizeH="0" baseline="0" noProof="0">
                <a:ln>
                  <a:noFill/>
                </a:ln>
                <a:solidFill>
                  <a:srgbClr val="0A2F24"/>
                </a:solidFill>
                <a:effectLst/>
                <a:uLnTx/>
                <a:uFillTx/>
                <a:latin typeface="Poppins"/>
                <a:ea typeface="+mn-ea"/>
                <a:cs typeface="+mn-cs"/>
              </a:rPr>
              <a:t>Treat “cited vs. not cited” per priority prompt as a reportable KPI alongside traditional organic visibility.</a:t>
            </a:r>
          </a:p>
        </p:txBody>
      </p:sp>
      <p:sp>
        <p:nvSpPr>
          <p:cNvPr id="10" name="TextBox 9">
            <a:extLst>
              <a:ext uri="{FF2B5EF4-FFF2-40B4-BE49-F238E27FC236}">
                <a16:creationId xmlns:a16="http://schemas.microsoft.com/office/drawing/2014/main" id="{2EB28E2E-64F9-168D-A84E-FCB65D2EB676}"/>
              </a:ext>
            </a:extLst>
          </p:cNvPr>
          <p:cNvSpPr txBox="1"/>
          <p:nvPr/>
        </p:nvSpPr>
        <p:spPr>
          <a:xfrm>
            <a:off x="1687761" y="2863996"/>
            <a:ext cx="2706624" cy="969264"/>
          </a:xfrm>
          <a:prstGeom prst="rect">
            <a:avLst/>
          </a:prstGeom>
          <a:solidFill>
            <a:schemeClr val="tx1"/>
          </a:solidFill>
          <a:ln>
            <a:solidFill>
              <a:schemeClr val="tx1"/>
            </a:solidFill>
          </a:ln>
        </p:spPr>
        <p:txBody>
          <a:bodyPr wrap="square" lIns="91440" tIns="45720" rIns="91440" bIns="45720" anchor="t">
            <a:spAutoFit/>
          </a:bodyPr>
          <a:lstStyle/>
          <a:p>
            <a:pPr>
              <a:defRPr/>
            </a:pPr>
            <a:r>
              <a:rPr kumimoji="0" lang="en-US" sz="1000" b="1" i="0" u="none" strike="noStrike" kern="1200" cap="none" spc="0" normalizeH="0" baseline="0" noProof="0">
                <a:ln>
                  <a:noFill/>
                </a:ln>
                <a:solidFill>
                  <a:schemeClr val="accent5"/>
                </a:solidFill>
                <a:effectLst/>
                <a:uLnTx/>
                <a:uFillTx/>
                <a:latin typeface="Poppins"/>
                <a:ea typeface="+mn-ea"/>
                <a:cs typeface="+mn-cs"/>
              </a:rPr>
              <a:t>Keep a shared findings log</a:t>
            </a:r>
          </a:p>
          <a:p>
            <a:pPr marL="31115" marR="0" lvl="0" algn="l" defTabSz="457184" rtl="0" eaLnBrk="1" fontAlgn="auto" latinLnBrk="0" hangingPunct="1">
              <a:lnSpc>
                <a:spcPct val="100000"/>
              </a:lnSpc>
              <a:spcBef>
                <a:spcPts val="600"/>
              </a:spcBef>
              <a:spcAft>
                <a:spcPts val="600"/>
              </a:spcAft>
              <a:buClr>
                <a:srgbClr val="009530"/>
              </a:buClr>
              <a:buSzTx/>
              <a:tabLst/>
              <a:defRPr/>
            </a:pPr>
            <a:r>
              <a:rPr kumimoji="0" lang="en-US" sz="1000" b="0" i="0" u="none" strike="noStrike" kern="1200" cap="none" spc="0" normalizeH="0" baseline="0" noProof="0">
                <a:ln>
                  <a:noFill/>
                </a:ln>
                <a:solidFill>
                  <a:schemeClr val="accent5"/>
                </a:solidFill>
                <a:effectLst/>
                <a:uLnTx/>
                <a:uFillTx/>
                <a:latin typeface="Poppins"/>
                <a:ea typeface="+mn-ea"/>
                <a:cs typeface="+mn-cs"/>
              </a:rPr>
              <a:t>Centralize prompt, intent, cited sources, and the resulting action for every audit — avoid re-discovering the same gap twice.</a:t>
            </a:r>
          </a:p>
        </p:txBody>
      </p:sp>
      <p:sp>
        <p:nvSpPr>
          <p:cNvPr id="13" name="TextBox 12">
            <a:extLst>
              <a:ext uri="{FF2B5EF4-FFF2-40B4-BE49-F238E27FC236}">
                <a16:creationId xmlns:a16="http://schemas.microsoft.com/office/drawing/2014/main" id="{17C81F40-26A9-FB9B-9EE4-A2CB66FBF2B8}"/>
              </a:ext>
            </a:extLst>
          </p:cNvPr>
          <p:cNvSpPr txBox="1"/>
          <p:nvPr/>
        </p:nvSpPr>
        <p:spPr>
          <a:xfrm>
            <a:off x="1687761" y="1805089"/>
            <a:ext cx="2706624" cy="969264"/>
          </a:xfrm>
          <a:prstGeom prst="rect">
            <a:avLst/>
          </a:prstGeom>
          <a:solidFill>
            <a:schemeClr val="accent5"/>
          </a:solidFill>
          <a:ln>
            <a:solidFill>
              <a:schemeClr val="tx1"/>
            </a:solidFill>
          </a:ln>
        </p:spPr>
        <p:txBody>
          <a:bodyPr wrap="square" lIns="91440" tIns="45720" rIns="91440" bIns="45720" anchor="t">
            <a:spAutoFit/>
          </a:bodyPr>
          <a:lstStyle/>
          <a:p>
            <a:r>
              <a:rPr lang="en-US" sz="1000" b="1"/>
              <a:t>Run quarterly, per topic cluster</a:t>
            </a:r>
          </a:p>
          <a:p>
            <a:pPr marL="31115">
              <a:lnSpc>
                <a:spcPct val="100000"/>
              </a:lnSpc>
              <a:spcBef>
                <a:spcPts val="600"/>
              </a:spcBef>
              <a:spcAft>
                <a:spcPts val="600"/>
              </a:spcAft>
            </a:pPr>
            <a:r>
              <a:rPr lang="en-US" sz="1000"/>
              <a:t>Re-test priority prompts every quarter, and immediately after a major page rewrite, to confirm the gap actually closed.</a:t>
            </a:r>
          </a:p>
        </p:txBody>
      </p:sp>
    </p:spTree>
    <p:extLst>
      <p:ext uri="{BB962C8B-B14F-4D97-AF65-F5344CB8AC3E}">
        <p14:creationId xmlns:p14="http://schemas.microsoft.com/office/powerpoint/2010/main" val="26410368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D6676-7277-CDAA-9FA8-740DB256680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96A7A9D-EB10-02D8-2EA4-ADE5E9153B7C}"/>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6" name="Title 5">
            <a:extLst>
              <a:ext uri="{FF2B5EF4-FFF2-40B4-BE49-F238E27FC236}">
                <a16:creationId xmlns:a16="http://schemas.microsoft.com/office/drawing/2014/main" id="{DFD96DD3-B157-BC5F-875A-68C5329EE240}"/>
              </a:ext>
            </a:extLst>
          </p:cNvPr>
          <p:cNvSpPr>
            <a:spLocks noGrp="1"/>
          </p:cNvSpPr>
          <p:nvPr>
            <p:ph type="title"/>
          </p:nvPr>
        </p:nvSpPr>
        <p:spPr>
          <a:xfrm>
            <a:off x="1191488" y="1341120"/>
            <a:ext cx="5883781" cy="2520255"/>
          </a:xfrm>
        </p:spPr>
        <p:txBody>
          <a:bodyPr/>
          <a:lstStyle/>
          <a:p>
            <a:r>
              <a:rPr lang="en-US"/>
              <a:t>We don't need to guess why we're missing. We need to study what’s already winning - then out-answer it.</a:t>
            </a:r>
            <a:endParaRPr lang="pl-PL"/>
          </a:p>
        </p:txBody>
      </p:sp>
    </p:spTree>
    <p:extLst>
      <p:ext uri="{BB962C8B-B14F-4D97-AF65-F5344CB8AC3E}">
        <p14:creationId xmlns:p14="http://schemas.microsoft.com/office/powerpoint/2010/main" val="9439926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198D-FC85-D04A-53D3-E9629C961C7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A3A4774-7DD1-BC79-901F-904F5C741A5B}"/>
              </a:ext>
            </a:extLst>
          </p:cNvPr>
          <p:cNvSpPr/>
          <p:nvPr/>
        </p:nvSpPr>
        <p:spPr>
          <a:xfrm>
            <a:off x="742950" y="1820791"/>
            <a:ext cx="7659831" cy="1661993"/>
          </a:xfrm>
          <a:prstGeom prst="rect">
            <a:avLst/>
          </a:prstGeom>
          <a:noFill/>
          <a:ln/>
        </p:spPr>
        <p:txBody>
          <a:bodyPr wrap="square" lIns="0" tIns="0" rIns="0" bIns="0" rtlCol="0" anchor="t">
            <a:spAutoFit/>
          </a:bodyPr>
          <a:lstStyle/>
          <a:p>
            <a:r>
              <a:rPr lang="pl-PL" sz="3600">
                <a:solidFill>
                  <a:schemeClr val="accent5"/>
                </a:solidFill>
              </a:rPr>
              <a:t>Chapter 10: GEO Optimization and Social Media/Online Communities</a:t>
            </a:r>
            <a:endParaRPr lang="en-US" sz="3600">
              <a:solidFill>
                <a:schemeClr val="accent5"/>
              </a:solidFill>
            </a:endParaRPr>
          </a:p>
        </p:txBody>
      </p:sp>
      <p:sp>
        <p:nvSpPr>
          <p:cNvPr id="5" name="Text 2">
            <a:extLst>
              <a:ext uri="{FF2B5EF4-FFF2-40B4-BE49-F238E27FC236}">
                <a16:creationId xmlns:a16="http://schemas.microsoft.com/office/drawing/2014/main" id="{94D69AA4-452F-0A4B-0D60-5DB05B722525}"/>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BBC41F89-6657-BBCA-8D01-840585B0459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7E2872C9-F225-28F9-2560-A77FC2CC51A8}"/>
              </a:ext>
            </a:extLst>
          </p:cNvPr>
          <p:cNvSpPr>
            <a:spLocks noGrp="1"/>
          </p:cNvSpPr>
          <p:nvPr>
            <p:ph type="body" sz="quarter" idx="4294967295"/>
          </p:nvPr>
        </p:nvSpPr>
        <p:spPr>
          <a:xfrm>
            <a:off x="742949" y="4108450"/>
            <a:ext cx="6052705" cy="215900"/>
          </a:xfrm>
        </p:spPr>
        <p:txBody>
          <a:bodyPr/>
          <a:lstStyle/>
          <a:p>
            <a:r>
              <a:rPr lang="pl-PL"/>
              <a:t>Jakub Falkowski</a:t>
            </a:r>
          </a:p>
        </p:txBody>
      </p:sp>
    </p:spTree>
    <p:extLst>
      <p:ext uri="{BB962C8B-B14F-4D97-AF65-F5344CB8AC3E}">
        <p14:creationId xmlns:p14="http://schemas.microsoft.com/office/powerpoint/2010/main" val="29775666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ECA23-0973-38BA-804E-C8C661F94C9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E081FD59-E98D-7189-1BD8-51FB9934A256}"/>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72EB500C-469B-100A-03AB-2D536A61DF55}"/>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D26FE515-34B2-723D-E257-DEB44A2DC263}"/>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100">
                <a:solidFill>
                  <a:srgbClr val="E7FFD9"/>
                </a:solidFill>
                <a:latin typeface="Poppins"/>
                <a:cs typeface="Arial"/>
              </a:rPr>
              <a:t>Social Media and online communities are having the same impact on our share of citation as our own website</a:t>
            </a:r>
            <a:r>
              <a:rPr kumimoji="0" lang="pl-PL" sz="1100" b="0" i="0" u="none" strike="noStrike" kern="1200" cap="none" spc="0" normalizeH="0" baseline="0" noProof="0">
                <a:ln>
                  <a:noFill/>
                </a:ln>
                <a:solidFill>
                  <a:srgbClr val="E7FFD9"/>
                </a:solidFill>
                <a:effectLst/>
                <a:uLnTx/>
                <a:uFillTx/>
                <a:latin typeface="Poppins"/>
                <a:ea typeface="+mn-ea"/>
                <a:cs typeface="Arial"/>
              </a:rPr>
              <a: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39DB7D66-3BD1-5902-D8E5-8881166A5C39}"/>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F1BE7408-90D2-B4A7-3858-9C8FC7922D71}"/>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105</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2" name="Table 1">
            <a:extLst>
              <a:ext uri="{FF2B5EF4-FFF2-40B4-BE49-F238E27FC236}">
                <a16:creationId xmlns:a16="http://schemas.microsoft.com/office/drawing/2014/main" id="{97FF4D5F-BB49-63CA-AD62-DE378706A727}"/>
              </a:ext>
            </a:extLst>
          </p:cNvPr>
          <p:cNvGraphicFramePr>
            <a:graphicFrameLocks noGrp="1"/>
          </p:cNvGraphicFramePr>
          <p:nvPr>
            <p:extLst>
              <p:ext uri="{D42A27DB-BD31-4B8C-83A1-F6EECF244321}">
                <p14:modId xmlns:p14="http://schemas.microsoft.com/office/powerpoint/2010/main" val="2643401413"/>
              </p:ext>
            </p:extLst>
          </p:nvPr>
        </p:nvGraphicFramePr>
        <p:xfrm>
          <a:off x="1996591" y="1524997"/>
          <a:ext cx="5150589" cy="2172970"/>
        </p:xfrm>
        <a:graphic>
          <a:graphicData uri="http://schemas.openxmlformats.org/drawingml/2006/table">
            <a:tbl>
              <a:tblPr firstRow="1" bandRow="1">
                <a:tableStyleId>{5C22544A-7EE6-4342-B048-85BDC9FD1C3A}</a:tableStyleId>
              </a:tblPr>
              <a:tblGrid>
                <a:gridCol w="5150589">
                  <a:extLst>
                    <a:ext uri="{9D8B030D-6E8A-4147-A177-3AD203B41FA5}">
                      <a16:colId xmlns:a16="http://schemas.microsoft.com/office/drawing/2014/main" val="896702349"/>
                    </a:ext>
                  </a:extLst>
                </a:gridCol>
              </a:tblGrid>
              <a:tr h="187520">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1826824">
                <a:tc>
                  <a:txBody>
                    <a:bodyPr/>
                    <a:lstStyle/>
                    <a:p>
                      <a:pPr>
                        <a:lnSpc>
                          <a:spcPct val="150000"/>
                        </a:lnSpc>
                        <a:spcBef>
                          <a:spcPts val="0"/>
                        </a:spcBef>
                        <a:spcAft>
                          <a:spcPts val="0"/>
                        </a:spcAft>
                        <a:buClr>
                          <a:schemeClr val="tx2"/>
                        </a:buClr>
                        <a:defRPr/>
                      </a:pPr>
                      <a:r>
                        <a:rPr lang="en-US" sz="1000" b="0"/>
                        <a:t>YouTube videos, LinkedIn posts, review sites,</a:t>
                      </a:r>
                      <a:r>
                        <a:rPr lang="pl-PL" sz="1000" b="0"/>
                        <a:t> Reddit threads,</a:t>
                      </a:r>
                      <a:r>
                        <a:rPr lang="en-US" sz="1000" b="0"/>
                        <a:t> and forums make up the</a:t>
                      </a:r>
                      <a:r>
                        <a:rPr lang="pl-PL" sz="1000" b="0"/>
                        <a:t> 26%* of</a:t>
                      </a:r>
                      <a:r>
                        <a:rPr lang="en-US" sz="1000" b="0"/>
                        <a:t> what determines whether an AI engine cites Schneider Electric.</a:t>
                      </a:r>
                    </a:p>
                    <a:p>
                      <a:pPr>
                        <a:lnSpc>
                          <a:spcPct val="150000"/>
                        </a:lnSpc>
                        <a:spcBef>
                          <a:spcPts val="0"/>
                        </a:spcBef>
                        <a:spcAft>
                          <a:spcPts val="0"/>
                        </a:spcAft>
                        <a:buClr>
                          <a:schemeClr val="tx2"/>
                        </a:buClr>
                        <a:defRPr/>
                      </a:pPr>
                      <a:endParaRPr lang="en-US" sz="1000" b="0"/>
                    </a:p>
                    <a:p>
                      <a:pPr>
                        <a:lnSpc>
                          <a:spcPct val="150000"/>
                        </a:lnSpc>
                        <a:spcBef>
                          <a:spcPts val="0"/>
                        </a:spcBef>
                        <a:spcAft>
                          <a:spcPts val="0"/>
                        </a:spcAft>
                        <a:buClr>
                          <a:schemeClr val="tx2"/>
                        </a:buClr>
                        <a:defRPr/>
                      </a:pPr>
                      <a:r>
                        <a:rPr lang="en-US" sz="1000" b="0"/>
                        <a:t>This means </a:t>
                      </a:r>
                      <a:r>
                        <a:rPr lang="en-US" sz="1000" b="1"/>
                        <a:t>social and community presence isn't a nice-to-have add-on to GEO </a:t>
                      </a:r>
                      <a:r>
                        <a:rPr lang="pl-PL" sz="1000" b="1"/>
                        <a:t>-</a:t>
                      </a:r>
                      <a:r>
                        <a:rPr lang="en-US" sz="1000" b="1"/>
                        <a:t> it is </a:t>
                      </a:r>
                      <a:r>
                        <a:rPr lang="pl-PL" sz="1000" b="1"/>
                        <a:t>big piece of </a:t>
                      </a:r>
                      <a:r>
                        <a:rPr lang="en-US" sz="1000" b="1"/>
                        <a:t>the game.</a:t>
                      </a:r>
                    </a:p>
                    <a:p>
                      <a:pPr>
                        <a:lnSpc>
                          <a:spcPct val="150000"/>
                        </a:lnSpc>
                        <a:spcBef>
                          <a:spcPts val="0"/>
                        </a:spcBef>
                        <a:spcAft>
                          <a:spcPts val="0"/>
                        </a:spcAft>
                        <a:buClr>
                          <a:schemeClr val="tx2"/>
                        </a:buClr>
                        <a:defRPr/>
                      </a:pPr>
                      <a:endParaRPr lang="en-US" sz="1000" b="0"/>
                    </a:p>
                    <a:p>
                      <a:pPr>
                        <a:lnSpc>
                          <a:spcPct val="150000"/>
                        </a:lnSpc>
                        <a:spcBef>
                          <a:spcPts val="0"/>
                        </a:spcBef>
                        <a:spcAft>
                          <a:spcPts val="0"/>
                        </a:spcAft>
                        <a:buClr>
                          <a:schemeClr val="tx2"/>
                        </a:buClr>
                        <a:defRPr/>
                      </a:pPr>
                      <a:r>
                        <a:rPr lang="en-US" sz="1000" b="0"/>
                        <a:t>Winning here requires marketing, comms, PR, and product/field experts working </a:t>
                      </a:r>
                      <a:r>
                        <a:rPr lang="pl-PL" sz="1000" b="0"/>
                        <a:t>shoulder to shoulder.</a:t>
                      </a:r>
                      <a:endParaRPr lang="en-US" sz="10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sp>
        <p:nvSpPr>
          <p:cNvPr id="14" name="Rectangle 13">
            <a:extLst>
              <a:ext uri="{FF2B5EF4-FFF2-40B4-BE49-F238E27FC236}">
                <a16:creationId xmlns:a16="http://schemas.microsoft.com/office/drawing/2014/main" id="{9A43D2EC-8ADB-9590-A7B4-95319E8305B9}"/>
              </a:ext>
            </a:extLst>
          </p:cNvPr>
          <p:cNvSpPr/>
          <p:nvPr/>
        </p:nvSpPr>
        <p:spPr>
          <a:xfrm>
            <a:off x="2715029" y="3798765"/>
            <a:ext cx="3713711" cy="572313"/>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t"/>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100" b="1" i="0" u="none" strike="noStrike" kern="1200" cap="none" spc="0" normalizeH="0" baseline="0" noProof="0">
                <a:ln>
                  <a:noFill/>
                </a:ln>
                <a:solidFill>
                  <a:srgbClr val="E7FFD9"/>
                </a:solidFill>
                <a:effectLst/>
                <a:uLnTx/>
                <a:uFillTx/>
                <a:latin typeface="Poppins"/>
                <a:ea typeface="+mn-ea"/>
                <a:cs typeface="+mn-cs"/>
              </a:rPr>
              <a:t>Important: </a:t>
            </a:r>
            <a:r>
              <a:rPr kumimoji="0" lang="pl-PL" sz="1000" i="0" u="none" strike="noStrike" kern="1200" cap="none" spc="0" normalizeH="0" baseline="0" noProof="0">
                <a:ln>
                  <a:noFill/>
                </a:ln>
                <a:solidFill>
                  <a:srgbClr val="E7FFD9"/>
                </a:solidFill>
                <a:effectLst/>
                <a:uLnTx/>
                <a:uFillTx/>
                <a:latin typeface="Poppins"/>
                <a:ea typeface="+mn-ea"/>
                <a:cs typeface="+mn-cs"/>
              </a:rPr>
              <a:t>for Schneider Electric as B2B company, big </a:t>
            </a:r>
            <a:r>
              <a:rPr lang="pl-PL" sz="1000">
                <a:solidFill>
                  <a:srgbClr val="E7FFD9"/>
                </a:solidFill>
                <a:latin typeface="Poppins"/>
              </a:rPr>
              <a:t>amount</a:t>
            </a:r>
            <a:r>
              <a:rPr kumimoji="0" lang="pl-PL" sz="1000" i="0" u="none" strike="noStrike" kern="1200" cap="none" spc="0" normalizeH="0" baseline="0" noProof="0">
                <a:ln>
                  <a:noFill/>
                </a:ln>
                <a:solidFill>
                  <a:srgbClr val="E7FFD9"/>
                </a:solidFill>
                <a:effectLst/>
                <a:uLnTx/>
                <a:uFillTx/>
                <a:latin typeface="Poppins"/>
                <a:ea typeface="+mn-ea"/>
                <a:cs typeface="+mn-cs"/>
              </a:rPr>
              <a:t> of citations come from our Partners and Distributors websites.</a:t>
            </a:r>
            <a:endParaRPr kumimoji="0" lang="en-US" sz="1000" i="0" u="none" strike="noStrike" kern="1200" cap="none" spc="0" normalizeH="0" baseline="0" noProof="0">
              <a:ln>
                <a:noFill/>
              </a:ln>
              <a:solidFill>
                <a:srgbClr val="E7FFD9"/>
              </a:solidFill>
              <a:effectLst/>
              <a:uLnTx/>
              <a:uFillTx/>
              <a:latin typeface="Poppins"/>
              <a:ea typeface="+mn-ea"/>
              <a:cs typeface="+mn-cs"/>
            </a:endParaRPr>
          </a:p>
        </p:txBody>
      </p:sp>
      <p:sp>
        <p:nvSpPr>
          <p:cNvPr id="21" name="TextBox 20">
            <a:extLst>
              <a:ext uri="{FF2B5EF4-FFF2-40B4-BE49-F238E27FC236}">
                <a16:creationId xmlns:a16="http://schemas.microsoft.com/office/drawing/2014/main" id="{B3BCFEDB-9631-937A-982A-4F8F3AC697D6}"/>
              </a:ext>
            </a:extLst>
          </p:cNvPr>
          <p:cNvSpPr txBox="1"/>
          <p:nvPr/>
        </p:nvSpPr>
        <p:spPr>
          <a:xfrm>
            <a:off x="398463" y="4599466"/>
            <a:ext cx="2072640" cy="107722"/>
          </a:xfrm>
          <a:prstGeom prst="rect">
            <a:avLst/>
          </a:prstGeom>
        </p:spPr>
        <p:txBody>
          <a:bodyPr vert="horz" wrap="square" lIns="0" tIns="0" rIns="0" bIns="0" rtlCol="0">
            <a:spAutoFit/>
          </a:bodyPr>
          <a:lstStyle/>
          <a:p>
            <a:pPr algn="l"/>
            <a:r>
              <a:rPr lang="pl-PL" sz="700"/>
              <a:t>*</a:t>
            </a:r>
            <a:r>
              <a:rPr lang="en-US" sz="700"/>
              <a:t>Data source: Profound, July 2026</a:t>
            </a:r>
            <a:endParaRPr lang="pl-PL" sz="700"/>
          </a:p>
        </p:txBody>
      </p:sp>
      <p:sp>
        <p:nvSpPr>
          <p:cNvPr id="23" name="Text 1">
            <a:extLst>
              <a:ext uri="{FF2B5EF4-FFF2-40B4-BE49-F238E27FC236}">
                <a16:creationId xmlns:a16="http://schemas.microsoft.com/office/drawing/2014/main" id="{C739DE05-A83D-F95E-1255-B70AF78BF43A}"/>
              </a:ext>
            </a:extLst>
          </p:cNvPr>
          <p:cNvSpPr/>
          <p:nvPr/>
        </p:nvSpPr>
        <p:spPr>
          <a:xfrm>
            <a:off x="342900" y="192024"/>
            <a:ext cx="7942263"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2200" b="0" i="0" u="none" strike="noStrike" kern="1200" cap="none" spc="0" normalizeH="0" baseline="0" noProof="0">
                <a:ln>
                  <a:noFill/>
                </a:ln>
                <a:solidFill>
                  <a:srgbClr val="E7FFD9"/>
                </a:solidFill>
                <a:effectLst/>
                <a:uLnTx/>
                <a:uFillTx/>
                <a:latin typeface="Poppins"/>
                <a:ea typeface="+mn-ea"/>
                <a:cs typeface="Arial"/>
              </a:rPr>
              <a:t>Why is it important?</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Tree>
    <p:extLst>
      <p:ext uri="{BB962C8B-B14F-4D97-AF65-F5344CB8AC3E}">
        <p14:creationId xmlns:p14="http://schemas.microsoft.com/office/powerpoint/2010/main" val="129043760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85D71-AAED-6103-DE0D-CA0FDFE61E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C34B2E-DB62-D16A-1D41-F54FD59AB5FC}"/>
              </a:ext>
            </a:extLst>
          </p:cNvPr>
          <p:cNvSpPr/>
          <p:nvPr/>
        </p:nvSpPr>
        <p:spPr>
          <a:xfrm>
            <a:off x="3501655" y="1215089"/>
            <a:ext cx="5124893" cy="333862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R="0" lvl="0" algn="l" defTabSz="457184" rtl="0" eaLnBrk="1" fontAlgn="auto" latinLnBrk="0" hangingPunct="1">
              <a:lnSpc>
                <a:spcPct val="100000"/>
              </a:lnSpc>
              <a:spcBef>
                <a:spcPts val="0"/>
              </a:spcBef>
              <a:spcAft>
                <a:spcPts val="300"/>
              </a:spcAft>
              <a:buClrTx/>
              <a:buSzTx/>
              <a:tabLst/>
              <a:defRPr/>
            </a:pPr>
            <a:r>
              <a:rPr kumimoji="0" lang="pl-PL" sz="1050" b="1" i="0" u="none" strike="noStrike" kern="1200" cap="none" spc="0" normalizeH="0" baseline="0" noProof="0">
                <a:ln>
                  <a:noFill/>
                </a:ln>
                <a:solidFill>
                  <a:srgbClr val="0A2F24"/>
                </a:solidFill>
                <a:effectLst/>
                <a:uLnTx/>
                <a:uFillTx/>
                <a:latin typeface="Poppins"/>
                <a:ea typeface="+mn-ea"/>
                <a:cs typeface="+mn-cs"/>
              </a:rPr>
              <a:t>Actions: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lang="pl-PL" sz="1050" b="1">
              <a:solidFill>
                <a:srgbClr val="0A2F24"/>
              </a:solidFill>
              <a:latin typeface="Poppins"/>
            </a:endParaRP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Named executives and technical leaders post original perspective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not reshares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on decarbonization, grid modernization, and industrial AI, each written to be quotable</a:t>
            </a:r>
            <a:r>
              <a:rPr kumimoji="0" lang="pl-PL" sz="1050" i="0" u="none" strike="noStrike" kern="1200" cap="none" spc="0" normalizeH="0" baseline="0" noProof="0">
                <a:ln>
                  <a:noFill/>
                </a:ln>
                <a:solidFill>
                  <a:srgbClr val="0A2F24"/>
                </a:solidFill>
                <a:effectLst/>
                <a:uLnTx/>
                <a:uFillTx/>
                <a:latin typeface="Poppins"/>
                <a:ea typeface="+mn-ea"/>
                <a:cs typeface="+mn-cs"/>
              </a:rPr>
              <a:t> and other must-win topics.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Launch/expand employee advocacy: </a:t>
            </a:r>
            <a:r>
              <a:rPr kumimoji="0" lang="en-US" sz="1050" i="0" u="none" strike="noStrike" kern="1200" cap="none" spc="0" normalizeH="0" baseline="0" noProof="0">
                <a:ln>
                  <a:noFill/>
                </a:ln>
                <a:solidFill>
                  <a:srgbClr val="0A2F24"/>
                </a:solidFill>
                <a:effectLst/>
                <a:uLnTx/>
                <a:uFillTx/>
                <a:latin typeface="Poppins"/>
                <a:ea typeface="+mn-ea"/>
                <a:cs typeface="+mn-cs"/>
              </a:rPr>
              <a:t>employee-shared content earns significantly more engagement compared to the same post from a brand page. AI models trust individuals more than corporate accounts.</a:t>
            </a:r>
            <a:endParaRPr kumimoji="0" lang="pl-PL" sz="1050" i="0" u="none" strike="noStrike" kern="1200" cap="none" spc="0" normalizeH="0" baseline="0" noProof="0">
              <a:ln>
                <a:noFill/>
              </a:ln>
              <a:solidFill>
                <a:srgbClr val="0A2F24"/>
              </a:solidFill>
              <a:effectLst/>
              <a:uLnTx/>
              <a:uFillTx/>
              <a:latin typeface="Poppins"/>
              <a:ea typeface="+mn-ea"/>
              <a:cs typeface="+mn-cs"/>
            </a:endParaRP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pl-PL" sz="1050" b="1" i="0" u="none" strike="noStrike" kern="1200" cap="none" spc="0" normalizeH="0" baseline="0" noProof="0">
                <a:ln>
                  <a:noFill/>
                </a:ln>
                <a:solidFill>
                  <a:srgbClr val="0A2F24"/>
                </a:solidFill>
                <a:effectLst/>
                <a:uLnTx/>
                <a:uFillTx/>
                <a:latin typeface="Poppins"/>
                <a:ea typeface="+mn-ea"/>
                <a:cs typeface="+mn-cs"/>
              </a:rPr>
              <a:t>Employee advocacy startegy: </a:t>
            </a:r>
            <a:r>
              <a:rPr kumimoji="0" lang="pl-PL" sz="1050" i="0" u="none" strike="noStrike" kern="1200" cap="none" spc="0" normalizeH="0" baseline="0" noProof="0">
                <a:ln>
                  <a:noFill/>
                </a:ln>
                <a:solidFill>
                  <a:srgbClr val="0A2F24"/>
                </a:solidFill>
                <a:effectLst/>
                <a:uLnTx/>
                <a:uFillTx/>
                <a:latin typeface="Poppins"/>
                <a:ea typeface="+mn-ea"/>
                <a:cs typeface="+mn-cs"/>
              </a:rPr>
              <a:t>LinkedIn users should not start right away with creating the content – instead ask them to start with 2-3 weeks comments only activity before posting the new content by themselves. It</a:t>
            </a:r>
            <a:r>
              <a:rPr kumimoji="0" lang="en-US" sz="1050" i="0" u="none" strike="noStrike" kern="1200" cap="none" spc="0" normalizeH="0" baseline="0" noProof="0">
                <a:ln>
                  <a:noFill/>
                </a:ln>
                <a:solidFill>
                  <a:srgbClr val="0A2F24"/>
                </a:solidFill>
                <a:effectLst/>
                <a:uLnTx/>
                <a:uFillTx/>
                <a:latin typeface="Poppins"/>
                <a:ea typeface="+mn-ea"/>
                <a:cs typeface="+mn-cs"/>
              </a:rPr>
              <a:t> produces stronger long-term participation than launching straight into content creation.</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Align positioning language </a:t>
            </a:r>
            <a:r>
              <a:rPr kumimoji="0" lang="en-US" sz="1050" i="0" u="none" strike="noStrike" kern="1200" cap="none" spc="0" normalizeH="0" baseline="0" noProof="0">
                <a:ln>
                  <a:noFill/>
                </a:ln>
                <a:solidFill>
                  <a:srgbClr val="0A2F24"/>
                </a:solidFill>
                <a:effectLst/>
                <a:uLnTx/>
                <a:uFillTx/>
                <a:latin typeface="Poppins"/>
                <a:ea typeface="+mn-ea"/>
                <a:cs typeface="+mn-cs"/>
              </a:rPr>
              <a:t>across se.com</a:t>
            </a:r>
            <a:r>
              <a:rPr kumimoji="0" lang="pl-PL" sz="1050" i="0" u="none" strike="noStrike" kern="1200" cap="none" spc="0" normalizeH="0" baseline="0" noProof="0">
                <a:ln>
                  <a:noFill/>
                </a:ln>
                <a:solidFill>
                  <a:srgbClr val="0A2F24"/>
                </a:solidFill>
                <a:effectLst/>
                <a:uLnTx/>
                <a:uFillTx/>
                <a:latin typeface="Poppins"/>
                <a:ea typeface="+mn-ea"/>
                <a:cs typeface="+mn-cs"/>
              </a:rPr>
              <a:t>, SE Blogs, etc.</a:t>
            </a:r>
            <a:r>
              <a:rPr kumimoji="0" lang="en-US" sz="1050" i="0" u="none" strike="noStrike" kern="1200" cap="none" spc="0" normalizeH="0" baseline="0" noProof="0">
                <a:ln>
                  <a:noFill/>
                </a:ln>
                <a:solidFill>
                  <a:srgbClr val="0A2F24"/>
                </a:solidFill>
                <a:effectLst/>
                <a:uLnTx/>
                <a:uFillTx/>
                <a:latin typeface="Poppins"/>
                <a:ea typeface="+mn-ea"/>
                <a:cs typeface="+mn-cs"/>
              </a:rPr>
              <a:t> — </a:t>
            </a:r>
            <a:r>
              <a:rPr kumimoji="0" lang="en-US" sz="1050" b="1" i="0" u="none" strike="noStrike" kern="1200" cap="none" spc="0" normalizeH="0" baseline="0" noProof="0">
                <a:ln>
                  <a:noFill/>
                </a:ln>
                <a:solidFill>
                  <a:srgbClr val="0A2F24"/>
                </a:solidFill>
                <a:effectLst/>
                <a:uLnTx/>
                <a:uFillTx/>
                <a:latin typeface="Poppins"/>
                <a:ea typeface="+mn-ea"/>
                <a:cs typeface="+mn-cs"/>
              </a:rPr>
              <a:t>LLMs cross-reference these</a:t>
            </a:r>
            <a:r>
              <a:rPr kumimoji="0" lang="en-US" sz="1050" i="0" u="none" strike="noStrike" kern="1200" cap="none" spc="0" normalizeH="0" baseline="0" noProof="0">
                <a:ln>
                  <a:noFill/>
                </a:ln>
                <a:solidFill>
                  <a:srgbClr val="0A2F24"/>
                </a:solidFill>
                <a:effectLst/>
                <a:uLnTx/>
                <a:uFillTx/>
                <a:latin typeface="Poppins"/>
                <a:ea typeface="+mn-ea"/>
                <a:cs typeface="+mn-cs"/>
              </a:rPr>
              <a:t> to build the brand's entity model.</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Publish original data (energy trend analysis, decarbonization benchmarks</a:t>
            </a:r>
            <a:r>
              <a:rPr kumimoji="0" lang="pl-PL" sz="1050" i="0" u="none" strike="noStrike" kern="1200" cap="none" spc="0" normalizeH="0" baseline="0" noProof="0">
                <a:ln>
                  <a:noFill/>
                </a:ln>
                <a:solidFill>
                  <a:srgbClr val="0A2F24"/>
                </a:solidFill>
                <a:effectLst/>
                <a:uLnTx/>
                <a:uFillTx/>
                <a:latin typeface="Poppins"/>
                <a:ea typeface="+mn-ea"/>
                <a:cs typeface="+mn-cs"/>
              </a:rPr>
              <a:t>, etc.</a:t>
            </a:r>
            <a:r>
              <a:rPr kumimoji="0" lang="en-US" sz="1050" i="0" u="none" strike="noStrike" kern="1200" cap="none" spc="0" normalizeH="0" baseline="0" noProof="0">
                <a:ln>
                  <a:noFill/>
                </a:ln>
                <a:solidFill>
                  <a:srgbClr val="0A2F24"/>
                </a:solidFill>
                <a:effectLst/>
                <a:uLnTx/>
                <a:uFillTx/>
                <a:latin typeface="Poppins"/>
                <a:ea typeface="+mn-ea"/>
                <a:cs typeface="+mn-cs"/>
              </a:rPr>
              <a:t>) as native LinkedIn documents — </a:t>
            </a:r>
            <a:r>
              <a:rPr kumimoji="0" lang="en-US" sz="1050" b="1" i="0" u="none" strike="noStrike" kern="1200" cap="none" spc="0" normalizeH="0" baseline="0" noProof="0">
                <a:ln>
                  <a:noFill/>
                </a:ln>
                <a:solidFill>
                  <a:srgbClr val="0A2F24"/>
                </a:solidFill>
                <a:effectLst/>
                <a:uLnTx/>
                <a:uFillTx/>
                <a:latin typeface="Poppins"/>
                <a:ea typeface="+mn-ea"/>
                <a:cs typeface="+mn-cs"/>
              </a:rPr>
              <a:t>earned reshares are exactly the third-party validation GEO rewards</a:t>
            </a:r>
            <a:r>
              <a:rPr kumimoji="0" lang="en-US" sz="1050" i="0" u="none" strike="noStrike" kern="1200" cap="none" spc="0" normalizeH="0" baseline="0" noProof="0">
                <a:ln>
                  <a:noFill/>
                </a:ln>
                <a:solidFill>
                  <a:srgbClr val="0A2F24"/>
                </a:solidFill>
                <a:effectLst/>
                <a:uLnTx/>
                <a:uFillTx/>
                <a:latin typeface="Poppins"/>
                <a:ea typeface="+mn-ea"/>
                <a:cs typeface="+mn-cs"/>
              </a:rPr>
              <a:t>.</a:t>
            </a:r>
            <a:endParaRPr kumimoji="0" lang="pl-PL" sz="1050" i="0" u="none" strike="noStrike" kern="1200" cap="none" spc="0" normalizeH="0" baseline="0" noProof="0">
              <a:ln>
                <a:noFill/>
              </a:ln>
              <a:solidFill>
                <a:srgbClr val="0A2F24"/>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50" b="1" i="0" u="none" strike="noStrike" kern="1200" cap="none" spc="0" normalizeH="0" baseline="0" noProof="0">
              <a:ln>
                <a:noFill/>
              </a:ln>
              <a:solidFill>
                <a:srgbClr val="0A2F24"/>
              </a:solidFill>
              <a:effectLst/>
              <a:uLnTx/>
              <a:uFillTx/>
              <a:latin typeface="Poppins"/>
              <a:ea typeface="+mn-ea"/>
              <a:cs typeface="+mn-cs"/>
            </a:endParaRPr>
          </a:p>
        </p:txBody>
      </p:sp>
      <p:sp>
        <p:nvSpPr>
          <p:cNvPr id="8" name="Shape 0">
            <a:extLst>
              <a:ext uri="{FF2B5EF4-FFF2-40B4-BE49-F238E27FC236}">
                <a16:creationId xmlns:a16="http://schemas.microsoft.com/office/drawing/2014/main" id="{4546B3E3-7E43-2E8A-BC45-6F64479559F7}"/>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BB4E7705-8932-240B-E17F-86E2A2680A9D}"/>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LinkedIn</a:t>
            </a:r>
          </a:p>
        </p:txBody>
      </p:sp>
      <p:sp>
        <p:nvSpPr>
          <p:cNvPr id="12" name="Text 2">
            <a:extLst>
              <a:ext uri="{FF2B5EF4-FFF2-40B4-BE49-F238E27FC236}">
                <a16:creationId xmlns:a16="http://schemas.microsoft.com/office/drawing/2014/main" id="{91BE5AF2-26E7-92E3-8C8B-891B4256A577}"/>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The anchor channel.</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73576018-2F98-F323-ED5D-249F7E67D57E}"/>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DF0AF6D3-C45E-3D54-C1D8-35747649A43D}"/>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106</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9" name="Rectangle 8">
            <a:extLst>
              <a:ext uri="{FF2B5EF4-FFF2-40B4-BE49-F238E27FC236}">
                <a16:creationId xmlns:a16="http://schemas.microsoft.com/office/drawing/2014/main" id="{F897192C-6177-B208-85BC-DE883CA0DB33}"/>
              </a:ext>
            </a:extLst>
          </p:cNvPr>
          <p:cNvSpPr/>
          <p:nvPr/>
        </p:nvSpPr>
        <p:spPr>
          <a:xfrm>
            <a:off x="553153" y="1215088"/>
            <a:ext cx="2664342" cy="3338623"/>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600" b="1" i="1" u="none" strike="noStrike" kern="1200" cap="none" spc="0" normalizeH="0" baseline="0" noProof="0">
                <a:ln>
                  <a:noFill/>
                </a:ln>
                <a:solidFill>
                  <a:srgbClr val="E7FFD9"/>
                </a:solidFill>
                <a:effectLst/>
                <a:uLnTx/>
                <a:uFillTx/>
                <a:latin typeface="Poppins"/>
                <a:ea typeface="+mn-ea"/>
                <a:cs typeface="+mn-cs"/>
              </a:rPr>
              <a:t>Executive</a:t>
            </a:r>
            <a:r>
              <a:rPr kumimoji="0" lang="pl-PL" sz="1600" b="1" i="1" u="none" strike="noStrike" kern="1200" cap="none" spc="0" normalizeH="0" baseline="0" noProof="0">
                <a:ln>
                  <a:noFill/>
                </a:ln>
                <a:solidFill>
                  <a:srgbClr val="E7FFD9"/>
                </a:solidFill>
                <a:effectLst/>
                <a:uLnTx/>
                <a:uFillTx/>
                <a:latin typeface="Poppins"/>
                <a:ea typeface="+mn-ea"/>
                <a:cs typeface="+mn-cs"/>
              </a:rPr>
              <a:t> </a:t>
            </a:r>
            <a:r>
              <a:rPr kumimoji="0" lang="en-US" sz="1600" b="1" i="1" u="none" strike="noStrike" kern="1200" cap="none" spc="0" normalizeH="0" baseline="0" noProof="0">
                <a:ln>
                  <a:noFill/>
                </a:ln>
                <a:solidFill>
                  <a:srgbClr val="E7FFD9"/>
                </a:solidFill>
                <a:effectLst/>
                <a:uLnTx/>
                <a:uFillTx/>
                <a:latin typeface="Poppins"/>
                <a:ea typeface="+mn-ea"/>
                <a:cs typeface="+mn-cs"/>
              </a:rPr>
              <a:t>voice over</a:t>
            </a:r>
            <a:r>
              <a:rPr kumimoji="0" lang="pl-PL" sz="1600" b="1" i="1" u="none" strike="noStrike" kern="1200" cap="none" spc="0" normalizeH="0" baseline="0" noProof="0">
                <a:ln>
                  <a:noFill/>
                </a:ln>
                <a:solidFill>
                  <a:srgbClr val="E7FFD9"/>
                </a:solidFill>
                <a:effectLst/>
                <a:uLnTx/>
                <a:uFillTx/>
                <a:latin typeface="Poppins"/>
                <a:ea typeface="+mn-ea"/>
                <a:cs typeface="+mn-cs"/>
              </a:rPr>
              <a:t> </a:t>
            </a:r>
            <a:r>
              <a:rPr kumimoji="0" lang="en-US" sz="1600" b="1" i="1" u="none" strike="noStrike" kern="1200" cap="none" spc="0" normalizeH="0" baseline="0" noProof="0">
                <a:ln>
                  <a:noFill/>
                </a:ln>
                <a:solidFill>
                  <a:srgbClr val="E7FFD9"/>
                </a:solidFill>
                <a:effectLst/>
                <a:uLnTx/>
                <a:uFillTx/>
                <a:latin typeface="Poppins"/>
                <a:ea typeface="+mn-ea"/>
                <a:cs typeface="+mn-cs"/>
              </a:rPr>
              <a:t>brand voice</a:t>
            </a:r>
            <a:r>
              <a:rPr kumimoji="0" lang="pl-PL" sz="1600" b="1" i="1" u="none" strike="noStrike" kern="1200" cap="none" spc="0" normalizeH="0" baseline="0" noProof="0">
                <a:ln>
                  <a:noFill/>
                </a:ln>
                <a:solidFill>
                  <a:srgbClr val="E7FFD9"/>
                </a:solidFill>
                <a:effectLst/>
                <a:uLnTx/>
                <a:uFillTx/>
                <a:latin typeface="Poppins"/>
                <a:ea typeface="+mn-ea"/>
                <a:cs typeface="+mn-cs"/>
              </a:rPr>
              <a:t>.</a:t>
            </a:r>
          </a:p>
          <a:p>
            <a:pPr marL="0" marR="0" lvl="0" indent="0" algn="l" defTabSz="457184" rtl="0" eaLnBrk="1" fontAlgn="auto" latinLnBrk="0" hangingPunct="1">
              <a:lnSpc>
                <a:spcPct val="100000"/>
              </a:lnSpc>
              <a:spcBef>
                <a:spcPts val="0"/>
              </a:spcBef>
              <a:spcAft>
                <a:spcPts val="300"/>
              </a:spcAft>
              <a:buClrTx/>
              <a:buSzTx/>
              <a:buFontTx/>
              <a:buNone/>
              <a:tabLst/>
              <a:defRPr/>
            </a:pPr>
            <a:endParaRPr lang="pl-PL" sz="1000" b="1">
              <a:solidFill>
                <a:srgbClr val="E7FFD9"/>
              </a:solidFill>
              <a:latin typeface="Poppin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b="1" i="0" u="none" strike="noStrike" kern="1200" cap="none" spc="0" normalizeH="0" baseline="0" noProof="0">
              <a:ln>
                <a:noFill/>
              </a:ln>
              <a:solidFill>
                <a:srgbClr val="E7FFD9"/>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rgbClr val="E7FFD9"/>
                </a:solidFill>
                <a:effectLst/>
                <a:uLnTx/>
                <a:uFillTx/>
                <a:latin typeface="Poppins"/>
                <a:ea typeface="+mn-ea"/>
                <a:cs typeface="+mn-cs"/>
              </a:rPr>
              <a:t>Executive voice is our strongest asset. They have many followers, are active with others in the B2B space and are often cited in AI models.</a:t>
            </a:r>
            <a:endParaRPr kumimoji="0" lang="en-US" sz="1000" b="1" i="0" u="none" strike="noStrike" kern="1200" cap="none" spc="0" normalizeH="0" baseline="0" noProof="0">
              <a:ln>
                <a:noFill/>
              </a:ln>
              <a:solidFill>
                <a:srgbClr val="E7FFD9"/>
              </a:solidFill>
              <a:effectLst/>
              <a:uLnTx/>
              <a:uFillTx/>
              <a:latin typeface="Poppins"/>
              <a:ea typeface="+mn-ea"/>
              <a:cs typeface="+mn-cs"/>
            </a:endParaRPr>
          </a:p>
        </p:txBody>
      </p:sp>
    </p:spTree>
    <p:extLst>
      <p:ext uri="{BB962C8B-B14F-4D97-AF65-F5344CB8AC3E}">
        <p14:creationId xmlns:p14="http://schemas.microsoft.com/office/powerpoint/2010/main" val="34684298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AF7E3-0751-0CEB-3F9B-F78A137D03D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9889C70-EAC2-48FF-9D60-A8723A2FAD57}"/>
              </a:ext>
            </a:extLst>
          </p:cNvPr>
          <p:cNvSpPr/>
          <p:nvPr/>
        </p:nvSpPr>
        <p:spPr>
          <a:xfrm>
            <a:off x="553153" y="1215088"/>
            <a:ext cx="5124893" cy="333862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R="0" lvl="0" algn="l" defTabSz="457184" rtl="0" eaLnBrk="1" fontAlgn="auto" latinLnBrk="0" hangingPunct="1">
              <a:lnSpc>
                <a:spcPct val="100000"/>
              </a:lnSpc>
              <a:spcBef>
                <a:spcPts val="0"/>
              </a:spcBef>
              <a:spcAft>
                <a:spcPts val="300"/>
              </a:spcAft>
              <a:buClrTx/>
              <a:buSzTx/>
              <a:tabLst/>
              <a:defRPr/>
            </a:pPr>
            <a:r>
              <a:rPr kumimoji="0" lang="pl-PL" sz="1050" b="1" i="0" u="none" strike="noStrike" kern="1200" cap="none" spc="0" normalizeH="0" baseline="0" noProof="0">
                <a:ln>
                  <a:noFill/>
                </a:ln>
                <a:solidFill>
                  <a:srgbClr val="0A2F24"/>
                </a:solidFill>
                <a:effectLst/>
                <a:uLnTx/>
                <a:uFillTx/>
                <a:latin typeface="Poppins"/>
                <a:ea typeface="+mn-ea"/>
                <a:cs typeface="+mn-cs"/>
              </a:rPr>
              <a:t>Actions: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lang="pl-PL" sz="1050" b="1">
              <a:solidFill>
                <a:srgbClr val="0A2F24"/>
              </a:solidFill>
              <a:latin typeface="Poppins"/>
            </a:endParaRP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Format</a:t>
            </a:r>
            <a:r>
              <a:rPr kumimoji="0" lang="pl-PL" sz="1050" b="1"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technical explainers, executive Q&amp;As, customer walkthroughs, product comparisons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not brand films. These are the formats AI engines actually cite.</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Length: 10–20 minutes, with the </a:t>
            </a:r>
            <a:r>
              <a:rPr kumimoji="0" lang="en-US" sz="1050" b="1" i="0" u="none" strike="noStrike" kern="1200" cap="none" spc="0" normalizeH="0" baseline="0" noProof="0">
                <a:ln>
                  <a:noFill/>
                </a:ln>
                <a:solidFill>
                  <a:srgbClr val="0A2F24"/>
                </a:solidFill>
                <a:effectLst/>
                <a:uLnTx/>
                <a:uFillTx/>
                <a:latin typeface="Poppins"/>
                <a:ea typeface="+mn-ea"/>
                <a:cs typeface="+mn-cs"/>
              </a:rPr>
              <a:t>direct answer front-loaded </a:t>
            </a:r>
            <a:r>
              <a:rPr kumimoji="0" lang="en-US" sz="1050" i="0" u="none" strike="noStrike" kern="1200" cap="none" spc="0" normalizeH="0" baseline="0" noProof="0">
                <a:ln>
                  <a:noFill/>
                </a:ln>
                <a:solidFill>
                  <a:srgbClr val="0A2F24"/>
                </a:solidFill>
                <a:effectLst/>
                <a:uLnTx/>
                <a:uFillTx/>
                <a:latin typeface="Poppins"/>
                <a:ea typeface="+mn-ea"/>
                <a:cs typeface="+mn-cs"/>
              </a:rPr>
              <a:t>in the first 30% of the transcript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the 'AI citation zone.'</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Never rely on auto-captions alone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upload corrected transcripts with accurate product names (</a:t>
            </a:r>
            <a:r>
              <a:rPr kumimoji="0" lang="pl-PL" sz="1050" i="0" u="none" strike="noStrike" kern="1200" cap="none" spc="0" normalizeH="0" baseline="0" noProof="0">
                <a:ln>
                  <a:noFill/>
                </a:ln>
                <a:solidFill>
                  <a:srgbClr val="0A2F24"/>
                </a:solidFill>
                <a:effectLst/>
                <a:uLnTx/>
                <a:uFillTx/>
                <a:latin typeface="Poppins"/>
                <a:ea typeface="+mn-ea"/>
                <a:cs typeface="+mn-cs"/>
              </a:rPr>
              <a:t>e.g. </a:t>
            </a:r>
            <a:r>
              <a:rPr kumimoji="0" lang="en-US" sz="1050" i="0" u="none" strike="noStrike" kern="1200" cap="none" spc="0" normalizeH="0" baseline="0" noProof="0" err="1">
                <a:ln>
                  <a:noFill/>
                </a:ln>
                <a:solidFill>
                  <a:srgbClr val="0A2F24"/>
                </a:solidFill>
                <a:effectLst/>
                <a:uLnTx/>
                <a:uFillTx/>
                <a:latin typeface="Poppins"/>
                <a:ea typeface="+mn-ea"/>
                <a:cs typeface="+mn-cs"/>
              </a:rPr>
              <a:t>EcoStruxure</a:t>
            </a:r>
            <a:r>
              <a:rPr kumimoji="0" lang="en-US" sz="1050" i="0" u="none" strike="noStrike" kern="1200" cap="none" spc="0" normalizeH="0" baseline="0" noProof="0">
                <a:ln>
                  <a:noFill/>
                </a:ln>
                <a:solidFill>
                  <a:srgbClr val="0A2F24"/>
                </a:solidFill>
                <a:effectLst/>
                <a:uLnTx/>
                <a:uFillTx/>
                <a:latin typeface="Poppins"/>
                <a:ea typeface="+mn-ea"/>
                <a:cs typeface="+mn-cs"/>
              </a:rPr>
              <a:t>, Galaxy, Micro Data Center) and technical terms.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Add </a:t>
            </a:r>
            <a:r>
              <a:rPr kumimoji="0" lang="en-US" sz="1050" b="1" i="0" u="none" strike="noStrike" kern="1200" cap="none" spc="0" normalizeH="0" baseline="0" noProof="0">
                <a:ln>
                  <a:noFill/>
                </a:ln>
                <a:solidFill>
                  <a:srgbClr val="0A2F24"/>
                </a:solidFill>
                <a:effectLst/>
                <a:uLnTx/>
                <a:uFillTx/>
                <a:latin typeface="Poppins"/>
                <a:ea typeface="+mn-ea"/>
                <a:cs typeface="+mn-cs"/>
              </a:rPr>
              <a:t>timestamped chapters phrased as questions</a:t>
            </a:r>
            <a:r>
              <a:rPr kumimoji="0" lang="en-US" sz="1050" i="0" u="none" strike="noStrike" kern="1200" cap="none" spc="0" normalizeH="0" baseline="0" noProof="0">
                <a:ln>
                  <a:noFill/>
                </a:ln>
                <a:solidFill>
                  <a:srgbClr val="0A2F24"/>
                </a:solidFill>
                <a:effectLst/>
                <a:uLnTx/>
                <a:uFillTx/>
                <a:latin typeface="Poppins"/>
                <a:ea typeface="+mn-ea"/>
                <a:cs typeface="+mn-cs"/>
              </a:rPr>
              <a:t>; a single chaptered video can earn multiple separate citations.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Write 300+ word descriptions as </a:t>
            </a:r>
            <a:r>
              <a:rPr kumimoji="0" lang="en-US" sz="1050" b="1" i="0" u="none" strike="noStrike" kern="1200" cap="none" spc="0" normalizeH="0" baseline="0" noProof="0">
                <a:ln>
                  <a:noFill/>
                </a:ln>
                <a:solidFill>
                  <a:srgbClr val="0A2F24"/>
                </a:solidFill>
                <a:effectLst/>
                <a:uLnTx/>
                <a:uFillTx/>
                <a:latin typeface="Poppins"/>
                <a:ea typeface="+mn-ea"/>
                <a:cs typeface="+mn-cs"/>
              </a:rPr>
              <a:t>structured summaries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description length has a measurable positive correlation with citation frequency.</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A2F24"/>
                </a:solidFill>
                <a:effectLst/>
                <a:uLnTx/>
                <a:uFillTx/>
                <a:latin typeface="Poppins"/>
                <a:ea typeface="+mn-ea"/>
                <a:cs typeface="+mn-cs"/>
              </a:rPr>
              <a:t>Embed on-site with a full transcript and </a:t>
            </a:r>
            <a:r>
              <a:rPr kumimoji="0" lang="en-US" sz="1050" i="0" u="none" strike="noStrike" kern="1200" cap="none" spc="0" normalizeH="0" baseline="0" noProof="0" err="1">
                <a:ln>
                  <a:noFill/>
                </a:ln>
                <a:solidFill>
                  <a:srgbClr val="0A2F24"/>
                </a:solidFill>
                <a:effectLst/>
                <a:uLnTx/>
                <a:uFillTx/>
                <a:latin typeface="Poppins"/>
                <a:ea typeface="+mn-ea"/>
                <a:cs typeface="+mn-cs"/>
              </a:rPr>
              <a:t>VideoObject</a:t>
            </a:r>
            <a:r>
              <a:rPr kumimoji="0" lang="en-US" sz="1050" i="0" u="none" strike="noStrike" kern="1200" cap="none" spc="0" normalizeH="0" baseline="0" noProof="0">
                <a:ln>
                  <a:noFill/>
                </a:ln>
                <a:solidFill>
                  <a:srgbClr val="0A2F24"/>
                </a:solidFill>
                <a:effectLst/>
                <a:uLnTx/>
                <a:uFillTx/>
                <a:latin typeface="Poppins"/>
                <a:ea typeface="+mn-ea"/>
                <a:cs typeface="+mn-cs"/>
              </a:rPr>
              <a:t> schema</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most engines cannot 'watch' a video, only read the text around it.</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50" b="1" i="0" u="none" strike="noStrike" kern="1200" cap="none" spc="0" normalizeH="0" baseline="0" noProof="0">
              <a:ln>
                <a:noFill/>
              </a:ln>
              <a:solidFill>
                <a:srgbClr val="0A2F24"/>
              </a:solidFill>
              <a:effectLst/>
              <a:uLnTx/>
              <a:uFillTx/>
              <a:latin typeface="Poppins"/>
              <a:ea typeface="+mn-ea"/>
              <a:cs typeface="+mn-cs"/>
            </a:endParaRPr>
          </a:p>
        </p:txBody>
      </p:sp>
      <p:sp>
        <p:nvSpPr>
          <p:cNvPr id="8" name="Shape 0">
            <a:extLst>
              <a:ext uri="{FF2B5EF4-FFF2-40B4-BE49-F238E27FC236}">
                <a16:creationId xmlns:a16="http://schemas.microsoft.com/office/drawing/2014/main" id="{968726C9-8DFD-F10E-B2BC-46671C9B7A16}"/>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E01A6B4C-C447-A66E-BE9E-1C81B28ACCBD}"/>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YouTube</a:t>
            </a:r>
          </a:p>
        </p:txBody>
      </p:sp>
      <p:sp>
        <p:nvSpPr>
          <p:cNvPr id="12" name="Text 2">
            <a:extLst>
              <a:ext uri="{FF2B5EF4-FFF2-40B4-BE49-F238E27FC236}">
                <a16:creationId xmlns:a16="http://schemas.microsoft.com/office/drawing/2014/main" id="{F6FB4559-4CAE-DDBD-3C8C-F593E4DAA8DD}"/>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T</a:t>
            </a:r>
            <a:r>
              <a:rPr kumimoji="0" lang="en-US" sz="1100" b="0" i="0" u="none" strike="noStrike" kern="1200" cap="none" spc="0" normalizeH="0" baseline="0" noProof="0">
                <a:ln>
                  <a:noFill/>
                </a:ln>
                <a:solidFill>
                  <a:srgbClr val="E7FFD9"/>
                </a:solidFill>
                <a:effectLst/>
                <a:uLnTx/>
                <a:uFillTx/>
                <a:latin typeface="Poppins"/>
                <a:ea typeface="+mn-ea"/>
                <a:cs typeface="Arial"/>
              </a:rPr>
              <a:t>he fastest-growing lever</a:t>
            </a:r>
            <a:r>
              <a:rPr kumimoji="0" lang="pl-PL" sz="1100" b="0" i="0" u="none" strike="noStrike" kern="1200" cap="none" spc="0" normalizeH="0" baseline="0" noProof="0">
                <a:ln>
                  <a:noFill/>
                </a:ln>
                <a:solidFill>
                  <a:srgbClr val="E7FFD9"/>
                </a:solidFill>
                <a:effectLst/>
                <a:uLnTx/>
                <a:uFillTx/>
                <a:latin typeface="Poppins"/>
                <a:ea typeface="+mn-ea"/>
                <a:cs typeface="Arial"/>
              </a:rPr>
              <a: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657D21B7-BF4C-EBD4-FA19-FF16E26A1C8C}"/>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0DF76410-E0F6-D24A-1EB8-73CAE2D42A0A}"/>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107</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14" name="Rectangle 13">
            <a:extLst>
              <a:ext uri="{FF2B5EF4-FFF2-40B4-BE49-F238E27FC236}">
                <a16:creationId xmlns:a16="http://schemas.microsoft.com/office/drawing/2014/main" id="{93F55E62-76B8-F2BA-0EE8-37878F85BD2F}"/>
              </a:ext>
            </a:extLst>
          </p:cNvPr>
          <p:cNvSpPr/>
          <p:nvPr/>
        </p:nvSpPr>
        <p:spPr>
          <a:xfrm>
            <a:off x="5962206" y="1215088"/>
            <a:ext cx="2664342" cy="3338623"/>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600" b="1" i="1" u="none" strike="noStrike" kern="1200" cap="none" spc="0" normalizeH="0" baseline="0" noProof="0">
                <a:ln>
                  <a:noFill/>
                </a:ln>
                <a:solidFill>
                  <a:srgbClr val="E7FFD9"/>
                </a:solidFill>
                <a:effectLst/>
                <a:uLnTx/>
                <a:uFillTx/>
                <a:latin typeface="Poppins"/>
                <a:ea typeface="+mn-ea"/>
                <a:cs typeface="+mn-cs"/>
              </a:rPr>
              <a:t>Structure beats</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600" b="1" i="1" u="none" strike="noStrike" kern="1200" cap="none" spc="0" normalizeH="0" baseline="0" noProof="0">
                <a:ln>
                  <a:noFill/>
                </a:ln>
                <a:solidFill>
                  <a:srgbClr val="E7FFD9"/>
                </a:solidFill>
                <a:effectLst/>
                <a:uLnTx/>
                <a:uFillTx/>
                <a:latin typeface="Poppins"/>
                <a:ea typeface="+mn-ea"/>
                <a:cs typeface="+mn-cs"/>
              </a:rPr>
              <a:t>view count</a:t>
            </a:r>
            <a:r>
              <a:rPr kumimoji="0" lang="pl-PL" sz="1600" b="1" i="1" u="none" strike="noStrike" kern="1200" cap="none" spc="0" normalizeH="0" baseline="0" noProof="0">
                <a:ln>
                  <a:noFill/>
                </a:ln>
                <a:solidFill>
                  <a:srgbClr val="E7FFD9"/>
                </a:solidFill>
                <a:effectLst/>
                <a:uLnTx/>
                <a:uFillTx/>
                <a:latin typeface="Poppins"/>
                <a:ea typeface="+mn-ea"/>
                <a:cs typeface="+mn-cs"/>
              </a:rPr>
              <a:t>.</a:t>
            </a:r>
          </a:p>
          <a:p>
            <a:pPr marL="0" marR="0" lvl="0" indent="0" algn="l" defTabSz="457184" rtl="0" eaLnBrk="1" fontAlgn="auto" latinLnBrk="0" hangingPunct="1">
              <a:lnSpc>
                <a:spcPct val="100000"/>
              </a:lnSpc>
              <a:spcBef>
                <a:spcPts val="0"/>
              </a:spcBef>
              <a:spcAft>
                <a:spcPts val="300"/>
              </a:spcAft>
              <a:buClrTx/>
              <a:buSzTx/>
              <a:buFontTx/>
              <a:buNone/>
              <a:tabLst/>
              <a:defRPr/>
            </a:pPr>
            <a:endParaRPr lang="pl-PL" sz="1000" b="1">
              <a:solidFill>
                <a:srgbClr val="E7FFD9"/>
              </a:solidFill>
              <a:latin typeface="Poppin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b="1" i="0" u="none" strike="noStrike" kern="1200" cap="none" spc="0" normalizeH="0" baseline="0" noProof="0">
              <a:ln>
                <a:noFill/>
              </a:ln>
              <a:solidFill>
                <a:srgbClr val="E7FFD9"/>
              </a:solidFill>
              <a:effectLst/>
              <a:uLnTx/>
              <a:uFillTx/>
              <a:latin typeface="Poppins"/>
              <a:ea typeface="+mn-ea"/>
              <a:cs typeface="+mn-cs"/>
            </a:endParaRPr>
          </a:p>
          <a:p>
            <a:pPr>
              <a:spcAft>
                <a:spcPts val="300"/>
              </a:spcAft>
              <a:defRPr/>
            </a:pPr>
            <a:r>
              <a:rPr lang="en-US" sz="1000">
                <a:solidFill>
                  <a:srgbClr val="E7FFD9"/>
                </a:solidFill>
                <a:latin typeface="Poppins"/>
              </a:rPr>
              <a:t>YouTube's view</a:t>
            </a:r>
            <a:r>
              <a:rPr kumimoji="0" lang="en-US" sz="1000" i="0" u="none" strike="noStrike" kern="1200" cap="none" spc="0" normalizeH="0" baseline="0" noProof="0">
                <a:ln>
                  <a:noFill/>
                </a:ln>
                <a:solidFill>
                  <a:srgbClr val="E7FFD9"/>
                </a:solidFill>
                <a:effectLst/>
                <a:uLnTx/>
                <a:uFillTx/>
                <a:latin typeface="Poppins"/>
                <a:ea typeface="+mn-ea"/>
                <a:cs typeface="+mn-cs"/>
              </a:rPr>
              <a:t> count has </a:t>
            </a:r>
            <a:r>
              <a:rPr lang="en-US" sz="1000">
                <a:solidFill>
                  <a:srgbClr val="E7FFD9"/>
                </a:solidFill>
                <a:latin typeface="Poppins"/>
              </a:rPr>
              <a:t>"</a:t>
            </a:r>
            <a:r>
              <a:rPr kumimoji="0" lang="en-US" sz="1000" i="0" u="none" strike="noStrike" kern="1200" cap="none" spc="0" normalizeH="0" baseline="0" noProof="0">
                <a:ln>
                  <a:noFill/>
                </a:ln>
                <a:solidFill>
                  <a:srgbClr val="E7FFD9"/>
                </a:solidFill>
                <a:effectLst/>
                <a:uLnTx/>
                <a:uFillTx/>
                <a:latin typeface="Poppins"/>
                <a:ea typeface="+mn-ea"/>
                <a:cs typeface="+mn-cs"/>
              </a:rPr>
              <a:t>close to zero</a:t>
            </a:r>
            <a:r>
              <a:rPr lang="en-US" sz="1000">
                <a:solidFill>
                  <a:srgbClr val="E7FFD9"/>
                </a:solidFill>
                <a:latin typeface="Poppins"/>
              </a:rPr>
              <a:t>"</a:t>
            </a:r>
            <a:r>
              <a:rPr kumimoji="0" lang="en-US" sz="1000" i="0" u="none" strike="noStrike" kern="1200" cap="none" spc="0" normalizeH="0" baseline="0" noProof="0">
                <a:ln>
                  <a:noFill/>
                </a:ln>
                <a:solidFill>
                  <a:srgbClr val="E7FFD9"/>
                </a:solidFill>
                <a:effectLst/>
                <a:uLnTx/>
                <a:uFillTx/>
                <a:latin typeface="Poppins"/>
                <a:ea typeface="+mn-ea"/>
                <a:cs typeface="+mn-cs"/>
              </a:rPr>
              <a:t> correlation with AI citation. Long-form, well-transcribed, chaptered video is what gets cited </a:t>
            </a:r>
            <a:r>
              <a:rPr kumimoji="0" lang="pl-PL" sz="1000" i="0" u="none" strike="noStrike" kern="1200" cap="none" spc="0" normalizeH="0" baseline="0" noProof="0">
                <a:ln>
                  <a:noFill/>
                </a:ln>
                <a:solidFill>
                  <a:srgbClr val="E7FFD9"/>
                </a:solidFill>
                <a:effectLst/>
                <a:uLnTx/>
                <a:uFillTx/>
                <a:latin typeface="Poppins"/>
                <a:ea typeface="+mn-ea"/>
                <a:cs typeface="+mn-cs"/>
              </a:rPr>
              <a:t>-</a:t>
            </a:r>
            <a:r>
              <a:rPr kumimoji="0" lang="en-US" sz="1000" i="0" u="none" strike="noStrike" kern="1200" cap="none" spc="0" normalizeH="0" baseline="0" noProof="0">
                <a:ln>
                  <a:noFill/>
                </a:ln>
                <a:solidFill>
                  <a:srgbClr val="E7FFD9"/>
                </a:solidFill>
                <a:effectLst/>
                <a:uLnTx/>
                <a:uFillTx/>
                <a:latin typeface="Poppins"/>
                <a:ea typeface="+mn-ea"/>
                <a:cs typeface="+mn-cs"/>
              </a:rPr>
              <a:t> a natural fit for SE's technical depth.</a:t>
            </a:r>
            <a:endParaRPr lang="en-US" sz="1000" i="0" u="none" strike="noStrike" kern="1200" cap="none" spc="0" normalizeH="0" baseline="0" noProof="0">
              <a:ln>
                <a:noFill/>
              </a:ln>
              <a:solidFill>
                <a:srgbClr val="E7FFD9"/>
              </a:solidFill>
              <a:effectLst/>
              <a:uLnTx/>
              <a:uFillTx/>
              <a:latin typeface="Poppins"/>
              <a:cs typeface="Poppins"/>
            </a:endParaRPr>
          </a:p>
        </p:txBody>
      </p:sp>
      <p:sp>
        <p:nvSpPr>
          <p:cNvPr id="15" name="TextBox 14">
            <a:extLst>
              <a:ext uri="{FF2B5EF4-FFF2-40B4-BE49-F238E27FC236}">
                <a16:creationId xmlns:a16="http://schemas.microsoft.com/office/drawing/2014/main" id="{289CA160-5108-9CD1-75B9-CA5C2AB84262}"/>
              </a:ext>
            </a:extLst>
          </p:cNvPr>
          <p:cNvSpPr txBox="1"/>
          <p:nvPr/>
        </p:nvSpPr>
        <p:spPr>
          <a:xfrm>
            <a:off x="398462" y="4599466"/>
            <a:ext cx="3478877" cy="107722"/>
          </a:xfrm>
          <a:prstGeom prst="rect">
            <a:avLst/>
          </a:prstGeom>
        </p:spPr>
        <p:txBody>
          <a:bodyPr vert="horz" wrap="square" lIns="0" tIns="0" rIns="0" bIns="0" rtlCol="0">
            <a:spAutoFit/>
          </a:bodyPr>
          <a:lstStyle/>
          <a:p>
            <a:pPr algn="l"/>
            <a:r>
              <a:rPr lang="pl-PL" sz="700"/>
              <a:t>*For detail video creation strategy please visit </a:t>
            </a:r>
            <a:r>
              <a:rPr lang="pl-PL" sz="700">
                <a:hlinkClick r:id="rId2"/>
              </a:rPr>
              <a:t>Chapter 5 </a:t>
            </a:r>
            <a:r>
              <a:rPr lang="pl-PL" sz="700"/>
              <a:t>of this Toolkit.</a:t>
            </a:r>
          </a:p>
        </p:txBody>
      </p:sp>
      <p:sp>
        <p:nvSpPr>
          <p:cNvPr id="16" name="TextBox 15">
            <a:extLst>
              <a:ext uri="{FF2B5EF4-FFF2-40B4-BE49-F238E27FC236}">
                <a16:creationId xmlns:a16="http://schemas.microsoft.com/office/drawing/2014/main" id="{2D90F4F6-D700-253D-CEDA-F561D7169DA6}"/>
              </a:ext>
            </a:extLst>
          </p:cNvPr>
          <p:cNvSpPr txBox="1"/>
          <p:nvPr/>
        </p:nvSpPr>
        <p:spPr>
          <a:xfrm>
            <a:off x="398461" y="4736032"/>
            <a:ext cx="3393817" cy="107722"/>
          </a:xfrm>
          <a:prstGeom prst="rect">
            <a:avLst/>
          </a:prstGeom>
        </p:spPr>
        <p:txBody>
          <a:bodyPr vert="horz" wrap="square" lIns="0" tIns="0" rIns="0" bIns="0" rtlCol="0" anchor="t">
            <a:spAutoFit/>
          </a:bodyPr>
          <a:lstStyle/>
          <a:p>
            <a:pPr algn="l"/>
            <a:r>
              <a:rPr lang="pl-PL" sz="700"/>
              <a:t>**For schema markup explanation please visit </a:t>
            </a:r>
            <a:r>
              <a:rPr lang="pl-PL" sz="700">
                <a:hlinkClick r:id="rId3"/>
              </a:rPr>
              <a:t>Chapter 14 </a:t>
            </a:r>
            <a:r>
              <a:rPr lang="pl-PL" sz="700"/>
              <a:t>of this Toolkit.</a:t>
            </a:r>
          </a:p>
        </p:txBody>
      </p:sp>
    </p:spTree>
    <p:extLst>
      <p:ext uri="{BB962C8B-B14F-4D97-AF65-F5344CB8AC3E}">
        <p14:creationId xmlns:p14="http://schemas.microsoft.com/office/powerpoint/2010/main" val="26323110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794AE-6DB1-EBBA-F636-38601445D3A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751414-E238-5606-473C-74D97699D9BC}"/>
              </a:ext>
            </a:extLst>
          </p:cNvPr>
          <p:cNvSpPr/>
          <p:nvPr/>
        </p:nvSpPr>
        <p:spPr>
          <a:xfrm>
            <a:off x="3501655" y="1215089"/>
            <a:ext cx="5124893" cy="333862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50" b="1" i="0" u="none" strike="noStrike" kern="1200" cap="none" spc="0" normalizeH="0" baseline="0" noProof="0">
                <a:ln>
                  <a:noFill/>
                </a:ln>
                <a:solidFill>
                  <a:srgbClr val="0A2F24"/>
                </a:solidFill>
                <a:effectLst/>
                <a:uLnTx/>
                <a:uFillTx/>
                <a:latin typeface="Poppins"/>
                <a:ea typeface="+mn-ea"/>
                <a:cs typeface="+mn-cs"/>
              </a:rPr>
              <a:t>Actions: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pl-PL" sz="1050" b="1" i="0" u="none" strike="noStrike" kern="1200" cap="none" spc="0" normalizeH="0" baseline="0" noProof="0">
              <a:ln>
                <a:noFill/>
              </a:ln>
              <a:solidFill>
                <a:srgbClr val="0A2F24"/>
              </a:solidFill>
              <a:effectLst/>
              <a:uLnTx/>
              <a:uFillTx/>
              <a:latin typeface="Poppins"/>
              <a:ea typeface="+mn-ea"/>
              <a:cs typeface="+mn-cs"/>
            </a:endParaRP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Never post as an anonymous brand</a:t>
            </a:r>
            <a:r>
              <a:rPr kumimoji="0" lang="en-US" sz="1050" i="0" u="none" strike="noStrike" kern="1200" cap="none" spc="0" normalizeH="0" baseline="0" noProof="0">
                <a:ln>
                  <a:noFill/>
                </a:ln>
                <a:solidFill>
                  <a:srgbClr val="0A2F24"/>
                </a:solidFill>
                <a:effectLst/>
                <a:uLnTx/>
                <a:uFillTx/>
                <a:latin typeface="Poppins"/>
                <a:ea typeface="+mn-ea"/>
                <a:cs typeface="+mn-cs"/>
              </a:rPr>
              <a:t> account link-dropping to se.com </a:t>
            </a:r>
            <a:r>
              <a:rPr kumimoji="0" lang="pl-PL" sz="1050" i="0" u="none" strike="noStrike" kern="1200" cap="none" spc="0" normalizeH="0" baseline="0" noProof="0">
                <a:ln>
                  <a:noFill/>
                </a:ln>
                <a:solidFill>
                  <a:srgbClr val="0A2F24"/>
                </a:solidFill>
                <a:effectLst/>
                <a:uLnTx/>
                <a:uFillTx/>
                <a:latin typeface="Poppins"/>
                <a:ea typeface="+mn-ea"/>
                <a:cs typeface="+mn-cs"/>
              </a:rPr>
              <a:t>-</a:t>
            </a:r>
            <a:r>
              <a:rPr kumimoji="0" lang="en-US" sz="1050" i="0" u="none" strike="noStrike" kern="1200" cap="none" spc="0" normalizeH="0" baseline="0" noProof="0">
                <a:ln>
                  <a:noFill/>
                </a:ln>
                <a:solidFill>
                  <a:srgbClr val="0A2F24"/>
                </a:solidFill>
                <a:effectLst/>
                <a:uLnTx/>
                <a:uFillTx/>
                <a:latin typeface="Poppins"/>
                <a:ea typeface="+mn-ea"/>
                <a:cs typeface="+mn-cs"/>
              </a:rPr>
              <a:t> this is the fastest way to lose all credibility and does not get cited.</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A2F24"/>
                </a:solidFill>
                <a:effectLst/>
                <a:uLnTx/>
                <a:uFillTx/>
                <a:latin typeface="Poppins"/>
                <a:ea typeface="+mn-ea"/>
                <a:cs typeface="+mn-cs"/>
              </a:rPr>
              <a:t>Use real, </a:t>
            </a:r>
            <a:r>
              <a:rPr kumimoji="0" lang="en-US" sz="1050" b="1" i="0" u="none" strike="noStrike" kern="1200" cap="none" spc="0" normalizeH="0" baseline="0" noProof="0">
                <a:ln>
                  <a:noFill/>
                </a:ln>
                <a:solidFill>
                  <a:srgbClr val="0A2F24"/>
                </a:solidFill>
                <a:effectLst/>
                <a:uLnTx/>
                <a:uFillTx/>
                <a:latin typeface="Poppins"/>
                <a:ea typeface="+mn-ea"/>
                <a:cs typeface="+mn-cs"/>
              </a:rPr>
              <a:t>named participation</a:t>
            </a:r>
            <a:r>
              <a:rPr kumimoji="0" lang="en-US" sz="1050" b="0" i="0" u="none" strike="noStrike" kern="1200" cap="none" spc="0" normalizeH="0" baseline="0" noProof="0">
                <a:ln>
                  <a:noFill/>
                </a:ln>
                <a:solidFill>
                  <a:srgbClr val="0A2F24"/>
                </a:solidFill>
                <a:effectLst/>
                <a:uLnTx/>
                <a:uFillTx/>
                <a:latin typeface="Poppins"/>
                <a:ea typeface="+mn-ea"/>
                <a:cs typeface="+mn-cs"/>
              </a:rPr>
              <a:t>: a transparent brand-linked account signed by an employee, or genuine participation disclosing affiliation.</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Answer questions, don't advertise </a:t>
            </a:r>
            <a:r>
              <a:rPr kumimoji="0" lang="pl-PL" sz="1050" b="0" i="0" u="none" strike="noStrike" kern="1200" cap="none" spc="0" normalizeH="0" baseline="0" noProof="0">
                <a:ln>
                  <a:noFill/>
                </a:ln>
                <a:solidFill>
                  <a:srgbClr val="0A2F24"/>
                </a:solidFill>
                <a:effectLst/>
                <a:uLnTx/>
                <a:uFillTx/>
                <a:latin typeface="Poppins"/>
                <a:ea typeface="+mn-ea"/>
                <a:cs typeface="+mn-cs"/>
              </a:rPr>
              <a:t>-</a:t>
            </a:r>
            <a:r>
              <a:rPr kumimoji="0" lang="en-US" sz="1050" b="0" i="0" u="none" strike="noStrike" kern="1200" cap="none" spc="0" normalizeH="0" baseline="0" noProof="0">
                <a:ln>
                  <a:noFill/>
                </a:ln>
                <a:solidFill>
                  <a:srgbClr val="0A2F24"/>
                </a:solidFill>
                <a:effectLst/>
                <a:uLnTx/>
                <a:uFillTx/>
                <a:latin typeface="Poppins"/>
                <a:ea typeface="+mn-ea"/>
                <a:cs typeface="+mn-cs"/>
              </a:rPr>
              <a:t> panel sizing, PLC troubleshooting, EV charging, sustainability reporting, data center cooling.</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A2F24"/>
                </a:solidFill>
                <a:effectLst/>
                <a:uLnTx/>
                <a:uFillTx/>
                <a:latin typeface="Poppins"/>
                <a:ea typeface="+mn-ea"/>
                <a:cs typeface="+mn-cs"/>
              </a:rPr>
              <a:t>Seed original research </a:t>
            </a:r>
            <a:r>
              <a:rPr kumimoji="0" lang="en-US" sz="1050" i="0" u="none" strike="noStrike" kern="1200" cap="none" spc="0" normalizeH="0" baseline="0" noProof="0">
                <a:ln>
                  <a:noFill/>
                </a:ln>
                <a:solidFill>
                  <a:srgbClr val="0A2F24"/>
                </a:solidFill>
                <a:effectLst/>
                <a:uLnTx/>
                <a:uFillTx/>
                <a:latin typeface="Poppins"/>
                <a:ea typeface="+mn-ea"/>
                <a:cs typeface="+mn-cs"/>
              </a:rPr>
              <a:t>valuable</a:t>
            </a:r>
            <a:r>
              <a:rPr kumimoji="0" lang="en-US" sz="1050" b="1" i="0" u="none" strike="noStrike" kern="1200" cap="none" spc="0" normalizeH="0" baseline="0" noProof="0">
                <a:ln>
                  <a:noFill/>
                </a:ln>
                <a:solidFill>
                  <a:srgbClr val="0A2F24"/>
                </a:solidFill>
                <a:effectLst/>
                <a:uLnTx/>
                <a:uFillTx/>
                <a:latin typeface="Poppins"/>
                <a:ea typeface="+mn-ea"/>
                <a:cs typeface="+mn-cs"/>
              </a:rPr>
              <a:t> </a:t>
            </a:r>
            <a:r>
              <a:rPr kumimoji="0" lang="en-US" sz="1050" b="0" i="0" u="none" strike="noStrike" kern="1200" cap="none" spc="0" normalizeH="0" baseline="0" noProof="0">
                <a:ln>
                  <a:noFill/>
                </a:ln>
                <a:solidFill>
                  <a:srgbClr val="0A2F24"/>
                </a:solidFill>
                <a:effectLst/>
                <a:uLnTx/>
                <a:uFillTx/>
                <a:latin typeface="Poppins"/>
                <a:ea typeface="+mn-ea"/>
                <a:cs typeface="+mn-cs"/>
              </a:rPr>
              <a:t>enough that a community member reshares it unprompted </a:t>
            </a:r>
            <a:r>
              <a:rPr kumimoji="0" lang="pl-PL" sz="1050" b="0" i="0" u="none" strike="noStrike" kern="1200" cap="none" spc="0" normalizeH="0" baseline="0" noProof="0">
                <a:ln>
                  <a:noFill/>
                </a:ln>
                <a:solidFill>
                  <a:srgbClr val="0A2F24"/>
                </a:solidFill>
                <a:effectLst/>
                <a:uLnTx/>
                <a:uFillTx/>
                <a:latin typeface="Poppins"/>
                <a:ea typeface="+mn-ea"/>
                <a:cs typeface="+mn-cs"/>
              </a:rPr>
              <a:t>-</a:t>
            </a:r>
            <a:r>
              <a:rPr kumimoji="0" lang="en-US" sz="1050" b="0" i="0" u="none" strike="noStrike" kern="1200" cap="none" spc="0" normalizeH="0" baseline="0" noProof="0">
                <a:ln>
                  <a:noFill/>
                </a:ln>
                <a:solidFill>
                  <a:srgbClr val="0A2F24"/>
                </a:solidFill>
                <a:effectLst/>
                <a:uLnTx/>
                <a:uFillTx/>
                <a:latin typeface="Poppins"/>
                <a:ea typeface="+mn-ea"/>
                <a:cs typeface="+mn-cs"/>
              </a:rPr>
              <a:t> the legitimate path to citation-worthy presence.</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A2F24"/>
                </a:solidFill>
                <a:effectLst/>
                <a:uLnTx/>
                <a:uFillTx/>
                <a:latin typeface="Poppins"/>
                <a:ea typeface="+mn-ea"/>
                <a:cs typeface="+mn-cs"/>
              </a:rPr>
              <a:t>Assign a small, senior, technically credible team </a:t>
            </a:r>
            <a:r>
              <a:rPr kumimoji="0" lang="pl-PL" sz="1050" b="0" i="0" u="none" strike="noStrike" kern="1200" cap="none" spc="0" normalizeH="0" baseline="0" noProof="0">
                <a:ln>
                  <a:noFill/>
                </a:ln>
                <a:solidFill>
                  <a:srgbClr val="0A2F24"/>
                </a:solidFill>
                <a:effectLst/>
                <a:uLnTx/>
                <a:uFillTx/>
                <a:latin typeface="Poppins"/>
                <a:ea typeface="+mn-ea"/>
                <a:cs typeface="+mn-cs"/>
              </a:rPr>
              <a:t>-</a:t>
            </a:r>
            <a:r>
              <a:rPr kumimoji="0" lang="en-US" sz="1050" b="0" i="0" u="none" strike="noStrike" kern="1200" cap="none" spc="0" normalizeH="0" baseline="0" noProof="0">
                <a:ln>
                  <a:noFill/>
                </a:ln>
                <a:solidFill>
                  <a:srgbClr val="0A2F24"/>
                </a:solidFill>
                <a:effectLst/>
                <a:uLnTx/>
                <a:uFillTx/>
                <a:latin typeface="Poppins"/>
                <a:ea typeface="+mn-ea"/>
                <a:cs typeface="+mn-cs"/>
              </a:rPr>
              <a:t> never an intern or a bot.</a:t>
            </a:r>
            <a:endParaRPr kumimoji="0" lang="pl-PL" sz="1050" b="0" i="0" u="none" strike="noStrike" kern="1200" cap="none" spc="0" normalizeH="0" baseline="0" noProof="0">
              <a:ln>
                <a:noFill/>
              </a:ln>
              <a:solidFill>
                <a:srgbClr val="0A2F24"/>
              </a:solidFill>
              <a:effectLst/>
              <a:uLnTx/>
              <a:uFillTx/>
              <a:latin typeface="Poppins"/>
              <a:ea typeface="+mn-ea"/>
              <a:cs typeface="+mn-cs"/>
            </a:endParaRP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A2F24"/>
                </a:solidFill>
                <a:effectLst/>
                <a:uLnTx/>
                <a:uFillTx/>
                <a:latin typeface="Poppins"/>
                <a:ea typeface="+mn-ea"/>
                <a:cs typeface="+mn-cs"/>
              </a:rPr>
              <a:t>Expect </a:t>
            </a:r>
            <a:r>
              <a:rPr kumimoji="0" lang="en-US" sz="1050" b="1" i="0" u="none" strike="noStrike" kern="1200" cap="none" spc="0" normalizeH="0" baseline="0" noProof="0">
                <a:ln>
                  <a:noFill/>
                </a:ln>
                <a:solidFill>
                  <a:srgbClr val="0A2F24"/>
                </a:solidFill>
                <a:effectLst/>
                <a:uLnTx/>
                <a:uFillTx/>
                <a:latin typeface="Poppins"/>
                <a:ea typeface="+mn-ea"/>
                <a:cs typeface="+mn-cs"/>
              </a:rPr>
              <a:t>6+ months to build durable authority</a:t>
            </a:r>
            <a:r>
              <a:rPr kumimoji="0" lang="pl-PL" sz="1050" b="0" i="0" u="none" strike="noStrike" kern="1200" cap="none" spc="0" normalizeH="0" baseline="0" noProof="0">
                <a:ln>
                  <a:noFill/>
                </a:ln>
                <a:solidFill>
                  <a:srgbClr val="0A2F24"/>
                </a:solidFill>
                <a:effectLst/>
                <a:uLnTx/>
                <a:uFillTx/>
                <a:latin typeface="Poppins"/>
                <a:ea typeface="+mn-ea"/>
                <a:cs typeface="+mn-cs"/>
              </a:rPr>
              <a:t>; </a:t>
            </a:r>
            <a:r>
              <a:rPr kumimoji="0" lang="en-US" sz="1050" b="0" i="0" u="none" strike="noStrike" kern="1200" cap="none" spc="0" normalizeH="0" baseline="0" noProof="0">
                <a:ln>
                  <a:noFill/>
                </a:ln>
                <a:solidFill>
                  <a:srgbClr val="0A2F24"/>
                </a:solidFill>
                <a:effectLst/>
                <a:uLnTx/>
                <a:uFillTx/>
                <a:latin typeface="Poppins"/>
                <a:ea typeface="+mn-ea"/>
                <a:cs typeface="+mn-cs"/>
              </a:rPr>
              <a:t>manufactured/</a:t>
            </a:r>
            <a:r>
              <a:rPr kumimoji="0" lang="pl-PL" sz="1050" b="0" i="0" u="none" strike="noStrike" kern="1200" cap="none" spc="0" normalizeH="0" baseline="0" noProof="0">
                <a:ln>
                  <a:noFill/>
                </a:ln>
                <a:solidFill>
                  <a:srgbClr val="0A2F24"/>
                </a:solidFill>
                <a:effectLst/>
                <a:uLnTx/>
                <a:uFillTx/>
                <a:latin typeface="Poppins"/>
                <a:ea typeface="+mn-ea"/>
                <a:cs typeface="+mn-cs"/>
              </a:rPr>
              <a:t> </a:t>
            </a:r>
            <a:r>
              <a:rPr kumimoji="0" lang="en-US" sz="1050" b="0" i="0" u="none" strike="noStrike" kern="1200" cap="none" spc="0" normalizeH="0" baseline="0" noProof="0">
                <a:ln>
                  <a:noFill/>
                </a:ln>
                <a:solidFill>
                  <a:srgbClr val="0A2F24"/>
                </a:solidFill>
                <a:effectLst/>
                <a:uLnTx/>
                <a:uFillTx/>
                <a:latin typeface="Poppins"/>
                <a:ea typeface="+mn-ea"/>
                <a:cs typeface="+mn-cs"/>
              </a:rPr>
              <a:t>coordinated posting is identified quickly and typically triggers backlash within weeks.</a:t>
            </a:r>
          </a:p>
        </p:txBody>
      </p:sp>
      <p:sp>
        <p:nvSpPr>
          <p:cNvPr id="8" name="Shape 0">
            <a:extLst>
              <a:ext uri="{FF2B5EF4-FFF2-40B4-BE49-F238E27FC236}">
                <a16:creationId xmlns:a16="http://schemas.microsoft.com/office/drawing/2014/main" id="{12C7839C-FF88-AB37-8F54-EDDC76A755CA}"/>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8891FDC7-6788-FD31-A240-4600B282BB7D}"/>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Reddit </a:t>
            </a:r>
            <a:r>
              <a:rPr kumimoji="0" lang="pl-PL" sz="2200" b="0" i="0" u="none" strike="noStrike" kern="1200" cap="none" spc="0" normalizeH="0" baseline="0" noProof="0">
                <a:ln>
                  <a:noFill/>
                </a:ln>
                <a:solidFill>
                  <a:srgbClr val="E7FFD9"/>
                </a:solidFill>
                <a:effectLst/>
                <a:uLnTx/>
                <a:uFillTx/>
                <a:latin typeface="Poppins"/>
                <a:ea typeface="+mn-ea"/>
                <a:cs typeface="Arial"/>
              </a:rPr>
              <a:t>and</a:t>
            </a:r>
            <a:r>
              <a:rPr kumimoji="0" lang="en-US" sz="2200" b="0" i="0" u="none" strike="noStrike" kern="1200" cap="none" spc="0" normalizeH="0" baseline="0" noProof="0">
                <a:ln>
                  <a:noFill/>
                </a:ln>
                <a:solidFill>
                  <a:srgbClr val="E7FFD9"/>
                </a:solidFill>
                <a:effectLst/>
                <a:uLnTx/>
                <a:uFillTx/>
                <a:latin typeface="Poppins"/>
                <a:ea typeface="+mn-ea"/>
                <a:cs typeface="Arial"/>
              </a:rPr>
              <a:t> </a:t>
            </a:r>
            <a:r>
              <a:rPr kumimoji="0" lang="pl-PL" sz="2200" b="0" i="0" u="none" strike="noStrike" kern="1200" cap="none" spc="0" normalizeH="0" baseline="0" noProof="0">
                <a:ln>
                  <a:noFill/>
                </a:ln>
                <a:solidFill>
                  <a:srgbClr val="E7FFD9"/>
                </a:solidFill>
                <a:effectLst/>
                <a:uLnTx/>
                <a:uFillTx/>
                <a:latin typeface="Poppins"/>
                <a:ea typeface="+mn-ea"/>
                <a:cs typeface="Arial"/>
              </a:rPr>
              <a:t>T</a:t>
            </a:r>
            <a:r>
              <a:rPr kumimoji="0" lang="en-US" sz="2200" b="0" i="0" u="none" strike="noStrike" kern="1200" cap="none" spc="0" normalizeH="0" baseline="0" noProof="0" err="1">
                <a:ln>
                  <a:noFill/>
                </a:ln>
                <a:solidFill>
                  <a:srgbClr val="E7FFD9"/>
                </a:solidFill>
                <a:effectLst/>
                <a:uLnTx/>
                <a:uFillTx/>
                <a:latin typeface="Poppins"/>
                <a:ea typeface="+mn-ea"/>
                <a:cs typeface="Arial"/>
              </a:rPr>
              <a:t>echnical</a:t>
            </a:r>
            <a:r>
              <a:rPr kumimoji="0" lang="en-US" sz="2200" b="0" i="0" u="none" strike="noStrike" kern="1200" cap="none" spc="0" normalizeH="0" baseline="0" noProof="0">
                <a:ln>
                  <a:noFill/>
                </a:ln>
                <a:solidFill>
                  <a:srgbClr val="E7FFD9"/>
                </a:solidFill>
                <a:effectLst/>
                <a:uLnTx/>
                <a:uFillTx/>
                <a:latin typeface="Poppins"/>
                <a:ea typeface="+mn-ea"/>
                <a:cs typeface="Arial"/>
              </a:rPr>
              <a:t> </a:t>
            </a:r>
            <a:r>
              <a:rPr kumimoji="0" lang="pl-PL" sz="2200" b="0" i="0" u="none" strike="noStrike" kern="1200" cap="none" spc="0" normalizeH="0" baseline="0" noProof="0">
                <a:ln>
                  <a:noFill/>
                </a:ln>
                <a:solidFill>
                  <a:srgbClr val="E7FFD9"/>
                </a:solidFill>
                <a:effectLst/>
                <a:uLnTx/>
                <a:uFillTx/>
                <a:latin typeface="Poppins"/>
                <a:ea typeface="+mn-ea"/>
                <a:cs typeface="Arial"/>
              </a:rPr>
              <a:t>F</a:t>
            </a:r>
            <a:r>
              <a:rPr kumimoji="0" lang="en-US" sz="2200" b="0" i="0" u="none" strike="noStrike" kern="1200" cap="none" spc="0" normalizeH="0" baseline="0" noProof="0" err="1">
                <a:ln>
                  <a:noFill/>
                </a:ln>
                <a:solidFill>
                  <a:srgbClr val="E7FFD9"/>
                </a:solidFill>
                <a:effectLst/>
                <a:uLnTx/>
                <a:uFillTx/>
                <a:latin typeface="Poppins"/>
                <a:ea typeface="+mn-ea"/>
                <a:cs typeface="Arial"/>
              </a:rPr>
              <a:t>orums</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4716E852-AB93-9CF0-F05F-A3BE4B14FDB9}"/>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The anchor channel.</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01AAEB1E-371A-1DFC-D077-82E2BDDA1B37}"/>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F44B97AE-8850-009C-3CBB-8B4EC27B1D8F}"/>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108</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9" name="Rectangle 8">
            <a:extLst>
              <a:ext uri="{FF2B5EF4-FFF2-40B4-BE49-F238E27FC236}">
                <a16:creationId xmlns:a16="http://schemas.microsoft.com/office/drawing/2014/main" id="{E47B0B12-BDB9-3737-4887-FDE33CB805F7}"/>
              </a:ext>
            </a:extLst>
          </p:cNvPr>
          <p:cNvSpPr/>
          <p:nvPr/>
        </p:nvSpPr>
        <p:spPr>
          <a:xfrm>
            <a:off x="553153" y="1215088"/>
            <a:ext cx="2664342" cy="3338623"/>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600" b="1" i="1" u="none" strike="noStrike" kern="1200" cap="none" spc="0" normalizeH="0" baseline="0" noProof="0">
                <a:ln>
                  <a:noFill/>
                </a:ln>
                <a:solidFill>
                  <a:srgbClr val="E7FFD9"/>
                </a:solidFill>
                <a:effectLst/>
                <a:uLnTx/>
                <a:uFillTx/>
                <a:latin typeface="Poppins"/>
                <a:ea typeface="+mn-ea"/>
                <a:cs typeface="+mn-cs"/>
              </a:rPr>
              <a:t>Authenticity</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600" b="1" i="1" u="none" strike="noStrike" kern="1200" cap="none" spc="0" normalizeH="0" baseline="0" noProof="0">
                <a:ln>
                  <a:noFill/>
                </a:ln>
                <a:solidFill>
                  <a:srgbClr val="E7FFD9"/>
                </a:solidFill>
                <a:effectLst/>
                <a:uLnTx/>
                <a:uFillTx/>
                <a:latin typeface="Poppins"/>
                <a:ea typeface="+mn-ea"/>
                <a:cs typeface="+mn-cs"/>
              </a:rPr>
              <a:t>is </a:t>
            </a:r>
            <a:r>
              <a:rPr kumimoji="0" lang="pl-PL" sz="1600" b="1" i="1" u="none" strike="noStrike" kern="1200" cap="none" spc="0" normalizeH="0" baseline="0" noProof="0">
                <a:ln>
                  <a:noFill/>
                </a:ln>
                <a:solidFill>
                  <a:srgbClr val="E7FFD9"/>
                </a:solidFill>
                <a:effectLst/>
                <a:uLnTx/>
                <a:uFillTx/>
                <a:latin typeface="Poppins"/>
                <a:ea typeface="+mn-ea"/>
                <a:cs typeface="+mn-cs"/>
              </a:rPr>
              <a:t>the key.</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b="1" i="0" u="none" strike="noStrike" kern="1200" cap="none" spc="0" normalizeH="0" baseline="0" noProof="0">
              <a:ln>
                <a:noFill/>
              </a:ln>
              <a:solidFill>
                <a:srgbClr val="E7FFD9"/>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b="1" i="0" u="none" strike="noStrike" kern="1200" cap="none" spc="0" normalizeH="0" baseline="0" noProof="0">
              <a:ln>
                <a:noFill/>
              </a:ln>
              <a:solidFill>
                <a:srgbClr val="E7FFD9"/>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0" i="0" u="none" strike="noStrike" kern="1200" cap="none" spc="0" normalizeH="0" baseline="0" noProof="0">
                <a:ln>
                  <a:noFill/>
                </a:ln>
                <a:solidFill>
                  <a:srgbClr val="E7FFD9"/>
                </a:solidFill>
                <a:effectLst/>
                <a:uLnTx/>
                <a:uFillTx/>
                <a:latin typeface="Poppins"/>
                <a:ea typeface="+mn-ea"/>
                <a:cs typeface="+mn-cs"/>
              </a:rPr>
              <a:t>Let people speak.</a:t>
            </a:r>
            <a:endParaRPr kumimoji="0" lang="en-US" sz="1000" b="0" i="0" u="none" strike="noStrike" kern="1200" cap="none" spc="0" normalizeH="0" baseline="0" noProof="0">
              <a:ln>
                <a:noFill/>
              </a:ln>
              <a:solidFill>
                <a:srgbClr val="E7FFD9"/>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00" b="1" i="0" u="none" strike="noStrike" kern="1200" cap="none" spc="0" normalizeH="0" baseline="0" noProof="0">
              <a:ln>
                <a:noFill/>
              </a:ln>
              <a:solidFill>
                <a:srgbClr val="E7FFD9"/>
              </a:solidFill>
              <a:effectLst/>
              <a:uLnTx/>
              <a:uFillTx/>
              <a:latin typeface="Poppins"/>
              <a:ea typeface="+mn-ea"/>
              <a:cs typeface="+mn-cs"/>
            </a:endParaRPr>
          </a:p>
        </p:txBody>
      </p:sp>
    </p:spTree>
    <p:extLst>
      <p:ext uri="{BB962C8B-B14F-4D97-AF65-F5344CB8AC3E}">
        <p14:creationId xmlns:p14="http://schemas.microsoft.com/office/powerpoint/2010/main" val="14775517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CDD6C-79A7-1B1C-4985-4794419EA1A1}"/>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FD0161BF-BFC1-794F-65CD-0385203C075F}"/>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025127CC-FF49-7BCB-A18E-187A08209A00}"/>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A 90-day </a:t>
            </a:r>
            <a:r>
              <a:rPr kumimoji="0" lang="pl-PL" sz="2200" b="0" i="0" u="none" strike="noStrike" kern="1200" cap="none" spc="0" normalizeH="0" baseline="0" noProof="0">
                <a:ln>
                  <a:noFill/>
                </a:ln>
                <a:solidFill>
                  <a:srgbClr val="E7FFD9"/>
                </a:solidFill>
                <a:effectLst/>
                <a:uLnTx/>
                <a:uFillTx/>
                <a:latin typeface="Poppins"/>
                <a:ea typeface="+mn-ea"/>
                <a:cs typeface="Arial"/>
              </a:rPr>
              <a:t>S</a:t>
            </a:r>
            <a:r>
              <a:rPr kumimoji="0" lang="en-US" sz="2200" b="0" i="0" u="none" strike="noStrike" kern="1200" cap="none" spc="0" normalizeH="0" baseline="0" noProof="0">
                <a:ln>
                  <a:noFill/>
                </a:ln>
                <a:solidFill>
                  <a:srgbClr val="E7FFD9"/>
                </a:solidFill>
                <a:effectLst/>
                <a:uLnTx/>
                <a:uFillTx/>
                <a:latin typeface="Poppins"/>
                <a:ea typeface="+mn-ea"/>
                <a:cs typeface="Arial"/>
              </a:rPr>
              <a:t>tarting </a:t>
            </a:r>
            <a:r>
              <a:rPr kumimoji="0" lang="pl-PL" sz="2200" b="0" i="0" u="none" strike="noStrike" kern="1200" cap="none" spc="0" normalizeH="0" baseline="0" noProof="0">
                <a:ln>
                  <a:noFill/>
                </a:ln>
                <a:solidFill>
                  <a:srgbClr val="E7FFD9"/>
                </a:solidFill>
                <a:effectLst/>
                <a:uLnTx/>
                <a:uFillTx/>
                <a:latin typeface="Poppins"/>
                <a:ea typeface="+mn-ea"/>
                <a:cs typeface="Arial"/>
              </a:rPr>
              <a:t>R</a:t>
            </a:r>
            <a:r>
              <a:rPr kumimoji="0" lang="en-US" sz="2200" b="0" i="0" u="none" strike="noStrike" kern="1200" cap="none" spc="0" normalizeH="0" baseline="0" noProof="0" err="1">
                <a:ln>
                  <a:noFill/>
                </a:ln>
                <a:solidFill>
                  <a:srgbClr val="E7FFD9"/>
                </a:solidFill>
                <a:effectLst/>
                <a:uLnTx/>
                <a:uFillTx/>
                <a:latin typeface="Poppins"/>
                <a:ea typeface="+mn-ea"/>
                <a:cs typeface="Arial"/>
              </a:rPr>
              <a:t>oadmap</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F76CF77D-A56D-A4E7-49F5-E4EC7AF0A358}"/>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Example of an easy start.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5F7E6D0D-125B-F7F7-2BA4-9DC2AE405EA4}"/>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91E34DB4-97AC-478C-B162-2C68846F836C}"/>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109</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2" name="Table 1">
            <a:extLst>
              <a:ext uri="{FF2B5EF4-FFF2-40B4-BE49-F238E27FC236}">
                <a16:creationId xmlns:a16="http://schemas.microsoft.com/office/drawing/2014/main" id="{59B7368E-1A25-866D-5110-928D12E9A8A5}"/>
              </a:ext>
            </a:extLst>
          </p:cNvPr>
          <p:cNvGraphicFramePr>
            <a:graphicFrameLocks noGrp="1"/>
          </p:cNvGraphicFramePr>
          <p:nvPr>
            <p:extLst>
              <p:ext uri="{D42A27DB-BD31-4B8C-83A1-F6EECF244321}">
                <p14:modId xmlns:p14="http://schemas.microsoft.com/office/powerpoint/2010/main" val="3356995282"/>
              </p:ext>
            </p:extLst>
          </p:nvPr>
        </p:nvGraphicFramePr>
        <p:xfrm>
          <a:off x="942753" y="1526048"/>
          <a:ext cx="7386084" cy="2641915"/>
        </p:xfrm>
        <a:graphic>
          <a:graphicData uri="http://schemas.openxmlformats.org/drawingml/2006/table">
            <a:tbl>
              <a:tblPr firstRow="1" bandRow="1">
                <a:tableStyleId>{5C22544A-7EE6-4342-B048-85BDC9FD1C3A}</a:tableStyleId>
              </a:tblPr>
              <a:tblGrid>
                <a:gridCol w="1846521">
                  <a:extLst>
                    <a:ext uri="{9D8B030D-6E8A-4147-A177-3AD203B41FA5}">
                      <a16:colId xmlns:a16="http://schemas.microsoft.com/office/drawing/2014/main" val="2835010798"/>
                    </a:ext>
                  </a:extLst>
                </a:gridCol>
                <a:gridCol w="1846521">
                  <a:extLst>
                    <a:ext uri="{9D8B030D-6E8A-4147-A177-3AD203B41FA5}">
                      <a16:colId xmlns:a16="http://schemas.microsoft.com/office/drawing/2014/main" val="1699443646"/>
                    </a:ext>
                  </a:extLst>
                </a:gridCol>
                <a:gridCol w="1846521">
                  <a:extLst>
                    <a:ext uri="{9D8B030D-6E8A-4147-A177-3AD203B41FA5}">
                      <a16:colId xmlns:a16="http://schemas.microsoft.com/office/drawing/2014/main" val="1646138265"/>
                    </a:ext>
                  </a:extLst>
                </a:gridCol>
                <a:gridCol w="1846521">
                  <a:extLst>
                    <a:ext uri="{9D8B030D-6E8A-4147-A177-3AD203B41FA5}">
                      <a16:colId xmlns:a16="http://schemas.microsoft.com/office/drawing/2014/main" val="3256447987"/>
                    </a:ext>
                  </a:extLst>
                </a:gridCol>
              </a:tblGrid>
              <a:tr h="281963">
                <a:tc>
                  <a:txBody>
                    <a:bodyPr/>
                    <a:lstStyle/>
                    <a:p>
                      <a:pPr algn="ctr"/>
                      <a:r>
                        <a:rPr lang="pl-PL" sz="1100" b="1">
                          <a:solidFill>
                            <a:schemeClr val="accent5"/>
                          </a:solidFill>
                        </a:rPr>
                        <a:t>Days 1–15</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100" b="1">
                          <a:solidFill>
                            <a:schemeClr val="accent5"/>
                          </a:solidFill>
                        </a:rPr>
                        <a:t>Days 16–45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100" b="1">
                          <a:solidFill>
                            <a:schemeClr val="accent5"/>
                          </a:solidFill>
                        </a:rPr>
                        <a:t>Days 46–75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100" b="1">
                          <a:solidFill>
                            <a:schemeClr val="accent5"/>
                          </a:solidFill>
                        </a:rPr>
                        <a:t>Days 76–90</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715758303"/>
                  </a:ext>
                </a:extLst>
              </a:tr>
              <a:tr h="2359952">
                <a:tc>
                  <a:txBody>
                    <a:bodyPr/>
                    <a:lstStyle/>
                    <a:p>
                      <a:pPr algn="ctr"/>
                      <a:endParaRPr lang="pl-PL" sz="1000"/>
                    </a:p>
                    <a:p>
                      <a:pPr algn="ctr"/>
                      <a:endParaRPr lang="pl-PL" sz="1000"/>
                    </a:p>
                    <a:p>
                      <a:pPr algn="ctr"/>
                      <a:r>
                        <a:rPr lang="pl-PL" sz="1000" b="1"/>
                        <a:t>Baseline and governance</a:t>
                      </a:r>
                    </a:p>
                    <a:p>
                      <a:pPr algn="ctr"/>
                      <a:endParaRPr lang="pl-PL" sz="1000"/>
                    </a:p>
                    <a:p>
                      <a:pPr algn="ctr"/>
                      <a:r>
                        <a:rPr lang="pl-PL" sz="1000"/>
                        <a:t>Do the c</a:t>
                      </a:r>
                      <a:r>
                        <a:rPr lang="en-US" sz="1000" err="1"/>
                        <a:t>itation</a:t>
                      </a:r>
                      <a:r>
                        <a:rPr lang="en-US" sz="1000"/>
                        <a:t> </a:t>
                      </a:r>
                      <a:r>
                        <a:rPr lang="pl-PL" sz="1000"/>
                        <a:t>g</a:t>
                      </a:r>
                      <a:r>
                        <a:rPr lang="en-US" sz="1000"/>
                        <a:t>ap </a:t>
                      </a:r>
                      <a:r>
                        <a:rPr lang="pl-PL" sz="1000"/>
                        <a:t>check*</a:t>
                      </a:r>
                      <a:r>
                        <a:rPr lang="en-US" sz="1000"/>
                        <a:t>. </a:t>
                      </a:r>
                      <a:r>
                        <a:rPr lang="pl-PL" sz="1000"/>
                        <a:t>Organize</a:t>
                      </a:r>
                      <a:r>
                        <a:rPr lang="en-US" sz="1000"/>
                        <a:t> cross-functional working group. Audit LinkedIn/se.com positioning consistency.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endParaRPr lang="pl-PL" sz="1000"/>
                    </a:p>
                    <a:p>
                      <a:pPr algn="ctr"/>
                      <a:endParaRPr lang="pl-PL" sz="1000"/>
                    </a:p>
                    <a:p>
                      <a:pPr algn="ctr"/>
                      <a:r>
                        <a:rPr lang="pl-PL" sz="1000" b="1"/>
                        <a:t>Foundation and LinkedIn</a:t>
                      </a:r>
                    </a:p>
                    <a:p>
                      <a:pPr algn="ctr"/>
                      <a:endParaRPr lang="pl-PL" sz="1000"/>
                    </a:p>
                    <a:p>
                      <a:pPr algn="ctr"/>
                      <a:r>
                        <a:rPr lang="en-US" sz="1000"/>
                        <a:t>Restructure 10–15 flagship pages (answer-first, fact-dense, FAQ schema). Launch the employee advocacy pilot. Fix </a:t>
                      </a:r>
                      <a:r>
                        <a:rPr lang="pl-PL" sz="1000"/>
                        <a:t>GEO gaps on 5 to </a:t>
                      </a:r>
                      <a:r>
                        <a:rPr lang="en-US" sz="1000"/>
                        <a:t>10 existing videos</a:t>
                      </a:r>
                      <a:r>
                        <a:rPr lang="pl-PL" sz="1000"/>
                        <a:t>, relevant for the content you want to win</a:t>
                      </a:r>
                      <a:r>
                        <a:rPr lang="en-US" sz="10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pl-PL" sz="1000"/>
                    </a:p>
                    <a:p>
                      <a:pPr algn="ctr"/>
                      <a:endParaRPr lang="pl-PL" sz="1000"/>
                    </a:p>
                    <a:p>
                      <a:pPr algn="ctr"/>
                      <a:r>
                        <a:rPr lang="pl-PL" sz="1000" b="1"/>
                        <a:t>Community expansion</a:t>
                      </a:r>
                    </a:p>
                    <a:p>
                      <a:pPr algn="ctr"/>
                      <a:endParaRPr lang="pl-PL" sz="1000"/>
                    </a:p>
                    <a:p>
                      <a:pPr algn="ctr"/>
                      <a:r>
                        <a:rPr lang="en-US" sz="1000"/>
                        <a:t>Identify 3–5 subreddits/forums per vertical with named, disclosed participants. Publish monthly original research. Launch the always-on review program.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endParaRPr lang="pl-PL" sz="1000"/>
                    </a:p>
                    <a:p>
                      <a:pPr algn="ctr"/>
                      <a:endParaRPr lang="pl-PL" sz="1000"/>
                    </a:p>
                    <a:p>
                      <a:pPr algn="ctr"/>
                      <a:r>
                        <a:rPr lang="pl-PL" sz="1000" b="1"/>
                        <a:t>Measure and expand</a:t>
                      </a:r>
                    </a:p>
                    <a:p>
                      <a:pPr algn="ctr"/>
                      <a:endParaRPr lang="pl-PL" sz="1000"/>
                    </a:p>
                    <a:p>
                      <a:pPr algn="ctr"/>
                      <a:r>
                        <a:rPr lang="en-US" sz="1000"/>
                        <a:t>Re-run the </a:t>
                      </a:r>
                      <a:r>
                        <a:rPr lang="pl-PL" sz="1000"/>
                        <a:t>c</a:t>
                      </a:r>
                      <a:r>
                        <a:rPr lang="en-US" sz="1000" err="1"/>
                        <a:t>itation</a:t>
                      </a:r>
                      <a:r>
                        <a:rPr lang="en-US" sz="1000"/>
                        <a:t> </a:t>
                      </a:r>
                      <a:r>
                        <a:rPr lang="pl-PL" sz="1000"/>
                        <a:t>g</a:t>
                      </a:r>
                      <a:r>
                        <a:rPr lang="en-US" sz="1000"/>
                        <a:t>ap </a:t>
                      </a:r>
                      <a:r>
                        <a:rPr lang="pl-PL" sz="1000"/>
                        <a:t>check </a:t>
                      </a:r>
                      <a:r>
                        <a:rPr lang="en-US" sz="1000"/>
                        <a:t>against baseline. Report citation share</a:t>
                      </a:r>
                      <a:r>
                        <a:rPr lang="pl-PL" sz="1000"/>
                        <a:t>. </a:t>
                      </a:r>
                      <a:r>
                        <a:rPr lang="en-US" sz="1000"/>
                        <a:t>Prioritize next quarter by </a:t>
                      </a:r>
                      <a:r>
                        <a:rPr lang="pl-PL" sz="1000"/>
                        <a:t>business priority</a:t>
                      </a:r>
                      <a:r>
                        <a:rPr lang="en-US" sz="10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579085"/>
                  </a:ext>
                </a:extLst>
              </a:tr>
            </a:tbl>
          </a:graphicData>
        </a:graphic>
      </p:graphicFrame>
      <p:sp>
        <p:nvSpPr>
          <p:cNvPr id="3" name="TextBox 2">
            <a:extLst>
              <a:ext uri="{FF2B5EF4-FFF2-40B4-BE49-F238E27FC236}">
                <a16:creationId xmlns:a16="http://schemas.microsoft.com/office/drawing/2014/main" id="{6B1329AA-7F0D-53A9-1A03-C8D64BC13162}"/>
              </a:ext>
            </a:extLst>
          </p:cNvPr>
          <p:cNvSpPr txBox="1"/>
          <p:nvPr/>
        </p:nvSpPr>
        <p:spPr>
          <a:xfrm>
            <a:off x="398462" y="4599466"/>
            <a:ext cx="3478877" cy="107722"/>
          </a:xfrm>
          <a:prstGeom prst="rect">
            <a:avLst/>
          </a:prstGeom>
        </p:spPr>
        <p:txBody>
          <a:bodyPr vert="horz" wrap="square" lIns="0" tIns="0" rIns="0" bIns="0" rtlCol="0">
            <a:spAutoFit/>
          </a:bodyPr>
          <a:lstStyle/>
          <a:p>
            <a:pPr algn="l"/>
            <a:r>
              <a:rPr lang="pl-PL" sz="700"/>
              <a:t>*For detail audit strategies please visit </a:t>
            </a:r>
            <a:r>
              <a:rPr lang="pl-PL" sz="700">
                <a:hlinkClick r:id="rId2"/>
              </a:rPr>
              <a:t>Chapter 13 </a:t>
            </a:r>
            <a:r>
              <a:rPr lang="pl-PL" sz="700"/>
              <a:t>of this Toolkit.</a:t>
            </a:r>
          </a:p>
        </p:txBody>
      </p:sp>
    </p:spTree>
    <p:extLst>
      <p:ext uri="{BB962C8B-B14F-4D97-AF65-F5344CB8AC3E}">
        <p14:creationId xmlns:p14="http://schemas.microsoft.com/office/powerpoint/2010/main" val="18022479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49FF-CB7A-15C0-F1CD-CF4CFB09BD04}"/>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075C98E9-0F79-24B8-C5A3-3BB443442BBD}"/>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D45E2D38-2DF1-348A-A42C-F176E6E8E1B1}"/>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Five </a:t>
            </a:r>
            <a:r>
              <a:rPr kumimoji="0" lang="pl-PL" sz="2200" b="0" i="0" u="none" strike="noStrike" kern="1200" cap="none" spc="0" normalizeH="0" baseline="0" noProof="0">
                <a:ln>
                  <a:noFill/>
                </a:ln>
                <a:solidFill>
                  <a:srgbClr val="E7FFD9"/>
                </a:solidFill>
                <a:effectLst/>
                <a:uLnTx/>
                <a:uFillTx/>
                <a:latin typeface="Poppins"/>
                <a:ea typeface="+mn-ea"/>
                <a:cs typeface="Arial"/>
              </a:rPr>
              <a:t>T</a:t>
            </a:r>
            <a:r>
              <a:rPr kumimoji="0" lang="en-US" sz="2200" b="0" i="0" u="none" strike="noStrike" kern="1200" cap="none" spc="0" normalizeH="0" baseline="0" noProof="0" err="1">
                <a:ln>
                  <a:noFill/>
                </a:ln>
                <a:solidFill>
                  <a:srgbClr val="E7FFD9"/>
                </a:solidFill>
                <a:effectLst/>
                <a:uLnTx/>
                <a:uFillTx/>
                <a:latin typeface="Poppins"/>
                <a:ea typeface="+mn-ea"/>
                <a:cs typeface="Arial"/>
              </a:rPr>
              <a:t>hings</a:t>
            </a:r>
            <a:r>
              <a:rPr kumimoji="0" lang="en-US" sz="2200" b="0" i="0" u="none" strike="noStrike" kern="1200" cap="none" spc="0" normalizeH="0" baseline="0" noProof="0">
                <a:ln>
                  <a:noFill/>
                </a:ln>
                <a:solidFill>
                  <a:srgbClr val="E7FFD9"/>
                </a:solidFill>
                <a:effectLst/>
                <a:uLnTx/>
                <a:uFillTx/>
                <a:latin typeface="Poppins"/>
                <a:ea typeface="+mn-ea"/>
                <a:cs typeface="Arial"/>
              </a:rPr>
              <a:t> to </a:t>
            </a:r>
            <a:r>
              <a:rPr kumimoji="0" lang="pl-PL" sz="2200" b="0" i="0" u="none" strike="noStrike" kern="1200" cap="none" spc="0" normalizeH="0" baseline="0" noProof="0">
                <a:ln>
                  <a:noFill/>
                </a:ln>
                <a:solidFill>
                  <a:srgbClr val="E7FFD9"/>
                </a:solidFill>
                <a:effectLst/>
                <a:uLnTx/>
                <a:uFillTx/>
                <a:latin typeface="Poppins"/>
                <a:ea typeface="+mn-ea"/>
                <a:cs typeface="Arial"/>
              </a:rPr>
              <a:t>R</a:t>
            </a:r>
            <a:r>
              <a:rPr kumimoji="0" lang="en-US" sz="2200" b="0" i="0" u="none" strike="noStrike" kern="1200" cap="none" spc="0" normalizeH="0" baseline="0" noProof="0" err="1">
                <a:ln>
                  <a:noFill/>
                </a:ln>
                <a:solidFill>
                  <a:srgbClr val="E7FFD9"/>
                </a:solidFill>
                <a:effectLst/>
                <a:uLnTx/>
                <a:uFillTx/>
                <a:latin typeface="Poppins"/>
                <a:ea typeface="+mn-ea"/>
                <a:cs typeface="Arial"/>
              </a:rPr>
              <a:t>emember</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4A90C818-D654-DB38-7619-A97320C29981}"/>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100">
                <a:solidFill>
                  <a:srgbClr val="E7FFD9"/>
                </a:solidFill>
                <a:latin typeface="Poppins"/>
                <a:cs typeface="Arial"/>
              </a:rPr>
              <a:t>Key takeaways.</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08115222-CBCE-CFAE-72E5-6C66F65A1CB4}"/>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0002F1B8-F91A-DDCD-F20B-C6F2BD5BA39B}"/>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110</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3" name="Shape 3">
            <a:extLst>
              <a:ext uri="{FF2B5EF4-FFF2-40B4-BE49-F238E27FC236}">
                <a16:creationId xmlns:a16="http://schemas.microsoft.com/office/drawing/2014/main" id="{49079783-F098-104C-6B65-79791FF5B27C}"/>
              </a:ext>
            </a:extLst>
          </p:cNvPr>
          <p:cNvSpPr/>
          <p:nvPr/>
        </p:nvSpPr>
        <p:spPr>
          <a:xfrm>
            <a:off x="548640" y="1405890"/>
            <a:ext cx="342900" cy="342900"/>
          </a:xfrm>
          <a:prstGeom prst="ellipse">
            <a:avLst/>
          </a:prstGeom>
          <a:solidFill>
            <a:schemeClr val="accent5"/>
          </a:solidFill>
          <a:ln>
            <a:solidFill>
              <a:schemeClr val="tx1"/>
            </a:solidFill>
          </a:ln>
        </p:spPr>
        <p:txBody>
          <a:bodyPr/>
          <a:lstStyle/>
          <a:p>
            <a:pPr defTabSz="685800"/>
            <a:endParaRPr lang="pl-PL" sz="1350">
              <a:solidFill>
                <a:prstClr val="black"/>
              </a:solidFill>
              <a:latin typeface="Calibri" panose="020F0502020204030204"/>
            </a:endParaRPr>
          </a:p>
        </p:txBody>
      </p:sp>
      <p:sp>
        <p:nvSpPr>
          <p:cNvPr id="4" name="Text 4">
            <a:extLst>
              <a:ext uri="{FF2B5EF4-FFF2-40B4-BE49-F238E27FC236}">
                <a16:creationId xmlns:a16="http://schemas.microsoft.com/office/drawing/2014/main" id="{B0FEA473-BACB-925D-C8AD-71C1D70F142D}"/>
              </a:ext>
            </a:extLst>
          </p:cNvPr>
          <p:cNvSpPr/>
          <p:nvPr/>
        </p:nvSpPr>
        <p:spPr>
          <a:xfrm>
            <a:off x="548640" y="1405890"/>
            <a:ext cx="342900" cy="342900"/>
          </a:xfrm>
          <a:prstGeom prst="rect">
            <a:avLst/>
          </a:prstGeom>
          <a:noFill/>
          <a:ln/>
        </p:spPr>
        <p:txBody>
          <a:bodyPr wrap="square" lIns="0" tIns="0" rIns="0" bIns="0" rtlCol="0" anchor="ctr"/>
          <a:lstStyle/>
          <a:p>
            <a:pPr algn="ctr" defTabSz="685800"/>
            <a:r>
              <a:rPr lang="en-US" sz="1100" b="1">
                <a:ea typeface="Calibri" pitchFamily="34" charset="-122"/>
                <a:cs typeface="Calibri" pitchFamily="34" charset="-120"/>
              </a:rPr>
              <a:t>1</a:t>
            </a:r>
          </a:p>
        </p:txBody>
      </p:sp>
      <p:sp>
        <p:nvSpPr>
          <p:cNvPr id="7" name="Text 5">
            <a:extLst>
              <a:ext uri="{FF2B5EF4-FFF2-40B4-BE49-F238E27FC236}">
                <a16:creationId xmlns:a16="http://schemas.microsoft.com/office/drawing/2014/main" id="{EB6925EE-6F58-7654-1427-683A135DD569}"/>
              </a:ext>
            </a:extLst>
          </p:cNvPr>
          <p:cNvSpPr/>
          <p:nvPr/>
        </p:nvSpPr>
        <p:spPr>
          <a:xfrm>
            <a:off x="1028700" y="1371600"/>
            <a:ext cx="7406640" cy="445770"/>
          </a:xfrm>
          <a:prstGeom prst="rect">
            <a:avLst/>
          </a:prstGeom>
          <a:noFill/>
          <a:ln/>
        </p:spPr>
        <p:txBody>
          <a:bodyPr wrap="square" lIns="0" tIns="0" rIns="0" bIns="0" rtlCol="0" anchor="ctr"/>
          <a:lstStyle/>
          <a:p>
            <a:pPr defTabSz="685800"/>
            <a:r>
              <a:rPr lang="en-US" sz="1100">
                <a:ea typeface="Calibri" pitchFamily="34" charset="-122"/>
                <a:cs typeface="Calibri" pitchFamily="34" charset="-120"/>
              </a:rPr>
              <a:t>Community and social signals drive roughly </a:t>
            </a:r>
            <a:r>
              <a:rPr lang="pl-PL" sz="1100">
                <a:ea typeface="Calibri" pitchFamily="34" charset="-122"/>
                <a:cs typeface="Calibri" pitchFamily="34" charset="-120"/>
              </a:rPr>
              <a:t>25%</a:t>
            </a:r>
            <a:r>
              <a:rPr lang="en-US" sz="1100">
                <a:ea typeface="Calibri" pitchFamily="34" charset="-122"/>
                <a:cs typeface="Calibri" pitchFamily="34" charset="-120"/>
              </a:rPr>
              <a:t> of AI citation </a:t>
            </a:r>
            <a:r>
              <a:rPr lang="pl-PL" sz="1100">
                <a:ea typeface="Calibri" pitchFamily="34" charset="-122"/>
                <a:cs typeface="Calibri" pitchFamily="34" charset="-120"/>
              </a:rPr>
              <a:t>-</a:t>
            </a:r>
            <a:r>
              <a:rPr lang="en-US" sz="1100">
                <a:ea typeface="Calibri" pitchFamily="34" charset="-122"/>
                <a:cs typeface="Calibri" pitchFamily="34" charset="-120"/>
              </a:rPr>
              <a:t> this is cross-functional earned media, not a content calendar.</a:t>
            </a:r>
            <a:endParaRPr lang="en-US" sz="1100"/>
          </a:p>
        </p:txBody>
      </p:sp>
      <p:sp>
        <p:nvSpPr>
          <p:cNvPr id="9" name="Shape 6">
            <a:extLst>
              <a:ext uri="{FF2B5EF4-FFF2-40B4-BE49-F238E27FC236}">
                <a16:creationId xmlns:a16="http://schemas.microsoft.com/office/drawing/2014/main" id="{1AB628EF-0C74-AFA1-951C-84E2DDB14988}"/>
              </a:ext>
            </a:extLst>
          </p:cNvPr>
          <p:cNvSpPr/>
          <p:nvPr/>
        </p:nvSpPr>
        <p:spPr>
          <a:xfrm>
            <a:off x="548640" y="1988820"/>
            <a:ext cx="342900" cy="342900"/>
          </a:xfrm>
          <a:prstGeom prst="ellipse">
            <a:avLst/>
          </a:prstGeom>
          <a:solidFill>
            <a:schemeClr val="accent5"/>
          </a:solidFill>
          <a:ln>
            <a:solidFill>
              <a:schemeClr val="tx1"/>
            </a:solidFill>
          </a:ln>
        </p:spPr>
        <p:txBody>
          <a:bodyPr/>
          <a:lstStyle/>
          <a:p>
            <a:pPr defTabSz="685800"/>
            <a:endParaRPr lang="pl-PL" sz="1350">
              <a:solidFill>
                <a:prstClr val="black"/>
              </a:solidFill>
              <a:latin typeface="Calibri" panose="020F0502020204030204"/>
            </a:endParaRPr>
          </a:p>
        </p:txBody>
      </p:sp>
      <p:sp>
        <p:nvSpPr>
          <p:cNvPr id="10" name="Text 7">
            <a:extLst>
              <a:ext uri="{FF2B5EF4-FFF2-40B4-BE49-F238E27FC236}">
                <a16:creationId xmlns:a16="http://schemas.microsoft.com/office/drawing/2014/main" id="{86FC3DEC-403B-29C6-043A-C4FEB9786A0C}"/>
              </a:ext>
            </a:extLst>
          </p:cNvPr>
          <p:cNvSpPr/>
          <p:nvPr/>
        </p:nvSpPr>
        <p:spPr>
          <a:xfrm>
            <a:off x="548640" y="1988820"/>
            <a:ext cx="342900" cy="342900"/>
          </a:xfrm>
          <a:prstGeom prst="rect">
            <a:avLst/>
          </a:prstGeom>
          <a:noFill/>
          <a:ln>
            <a:noFill/>
          </a:ln>
        </p:spPr>
        <p:txBody>
          <a:bodyPr wrap="square" lIns="0" tIns="0" rIns="0" bIns="0" rtlCol="0" anchor="ctr"/>
          <a:lstStyle/>
          <a:p>
            <a:pPr algn="ctr" defTabSz="685800"/>
            <a:r>
              <a:rPr lang="en-US" sz="1100" b="1">
                <a:ea typeface="Calibri" pitchFamily="34" charset="-122"/>
                <a:cs typeface="Calibri" pitchFamily="34" charset="-120"/>
              </a:rPr>
              <a:t>2</a:t>
            </a:r>
          </a:p>
        </p:txBody>
      </p:sp>
      <p:sp>
        <p:nvSpPr>
          <p:cNvPr id="13" name="Text 8">
            <a:extLst>
              <a:ext uri="{FF2B5EF4-FFF2-40B4-BE49-F238E27FC236}">
                <a16:creationId xmlns:a16="http://schemas.microsoft.com/office/drawing/2014/main" id="{31ED1894-B927-2863-07E8-062DCFC5352F}"/>
              </a:ext>
            </a:extLst>
          </p:cNvPr>
          <p:cNvSpPr/>
          <p:nvPr/>
        </p:nvSpPr>
        <p:spPr>
          <a:xfrm>
            <a:off x="1028700" y="1954530"/>
            <a:ext cx="7406640" cy="445770"/>
          </a:xfrm>
          <a:prstGeom prst="rect">
            <a:avLst/>
          </a:prstGeom>
          <a:noFill/>
          <a:ln/>
        </p:spPr>
        <p:txBody>
          <a:bodyPr wrap="square" lIns="0" tIns="0" rIns="0" bIns="0" rtlCol="0" anchor="ctr"/>
          <a:lstStyle/>
          <a:p>
            <a:pPr defTabSz="685800"/>
            <a:r>
              <a:rPr lang="en-US" sz="1100">
                <a:ea typeface="Calibri" pitchFamily="34" charset="-122"/>
                <a:cs typeface="Calibri" pitchFamily="34" charset="-120"/>
              </a:rPr>
              <a:t>LinkedIn, YouTube, Reddit/forums third </a:t>
            </a:r>
            <a:r>
              <a:rPr lang="pl-PL" sz="1100">
                <a:ea typeface="Calibri" pitchFamily="34" charset="-122"/>
                <a:cs typeface="Calibri" pitchFamily="34" charset="-120"/>
              </a:rPr>
              <a:t>–</a:t>
            </a:r>
            <a:r>
              <a:rPr lang="en-US" sz="1100">
                <a:ea typeface="Calibri" pitchFamily="34" charset="-122"/>
                <a:cs typeface="Calibri" pitchFamily="34" charset="-120"/>
              </a:rPr>
              <a:t> </a:t>
            </a:r>
            <a:r>
              <a:rPr lang="pl-PL" sz="1100">
                <a:ea typeface="Calibri" pitchFamily="34" charset="-122"/>
                <a:cs typeface="Calibri" pitchFamily="34" charset="-120"/>
              </a:rPr>
              <a:t>those are key examples, but Schneider Electric should be present in every community that can bring impact.</a:t>
            </a:r>
            <a:endParaRPr lang="en-US" sz="1100"/>
          </a:p>
        </p:txBody>
      </p:sp>
      <p:sp>
        <p:nvSpPr>
          <p:cNvPr id="14" name="Shape 9">
            <a:extLst>
              <a:ext uri="{FF2B5EF4-FFF2-40B4-BE49-F238E27FC236}">
                <a16:creationId xmlns:a16="http://schemas.microsoft.com/office/drawing/2014/main" id="{50E99314-0527-1B42-A919-AE08997C97D0}"/>
              </a:ext>
            </a:extLst>
          </p:cNvPr>
          <p:cNvSpPr/>
          <p:nvPr/>
        </p:nvSpPr>
        <p:spPr>
          <a:xfrm>
            <a:off x="548640" y="2571750"/>
            <a:ext cx="342900" cy="342900"/>
          </a:xfrm>
          <a:prstGeom prst="ellipse">
            <a:avLst/>
          </a:prstGeom>
          <a:solidFill>
            <a:schemeClr val="accent5"/>
          </a:solidFill>
          <a:ln>
            <a:solidFill>
              <a:schemeClr val="tx1"/>
            </a:solidFill>
          </a:ln>
        </p:spPr>
        <p:txBody>
          <a:bodyPr/>
          <a:lstStyle/>
          <a:p>
            <a:pPr defTabSz="685800"/>
            <a:endParaRPr lang="pl-PL" sz="1350">
              <a:solidFill>
                <a:prstClr val="black"/>
              </a:solidFill>
              <a:latin typeface="Calibri" panose="020F0502020204030204"/>
            </a:endParaRPr>
          </a:p>
        </p:txBody>
      </p:sp>
      <p:sp>
        <p:nvSpPr>
          <p:cNvPr id="15" name="Text 10">
            <a:extLst>
              <a:ext uri="{FF2B5EF4-FFF2-40B4-BE49-F238E27FC236}">
                <a16:creationId xmlns:a16="http://schemas.microsoft.com/office/drawing/2014/main" id="{BE05B954-B9FF-0CC5-D61F-C4FAB4C30A9D}"/>
              </a:ext>
            </a:extLst>
          </p:cNvPr>
          <p:cNvSpPr/>
          <p:nvPr/>
        </p:nvSpPr>
        <p:spPr>
          <a:xfrm>
            <a:off x="548640" y="2571750"/>
            <a:ext cx="342900" cy="342900"/>
          </a:xfrm>
          <a:prstGeom prst="rect">
            <a:avLst/>
          </a:prstGeom>
          <a:noFill/>
          <a:ln/>
        </p:spPr>
        <p:txBody>
          <a:bodyPr wrap="square" lIns="0" tIns="0" rIns="0" bIns="0" rtlCol="0" anchor="ctr"/>
          <a:lstStyle/>
          <a:p>
            <a:pPr algn="ctr" defTabSz="685800"/>
            <a:r>
              <a:rPr lang="en-US" sz="1100" b="1">
                <a:ea typeface="Calibri" pitchFamily="34" charset="-122"/>
                <a:cs typeface="Calibri" pitchFamily="34" charset="-120"/>
              </a:rPr>
              <a:t>3</a:t>
            </a:r>
          </a:p>
        </p:txBody>
      </p:sp>
      <p:sp>
        <p:nvSpPr>
          <p:cNvPr id="16" name="Text 11">
            <a:extLst>
              <a:ext uri="{FF2B5EF4-FFF2-40B4-BE49-F238E27FC236}">
                <a16:creationId xmlns:a16="http://schemas.microsoft.com/office/drawing/2014/main" id="{63470631-7272-BA92-B0B2-82E7FA61FBA9}"/>
              </a:ext>
            </a:extLst>
          </p:cNvPr>
          <p:cNvSpPr/>
          <p:nvPr/>
        </p:nvSpPr>
        <p:spPr>
          <a:xfrm>
            <a:off x="1028700" y="2537460"/>
            <a:ext cx="7406640" cy="445770"/>
          </a:xfrm>
          <a:prstGeom prst="rect">
            <a:avLst/>
          </a:prstGeom>
          <a:noFill/>
          <a:ln/>
        </p:spPr>
        <p:txBody>
          <a:bodyPr wrap="square" lIns="0" tIns="0" rIns="0" bIns="0" rtlCol="0" anchor="ctr"/>
          <a:lstStyle/>
          <a:p>
            <a:pPr defTabSz="685800"/>
            <a:r>
              <a:rPr lang="en-US" sz="1100">
                <a:ea typeface="Calibri" pitchFamily="34" charset="-122"/>
                <a:cs typeface="Calibri" pitchFamily="34" charset="-120"/>
              </a:rPr>
              <a:t>Write everything answer-first, fact-dense, and attributable to a named source.</a:t>
            </a:r>
            <a:endParaRPr lang="en-US" sz="1100"/>
          </a:p>
        </p:txBody>
      </p:sp>
      <p:sp>
        <p:nvSpPr>
          <p:cNvPr id="17" name="Shape 12">
            <a:extLst>
              <a:ext uri="{FF2B5EF4-FFF2-40B4-BE49-F238E27FC236}">
                <a16:creationId xmlns:a16="http://schemas.microsoft.com/office/drawing/2014/main" id="{E2D744D6-6599-3D19-20DB-30CB0E16ACBD}"/>
              </a:ext>
            </a:extLst>
          </p:cNvPr>
          <p:cNvSpPr/>
          <p:nvPr/>
        </p:nvSpPr>
        <p:spPr>
          <a:xfrm>
            <a:off x="548640" y="3154680"/>
            <a:ext cx="342900" cy="342900"/>
          </a:xfrm>
          <a:prstGeom prst="ellipse">
            <a:avLst/>
          </a:prstGeom>
          <a:solidFill>
            <a:schemeClr val="accent5"/>
          </a:solidFill>
          <a:ln>
            <a:solidFill>
              <a:schemeClr val="tx1"/>
            </a:solidFill>
          </a:ln>
        </p:spPr>
        <p:txBody>
          <a:bodyPr/>
          <a:lstStyle/>
          <a:p>
            <a:pPr defTabSz="685800"/>
            <a:endParaRPr lang="pl-PL" sz="1350">
              <a:solidFill>
                <a:prstClr val="black"/>
              </a:solidFill>
              <a:latin typeface="Calibri" panose="020F0502020204030204"/>
            </a:endParaRPr>
          </a:p>
        </p:txBody>
      </p:sp>
      <p:sp>
        <p:nvSpPr>
          <p:cNvPr id="18" name="Text 13">
            <a:extLst>
              <a:ext uri="{FF2B5EF4-FFF2-40B4-BE49-F238E27FC236}">
                <a16:creationId xmlns:a16="http://schemas.microsoft.com/office/drawing/2014/main" id="{05512B86-26B9-4943-0587-9C5DC24A70CF}"/>
              </a:ext>
            </a:extLst>
          </p:cNvPr>
          <p:cNvSpPr/>
          <p:nvPr/>
        </p:nvSpPr>
        <p:spPr>
          <a:xfrm>
            <a:off x="548640" y="3154680"/>
            <a:ext cx="342900" cy="342900"/>
          </a:xfrm>
          <a:prstGeom prst="rect">
            <a:avLst/>
          </a:prstGeom>
          <a:noFill/>
          <a:ln/>
        </p:spPr>
        <p:txBody>
          <a:bodyPr wrap="square" lIns="0" tIns="0" rIns="0" bIns="0" rtlCol="0" anchor="ctr"/>
          <a:lstStyle/>
          <a:p>
            <a:pPr algn="ctr" defTabSz="685800"/>
            <a:r>
              <a:rPr lang="en-US" sz="1100" b="1">
                <a:ea typeface="Calibri" pitchFamily="34" charset="-122"/>
                <a:cs typeface="Calibri" pitchFamily="34" charset="-120"/>
              </a:rPr>
              <a:t>4</a:t>
            </a:r>
          </a:p>
        </p:txBody>
      </p:sp>
      <p:sp>
        <p:nvSpPr>
          <p:cNvPr id="19" name="Text 14">
            <a:extLst>
              <a:ext uri="{FF2B5EF4-FFF2-40B4-BE49-F238E27FC236}">
                <a16:creationId xmlns:a16="http://schemas.microsoft.com/office/drawing/2014/main" id="{41395503-A900-0E20-CC14-94B401DF7392}"/>
              </a:ext>
            </a:extLst>
          </p:cNvPr>
          <p:cNvSpPr/>
          <p:nvPr/>
        </p:nvSpPr>
        <p:spPr>
          <a:xfrm>
            <a:off x="1028700" y="3120390"/>
            <a:ext cx="7406640" cy="445770"/>
          </a:xfrm>
          <a:prstGeom prst="rect">
            <a:avLst/>
          </a:prstGeom>
          <a:noFill/>
          <a:ln/>
        </p:spPr>
        <p:txBody>
          <a:bodyPr wrap="square" lIns="0" tIns="0" rIns="0" bIns="0" rtlCol="0" anchor="ctr"/>
          <a:lstStyle/>
          <a:p>
            <a:pPr defTabSz="685800"/>
            <a:r>
              <a:rPr lang="en-US" sz="1100">
                <a:ea typeface="Calibri" pitchFamily="34" charset="-122"/>
                <a:cs typeface="Calibri" pitchFamily="34" charset="-120"/>
              </a:rPr>
              <a:t>Employee voice outperforms brand voice on every channel that matter</a:t>
            </a:r>
            <a:r>
              <a:rPr lang="pl-PL" sz="1100">
                <a:ea typeface="Calibri" pitchFamily="34" charset="-122"/>
                <a:cs typeface="Calibri" pitchFamily="34" charset="-120"/>
              </a:rPr>
              <a:t>s</a:t>
            </a:r>
            <a:r>
              <a:rPr lang="en-US" sz="1100">
                <a:ea typeface="Calibri" pitchFamily="34" charset="-122"/>
                <a:cs typeface="Calibri" pitchFamily="34" charset="-120"/>
              </a:rPr>
              <a:t>.</a:t>
            </a:r>
            <a:endParaRPr lang="en-US" sz="1100"/>
          </a:p>
        </p:txBody>
      </p:sp>
      <p:sp>
        <p:nvSpPr>
          <p:cNvPr id="20" name="Shape 15">
            <a:extLst>
              <a:ext uri="{FF2B5EF4-FFF2-40B4-BE49-F238E27FC236}">
                <a16:creationId xmlns:a16="http://schemas.microsoft.com/office/drawing/2014/main" id="{4BFDA271-C623-5DC5-3809-5FFE156DD1D6}"/>
              </a:ext>
            </a:extLst>
          </p:cNvPr>
          <p:cNvSpPr/>
          <p:nvPr/>
        </p:nvSpPr>
        <p:spPr>
          <a:xfrm>
            <a:off x="548640" y="3737610"/>
            <a:ext cx="342900" cy="342900"/>
          </a:xfrm>
          <a:prstGeom prst="ellipse">
            <a:avLst/>
          </a:prstGeom>
          <a:solidFill>
            <a:schemeClr val="accent5"/>
          </a:solidFill>
          <a:ln>
            <a:solidFill>
              <a:schemeClr val="tx1"/>
            </a:solidFill>
          </a:ln>
        </p:spPr>
        <p:txBody>
          <a:bodyPr/>
          <a:lstStyle/>
          <a:p>
            <a:pPr defTabSz="685800"/>
            <a:endParaRPr lang="pl-PL" sz="1350">
              <a:solidFill>
                <a:prstClr val="black"/>
              </a:solidFill>
              <a:latin typeface="Calibri" panose="020F0502020204030204"/>
            </a:endParaRPr>
          </a:p>
        </p:txBody>
      </p:sp>
      <p:sp>
        <p:nvSpPr>
          <p:cNvPr id="21" name="Text 16">
            <a:extLst>
              <a:ext uri="{FF2B5EF4-FFF2-40B4-BE49-F238E27FC236}">
                <a16:creationId xmlns:a16="http://schemas.microsoft.com/office/drawing/2014/main" id="{2271F525-26C5-5CF9-6D56-35A27993C8B1}"/>
              </a:ext>
            </a:extLst>
          </p:cNvPr>
          <p:cNvSpPr/>
          <p:nvPr/>
        </p:nvSpPr>
        <p:spPr>
          <a:xfrm>
            <a:off x="548640" y="3737610"/>
            <a:ext cx="342900" cy="342900"/>
          </a:xfrm>
          <a:prstGeom prst="rect">
            <a:avLst/>
          </a:prstGeom>
          <a:noFill/>
          <a:ln/>
        </p:spPr>
        <p:txBody>
          <a:bodyPr wrap="square" lIns="0" tIns="0" rIns="0" bIns="0" rtlCol="0" anchor="ctr"/>
          <a:lstStyle/>
          <a:p>
            <a:pPr algn="ctr" defTabSz="685800"/>
            <a:r>
              <a:rPr lang="en-US" sz="1100" b="1">
                <a:ea typeface="Calibri" pitchFamily="34" charset="-122"/>
                <a:cs typeface="Calibri" pitchFamily="34" charset="-120"/>
              </a:rPr>
              <a:t>5</a:t>
            </a:r>
          </a:p>
        </p:txBody>
      </p:sp>
      <p:sp>
        <p:nvSpPr>
          <p:cNvPr id="22" name="Text 17">
            <a:extLst>
              <a:ext uri="{FF2B5EF4-FFF2-40B4-BE49-F238E27FC236}">
                <a16:creationId xmlns:a16="http://schemas.microsoft.com/office/drawing/2014/main" id="{50BFC1E7-82A0-B5A9-334D-09D7DBD5DF2D}"/>
              </a:ext>
            </a:extLst>
          </p:cNvPr>
          <p:cNvSpPr/>
          <p:nvPr/>
        </p:nvSpPr>
        <p:spPr>
          <a:xfrm>
            <a:off x="1028700" y="3703320"/>
            <a:ext cx="7406640" cy="445770"/>
          </a:xfrm>
          <a:prstGeom prst="rect">
            <a:avLst/>
          </a:prstGeom>
          <a:noFill/>
          <a:ln/>
        </p:spPr>
        <p:txBody>
          <a:bodyPr wrap="square" lIns="0" tIns="0" rIns="0" bIns="0" rtlCol="0" anchor="ctr"/>
          <a:lstStyle/>
          <a:p>
            <a:pPr defTabSz="685800"/>
            <a:r>
              <a:rPr lang="en-US" sz="1100">
                <a:ea typeface="Calibri" pitchFamily="34" charset="-122"/>
                <a:cs typeface="Calibri" pitchFamily="34" charset="-120"/>
              </a:rPr>
              <a:t>Measure by engine and by category </a:t>
            </a:r>
            <a:r>
              <a:rPr lang="pl-PL" sz="1100">
                <a:ea typeface="Calibri" pitchFamily="34" charset="-122"/>
                <a:cs typeface="Calibri" pitchFamily="34" charset="-120"/>
              </a:rPr>
              <a:t>-</a:t>
            </a:r>
            <a:r>
              <a:rPr lang="en-US" sz="1100">
                <a:ea typeface="Calibri" pitchFamily="34" charset="-122"/>
                <a:cs typeface="Calibri" pitchFamily="34" charset="-120"/>
              </a:rPr>
              <a:t> and expect a 2-week to 6-month timeline depending on the channel.</a:t>
            </a:r>
            <a:endParaRPr lang="en-US" sz="1100"/>
          </a:p>
        </p:txBody>
      </p:sp>
    </p:spTree>
    <p:extLst>
      <p:ext uri="{BB962C8B-B14F-4D97-AF65-F5344CB8AC3E}">
        <p14:creationId xmlns:p14="http://schemas.microsoft.com/office/powerpoint/2010/main" val="178911323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62D5C-CCAD-DA92-4E12-8979B471B61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7AF2195-BFF2-6830-9AE1-849DEEB1789D}"/>
              </a:ext>
            </a:extLst>
          </p:cNvPr>
          <p:cNvSpPr/>
          <p:nvPr/>
        </p:nvSpPr>
        <p:spPr>
          <a:xfrm>
            <a:off x="742950" y="1820791"/>
            <a:ext cx="7659831" cy="1661993"/>
          </a:xfrm>
          <a:prstGeom prst="rect">
            <a:avLst/>
          </a:prstGeom>
          <a:noFill/>
          <a:ln/>
        </p:spPr>
        <p:txBody>
          <a:bodyPr wrap="square" lIns="0" tIns="0" rIns="0" bIns="0" rtlCol="0" anchor="t">
            <a:spAutoFit/>
          </a:bodyPr>
          <a:lstStyle/>
          <a:p>
            <a:r>
              <a:rPr lang="pl-PL" sz="3600">
                <a:solidFill>
                  <a:schemeClr val="accent5"/>
                </a:solidFill>
              </a:rPr>
              <a:t>Chapter 11: Linking Structure to Enhance GEO – Internal and External</a:t>
            </a:r>
            <a:endParaRPr lang="en-US" sz="3600">
              <a:solidFill>
                <a:schemeClr val="accent5"/>
              </a:solidFill>
            </a:endParaRPr>
          </a:p>
        </p:txBody>
      </p:sp>
      <p:sp>
        <p:nvSpPr>
          <p:cNvPr id="5" name="Text 2">
            <a:extLst>
              <a:ext uri="{FF2B5EF4-FFF2-40B4-BE49-F238E27FC236}">
                <a16:creationId xmlns:a16="http://schemas.microsoft.com/office/drawing/2014/main" id="{CB7E344D-909A-E0E9-D40E-BA2EE0003E51}"/>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7812FDF8-BDF1-B387-0438-B8568506F1F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FB707709-7B4B-D650-B2BF-DC46415DEA8D}"/>
              </a:ext>
            </a:extLst>
          </p:cNvPr>
          <p:cNvSpPr>
            <a:spLocks noGrp="1"/>
          </p:cNvSpPr>
          <p:nvPr>
            <p:ph type="body" sz="quarter" idx="4294967295"/>
          </p:nvPr>
        </p:nvSpPr>
        <p:spPr>
          <a:xfrm>
            <a:off x="742950" y="4108450"/>
            <a:ext cx="6759286" cy="215900"/>
          </a:xfrm>
        </p:spPr>
        <p:txBody>
          <a:bodyPr/>
          <a:lstStyle/>
          <a:p>
            <a:r>
              <a:rPr lang="pl-PL"/>
              <a:t>Jakub Falkowski</a:t>
            </a:r>
          </a:p>
        </p:txBody>
      </p:sp>
    </p:spTree>
    <p:extLst>
      <p:ext uri="{BB962C8B-B14F-4D97-AF65-F5344CB8AC3E}">
        <p14:creationId xmlns:p14="http://schemas.microsoft.com/office/powerpoint/2010/main" val="37556507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271BB-E529-DFCD-8FD2-018D3BFD762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DAA93BF3-85D4-EF3B-8568-B679A2EBE12F}"/>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7E790DE8-B9B8-507F-50FB-BA89FC647004}"/>
              </a:ext>
            </a:extLst>
          </p:cNvPr>
          <p:cNvSpPr/>
          <p:nvPr/>
        </p:nvSpPr>
        <p:spPr>
          <a:xfrm>
            <a:off x="342900" y="192024"/>
            <a:ext cx="7886700" cy="377190"/>
          </a:xfrm>
          <a:prstGeom prst="rect">
            <a:avLst/>
          </a:prstGeom>
          <a:noFill/>
          <a:ln/>
        </p:spPr>
        <p:txBody>
          <a:bodyPr wrap="square" lIns="0" tIns="0" rIns="0" bIns="0" rtlCol="0" anchor="ctr"/>
          <a:lstStyle/>
          <a:p>
            <a:pPr marL="0" marR="0" lvl="0" indent="0" defTabSz="457184" rtl="0" eaLnBrk="1" fontAlgn="auto" latinLnBrk="0" hangingPunct="1">
              <a:lnSpc>
                <a:spcPct val="100000"/>
              </a:lnSpc>
              <a:spcBef>
                <a:spcPts val="0"/>
              </a:spcBef>
              <a:spcAft>
                <a:spcPts val="0"/>
              </a:spcAft>
              <a:buClrTx/>
              <a:buSzTx/>
              <a:buFontTx/>
              <a:buNone/>
              <a:tabLst/>
              <a:defRPr/>
            </a:pPr>
            <a:r>
              <a:rPr lang="pl-PL" sz="2200">
                <a:solidFill>
                  <a:srgbClr val="E7FFD9"/>
                </a:solidFill>
                <a:latin typeface="Poppins"/>
                <a:cs typeface="Arial"/>
              </a:rPr>
              <a:t>Link Building Evolution: </a:t>
            </a:r>
            <a:r>
              <a:rPr lang="en-US" sz="2200">
                <a:solidFill>
                  <a:srgbClr val="E7FFD9"/>
                </a:solidFill>
                <a:latin typeface="Poppins"/>
                <a:cs typeface="Arial"/>
              </a:rPr>
              <a:t>From </a:t>
            </a:r>
            <a:r>
              <a:rPr lang="pl-PL" sz="2200">
                <a:solidFill>
                  <a:srgbClr val="E7FFD9"/>
                </a:solidFill>
                <a:latin typeface="Poppins"/>
                <a:cs typeface="Arial"/>
              </a:rPr>
              <a:t>L</a:t>
            </a:r>
            <a:r>
              <a:rPr lang="en-US" sz="2200">
                <a:solidFill>
                  <a:srgbClr val="E7FFD9"/>
                </a:solidFill>
                <a:latin typeface="Poppins"/>
                <a:cs typeface="Arial"/>
              </a:rPr>
              <a:t>ink </a:t>
            </a:r>
            <a:r>
              <a:rPr lang="pl-PL" sz="2200">
                <a:solidFill>
                  <a:srgbClr val="E7FFD9"/>
                </a:solidFill>
                <a:latin typeface="Poppins"/>
                <a:cs typeface="Arial"/>
              </a:rPr>
              <a:t>E</a:t>
            </a:r>
            <a:r>
              <a:rPr lang="en-US" sz="2200" err="1">
                <a:solidFill>
                  <a:srgbClr val="E7FFD9"/>
                </a:solidFill>
                <a:latin typeface="Poppins"/>
                <a:cs typeface="Arial"/>
              </a:rPr>
              <a:t>quity</a:t>
            </a:r>
            <a:r>
              <a:rPr lang="en-US" sz="2200">
                <a:solidFill>
                  <a:srgbClr val="E7FFD9"/>
                </a:solidFill>
                <a:latin typeface="Poppins"/>
                <a:cs typeface="Arial"/>
              </a:rPr>
              <a:t> to AI trust</a:t>
            </a:r>
            <a:r>
              <a:rPr lang="pl-PL" sz="2200">
                <a:solidFill>
                  <a:srgbClr val="E7FFD9"/>
                </a:solidFill>
                <a:latin typeface="Poppins"/>
                <a:cs typeface="Arial"/>
              </a:rPr>
              <a:t> </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0C18DD4F-C8FB-D949-2C05-4516030C4A96}"/>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FFD9"/>
                </a:solidFill>
                <a:effectLst/>
                <a:uLnTx/>
                <a:uFillTx/>
                <a:latin typeface="Poppins"/>
                <a:ea typeface="+mn-ea"/>
                <a:cs typeface="Arial"/>
              </a:rPr>
              <a:t>SEO link building chased ranking position. GEO link building earns a citation inside an AI-generated answer.</a:t>
            </a:r>
          </a:p>
        </p:txBody>
      </p:sp>
      <p:sp>
        <p:nvSpPr>
          <p:cNvPr id="5" name="Footer Placeholder 4">
            <a:extLst>
              <a:ext uri="{FF2B5EF4-FFF2-40B4-BE49-F238E27FC236}">
                <a16:creationId xmlns:a16="http://schemas.microsoft.com/office/drawing/2014/main" id="{D3C036DF-727B-F1D9-941E-BF8FCF377CAF}"/>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16127C5F-1E60-9151-A74D-EEC8D232F350}"/>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112</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9" name="Table 8">
            <a:extLst>
              <a:ext uri="{FF2B5EF4-FFF2-40B4-BE49-F238E27FC236}">
                <a16:creationId xmlns:a16="http://schemas.microsoft.com/office/drawing/2014/main" id="{A5792C4F-ED3F-19FC-2CBB-60443E555287}"/>
              </a:ext>
            </a:extLst>
          </p:cNvPr>
          <p:cNvGraphicFramePr>
            <a:graphicFrameLocks noGrp="1"/>
          </p:cNvGraphicFramePr>
          <p:nvPr>
            <p:extLst>
              <p:ext uri="{D42A27DB-BD31-4B8C-83A1-F6EECF244321}">
                <p14:modId xmlns:p14="http://schemas.microsoft.com/office/powerpoint/2010/main" val="3370789222"/>
              </p:ext>
            </p:extLst>
          </p:nvPr>
        </p:nvGraphicFramePr>
        <p:xfrm>
          <a:off x="223979" y="2420968"/>
          <a:ext cx="6939517" cy="2259051"/>
        </p:xfrm>
        <a:graphic>
          <a:graphicData uri="http://schemas.openxmlformats.org/drawingml/2006/table">
            <a:tbl>
              <a:tblPr firstRow="1" bandRow="1">
                <a:tableStyleId>{5C22544A-7EE6-4342-B048-85BDC9FD1C3A}</a:tableStyleId>
              </a:tblPr>
              <a:tblGrid>
                <a:gridCol w="1302932">
                  <a:extLst>
                    <a:ext uri="{9D8B030D-6E8A-4147-A177-3AD203B41FA5}">
                      <a16:colId xmlns:a16="http://schemas.microsoft.com/office/drawing/2014/main" val="788542457"/>
                    </a:ext>
                  </a:extLst>
                </a:gridCol>
                <a:gridCol w="2863703">
                  <a:extLst>
                    <a:ext uri="{9D8B030D-6E8A-4147-A177-3AD203B41FA5}">
                      <a16:colId xmlns:a16="http://schemas.microsoft.com/office/drawing/2014/main" val="1082219581"/>
                    </a:ext>
                  </a:extLst>
                </a:gridCol>
                <a:gridCol w="2772882">
                  <a:extLst>
                    <a:ext uri="{9D8B030D-6E8A-4147-A177-3AD203B41FA5}">
                      <a16:colId xmlns:a16="http://schemas.microsoft.com/office/drawing/2014/main" val="3023339729"/>
                    </a:ext>
                  </a:extLst>
                </a:gridCol>
              </a:tblGrid>
              <a:tr h="277851">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endParaRPr kumimoji="0" lang="pl-PL" sz="1200" b="1" i="0" u="none" strike="noStrike" kern="1200" cap="none" spc="0" normalizeH="0" baseline="0" noProof="0">
                        <a:ln>
                          <a:noFill/>
                        </a:ln>
                        <a:solidFill>
                          <a:schemeClr val="accent5"/>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chemeClr val="tx1"/>
                          </a:solidFill>
                          <a:effectLst/>
                          <a:uLnTx/>
                          <a:uFillTx/>
                          <a:latin typeface="+mn-lt"/>
                          <a:ea typeface="+mn-ea"/>
                          <a:cs typeface="+mn-cs"/>
                        </a:rPr>
                        <a:t>SEO Link Building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GEO Link and Mention Building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372496">
                <a:tc>
                  <a:txBody>
                    <a:bodyPr/>
                    <a:lstStyle/>
                    <a:p>
                      <a:pPr lvl="0" algn="ctr"/>
                      <a:r>
                        <a:rPr kumimoji="0" lang="en-US" sz="1200" b="1" i="0" u="none" strike="noStrike" kern="1200" cap="none" spc="0" normalizeH="0" baseline="0" noProof="0">
                          <a:ln>
                            <a:noFill/>
                          </a:ln>
                          <a:solidFill>
                            <a:schemeClr val="accent5"/>
                          </a:solidFill>
                          <a:effectLst/>
                          <a:uLnTx/>
                          <a:uFillTx/>
                          <a:latin typeface="+mn-lt"/>
                          <a:ea typeface="+mn-ea"/>
                          <a:cs typeface="+mn-cs"/>
                        </a:rPr>
                        <a:t>Goal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C</a:t>
                      </a:r>
                      <a:r>
                        <a:rPr kumimoji="0" lang="en-US" sz="1000" b="0" i="0" u="none" strike="noStrike" kern="1200" cap="none" spc="0" normalizeH="0" baseline="0" noProof="0">
                          <a:ln>
                            <a:noFill/>
                          </a:ln>
                          <a:solidFill>
                            <a:srgbClr val="0A2F24"/>
                          </a:solidFill>
                          <a:effectLst/>
                          <a:uLnTx/>
                          <a:uFillTx/>
                          <a:latin typeface="+mn-lt"/>
                          <a:ea typeface="+mn-ea"/>
                          <a:cs typeface="+mn-cs"/>
                        </a:rPr>
                        <a:t>limb ranking position for target keywords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B</a:t>
                      </a:r>
                      <a:r>
                        <a:rPr kumimoji="0" lang="en-US" sz="1000" b="0" i="0" u="none" strike="noStrike" kern="1200" cap="none" spc="0" normalizeH="0" baseline="0" noProof="0">
                          <a:ln>
                            <a:noFill/>
                          </a:ln>
                          <a:solidFill>
                            <a:srgbClr val="0A2F24"/>
                          </a:solidFill>
                          <a:effectLst/>
                          <a:uLnTx/>
                          <a:uFillTx/>
                          <a:latin typeface="+mn-lt"/>
                          <a:ea typeface="+mn-ea"/>
                          <a:cs typeface="+mn-cs"/>
                        </a:rPr>
                        <a:t>e named/cited inside an AI-generated 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5"/>
                          </a:solidFill>
                          <a:effectLst/>
                          <a:uLnTx/>
                          <a:uFillTx/>
                          <a:latin typeface="+mn-lt"/>
                          <a:ea typeface="+mn-ea"/>
                          <a:cs typeface="+mn-cs"/>
                        </a:rPr>
                        <a:t>Unit of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T</a:t>
                      </a:r>
                      <a:r>
                        <a:rPr kumimoji="0" lang="en-US" sz="1000" b="0" i="0" u="none" strike="noStrike" kern="1200" cap="none" spc="0" normalizeH="0" baseline="0" noProof="0">
                          <a:ln>
                            <a:noFill/>
                          </a:ln>
                          <a:solidFill>
                            <a:srgbClr val="0A2F24"/>
                          </a:solidFill>
                          <a:effectLst/>
                          <a:uLnTx/>
                          <a:uFillTx/>
                          <a:latin typeface="+mn-lt"/>
                          <a:ea typeface="+mn-ea"/>
                          <a:cs typeface="+mn-cs"/>
                        </a:rPr>
                        <a:t>he hyperlink (link equity/ domain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T</a:t>
                      </a:r>
                      <a:r>
                        <a:rPr kumimoji="0" lang="en-US" sz="1000" b="0" i="0" u="none" strike="noStrike" kern="1200" cap="none" spc="0" normalizeH="0" baseline="0" noProof="0">
                          <a:ln>
                            <a:noFill/>
                          </a:ln>
                          <a:solidFill>
                            <a:srgbClr val="0A2F24"/>
                          </a:solidFill>
                          <a:effectLst/>
                          <a:uLnTx/>
                          <a:uFillTx/>
                          <a:latin typeface="+mn-lt"/>
                          <a:ea typeface="+mn-ea"/>
                          <a:cs typeface="+mn-cs"/>
                        </a:rPr>
                        <a:t>he brand-named passage on a trusted domain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a:ln>
                            <a:noFill/>
                          </a:ln>
                          <a:solidFill>
                            <a:schemeClr val="accent5"/>
                          </a:solidFill>
                          <a:effectLst/>
                          <a:uLnTx/>
                          <a:uFillTx/>
                          <a:latin typeface="+mn-lt"/>
                          <a:ea typeface="+mn-ea"/>
                          <a:cs typeface="+mn-cs"/>
                        </a:rPr>
                        <a:t>Reward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A</a:t>
                      </a:r>
                      <a:r>
                        <a:rPr kumimoji="0" lang="en-US" sz="1000" b="0" i="0" u="none" strike="noStrike" kern="1200" cap="none" spc="0" normalizeH="0" baseline="0">
                          <a:ln>
                            <a:noFill/>
                          </a:ln>
                          <a:solidFill>
                            <a:srgbClr val="0A2F24"/>
                          </a:solidFill>
                          <a:effectLst/>
                          <a:uLnTx/>
                          <a:uFillTx/>
                          <a:latin typeface="+mn-lt"/>
                          <a:ea typeface="+mn-ea"/>
                          <a:cs typeface="+mn-cs"/>
                        </a:rPr>
                        <a:t> blue-link click from a search results page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A</a:t>
                      </a:r>
                      <a:r>
                        <a:rPr kumimoji="0" lang="en-US" sz="1000" b="0" i="0" u="none" strike="noStrike" kern="1200" cap="none" spc="0" normalizeH="0" baseline="0">
                          <a:ln>
                            <a:noFill/>
                          </a:ln>
                          <a:solidFill>
                            <a:srgbClr val="0A2F24"/>
                          </a:solidFill>
                          <a:effectLst/>
                          <a:uLnTx/>
                          <a:uFillTx/>
                          <a:latin typeface="+mn-lt"/>
                          <a:ea typeface="+mn-ea"/>
                          <a:cs typeface="+mn-cs"/>
                        </a:rPr>
                        <a:t> direct citation or recommendation, often with no click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a:ln>
                            <a:noFill/>
                          </a:ln>
                          <a:solidFill>
                            <a:schemeClr val="accent5"/>
                          </a:solidFill>
                          <a:effectLst/>
                          <a:uLnTx/>
                          <a:uFillTx/>
                          <a:latin typeface="+mn-lt"/>
                          <a:ea typeface="+mn-ea"/>
                          <a:cs typeface="+mn-cs"/>
                        </a:rPr>
                        <a:t>Internal links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D</a:t>
                      </a:r>
                      <a:r>
                        <a:rPr kumimoji="0" lang="en-US" sz="1000" b="0" i="0" u="none" strike="noStrike" kern="1200" cap="none" spc="0" normalizeH="0" baseline="0" err="1">
                          <a:ln>
                            <a:noFill/>
                          </a:ln>
                          <a:solidFill>
                            <a:srgbClr val="0A2F24"/>
                          </a:solidFill>
                          <a:effectLst/>
                          <a:uLnTx/>
                          <a:uFillTx/>
                          <a:latin typeface="+mn-lt"/>
                          <a:ea typeface="+mn-ea"/>
                          <a:cs typeface="+mn-cs"/>
                        </a:rPr>
                        <a:t>istribute</a:t>
                      </a:r>
                      <a:r>
                        <a:rPr kumimoji="0" lang="en-US" sz="1000" b="0" i="0" u="none" strike="noStrike" kern="1200" cap="none" spc="0" normalizeH="0" baseline="0">
                          <a:ln>
                            <a:noFill/>
                          </a:ln>
                          <a:solidFill>
                            <a:srgbClr val="0A2F24"/>
                          </a:solidFill>
                          <a:effectLst/>
                          <a:uLnTx/>
                          <a:uFillTx/>
                          <a:latin typeface="+mn-lt"/>
                          <a:ea typeface="+mn-ea"/>
                          <a:cs typeface="+mn-cs"/>
                        </a:rPr>
                        <a:t> “link juice” to priority pages</a:t>
                      </a:r>
                      <a:endParaRPr kumimoji="0" lang="pl-PL"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P</a:t>
                      </a:r>
                      <a:r>
                        <a:rPr kumimoji="0" lang="en-US" sz="1000" b="0" i="0" u="none" strike="noStrike" kern="1200" cap="none" spc="0" normalizeH="0" baseline="0">
                          <a:ln>
                            <a:noFill/>
                          </a:ln>
                          <a:solidFill>
                            <a:srgbClr val="0A2F24"/>
                          </a:solidFill>
                          <a:effectLst/>
                          <a:uLnTx/>
                          <a:uFillTx/>
                          <a:latin typeface="+mn-lt"/>
                          <a:ea typeface="+mn-ea"/>
                          <a:cs typeface="+mn-cs"/>
                        </a:rPr>
                        <a:t>rove entity consistency across a topical knowledge graph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99167559"/>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chemeClr val="accent5"/>
                          </a:solidFill>
                          <a:effectLst/>
                          <a:uLnTx/>
                          <a:uFillTx/>
                          <a:latin typeface="+mn-lt"/>
                          <a:ea typeface="+mn-ea"/>
                          <a:cs typeface="+mn-cs"/>
                        </a:rPr>
                        <a:t>External links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Do</a:t>
                      </a:r>
                      <a:r>
                        <a:rPr kumimoji="0" lang="pl-PL" sz="1000" b="0" i="0" u="none" strike="noStrike" kern="1200" cap="none" spc="0" normalizeH="0" baseline="0">
                          <a:ln>
                            <a:noFill/>
                          </a:ln>
                          <a:solidFill>
                            <a:srgbClr val="0A2F24"/>
                          </a:solidFill>
                          <a:effectLst/>
                          <a:uLnTx/>
                          <a:uFillTx/>
                          <a:latin typeface="+mn-lt"/>
                          <a:ea typeface="+mn-ea"/>
                          <a:cs typeface="+mn-cs"/>
                        </a:rPr>
                        <a:t> </a:t>
                      </a:r>
                      <a:r>
                        <a:rPr kumimoji="0" lang="en-US" sz="1000" b="0" i="0" u="none" strike="noStrike" kern="1200" cap="none" spc="0" normalizeH="0" baseline="0">
                          <a:ln>
                            <a:noFill/>
                          </a:ln>
                          <a:solidFill>
                            <a:srgbClr val="0A2F24"/>
                          </a:solidFill>
                          <a:effectLst/>
                          <a:uLnTx/>
                          <a:uFillTx/>
                          <a:latin typeface="+mn-lt"/>
                          <a:ea typeface="+mn-ea"/>
                          <a:cs typeface="+mn-cs"/>
                        </a:rPr>
                        <a:t>follow backlinks from any authoritative domain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T</a:t>
                      </a:r>
                      <a:r>
                        <a:rPr kumimoji="0" lang="en-US" sz="1000" b="0" i="0" u="none" strike="noStrike" kern="1200" cap="none" spc="0" normalizeH="0" baseline="0" err="1">
                          <a:ln>
                            <a:noFill/>
                          </a:ln>
                          <a:solidFill>
                            <a:srgbClr val="0A2F24"/>
                          </a:solidFill>
                          <a:effectLst/>
                          <a:uLnTx/>
                          <a:uFillTx/>
                          <a:latin typeface="+mn-lt"/>
                          <a:ea typeface="+mn-ea"/>
                          <a:cs typeface="+mn-cs"/>
                        </a:rPr>
                        <a:t>hird</a:t>
                      </a:r>
                      <a:r>
                        <a:rPr kumimoji="0" lang="en-US" sz="1000" b="0" i="0" u="none" strike="noStrike" kern="1200" cap="none" spc="0" normalizeH="0" baseline="0">
                          <a:ln>
                            <a:noFill/>
                          </a:ln>
                          <a:solidFill>
                            <a:srgbClr val="0A2F24"/>
                          </a:solidFill>
                          <a:effectLst/>
                          <a:uLnTx/>
                          <a:uFillTx/>
                          <a:latin typeface="+mn-lt"/>
                          <a:ea typeface="+mn-ea"/>
                          <a:cs typeface="+mn-cs"/>
                        </a:rPr>
                        <a:t>-party corroboration </a:t>
                      </a:r>
                      <a:r>
                        <a:rPr kumimoji="0" lang="pl-PL" sz="1000" b="0" i="0" u="none" strike="noStrike" kern="1200" cap="none" spc="0" normalizeH="0" baseline="0">
                          <a:ln>
                            <a:noFill/>
                          </a:ln>
                          <a:solidFill>
                            <a:srgbClr val="0A2F24"/>
                          </a:solidFill>
                          <a:effectLst/>
                          <a:uLnTx/>
                          <a:uFillTx/>
                          <a:latin typeface="+mn-lt"/>
                          <a:ea typeface="+mn-ea"/>
                          <a:cs typeface="+mn-cs"/>
                        </a:rPr>
                        <a:t>-</a:t>
                      </a:r>
                      <a:r>
                        <a:rPr kumimoji="0" lang="en-US" sz="1000" b="0" i="0" u="none" strike="noStrike" kern="1200" cap="none" spc="0" normalizeH="0" baseline="0">
                          <a:ln>
                            <a:noFill/>
                          </a:ln>
                          <a:solidFill>
                            <a:srgbClr val="0A2F24"/>
                          </a:solidFill>
                          <a:effectLst/>
                          <a:uLnTx/>
                          <a:uFillTx/>
                          <a:latin typeface="+mn-lt"/>
                          <a:ea typeface="+mn-ea"/>
                          <a:cs typeface="+mn-cs"/>
                        </a:rPr>
                        <a:t> a link is a bonus, not a 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76559511"/>
                  </a:ext>
                </a:extLst>
              </a:tr>
            </a:tbl>
          </a:graphicData>
        </a:graphic>
      </p:graphicFrame>
      <p:sp>
        <p:nvSpPr>
          <p:cNvPr id="4" name="TextBox 3">
            <a:extLst>
              <a:ext uri="{FF2B5EF4-FFF2-40B4-BE49-F238E27FC236}">
                <a16:creationId xmlns:a16="http://schemas.microsoft.com/office/drawing/2014/main" id="{CE687A46-4A49-58D5-1C5E-A077D6A08CD8}"/>
              </a:ext>
            </a:extLst>
          </p:cNvPr>
          <p:cNvSpPr txBox="1"/>
          <p:nvPr/>
        </p:nvSpPr>
        <p:spPr>
          <a:xfrm>
            <a:off x="223979" y="1136907"/>
            <a:ext cx="8695814" cy="1200329"/>
          </a:xfrm>
          <a:prstGeom prst="rect">
            <a:avLst/>
          </a:prstGeom>
          <a:solidFill>
            <a:schemeClr val="accent5"/>
          </a:solidFill>
          <a:ln>
            <a:solidFill>
              <a:schemeClr val="tx1"/>
            </a:solidFill>
          </a:ln>
        </p:spPr>
        <p:txBody>
          <a:bodyPr wrap="square" lIns="91440" tIns="45720" rIns="91440" bIns="45720" anchor="t">
            <a:spAutoFit/>
          </a:bodyPr>
          <a:lstStyle/>
          <a:p>
            <a:pPr marL="0" marR="0" lvl="0" indent="0" defTabSz="457184" rtl="0" eaLnBrk="1" fontAlgn="auto" latinLnBrk="0" hangingPunct="1">
              <a:lnSpc>
                <a:spcPct val="100000"/>
              </a:lnSpc>
              <a:spcBef>
                <a:spcPts val="0"/>
              </a:spcBef>
              <a:spcAft>
                <a:spcPts val="0"/>
              </a:spcAft>
              <a:buClrTx/>
              <a:buSzTx/>
              <a:buFontTx/>
              <a:buNone/>
              <a:tabLst/>
              <a:defRPr/>
            </a:pPr>
            <a:r>
              <a:rPr kumimoji="0" lang="pl-PL" sz="1100" b="1" i="0" u="none" strike="noStrike" kern="1200" cap="none" spc="0" normalizeH="0" baseline="0" noProof="0">
                <a:ln>
                  <a:noFill/>
                </a:ln>
                <a:effectLst/>
                <a:uLnTx/>
                <a:uFillTx/>
                <a:latin typeface="Poppins"/>
                <a:ea typeface="+mn-ea"/>
                <a:cs typeface="+mn-cs"/>
              </a:rPr>
              <a:t>The change:</a:t>
            </a:r>
          </a:p>
          <a:p>
            <a:pPr marL="0" marR="0" lvl="0" indent="0" defTabSz="457184" rtl="0" eaLnBrk="1" fontAlgn="auto" latinLnBrk="0" hangingPunct="1">
              <a:lnSpc>
                <a:spcPct val="100000"/>
              </a:lnSpc>
              <a:spcBef>
                <a:spcPts val="0"/>
              </a:spcBef>
              <a:spcAft>
                <a:spcPts val="0"/>
              </a:spcAft>
              <a:buClrTx/>
              <a:buSzTx/>
              <a:buFontTx/>
              <a:buNone/>
              <a:tabLst/>
              <a:defRPr/>
            </a:pPr>
            <a:endParaRPr kumimoji="0" lang="pl-PL" sz="1100" b="1" i="0" u="none" strike="noStrike" kern="1200" cap="none" spc="0" normalizeH="0" baseline="0" noProof="0">
              <a:ln>
                <a:noFill/>
              </a:ln>
              <a:effectLst/>
              <a:uLnTx/>
              <a:uFillTx/>
              <a:latin typeface="Poppins"/>
              <a:ea typeface="+mn-ea"/>
              <a:cs typeface="+mn-cs"/>
            </a:endParaRPr>
          </a:p>
          <a:p>
            <a:pPr marL="171450" marR="0" lvl="0" indent="-171450"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effectLst/>
                <a:uLnTx/>
                <a:uFillTx/>
                <a:latin typeface="Poppins"/>
                <a:ea typeface="+mn-ea"/>
                <a:cs typeface="+mn-cs"/>
              </a:rPr>
              <a:t>Internal linking = the foundation</a:t>
            </a:r>
            <a:r>
              <a:rPr kumimoji="0" lang="en-US" sz="1000" b="0" i="0" u="none" strike="noStrike" kern="1200" cap="none" spc="0" normalizeH="0" baseline="0" noProof="0">
                <a:ln>
                  <a:noFill/>
                </a:ln>
                <a:effectLst/>
                <a:uLnTx/>
                <a:uFillTx/>
                <a:latin typeface="Poppins"/>
                <a:ea typeface="+mn-ea"/>
                <a:cs typeface="+mn-cs"/>
              </a:rPr>
              <a:t>. It makes Schneider Electric's own content coherent</a:t>
            </a:r>
            <a:r>
              <a:rPr kumimoji="0" lang="pl-PL" sz="1000" b="0" i="0" u="none" strike="noStrike" kern="1200" cap="none" spc="0" normalizeH="0" baseline="0" noProof="0">
                <a:ln>
                  <a:noFill/>
                </a:ln>
                <a:effectLst/>
                <a:uLnTx/>
                <a:uFillTx/>
                <a:latin typeface="Poppins"/>
                <a:ea typeface="+mn-ea"/>
                <a:cs typeface="+mn-cs"/>
              </a:rPr>
              <a:t>,</a:t>
            </a:r>
            <a:r>
              <a:rPr kumimoji="0" lang="en-US" sz="1000" b="0" i="0" u="none" strike="noStrike" kern="1200" cap="none" spc="0" normalizeH="0" baseline="0" noProof="0">
                <a:ln>
                  <a:noFill/>
                </a:ln>
                <a:effectLst/>
                <a:uLnTx/>
                <a:uFillTx/>
                <a:latin typeface="Poppins"/>
                <a:ea typeface="+mn-ea"/>
                <a:cs typeface="+mn-cs"/>
              </a:rPr>
              <a:t> consistent, and machine-legible. It mostly controls whether AI systems can understand and trust what we say about ourselves — necessary, but not the differentiator.</a:t>
            </a:r>
            <a:endParaRPr kumimoji="0" lang="pl-PL" sz="1000" b="1" i="0" u="none" strike="noStrike" kern="1200" cap="none" spc="0" normalizeH="0" baseline="0" noProof="0">
              <a:ln>
                <a:noFill/>
              </a:ln>
              <a:effectLst/>
              <a:uLnTx/>
              <a:uFillTx/>
              <a:latin typeface="Poppins"/>
              <a:ea typeface="+mn-ea"/>
              <a:cs typeface="+mn-cs"/>
            </a:endParaRPr>
          </a:p>
          <a:p>
            <a:pPr marL="171450" marR="0" lvl="0" indent="-171450"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effectLst/>
                <a:uLnTx/>
                <a:uFillTx/>
                <a:latin typeface="Poppins"/>
                <a:ea typeface="+mn-ea"/>
                <a:cs typeface="+mn-cs"/>
              </a:rPr>
              <a:t>External mentions </a:t>
            </a:r>
            <a:r>
              <a:rPr kumimoji="0" lang="pl-PL" sz="1000" b="1" i="0" u="none" strike="noStrike" kern="1200" cap="none" spc="0" normalizeH="0" baseline="0" noProof="0">
                <a:ln>
                  <a:noFill/>
                </a:ln>
                <a:effectLst/>
                <a:uLnTx/>
                <a:uFillTx/>
                <a:latin typeface="Poppins"/>
                <a:ea typeface="+mn-ea"/>
                <a:cs typeface="+mn-cs"/>
              </a:rPr>
              <a:t>(NOT links) </a:t>
            </a:r>
            <a:r>
              <a:rPr kumimoji="0" lang="en-US" sz="1000" b="1" i="0" u="none" strike="noStrike" kern="1200" cap="none" spc="0" normalizeH="0" baseline="0" noProof="0">
                <a:ln>
                  <a:noFill/>
                </a:ln>
                <a:effectLst/>
                <a:uLnTx/>
                <a:uFillTx/>
                <a:latin typeface="Poppins"/>
                <a:ea typeface="+mn-ea"/>
                <a:cs typeface="+mn-cs"/>
              </a:rPr>
              <a:t>= the dominant lever for citation</a:t>
            </a:r>
            <a:r>
              <a:rPr kumimoji="0" lang="en-US" sz="1000" b="0" i="0" u="none" strike="noStrike" kern="1200" cap="none" spc="0" normalizeH="0" baseline="0" noProof="0">
                <a:ln>
                  <a:noFill/>
                </a:ln>
                <a:effectLst/>
                <a:uLnTx/>
                <a:uFillTx/>
                <a:latin typeface="Poppins"/>
                <a:ea typeface="+mn-ea"/>
                <a:cs typeface="+mn-cs"/>
              </a:rPr>
              <a:t>. Third-party corroboration is what AI engines weigh most heavily when deciding whether to cite a brand at all.</a:t>
            </a:r>
            <a:r>
              <a:rPr lang="pl-PL" sz="1000">
                <a:latin typeface="Poppins"/>
              </a:rPr>
              <a:t> </a:t>
            </a:r>
            <a:r>
              <a:rPr lang="en-US" sz="1000">
                <a:latin typeface="Poppins"/>
              </a:rPr>
              <a:t>the message an external source uses to describe the brand matters more than whether it includes a clickable link.</a:t>
            </a:r>
            <a:endParaRPr kumimoji="0" lang="en-US" sz="1000" b="0" i="0" u="none" strike="noStrike" kern="1200" cap="none" spc="0" normalizeH="0" baseline="0" noProof="0">
              <a:ln>
                <a:noFill/>
              </a:ln>
              <a:effectLst/>
              <a:uLnTx/>
              <a:uFillTx/>
              <a:latin typeface="Poppins"/>
              <a:ea typeface="+mn-ea"/>
              <a:cs typeface="+mn-cs"/>
            </a:endParaRPr>
          </a:p>
        </p:txBody>
      </p:sp>
      <p:sp>
        <p:nvSpPr>
          <p:cNvPr id="10" name="TextBox 9">
            <a:extLst>
              <a:ext uri="{FF2B5EF4-FFF2-40B4-BE49-F238E27FC236}">
                <a16:creationId xmlns:a16="http://schemas.microsoft.com/office/drawing/2014/main" id="{CFD67E3D-7B43-CB4C-BE4F-C55217B6E942}"/>
              </a:ext>
            </a:extLst>
          </p:cNvPr>
          <p:cNvSpPr txBox="1"/>
          <p:nvPr/>
        </p:nvSpPr>
        <p:spPr>
          <a:xfrm>
            <a:off x="7307998" y="2496358"/>
            <a:ext cx="1611795" cy="2108269"/>
          </a:xfrm>
          <a:prstGeom prst="rect">
            <a:avLst/>
          </a:prstGeom>
          <a:solidFill>
            <a:schemeClr val="tx1"/>
          </a:solidFill>
          <a:ln>
            <a:noFill/>
          </a:ln>
        </p:spPr>
        <p:txBody>
          <a:bodyPr wrap="square" lIns="91440" tIns="45720" rIns="91440" bIns="45720" anchor="t">
            <a:spAutoFit/>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100" b="1" i="0" u="none" strike="noStrike" kern="1200" cap="none" spc="0" normalizeH="0" baseline="0" noProof="0">
                <a:ln>
                  <a:noFill/>
                </a:ln>
                <a:solidFill>
                  <a:srgbClr val="E7FFD9"/>
                </a:solidFill>
                <a:effectLst/>
                <a:uLnTx/>
                <a:uFillTx/>
                <a:latin typeface="Poppins"/>
                <a:ea typeface="+mn-ea"/>
                <a:cs typeface="+mn-cs"/>
              </a:rPr>
              <a:t>Important</a:t>
            </a:r>
            <a:r>
              <a:rPr kumimoji="0" lang="en-US" sz="1100" b="1" i="0" u="none" strike="noStrike" kern="1200" cap="none" spc="0" normalizeH="0" baseline="0" noProof="0">
                <a:ln>
                  <a:noFill/>
                </a:ln>
                <a:solidFill>
                  <a:srgbClr val="E7FFD9"/>
                </a:solidFill>
                <a:effectLst/>
                <a:uLnTx/>
                <a:uFillTx/>
                <a:latin typeface="Poppins"/>
                <a:ea typeface="+mn-ea"/>
                <a:cs typeface="+mn-cs"/>
              </a:rPr>
              <a:t>: </a:t>
            </a:r>
            <a:r>
              <a:rPr kumimoji="0" lang="en-US" sz="1000" b="0" i="0" u="none" strike="noStrike" kern="1200" cap="none" spc="0" normalizeH="0" baseline="0" noProof="0">
                <a:ln>
                  <a:noFill/>
                </a:ln>
                <a:solidFill>
                  <a:srgbClr val="E7FFD9"/>
                </a:solidFill>
                <a:effectLst/>
                <a:uLnTx/>
                <a:uFillTx/>
                <a:latin typeface="Poppins"/>
                <a:ea typeface="+mn-ea"/>
                <a:cs typeface="+mn-cs"/>
              </a:rPr>
              <a:t>A third party mention, matters more to an AI model than a link. It does not mean we do not need external links. Links still work for SEO and can direct users to our page. High quality content should work shoulder to shoulder with external linking</a:t>
            </a:r>
            <a:r>
              <a:rPr kumimoji="0" lang="pl-PL" sz="1000" b="0" i="0" u="none" strike="noStrike" kern="1200" cap="none" spc="0" normalizeH="0" baseline="0" noProof="0">
                <a:ln>
                  <a:noFill/>
                </a:ln>
                <a:solidFill>
                  <a:srgbClr val="E7FFD9"/>
                </a:solidFill>
                <a:effectLst/>
                <a:uLnTx/>
                <a:uFillTx/>
                <a:latin typeface="Poppins"/>
                <a:ea typeface="+mn-ea"/>
                <a:cs typeface="+mn-cs"/>
              </a:rPr>
              <a:t>.</a:t>
            </a:r>
          </a:p>
        </p:txBody>
      </p:sp>
    </p:spTree>
    <p:extLst>
      <p:ext uri="{BB962C8B-B14F-4D97-AF65-F5344CB8AC3E}">
        <p14:creationId xmlns:p14="http://schemas.microsoft.com/office/powerpoint/2010/main" val="20014869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81C0-E5A4-656D-709E-02FD3A4CF83D}"/>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57A5326A-944A-1DA7-7473-1184702AC3E5}"/>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58BBACA6-DF23-F2A6-7151-213895032AC9}"/>
              </a:ext>
            </a:extLst>
          </p:cNvPr>
          <p:cNvSpPr/>
          <p:nvPr/>
        </p:nvSpPr>
        <p:spPr>
          <a:xfrm>
            <a:off x="342900" y="192024"/>
            <a:ext cx="7886700" cy="377190"/>
          </a:xfrm>
          <a:prstGeom prst="rect">
            <a:avLst/>
          </a:prstGeom>
          <a:noFill/>
          <a:ln/>
        </p:spPr>
        <p:txBody>
          <a:bodyPr wrap="square" lIns="0" tIns="0" rIns="0" bIns="0" rtlCol="0" anchor="ctr"/>
          <a:lstStyle/>
          <a:p>
            <a:pPr marL="0" marR="0" lvl="0" indent="0" defTabSz="457184" rtl="0" eaLnBrk="1" fontAlgn="auto" latinLnBrk="0" hangingPunct="1">
              <a:lnSpc>
                <a:spcPct val="100000"/>
              </a:lnSpc>
              <a:spcBef>
                <a:spcPts val="0"/>
              </a:spcBef>
              <a:spcAft>
                <a:spcPts val="0"/>
              </a:spcAft>
              <a:buClrTx/>
              <a:buSzTx/>
              <a:buFontTx/>
              <a:buNone/>
              <a:tabLst/>
              <a:defRPr/>
            </a:pPr>
            <a:r>
              <a:rPr lang="en-US" sz="2200">
                <a:solidFill>
                  <a:srgbClr val="E7FFD9"/>
                </a:solidFill>
                <a:latin typeface="Poppins"/>
                <a:cs typeface="Arial"/>
              </a:rPr>
              <a:t>Internal linking: machine-legible knowledge graph</a:t>
            </a:r>
          </a:p>
        </p:txBody>
      </p:sp>
      <p:sp>
        <p:nvSpPr>
          <p:cNvPr id="12" name="Text 2">
            <a:extLst>
              <a:ext uri="{FF2B5EF4-FFF2-40B4-BE49-F238E27FC236}">
                <a16:creationId xmlns:a16="http://schemas.microsoft.com/office/drawing/2014/main" id="{F8C4B418-EE5C-3F91-35D7-7ADA35BA1450}"/>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I</a:t>
            </a:r>
            <a:r>
              <a:rPr kumimoji="0" lang="en-US" sz="1100" b="0" i="0" u="none" strike="noStrike" kern="1200" cap="none" spc="0" normalizeH="0" baseline="0" noProof="0" err="1">
                <a:ln>
                  <a:noFill/>
                </a:ln>
                <a:solidFill>
                  <a:srgbClr val="E7FFD9"/>
                </a:solidFill>
                <a:effectLst/>
                <a:uLnTx/>
                <a:uFillTx/>
                <a:latin typeface="Poppins"/>
                <a:ea typeface="+mn-ea"/>
                <a:cs typeface="Arial"/>
              </a:rPr>
              <a:t>nternal</a:t>
            </a:r>
            <a:r>
              <a:rPr kumimoji="0" lang="en-US" sz="1100" b="0" i="0" u="none" strike="noStrike" kern="1200" cap="none" spc="0" normalizeH="0" baseline="0" noProof="0">
                <a:ln>
                  <a:noFill/>
                </a:ln>
                <a:solidFill>
                  <a:srgbClr val="E7FFD9"/>
                </a:solidFill>
                <a:effectLst/>
                <a:uLnTx/>
                <a:uFillTx/>
                <a:latin typeface="Poppins"/>
                <a:ea typeface="+mn-ea"/>
                <a:cs typeface="Arial"/>
              </a:rPr>
              <a:t> link are no longer </a:t>
            </a:r>
            <a:r>
              <a:rPr kumimoji="0" lang="pl-PL" sz="1100" b="0" i="0" u="none" strike="noStrike" kern="1200" cap="none" spc="0" normalizeH="0" baseline="0" noProof="0">
                <a:ln>
                  <a:noFill/>
                </a:ln>
                <a:solidFill>
                  <a:srgbClr val="E7FFD9"/>
                </a:solidFill>
                <a:effectLst/>
                <a:uLnTx/>
                <a:uFillTx/>
                <a:latin typeface="Poppins"/>
                <a:ea typeface="+mn-ea"/>
                <a:cs typeface="Arial"/>
              </a:rPr>
              <a:t>about</a:t>
            </a:r>
            <a:r>
              <a:rPr kumimoji="0" lang="en-US" sz="1100" b="0" i="0" u="none" strike="noStrike" kern="1200" cap="none" spc="0" normalizeH="0" baseline="0" noProof="0">
                <a:ln>
                  <a:noFill/>
                </a:ln>
                <a:solidFill>
                  <a:srgbClr val="E7FFD9"/>
                </a:solidFill>
                <a:effectLst/>
                <a:uLnTx/>
                <a:uFillTx/>
                <a:latin typeface="Poppins"/>
                <a:ea typeface="+mn-ea"/>
                <a:cs typeface="Arial"/>
              </a:rPr>
              <a:t> “link juice.” It is to let AI retrieval systems confirm one claim against another across the site.</a:t>
            </a:r>
          </a:p>
        </p:txBody>
      </p:sp>
      <p:sp>
        <p:nvSpPr>
          <p:cNvPr id="5" name="Footer Placeholder 4">
            <a:extLst>
              <a:ext uri="{FF2B5EF4-FFF2-40B4-BE49-F238E27FC236}">
                <a16:creationId xmlns:a16="http://schemas.microsoft.com/office/drawing/2014/main" id="{3B4098D6-9556-0616-F059-A63812D7FA26}"/>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DAAC2924-8D34-584C-42EC-89A2AA42D732}"/>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113</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TextBox 1">
            <a:extLst>
              <a:ext uri="{FF2B5EF4-FFF2-40B4-BE49-F238E27FC236}">
                <a16:creationId xmlns:a16="http://schemas.microsoft.com/office/drawing/2014/main" id="{6363DF65-5F27-C421-91D5-794130A3ECA4}"/>
              </a:ext>
            </a:extLst>
          </p:cNvPr>
          <p:cNvSpPr txBox="1"/>
          <p:nvPr/>
        </p:nvSpPr>
        <p:spPr>
          <a:xfrm>
            <a:off x="6096000" y="1796578"/>
            <a:ext cx="2553740" cy="1815882"/>
          </a:xfrm>
          <a:prstGeom prst="rect">
            <a:avLst/>
          </a:prstGeom>
          <a:solidFill>
            <a:schemeClr val="accent5"/>
          </a:solidFill>
          <a:ln>
            <a:solidFill>
              <a:schemeClr val="tx1"/>
            </a:solidFill>
          </a:ln>
        </p:spPr>
        <p:txBody>
          <a:bodyPr wrap="square" lIns="91440" tIns="45720" rIns="91440" bIns="45720" anchor="t">
            <a:spAutoFit/>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effectLst/>
                <a:uLnTx/>
                <a:uFillTx/>
                <a:latin typeface="Poppins"/>
                <a:ea typeface="+mn-ea"/>
                <a:cs typeface="+mn-cs"/>
              </a:rPr>
              <a:t>Link by entity, not keyword</a:t>
            </a:r>
          </a:p>
          <a:p>
            <a:pPr marL="0" marR="0" lvl="0" indent="0" algn="ctr" defTabSz="457184" rtl="0" eaLnBrk="1" fontAlgn="auto" latinLnBrk="0" hangingPunct="1">
              <a:lnSpc>
                <a:spcPct val="100000"/>
              </a:lnSpc>
              <a:spcBef>
                <a:spcPts val="0"/>
              </a:spcBef>
              <a:spcAft>
                <a:spcPts val="0"/>
              </a:spcAft>
              <a:buClrTx/>
              <a:buSzTx/>
              <a:buFontTx/>
              <a:buNone/>
              <a:tabLst/>
              <a:defRPr/>
            </a:pPr>
            <a:endParaRPr kumimoji="0" lang="pl-PL" sz="1100" b="1" i="0" u="none" strike="noStrike" kern="1200" cap="none" spc="0" normalizeH="0" baseline="0" noProof="0">
              <a:ln>
                <a:noFill/>
              </a:ln>
              <a:effectLst/>
              <a:uLnTx/>
              <a:uFillTx/>
              <a:latin typeface="Poppins"/>
              <a:ea typeface="+mn-ea"/>
              <a:cs typeface="+mn-cs"/>
            </a:endParaRPr>
          </a:p>
          <a:p>
            <a:pPr marL="171450" marR="0" lvl="0" indent="-171450"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effectLst/>
                <a:uLnTx/>
                <a:uFillTx/>
                <a:latin typeface="Poppins"/>
                <a:ea typeface="+mn-ea"/>
                <a:cs typeface="+mn-cs"/>
              </a:rPr>
              <a:t>Same product/program always links to one canonical page</a:t>
            </a:r>
            <a:endParaRPr kumimoji="0" lang="pl-PL" sz="1000" b="0" i="0" u="none" strike="noStrike" kern="1200" cap="none" spc="0" normalizeH="0" baseline="0" noProof="0">
              <a:ln>
                <a:noFill/>
              </a:ln>
              <a:effectLst/>
              <a:uLnTx/>
              <a:uFillTx/>
              <a:latin typeface="Poppins"/>
              <a:ea typeface="+mn-ea"/>
              <a:cs typeface="+mn-cs"/>
            </a:endParaRPr>
          </a:p>
          <a:p>
            <a:pPr marL="171450" marR="0" lvl="0" indent="-171450"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effectLst/>
                <a:uLnTx/>
                <a:uFillTx/>
                <a:latin typeface="Poppins"/>
                <a:ea typeface="+mn-ea"/>
                <a:cs typeface="+mn-cs"/>
              </a:rPr>
              <a:t>Anchor text reads like a real answer, not “click here”</a:t>
            </a:r>
          </a:p>
          <a:p>
            <a:pPr marL="171450" marR="0" lvl="0" indent="-171450"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effectLst/>
                <a:uLnTx/>
                <a:uFillTx/>
                <a:latin typeface="Poppins"/>
                <a:ea typeface="+mn-ea"/>
                <a:cs typeface="+mn-cs"/>
              </a:rPr>
              <a:t>Every hub page opens with a 40</a:t>
            </a:r>
            <a:r>
              <a:rPr kumimoji="0" lang="pl-PL" sz="1000" b="0" i="0" u="none" strike="noStrike" kern="1200" cap="none" spc="0" normalizeH="0" baseline="0" noProof="0">
                <a:ln>
                  <a:noFill/>
                </a:ln>
                <a:effectLst/>
                <a:uLnTx/>
                <a:uFillTx/>
                <a:latin typeface="Poppins"/>
                <a:ea typeface="+mn-ea"/>
                <a:cs typeface="+mn-cs"/>
              </a:rPr>
              <a:t>-</a:t>
            </a:r>
            <a:r>
              <a:rPr kumimoji="0" lang="en-US" sz="1000" b="0" i="0" u="none" strike="noStrike" kern="1200" cap="none" spc="0" normalizeH="0" baseline="0" noProof="0">
                <a:ln>
                  <a:noFill/>
                </a:ln>
                <a:effectLst/>
                <a:uLnTx/>
                <a:uFillTx/>
                <a:latin typeface="Poppins"/>
                <a:ea typeface="+mn-ea"/>
                <a:cs typeface="+mn-cs"/>
              </a:rPr>
              <a:t>60 word extractable definition</a:t>
            </a:r>
          </a:p>
          <a:p>
            <a:pPr marL="171450" marR="0" lvl="0" indent="-171450" defTabSz="45718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effectLst/>
                <a:uLnTx/>
                <a:uFillTx/>
                <a:latin typeface="Poppins"/>
                <a:ea typeface="+mn-ea"/>
                <a:cs typeface="+mn-cs"/>
              </a:rPr>
              <a:t>No orphaned pages </a:t>
            </a:r>
            <a:r>
              <a:rPr kumimoji="0" lang="pl-PL" sz="1000" b="0" i="0" u="none" strike="noStrike" kern="1200" cap="none" spc="0" normalizeH="0" baseline="0" noProof="0">
                <a:ln>
                  <a:noFill/>
                </a:ln>
                <a:effectLst/>
                <a:uLnTx/>
                <a:uFillTx/>
                <a:latin typeface="Poppins"/>
                <a:ea typeface="+mn-ea"/>
                <a:cs typeface="+mn-cs"/>
              </a:rPr>
              <a:t>–</a:t>
            </a:r>
            <a:r>
              <a:rPr kumimoji="0" lang="en-US" sz="1000" b="0" i="0" u="none" strike="noStrike" kern="1200" cap="none" spc="0" normalizeH="0" baseline="0" noProof="0">
                <a:ln>
                  <a:noFill/>
                </a:ln>
                <a:effectLst/>
                <a:uLnTx/>
                <a:uFillTx/>
                <a:latin typeface="Poppins"/>
                <a:ea typeface="+mn-ea"/>
                <a:cs typeface="+mn-cs"/>
              </a:rPr>
              <a:t> </a:t>
            </a:r>
            <a:r>
              <a:rPr lang="pl-PL" sz="1000">
                <a:latin typeface="Poppins"/>
              </a:rPr>
              <a:t>every page should be connected to the structure</a:t>
            </a:r>
            <a:endParaRPr kumimoji="0" lang="en-US" sz="1000" b="0" i="0" u="none" strike="noStrike" kern="1200" cap="none" spc="0" normalizeH="0" baseline="0" noProof="0">
              <a:ln>
                <a:noFill/>
              </a:ln>
              <a:effectLst/>
              <a:uLnTx/>
              <a:uFillTx/>
              <a:latin typeface="Poppins"/>
              <a:ea typeface="+mn-ea"/>
              <a:cs typeface="+mn-cs"/>
            </a:endParaRPr>
          </a:p>
        </p:txBody>
      </p:sp>
      <p:sp>
        <p:nvSpPr>
          <p:cNvPr id="4" name="Shape 2">
            <a:extLst>
              <a:ext uri="{FF2B5EF4-FFF2-40B4-BE49-F238E27FC236}">
                <a16:creationId xmlns:a16="http://schemas.microsoft.com/office/drawing/2014/main" id="{91E09788-33E4-6631-79B9-8969B19C0C15}"/>
              </a:ext>
            </a:extLst>
          </p:cNvPr>
          <p:cNvSpPr/>
          <p:nvPr/>
        </p:nvSpPr>
        <p:spPr>
          <a:xfrm>
            <a:off x="2249930" y="1649861"/>
            <a:ext cx="1577340" cy="1577340"/>
          </a:xfrm>
          <a:prstGeom prst="ellipse">
            <a:avLst/>
          </a:prstGeom>
          <a:solidFill>
            <a:srgbClr val="123524"/>
          </a:solidFill>
          <a:ln/>
          <a:effectLst>
            <a:outerShdw blurRad="76200" dist="25400" dir="5400000" algn="bl" rotWithShape="0">
              <a:srgbClr val="0B1A12">
                <a:alpha val="25000"/>
              </a:srgbClr>
            </a:outerShdw>
          </a:effectLst>
        </p:spPr>
        <p:txBody>
          <a:bodyPr/>
          <a:lstStyle/>
          <a:p>
            <a:pPr defTabSz="685800"/>
            <a:endParaRPr lang="pl-PL" sz="1350">
              <a:solidFill>
                <a:prstClr val="black"/>
              </a:solidFill>
              <a:latin typeface="Calibri" panose="020F0502020204030204"/>
            </a:endParaRPr>
          </a:p>
        </p:txBody>
      </p:sp>
      <p:sp>
        <p:nvSpPr>
          <p:cNvPr id="13" name="Shape 4">
            <a:extLst>
              <a:ext uri="{FF2B5EF4-FFF2-40B4-BE49-F238E27FC236}">
                <a16:creationId xmlns:a16="http://schemas.microsoft.com/office/drawing/2014/main" id="{4493CA42-4CEA-BBE0-69CE-D6348C46A229}"/>
              </a:ext>
            </a:extLst>
          </p:cNvPr>
          <p:cNvSpPr/>
          <p:nvPr/>
        </p:nvSpPr>
        <p:spPr>
          <a:xfrm flipH="1">
            <a:off x="1008611" y="2438531"/>
            <a:ext cx="2029990" cy="531977"/>
          </a:xfrm>
          <a:prstGeom prst="line">
            <a:avLst/>
          </a:prstGeom>
          <a:noFill/>
          <a:ln w="19050">
            <a:solidFill>
              <a:schemeClr val="bg2"/>
            </a:solidFill>
            <a:prstDash val="sysDot"/>
          </a:ln>
        </p:spPr>
        <p:txBody>
          <a:bodyPr/>
          <a:lstStyle/>
          <a:p>
            <a:pPr defTabSz="685800"/>
            <a:endParaRPr lang="pl-PL" sz="1350">
              <a:solidFill>
                <a:prstClr val="black"/>
              </a:solidFill>
              <a:latin typeface="Calibri" panose="020F0502020204030204"/>
            </a:endParaRPr>
          </a:p>
        </p:txBody>
      </p:sp>
      <p:sp>
        <p:nvSpPr>
          <p:cNvPr id="14" name="Shape 5">
            <a:extLst>
              <a:ext uri="{FF2B5EF4-FFF2-40B4-BE49-F238E27FC236}">
                <a16:creationId xmlns:a16="http://schemas.microsoft.com/office/drawing/2014/main" id="{140C35EF-EA09-D473-AFA1-213893554BC1}"/>
              </a:ext>
            </a:extLst>
          </p:cNvPr>
          <p:cNvSpPr/>
          <p:nvPr/>
        </p:nvSpPr>
        <p:spPr>
          <a:xfrm flipH="1" flipV="1">
            <a:off x="1008611" y="1906554"/>
            <a:ext cx="2029990" cy="531977"/>
          </a:xfrm>
          <a:prstGeom prst="line">
            <a:avLst/>
          </a:prstGeom>
          <a:noFill/>
          <a:ln w="19050">
            <a:solidFill>
              <a:schemeClr val="bg2"/>
            </a:solidFill>
            <a:prstDash val="sysDot"/>
          </a:ln>
        </p:spPr>
        <p:txBody>
          <a:bodyPr/>
          <a:lstStyle/>
          <a:p>
            <a:pPr defTabSz="685800"/>
            <a:endParaRPr lang="pl-PL" sz="1350">
              <a:solidFill>
                <a:prstClr val="black"/>
              </a:solidFill>
              <a:latin typeface="Calibri" panose="020F0502020204030204"/>
            </a:endParaRPr>
          </a:p>
        </p:txBody>
      </p:sp>
      <p:sp>
        <p:nvSpPr>
          <p:cNvPr id="15" name="Shape 6">
            <a:extLst>
              <a:ext uri="{FF2B5EF4-FFF2-40B4-BE49-F238E27FC236}">
                <a16:creationId xmlns:a16="http://schemas.microsoft.com/office/drawing/2014/main" id="{A93F2CE8-C0D9-80FD-94C5-0EA9FD14EE46}"/>
              </a:ext>
            </a:extLst>
          </p:cNvPr>
          <p:cNvSpPr/>
          <p:nvPr/>
        </p:nvSpPr>
        <p:spPr>
          <a:xfrm flipV="1">
            <a:off x="3038600" y="1906554"/>
            <a:ext cx="2029990" cy="531977"/>
          </a:xfrm>
          <a:prstGeom prst="line">
            <a:avLst/>
          </a:prstGeom>
          <a:noFill/>
          <a:ln w="19050">
            <a:solidFill>
              <a:schemeClr val="bg2"/>
            </a:solidFill>
            <a:prstDash val="sysDot"/>
          </a:ln>
        </p:spPr>
        <p:txBody>
          <a:bodyPr/>
          <a:lstStyle/>
          <a:p>
            <a:pPr defTabSz="685800"/>
            <a:endParaRPr lang="pl-PL" sz="1350">
              <a:solidFill>
                <a:prstClr val="black"/>
              </a:solidFill>
              <a:latin typeface="Calibri" panose="020F0502020204030204"/>
            </a:endParaRPr>
          </a:p>
        </p:txBody>
      </p:sp>
      <p:sp>
        <p:nvSpPr>
          <p:cNvPr id="16" name="Shape 7">
            <a:extLst>
              <a:ext uri="{FF2B5EF4-FFF2-40B4-BE49-F238E27FC236}">
                <a16:creationId xmlns:a16="http://schemas.microsoft.com/office/drawing/2014/main" id="{C2A7801F-15DB-2C5A-0441-B3EF908E083D}"/>
              </a:ext>
            </a:extLst>
          </p:cNvPr>
          <p:cNvSpPr/>
          <p:nvPr/>
        </p:nvSpPr>
        <p:spPr>
          <a:xfrm>
            <a:off x="3038600" y="2438531"/>
            <a:ext cx="2029990" cy="531977"/>
          </a:xfrm>
          <a:prstGeom prst="line">
            <a:avLst/>
          </a:prstGeom>
          <a:noFill/>
          <a:ln w="19050">
            <a:solidFill>
              <a:schemeClr val="bg2"/>
            </a:solidFill>
            <a:prstDash val="sysDot"/>
          </a:ln>
        </p:spPr>
        <p:txBody>
          <a:bodyPr/>
          <a:lstStyle/>
          <a:p>
            <a:pPr defTabSz="685800"/>
            <a:endParaRPr lang="pl-PL" sz="1350">
              <a:solidFill>
                <a:prstClr val="black"/>
              </a:solidFill>
              <a:latin typeface="Calibri" panose="020F0502020204030204"/>
            </a:endParaRPr>
          </a:p>
        </p:txBody>
      </p:sp>
      <p:sp>
        <p:nvSpPr>
          <p:cNvPr id="17" name="Shape 8">
            <a:extLst>
              <a:ext uri="{FF2B5EF4-FFF2-40B4-BE49-F238E27FC236}">
                <a16:creationId xmlns:a16="http://schemas.microsoft.com/office/drawing/2014/main" id="{2BBB66C9-EAA4-FBC7-C4A8-56AD81BE7C70}"/>
              </a:ext>
            </a:extLst>
          </p:cNvPr>
          <p:cNvSpPr/>
          <p:nvPr/>
        </p:nvSpPr>
        <p:spPr>
          <a:xfrm flipH="1">
            <a:off x="3038600" y="2438532"/>
            <a:ext cx="0" cy="1555394"/>
          </a:xfrm>
          <a:prstGeom prst="line">
            <a:avLst/>
          </a:prstGeom>
          <a:noFill/>
          <a:ln w="19050">
            <a:solidFill>
              <a:schemeClr val="bg2"/>
            </a:solidFill>
            <a:prstDash val="sysDot"/>
          </a:ln>
        </p:spPr>
        <p:txBody>
          <a:bodyPr/>
          <a:lstStyle/>
          <a:p>
            <a:pPr defTabSz="685800"/>
            <a:endParaRPr lang="pl-PL" sz="1350">
              <a:solidFill>
                <a:prstClr val="black"/>
              </a:solidFill>
              <a:latin typeface="Calibri" panose="020F0502020204030204"/>
            </a:endParaRPr>
          </a:p>
        </p:txBody>
      </p:sp>
      <p:sp>
        <p:nvSpPr>
          <p:cNvPr id="18" name="Shape 9">
            <a:extLst>
              <a:ext uri="{FF2B5EF4-FFF2-40B4-BE49-F238E27FC236}">
                <a16:creationId xmlns:a16="http://schemas.microsoft.com/office/drawing/2014/main" id="{31F9A10E-DB09-5849-0B32-EB7CED12CEAB}"/>
              </a:ext>
            </a:extLst>
          </p:cNvPr>
          <p:cNvSpPr/>
          <p:nvPr/>
        </p:nvSpPr>
        <p:spPr>
          <a:xfrm>
            <a:off x="494260" y="2682472"/>
            <a:ext cx="1028700" cy="576072"/>
          </a:xfrm>
          <a:prstGeom prst="roundRect">
            <a:avLst>
              <a:gd name="adj" fmla="val 11905"/>
            </a:avLst>
          </a:prstGeom>
          <a:solidFill>
            <a:schemeClr val="accent5"/>
          </a:solidFill>
          <a:ln w="22225">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19" name="Text 10">
            <a:extLst>
              <a:ext uri="{FF2B5EF4-FFF2-40B4-BE49-F238E27FC236}">
                <a16:creationId xmlns:a16="http://schemas.microsoft.com/office/drawing/2014/main" id="{29FE1024-8A66-B72F-4F2B-0A4D8C494509}"/>
              </a:ext>
            </a:extLst>
          </p:cNvPr>
          <p:cNvSpPr/>
          <p:nvPr/>
        </p:nvSpPr>
        <p:spPr>
          <a:xfrm>
            <a:off x="494260" y="2682472"/>
            <a:ext cx="1028700" cy="576072"/>
          </a:xfrm>
          <a:prstGeom prst="rect">
            <a:avLst/>
          </a:prstGeom>
          <a:noFill/>
          <a:ln/>
        </p:spPr>
        <p:txBody>
          <a:bodyPr wrap="square" rtlCol="0" anchor="ctr"/>
          <a:lstStyle/>
          <a:p>
            <a:pPr algn="ctr" defTabSz="685800"/>
            <a:r>
              <a:rPr lang="en-US" sz="1000">
                <a:solidFill>
                  <a:schemeClr val="dk1"/>
                </a:solidFill>
              </a:rPr>
              <a:t>Product page</a:t>
            </a:r>
          </a:p>
        </p:txBody>
      </p:sp>
      <p:sp>
        <p:nvSpPr>
          <p:cNvPr id="20" name="Shape 11">
            <a:extLst>
              <a:ext uri="{FF2B5EF4-FFF2-40B4-BE49-F238E27FC236}">
                <a16:creationId xmlns:a16="http://schemas.microsoft.com/office/drawing/2014/main" id="{7704F090-478F-2A7D-1F0D-1E00BA335AA0}"/>
              </a:ext>
            </a:extLst>
          </p:cNvPr>
          <p:cNvSpPr/>
          <p:nvPr/>
        </p:nvSpPr>
        <p:spPr>
          <a:xfrm>
            <a:off x="494260" y="1618519"/>
            <a:ext cx="1028700" cy="576072"/>
          </a:xfrm>
          <a:prstGeom prst="roundRect">
            <a:avLst>
              <a:gd name="adj" fmla="val 11905"/>
            </a:avLst>
          </a:prstGeom>
          <a:solidFill>
            <a:schemeClr val="accent5"/>
          </a:solidFill>
          <a:ln w="22225">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21" name="Text 12">
            <a:extLst>
              <a:ext uri="{FF2B5EF4-FFF2-40B4-BE49-F238E27FC236}">
                <a16:creationId xmlns:a16="http://schemas.microsoft.com/office/drawing/2014/main" id="{F7C79276-7AB9-5740-5CB2-00649D6DA26A}"/>
              </a:ext>
            </a:extLst>
          </p:cNvPr>
          <p:cNvSpPr/>
          <p:nvPr/>
        </p:nvSpPr>
        <p:spPr>
          <a:xfrm>
            <a:off x="494260" y="1618519"/>
            <a:ext cx="1028700" cy="576072"/>
          </a:xfrm>
          <a:prstGeom prst="rect">
            <a:avLst/>
          </a:prstGeom>
          <a:noFill/>
          <a:ln/>
        </p:spPr>
        <p:txBody>
          <a:bodyPr wrap="square" rtlCol="0" anchor="ctr"/>
          <a:lstStyle/>
          <a:p>
            <a:pPr algn="ctr" defTabSz="685800"/>
            <a:r>
              <a:rPr lang="en-US" sz="1000">
                <a:solidFill>
                  <a:schemeClr val="dk1"/>
                </a:solidFill>
              </a:rPr>
              <a:t>Technical</a:t>
            </a:r>
          </a:p>
          <a:p>
            <a:pPr algn="ctr" defTabSz="685800"/>
            <a:r>
              <a:rPr lang="en-US" sz="1000">
                <a:solidFill>
                  <a:schemeClr val="dk1"/>
                </a:solidFill>
              </a:rPr>
              <a:t>spec sheet</a:t>
            </a:r>
          </a:p>
        </p:txBody>
      </p:sp>
      <p:sp>
        <p:nvSpPr>
          <p:cNvPr id="22" name="Shape 13">
            <a:extLst>
              <a:ext uri="{FF2B5EF4-FFF2-40B4-BE49-F238E27FC236}">
                <a16:creationId xmlns:a16="http://schemas.microsoft.com/office/drawing/2014/main" id="{6F0F6537-1DB4-3B90-B8B8-C3BCB5D670BA}"/>
              </a:ext>
            </a:extLst>
          </p:cNvPr>
          <p:cNvSpPr/>
          <p:nvPr/>
        </p:nvSpPr>
        <p:spPr>
          <a:xfrm>
            <a:off x="4554240" y="1618519"/>
            <a:ext cx="1028700" cy="576072"/>
          </a:xfrm>
          <a:prstGeom prst="roundRect">
            <a:avLst>
              <a:gd name="adj" fmla="val 11905"/>
            </a:avLst>
          </a:prstGeom>
          <a:solidFill>
            <a:schemeClr val="accent5"/>
          </a:solidFill>
          <a:ln w="22225">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23" name="Text 14">
            <a:extLst>
              <a:ext uri="{FF2B5EF4-FFF2-40B4-BE49-F238E27FC236}">
                <a16:creationId xmlns:a16="http://schemas.microsoft.com/office/drawing/2014/main" id="{62CDDDC6-6E53-28A2-9B2A-E896679C703A}"/>
              </a:ext>
            </a:extLst>
          </p:cNvPr>
          <p:cNvSpPr/>
          <p:nvPr/>
        </p:nvSpPr>
        <p:spPr>
          <a:xfrm>
            <a:off x="4554240" y="1618519"/>
            <a:ext cx="1028700" cy="576072"/>
          </a:xfrm>
          <a:prstGeom prst="rect">
            <a:avLst/>
          </a:prstGeom>
          <a:noFill/>
          <a:ln/>
        </p:spPr>
        <p:txBody>
          <a:bodyPr wrap="square" rtlCol="0" anchor="ctr"/>
          <a:lstStyle/>
          <a:p>
            <a:pPr algn="ctr" defTabSz="685800"/>
            <a:r>
              <a:rPr lang="en-US" sz="1000">
                <a:solidFill>
                  <a:schemeClr val="dk1"/>
                </a:solidFill>
              </a:rPr>
              <a:t>Customer</a:t>
            </a:r>
          </a:p>
          <a:p>
            <a:pPr algn="ctr" defTabSz="685800"/>
            <a:r>
              <a:rPr lang="en-US" sz="1000">
                <a:solidFill>
                  <a:schemeClr val="dk1"/>
                </a:solidFill>
              </a:rPr>
              <a:t>case study</a:t>
            </a:r>
          </a:p>
        </p:txBody>
      </p:sp>
      <p:sp>
        <p:nvSpPr>
          <p:cNvPr id="24" name="Shape 15">
            <a:extLst>
              <a:ext uri="{FF2B5EF4-FFF2-40B4-BE49-F238E27FC236}">
                <a16:creationId xmlns:a16="http://schemas.microsoft.com/office/drawing/2014/main" id="{C486DB51-5390-0559-42C3-2430DA905A51}"/>
              </a:ext>
            </a:extLst>
          </p:cNvPr>
          <p:cNvSpPr/>
          <p:nvPr/>
        </p:nvSpPr>
        <p:spPr>
          <a:xfrm>
            <a:off x="4554240" y="2682472"/>
            <a:ext cx="1028700" cy="576072"/>
          </a:xfrm>
          <a:prstGeom prst="roundRect">
            <a:avLst>
              <a:gd name="adj" fmla="val 11905"/>
            </a:avLst>
          </a:prstGeom>
          <a:solidFill>
            <a:schemeClr val="accent5"/>
          </a:solidFill>
          <a:ln w="22225">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25" name="Text 16">
            <a:extLst>
              <a:ext uri="{FF2B5EF4-FFF2-40B4-BE49-F238E27FC236}">
                <a16:creationId xmlns:a16="http://schemas.microsoft.com/office/drawing/2014/main" id="{AE7C2107-464D-4CD5-9810-533B8C76BC1E}"/>
              </a:ext>
            </a:extLst>
          </p:cNvPr>
          <p:cNvSpPr/>
          <p:nvPr/>
        </p:nvSpPr>
        <p:spPr>
          <a:xfrm>
            <a:off x="4554240" y="2682472"/>
            <a:ext cx="1028700" cy="576072"/>
          </a:xfrm>
          <a:prstGeom prst="rect">
            <a:avLst/>
          </a:prstGeom>
          <a:noFill/>
          <a:ln/>
        </p:spPr>
        <p:txBody>
          <a:bodyPr wrap="square" rtlCol="0" anchor="ctr"/>
          <a:lstStyle/>
          <a:p>
            <a:pPr algn="ctr" defTabSz="685800"/>
            <a:r>
              <a:rPr lang="pl-PL" sz="1000">
                <a:solidFill>
                  <a:schemeClr val="dk1"/>
                </a:solidFill>
              </a:rPr>
              <a:t>R</a:t>
            </a:r>
            <a:r>
              <a:rPr lang="en-US" sz="1000" err="1">
                <a:solidFill>
                  <a:schemeClr val="dk1"/>
                </a:solidFill>
              </a:rPr>
              <a:t>egulatory</a:t>
            </a:r>
            <a:r>
              <a:rPr lang="en-US" sz="1000">
                <a:solidFill>
                  <a:schemeClr val="dk1"/>
                </a:solidFill>
              </a:rPr>
              <a:t> page</a:t>
            </a:r>
          </a:p>
        </p:txBody>
      </p:sp>
      <p:sp>
        <p:nvSpPr>
          <p:cNvPr id="26" name="Shape 17">
            <a:extLst>
              <a:ext uri="{FF2B5EF4-FFF2-40B4-BE49-F238E27FC236}">
                <a16:creationId xmlns:a16="http://schemas.microsoft.com/office/drawing/2014/main" id="{70091EFD-15CA-5BCE-DE69-28D1B825BD25}"/>
              </a:ext>
            </a:extLst>
          </p:cNvPr>
          <p:cNvSpPr/>
          <p:nvPr/>
        </p:nvSpPr>
        <p:spPr>
          <a:xfrm>
            <a:off x="2524250" y="3705889"/>
            <a:ext cx="1028700" cy="576072"/>
          </a:xfrm>
          <a:prstGeom prst="roundRect">
            <a:avLst>
              <a:gd name="adj" fmla="val 11905"/>
            </a:avLst>
          </a:prstGeom>
          <a:solidFill>
            <a:schemeClr val="accent5"/>
          </a:solidFill>
          <a:ln w="22225">
            <a:solidFill>
              <a:schemeClr val="tx1"/>
            </a:solidFill>
            <a:prstDash val="solid"/>
          </a:ln>
        </p:spPr>
        <p:txBody>
          <a:bodyPr/>
          <a:lstStyle/>
          <a:p>
            <a:pPr defTabSz="685800"/>
            <a:endParaRPr lang="pl-PL" sz="1350">
              <a:solidFill>
                <a:prstClr val="black"/>
              </a:solidFill>
              <a:latin typeface="Calibri" panose="020F0502020204030204"/>
            </a:endParaRPr>
          </a:p>
        </p:txBody>
      </p:sp>
      <p:sp>
        <p:nvSpPr>
          <p:cNvPr id="27" name="Text 18">
            <a:extLst>
              <a:ext uri="{FF2B5EF4-FFF2-40B4-BE49-F238E27FC236}">
                <a16:creationId xmlns:a16="http://schemas.microsoft.com/office/drawing/2014/main" id="{FAB5059D-5180-CCC4-E720-6C738400348B}"/>
              </a:ext>
            </a:extLst>
          </p:cNvPr>
          <p:cNvSpPr/>
          <p:nvPr/>
        </p:nvSpPr>
        <p:spPr>
          <a:xfrm>
            <a:off x="2524250" y="3705889"/>
            <a:ext cx="1028700" cy="576072"/>
          </a:xfrm>
          <a:prstGeom prst="rect">
            <a:avLst/>
          </a:prstGeom>
          <a:noFill/>
          <a:ln/>
        </p:spPr>
        <p:txBody>
          <a:bodyPr wrap="square" rtlCol="0" anchor="ctr"/>
          <a:lstStyle/>
          <a:p>
            <a:pPr algn="ctr" defTabSz="685800"/>
            <a:r>
              <a:rPr lang="en-US" sz="1000">
                <a:solidFill>
                  <a:schemeClr val="dk1"/>
                </a:solidFill>
              </a:rPr>
              <a:t>Related</a:t>
            </a:r>
          </a:p>
          <a:p>
            <a:pPr algn="ctr" defTabSz="685800"/>
            <a:r>
              <a:rPr lang="en-US" sz="1000">
                <a:solidFill>
                  <a:schemeClr val="dk1"/>
                </a:solidFill>
              </a:rPr>
              <a:t>glossary term</a:t>
            </a:r>
          </a:p>
        </p:txBody>
      </p:sp>
      <p:sp>
        <p:nvSpPr>
          <p:cNvPr id="10" name="Text 3">
            <a:extLst>
              <a:ext uri="{FF2B5EF4-FFF2-40B4-BE49-F238E27FC236}">
                <a16:creationId xmlns:a16="http://schemas.microsoft.com/office/drawing/2014/main" id="{F84DAD8E-9E11-A549-73F5-28C83BF3DF2C}"/>
              </a:ext>
            </a:extLst>
          </p:cNvPr>
          <p:cNvSpPr/>
          <p:nvPr/>
        </p:nvSpPr>
        <p:spPr>
          <a:xfrm>
            <a:off x="2249930" y="1638889"/>
            <a:ext cx="1577340" cy="1577340"/>
          </a:xfrm>
          <a:prstGeom prst="rect">
            <a:avLst/>
          </a:prstGeom>
          <a:noFill/>
          <a:ln/>
        </p:spPr>
        <p:txBody>
          <a:bodyPr wrap="square" rtlCol="0" anchor="ctr"/>
          <a:lstStyle/>
          <a:p>
            <a:pPr algn="ctr" defTabSz="685800"/>
            <a:r>
              <a:rPr lang="pl-PL" sz="1000">
                <a:solidFill>
                  <a:schemeClr val="accent5"/>
                </a:solidFill>
              </a:rPr>
              <a:t>Example of consolidated linking structure:</a:t>
            </a:r>
            <a:endParaRPr lang="en-US" sz="1000">
              <a:solidFill>
                <a:schemeClr val="accent5"/>
              </a:solidFill>
            </a:endParaRPr>
          </a:p>
          <a:p>
            <a:pPr algn="ctr" defTabSz="685800"/>
            <a:r>
              <a:rPr lang="en-US" sz="1000">
                <a:solidFill>
                  <a:schemeClr val="accent5"/>
                </a:solidFill>
              </a:rPr>
              <a:t>Hub Page</a:t>
            </a:r>
          </a:p>
        </p:txBody>
      </p:sp>
    </p:spTree>
    <p:extLst>
      <p:ext uri="{BB962C8B-B14F-4D97-AF65-F5344CB8AC3E}">
        <p14:creationId xmlns:p14="http://schemas.microsoft.com/office/powerpoint/2010/main" val="18087037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094C5-0D3B-596F-B98F-82E7E96C43D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D167CF5-B40D-AC70-2D1C-54ACE3975234}"/>
              </a:ext>
            </a:extLst>
          </p:cNvPr>
          <p:cNvSpPr/>
          <p:nvPr/>
        </p:nvSpPr>
        <p:spPr>
          <a:xfrm>
            <a:off x="3678867" y="1220724"/>
            <a:ext cx="5046920" cy="3439948"/>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pl-PL" sz="1100" b="1">
                <a:solidFill>
                  <a:schemeClr val="tx1"/>
                </a:solidFill>
              </a:rPr>
              <a:t>Examples of t</a:t>
            </a:r>
            <a:r>
              <a:rPr lang="en-US" sz="1100" b="1" err="1">
                <a:solidFill>
                  <a:schemeClr val="tx1"/>
                </a:solidFill>
              </a:rPr>
              <a:t>actics</a:t>
            </a:r>
            <a:r>
              <a:rPr lang="en-US" sz="1100" b="1">
                <a:solidFill>
                  <a:schemeClr val="tx1"/>
                </a:solidFill>
              </a:rPr>
              <a:t> </a:t>
            </a:r>
            <a:r>
              <a:rPr lang="pl-PL" sz="1100" b="1">
                <a:solidFill>
                  <a:schemeClr val="tx1"/>
                </a:solidFill>
              </a:rPr>
              <a:t>to</a:t>
            </a:r>
            <a:r>
              <a:rPr lang="en-US" sz="1100" b="1">
                <a:solidFill>
                  <a:schemeClr val="tx1"/>
                </a:solidFill>
              </a:rPr>
              <a:t> produce </a:t>
            </a:r>
            <a:r>
              <a:rPr lang="pl-PL" sz="1100" b="1">
                <a:solidFill>
                  <a:schemeClr val="tx1"/>
                </a:solidFill>
              </a:rPr>
              <a:t>external links that impacts AI most:</a:t>
            </a:r>
            <a:endParaRPr lang="en-US" sz="1100" b="1">
              <a:solidFill>
                <a:schemeClr val="tx1"/>
              </a:solidFill>
            </a:endParaRPr>
          </a:p>
        </p:txBody>
      </p:sp>
      <p:sp>
        <p:nvSpPr>
          <p:cNvPr id="8" name="Shape 0">
            <a:extLst>
              <a:ext uri="{FF2B5EF4-FFF2-40B4-BE49-F238E27FC236}">
                <a16:creationId xmlns:a16="http://schemas.microsoft.com/office/drawing/2014/main" id="{390445E7-992E-76F4-545C-3701C726AD03}"/>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912502A3-CF53-9380-666C-EDD6440BBD17}"/>
              </a:ext>
            </a:extLst>
          </p:cNvPr>
          <p:cNvSpPr/>
          <p:nvPr/>
        </p:nvSpPr>
        <p:spPr>
          <a:xfrm>
            <a:off x="342900" y="192024"/>
            <a:ext cx="7886700" cy="377190"/>
          </a:xfrm>
          <a:prstGeom prst="rect">
            <a:avLst/>
          </a:prstGeom>
          <a:noFill/>
          <a:ln/>
        </p:spPr>
        <p:txBody>
          <a:bodyPr wrap="square" lIns="0" tIns="0" rIns="0" bIns="0" rtlCol="0" anchor="ctr"/>
          <a:lstStyle/>
          <a:p>
            <a:pPr marL="0" marR="0" lvl="0" indent="0" defTabSz="457184" rtl="0" eaLnBrk="1" fontAlgn="auto" latinLnBrk="0" hangingPunct="1">
              <a:lnSpc>
                <a:spcPct val="100000"/>
              </a:lnSpc>
              <a:spcBef>
                <a:spcPts val="0"/>
              </a:spcBef>
              <a:spcAft>
                <a:spcPts val="0"/>
              </a:spcAft>
              <a:buClrTx/>
              <a:buSzTx/>
              <a:buFontTx/>
              <a:buNone/>
              <a:tabLst/>
              <a:defRPr/>
            </a:pPr>
            <a:r>
              <a:rPr lang="en-US" sz="2200">
                <a:solidFill>
                  <a:srgbClr val="E7FFD9"/>
                </a:solidFill>
                <a:latin typeface="Poppins"/>
                <a:cs typeface="Arial"/>
              </a:rPr>
              <a:t>Where to earn third-party corroboration</a:t>
            </a:r>
          </a:p>
        </p:txBody>
      </p:sp>
      <p:sp>
        <p:nvSpPr>
          <p:cNvPr id="12" name="Text 2">
            <a:extLst>
              <a:ext uri="{FF2B5EF4-FFF2-40B4-BE49-F238E27FC236}">
                <a16:creationId xmlns:a16="http://schemas.microsoft.com/office/drawing/2014/main" id="{F19236FE-C5E4-BBAA-BA9A-C4D19B4A60B5}"/>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FFD9"/>
                </a:solidFill>
                <a:effectLst/>
                <a:uLnTx/>
                <a:uFillTx/>
                <a:latin typeface="Poppins"/>
                <a:ea typeface="+mn-ea"/>
                <a:cs typeface="Arial"/>
              </a:rPr>
              <a:t>Ranked roughly by the trust weight AI engines tend to place on the source</a:t>
            </a:r>
            <a:r>
              <a:rPr kumimoji="0" lang="pl-PL" sz="1100" b="0" i="0" u="none" strike="noStrike" kern="1200" cap="none" spc="0" normalizeH="0" baseline="0" noProof="0">
                <a:ln>
                  <a:noFill/>
                </a:ln>
                <a:solidFill>
                  <a:srgbClr val="E7FFD9"/>
                </a:solidFill>
                <a:effectLst/>
                <a:uLnTx/>
                <a:uFillTx/>
                <a:latin typeface="Poppins"/>
                <a:ea typeface="+mn-ea"/>
                <a:cs typeface="Arial"/>
              </a:rPr>
              <a: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0093C6F5-02A4-4664-041D-9F32B367F566}"/>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3A10885B-4521-A284-94F9-B26E5AAAC508}"/>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114</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9" name="Table 8">
            <a:extLst>
              <a:ext uri="{FF2B5EF4-FFF2-40B4-BE49-F238E27FC236}">
                <a16:creationId xmlns:a16="http://schemas.microsoft.com/office/drawing/2014/main" id="{1C2D4EA2-467F-F2F7-32AC-90FAE48ECD57}"/>
              </a:ext>
            </a:extLst>
          </p:cNvPr>
          <p:cNvGraphicFramePr>
            <a:graphicFrameLocks noGrp="1"/>
          </p:cNvGraphicFramePr>
          <p:nvPr>
            <p:extLst>
              <p:ext uri="{D42A27DB-BD31-4B8C-83A1-F6EECF244321}">
                <p14:modId xmlns:p14="http://schemas.microsoft.com/office/powerpoint/2010/main" val="3162859442"/>
              </p:ext>
            </p:extLst>
          </p:nvPr>
        </p:nvGraphicFramePr>
        <p:xfrm>
          <a:off x="342900" y="1220724"/>
          <a:ext cx="3243816" cy="3439948"/>
        </p:xfrm>
        <a:graphic>
          <a:graphicData uri="http://schemas.openxmlformats.org/drawingml/2006/table">
            <a:tbl>
              <a:tblPr firstRow="1" bandRow="1">
                <a:tableStyleId>{5C22544A-7EE6-4342-B048-85BDC9FD1C3A}</a:tableStyleId>
              </a:tblPr>
              <a:tblGrid>
                <a:gridCol w="3243816">
                  <a:extLst>
                    <a:ext uri="{9D8B030D-6E8A-4147-A177-3AD203B41FA5}">
                      <a16:colId xmlns:a16="http://schemas.microsoft.com/office/drawing/2014/main" val="3023339729"/>
                    </a:ext>
                  </a:extLst>
                </a:gridCol>
              </a:tblGrid>
              <a:tr h="286802">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Sources of mentions and backlinks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384496">
                <a:tc>
                  <a:txBody>
                    <a:bodyPr/>
                    <a:lstStyle/>
                    <a:p>
                      <a:pPr lvl="0" algn="ctr"/>
                      <a:r>
                        <a:rPr kumimoji="0" lang="en-US" sz="1000" b="1" i="0" u="none" strike="noStrike" kern="1200" cap="none" spc="0" normalizeH="0" baseline="0" noProof="0">
                          <a:ln>
                            <a:noFill/>
                          </a:ln>
                          <a:solidFill>
                            <a:srgbClr val="0A2F24"/>
                          </a:solidFill>
                          <a:effectLst/>
                          <a:uLnTx/>
                          <a:uFillTx/>
                          <a:latin typeface="+mn-lt"/>
                          <a:ea typeface="+mn-ea"/>
                          <a:cs typeface="+mn-cs"/>
                        </a:rPr>
                        <a:t>Analyst reports</a:t>
                      </a:r>
                      <a:r>
                        <a:rPr kumimoji="0" lang="pl-PL" sz="1000" b="1"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 data is evaluated highly by AI</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40900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Standards </a:t>
                      </a:r>
                      <a:r>
                        <a:rPr kumimoji="0" lang="pl-PL" sz="1000" b="1" i="0" u="none" strike="noStrike" kern="1200" cap="none" spc="0" normalizeH="0" baseline="0" noProof="0">
                          <a:ln>
                            <a:noFill/>
                          </a:ln>
                          <a:solidFill>
                            <a:srgbClr val="0A2F24"/>
                          </a:solidFill>
                          <a:effectLst/>
                          <a:uLnTx/>
                          <a:uFillTx/>
                          <a:latin typeface="+mn-lt"/>
                          <a:ea typeface="+mn-ea"/>
                          <a:cs typeface="+mn-cs"/>
                        </a:rPr>
                        <a:t>and</a:t>
                      </a:r>
                      <a:r>
                        <a:rPr kumimoji="0" lang="en-US" sz="1000" b="1" i="0" u="none" strike="noStrike" kern="1200" cap="none" spc="0" normalizeH="0" baseline="0" noProof="0">
                          <a:ln>
                            <a:noFill/>
                          </a:ln>
                          <a:solidFill>
                            <a:srgbClr val="0A2F24"/>
                          </a:solidFill>
                          <a:effectLst/>
                          <a:uLnTx/>
                          <a:uFillTx/>
                          <a:latin typeface="+mn-lt"/>
                          <a:ea typeface="+mn-ea"/>
                          <a:cs typeface="+mn-cs"/>
                        </a:rPr>
                        <a:t> government bodies</a:t>
                      </a:r>
                      <a:r>
                        <a:rPr kumimoji="0" lang="pl-PL" sz="1000" b="1" i="0" u="none" strike="noStrike" kern="1200" cap="none" spc="0" normalizeH="0" baseline="0" noProof="0">
                          <a:ln>
                            <a:noFill/>
                          </a:ln>
                          <a:solidFill>
                            <a:srgbClr val="0A2F24"/>
                          </a:solidFill>
                          <a:effectLst/>
                          <a:uLnTx/>
                          <a:uFillTx/>
                          <a:latin typeface="+mn-lt"/>
                          <a:ea typeface="+mn-ea"/>
                          <a:cs typeface="+mn-cs"/>
                        </a:rPr>
                        <a:t> </a:t>
                      </a:r>
                      <a:r>
                        <a:rPr kumimoji="0" lang="pl-PL" sz="1000" b="0" i="0" u="none" strike="noStrike" kern="1200" cap="none" spc="0" normalizeH="0" baseline="0" noProof="0">
                          <a:ln>
                            <a:noFill/>
                          </a:ln>
                          <a:solidFill>
                            <a:srgbClr val="0A2F24"/>
                          </a:solidFill>
                          <a:effectLst/>
                          <a:uLnTx/>
                          <a:uFillTx/>
                          <a:latin typeface="+mn-lt"/>
                          <a:ea typeface="+mn-ea"/>
                          <a:cs typeface="+mn-cs"/>
                        </a:rPr>
                        <a:t>– providing official information and statements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40900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0A2F24"/>
                          </a:solidFill>
                          <a:effectLst/>
                          <a:uLnTx/>
                          <a:uFillTx/>
                          <a:latin typeface="+mn-lt"/>
                          <a:ea typeface="+mn-ea"/>
                          <a:cs typeface="+mn-cs"/>
                        </a:rPr>
                        <a:t>Trade </a:t>
                      </a:r>
                      <a:r>
                        <a:rPr kumimoji="0" lang="pl-PL" sz="1000" b="1" i="0" u="none" strike="noStrike" kern="1200" cap="none" spc="0" normalizeH="0" baseline="0">
                          <a:ln>
                            <a:noFill/>
                          </a:ln>
                          <a:solidFill>
                            <a:srgbClr val="0A2F24"/>
                          </a:solidFill>
                          <a:effectLst/>
                          <a:uLnTx/>
                          <a:uFillTx/>
                          <a:latin typeface="+mn-lt"/>
                          <a:ea typeface="+mn-ea"/>
                          <a:cs typeface="+mn-cs"/>
                        </a:rPr>
                        <a:t>and</a:t>
                      </a:r>
                      <a:r>
                        <a:rPr kumimoji="0" lang="en-US" sz="1000" b="1" i="0" u="none" strike="noStrike" kern="1200" cap="none" spc="0" normalizeH="0" baseline="0">
                          <a:ln>
                            <a:noFill/>
                          </a:ln>
                          <a:solidFill>
                            <a:srgbClr val="0A2F24"/>
                          </a:solidFill>
                          <a:effectLst/>
                          <a:uLnTx/>
                          <a:uFillTx/>
                          <a:latin typeface="+mn-lt"/>
                          <a:ea typeface="+mn-ea"/>
                          <a:cs typeface="+mn-cs"/>
                        </a:rPr>
                        <a:t> vertical press</a:t>
                      </a:r>
                      <a:r>
                        <a:rPr kumimoji="0" lang="pl-PL" sz="1000" b="1" i="0" u="none" strike="noStrike" kern="1200" cap="none" spc="0" normalizeH="0" baseline="0">
                          <a:ln>
                            <a:noFill/>
                          </a:ln>
                          <a:solidFill>
                            <a:srgbClr val="0A2F24"/>
                          </a:solidFill>
                          <a:effectLst/>
                          <a:uLnTx/>
                          <a:uFillTx/>
                          <a:latin typeface="+mn-lt"/>
                          <a:ea typeface="+mn-ea"/>
                          <a:cs typeface="+mn-cs"/>
                        </a:rPr>
                        <a:t> </a:t>
                      </a:r>
                      <a:r>
                        <a:rPr kumimoji="0" lang="pl-PL" sz="1000" b="0" i="0" u="none" strike="noStrike" kern="1200" cap="none" spc="0" normalizeH="0" baseline="0">
                          <a:ln>
                            <a:noFill/>
                          </a:ln>
                          <a:solidFill>
                            <a:srgbClr val="0A2F24"/>
                          </a:solidFill>
                          <a:effectLst/>
                          <a:uLnTx/>
                          <a:uFillTx/>
                          <a:latin typeface="+mn-lt"/>
                          <a:ea typeface="+mn-ea"/>
                          <a:cs typeface="+mn-cs"/>
                        </a:rPr>
                        <a:t>– relevant industry information with high credibility</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56631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0A2F24"/>
                          </a:solidFill>
                          <a:effectLst/>
                          <a:uLnTx/>
                          <a:uFillTx/>
                          <a:latin typeface="+mn-lt"/>
                          <a:ea typeface="+mn-ea"/>
                          <a:cs typeface="+mn-cs"/>
                        </a:rPr>
                        <a:t>Wikipedia </a:t>
                      </a:r>
                      <a:r>
                        <a:rPr kumimoji="0" lang="pl-PL" sz="1000" b="1" i="0" u="none" strike="noStrike" kern="1200" cap="none" spc="0" normalizeH="0" baseline="0">
                          <a:ln>
                            <a:noFill/>
                          </a:ln>
                          <a:solidFill>
                            <a:srgbClr val="0A2F24"/>
                          </a:solidFill>
                          <a:effectLst/>
                          <a:uLnTx/>
                          <a:uFillTx/>
                          <a:latin typeface="+mn-lt"/>
                          <a:ea typeface="+mn-ea"/>
                          <a:cs typeface="+mn-cs"/>
                        </a:rPr>
                        <a:t>and</a:t>
                      </a:r>
                      <a:r>
                        <a:rPr kumimoji="0" lang="en-US" sz="1000" b="1" i="0" u="none" strike="noStrike" kern="1200" cap="none" spc="0" normalizeH="0" baseline="0">
                          <a:ln>
                            <a:noFill/>
                          </a:ln>
                          <a:solidFill>
                            <a:srgbClr val="0A2F24"/>
                          </a:solidFill>
                          <a:effectLst/>
                          <a:uLnTx/>
                          <a:uFillTx/>
                          <a:latin typeface="+mn-lt"/>
                          <a:ea typeface="+mn-ea"/>
                          <a:cs typeface="+mn-cs"/>
                        </a:rPr>
                        <a:t> </a:t>
                      </a:r>
                      <a:r>
                        <a:rPr kumimoji="0" lang="en-US" sz="1000" b="1" i="0" u="none" strike="noStrike" kern="1200" cap="none" spc="0" normalizeH="0" baseline="0" err="1">
                          <a:ln>
                            <a:noFill/>
                          </a:ln>
                          <a:solidFill>
                            <a:srgbClr val="0A2F24"/>
                          </a:solidFill>
                          <a:effectLst/>
                          <a:uLnTx/>
                          <a:uFillTx/>
                          <a:latin typeface="+mn-lt"/>
                          <a:ea typeface="+mn-ea"/>
                          <a:cs typeface="+mn-cs"/>
                        </a:rPr>
                        <a:t>Wikidata</a:t>
                      </a:r>
                      <a:r>
                        <a:rPr kumimoji="0" lang="pl-PL" sz="1000" b="1" i="0" u="none" strike="noStrike" kern="1200" cap="none" spc="0" normalizeH="0" baseline="0">
                          <a:ln>
                            <a:noFill/>
                          </a:ln>
                          <a:solidFill>
                            <a:srgbClr val="0A2F24"/>
                          </a:solidFill>
                          <a:effectLst/>
                          <a:uLnTx/>
                          <a:uFillTx/>
                          <a:latin typeface="+mn-lt"/>
                          <a:ea typeface="+mn-ea"/>
                          <a:cs typeface="+mn-cs"/>
                        </a:rPr>
                        <a:t> </a:t>
                      </a:r>
                      <a:r>
                        <a:rPr kumimoji="0" lang="pl-PL" sz="1000" b="0" i="0" u="none" strike="noStrike" kern="1200" cap="none" spc="0" normalizeH="0" baseline="0">
                          <a:ln>
                            <a:noFill/>
                          </a:ln>
                          <a:solidFill>
                            <a:srgbClr val="0A2F24"/>
                          </a:solidFill>
                          <a:effectLst/>
                          <a:uLnTx/>
                          <a:uFillTx/>
                          <a:latin typeface="+mn-lt"/>
                          <a:ea typeface="+mn-ea"/>
                          <a:cs typeface="+mn-cs"/>
                        </a:rPr>
                        <a:t>- n</a:t>
                      </a:r>
                      <a:r>
                        <a:rPr kumimoji="0" lang="en-US" sz="1000" b="0" i="0" u="none" strike="noStrike" kern="1200" cap="none" spc="0" normalizeH="0" baseline="0" err="1">
                          <a:ln>
                            <a:noFill/>
                          </a:ln>
                          <a:solidFill>
                            <a:srgbClr val="0A2F24"/>
                          </a:solidFill>
                          <a:effectLst/>
                          <a:uLnTx/>
                          <a:uFillTx/>
                          <a:latin typeface="+mn-lt"/>
                          <a:ea typeface="+mn-ea"/>
                          <a:cs typeface="+mn-cs"/>
                        </a:rPr>
                        <a:t>eutral</a:t>
                      </a:r>
                      <a:r>
                        <a:rPr kumimoji="0" lang="en-US" sz="1000" b="0" i="0" u="none" strike="noStrike" kern="1200" cap="none" spc="0" normalizeH="0" baseline="0">
                          <a:ln>
                            <a:noFill/>
                          </a:ln>
                          <a:solidFill>
                            <a:srgbClr val="0A2F24"/>
                          </a:solidFill>
                          <a:effectLst/>
                          <a:uLnTx/>
                          <a:uFillTx/>
                          <a:latin typeface="+mn-lt"/>
                          <a:ea typeface="+mn-ea"/>
                          <a:cs typeface="+mn-cs"/>
                        </a:rPr>
                        <a:t>, independently-sourced, and repeatedly returned to by AI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99167559"/>
                  </a:ext>
                </a:extLst>
              </a:tr>
              <a:tr h="40900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0A2F24"/>
                          </a:solidFill>
                          <a:effectLst/>
                          <a:uLnTx/>
                          <a:uFillTx/>
                          <a:latin typeface="+mn-lt"/>
                          <a:ea typeface="+mn-ea"/>
                          <a:cs typeface="+mn-cs"/>
                        </a:rPr>
                        <a:t>Review </a:t>
                      </a:r>
                      <a:r>
                        <a:rPr kumimoji="0" lang="pl-PL" sz="1000" b="1" i="0" u="none" strike="noStrike" kern="1200" cap="none" spc="0" normalizeH="0" baseline="0">
                          <a:ln>
                            <a:noFill/>
                          </a:ln>
                          <a:solidFill>
                            <a:srgbClr val="0A2F24"/>
                          </a:solidFill>
                          <a:effectLst/>
                          <a:uLnTx/>
                          <a:uFillTx/>
                          <a:latin typeface="+mn-lt"/>
                          <a:ea typeface="+mn-ea"/>
                          <a:cs typeface="+mn-cs"/>
                        </a:rPr>
                        <a:t>and</a:t>
                      </a:r>
                      <a:r>
                        <a:rPr kumimoji="0" lang="en-US" sz="1000" b="1" i="0" u="none" strike="noStrike" kern="1200" cap="none" spc="0" normalizeH="0" baseline="0">
                          <a:ln>
                            <a:noFill/>
                          </a:ln>
                          <a:solidFill>
                            <a:srgbClr val="0A2F24"/>
                          </a:solidFill>
                          <a:effectLst/>
                          <a:uLnTx/>
                          <a:uFillTx/>
                          <a:latin typeface="+mn-lt"/>
                          <a:ea typeface="+mn-ea"/>
                          <a:cs typeface="+mn-cs"/>
                        </a:rPr>
                        <a:t> comparison platforms</a:t>
                      </a:r>
                      <a:r>
                        <a:rPr kumimoji="0" lang="pl-PL" sz="1000" b="1" i="0" u="none" strike="noStrike" kern="1200" cap="none" spc="0" normalizeH="0" baseline="0">
                          <a:ln>
                            <a:noFill/>
                          </a:ln>
                          <a:solidFill>
                            <a:srgbClr val="0A2F24"/>
                          </a:solidFill>
                          <a:effectLst/>
                          <a:uLnTx/>
                          <a:uFillTx/>
                          <a:latin typeface="+mn-lt"/>
                          <a:ea typeface="+mn-ea"/>
                          <a:cs typeface="+mn-cs"/>
                        </a:rPr>
                        <a:t> </a:t>
                      </a:r>
                      <a:r>
                        <a:rPr kumimoji="0" lang="pl-PL" sz="1000" b="0" i="0" u="none" strike="noStrike" kern="1200" cap="none" spc="0" normalizeH="0" baseline="0">
                          <a:ln>
                            <a:noFill/>
                          </a:ln>
                          <a:solidFill>
                            <a:srgbClr val="0A2F24"/>
                          </a:solidFill>
                          <a:effectLst/>
                          <a:uLnTx/>
                          <a:uFillTx/>
                          <a:latin typeface="+mn-lt"/>
                          <a:ea typeface="+mn-ea"/>
                          <a:cs typeface="+mn-cs"/>
                        </a:rPr>
                        <a:t>- </a:t>
                      </a:r>
                      <a:r>
                        <a:rPr kumimoji="0" lang="en-US" sz="1000" b="0" i="0" u="none" strike="noStrike" kern="1200" cap="none" spc="0" normalizeH="0" baseline="0">
                          <a:ln>
                            <a:noFill/>
                          </a:ln>
                          <a:solidFill>
                            <a:srgbClr val="0A2F24"/>
                          </a:solidFill>
                          <a:effectLst/>
                          <a:uLnTx/>
                          <a:uFillTx/>
                          <a:latin typeface="+mn-lt"/>
                          <a:ea typeface="+mn-ea"/>
                          <a:cs typeface="+mn-cs"/>
                        </a:rPr>
                        <a:t>vertical review sites feed AI “best of” answers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76559511"/>
                  </a:ext>
                </a:extLst>
              </a:tr>
              <a:tr h="40900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0A2F24"/>
                          </a:solidFill>
                          <a:effectLst/>
                          <a:uLnTx/>
                          <a:uFillTx/>
                          <a:latin typeface="+mn-lt"/>
                          <a:ea typeface="+mn-ea"/>
                          <a:cs typeface="+mn-cs"/>
                        </a:rPr>
                        <a:t>Customer </a:t>
                      </a:r>
                      <a:r>
                        <a:rPr kumimoji="0" lang="pl-PL" sz="1000" b="1" i="0" u="none" strike="noStrike" kern="1200" cap="none" spc="0" normalizeH="0" baseline="0">
                          <a:ln>
                            <a:noFill/>
                          </a:ln>
                          <a:solidFill>
                            <a:srgbClr val="0A2F24"/>
                          </a:solidFill>
                          <a:effectLst/>
                          <a:uLnTx/>
                          <a:uFillTx/>
                          <a:latin typeface="+mn-lt"/>
                          <a:ea typeface="+mn-ea"/>
                          <a:cs typeface="+mn-cs"/>
                        </a:rPr>
                        <a:t>and</a:t>
                      </a:r>
                      <a:r>
                        <a:rPr kumimoji="0" lang="en-US" sz="1000" b="1" i="0" u="none" strike="noStrike" kern="1200" cap="none" spc="0" normalizeH="0" baseline="0">
                          <a:ln>
                            <a:noFill/>
                          </a:ln>
                          <a:solidFill>
                            <a:srgbClr val="0A2F24"/>
                          </a:solidFill>
                          <a:effectLst/>
                          <a:uLnTx/>
                          <a:uFillTx/>
                          <a:latin typeface="+mn-lt"/>
                          <a:ea typeface="+mn-ea"/>
                          <a:cs typeface="+mn-cs"/>
                        </a:rPr>
                        <a:t> partner case studies</a:t>
                      </a:r>
                      <a:r>
                        <a:rPr kumimoji="0" lang="pl-PL" sz="1000" b="1" i="0" u="none" strike="noStrike" kern="1200" cap="none" spc="0" normalizeH="0" baseline="0">
                          <a:ln>
                            <a:noFill/>
                          </a:ln>
                          <a:solidFill>
                            <a:srgbClr val="0A2F24"/>
                          </a:solidFill>
                          <a:effectLst/>
                          <a:uLnTx/>
                          <a:uFillTx/>
                          <a:latin typeface="+mn-lt"/>
                          <a:ea typeface="+mn-ea"/>
                          <a:cs typeface="+mn-cs"/>
                        </a:rPr>
                        <a:t> </a:t>
                      </a:r>
                      <a:r>
                        <a:rPr kumimoji="0" lang="pl-PL" sz="1000" b="0" i="0" u="none" strike="noStrike" kern="1200" cap="none" spc="0" normalizeH="0" baseline="0">
                          <a:ln>
                            <a:noFill/>
                          </a:ln>
                          <a:solidFill>
                            <a:srgbClr val="0A2F24"/>
                          </a:solidFill>
                          <a:effectLst/>
                          <a:uLnTx/>
                          <a:uFillTx/>
                          <a:latin typeface="+mn-lt"/>
                          <a:ea typeface="+mn-ea"/>
                          <a:cs typeface="+mn-cs"/>
                        </a:rPr>
                        <a:t>– published on customer/partner’s own website</a:t>
                      </a:r>
                      <a:endParaRPr kumimoji="0" lang="en-US" sz="1000" b="0" i="0" u="none" strike="noStrike" kern="1200" cap="none" spc="0" normalizeH="0" baseline="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30365930"/>
                  </a:ext>
                </a:extLst>
              </a:tr>
              <a:tr h="566315">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0A2F24"/>
                          </a:solidFill>
                          <a:effectLst/>
                          <a:uLnTx/>
                          <a:uFillTx/>
                          <a:latin typeface="+mn-lt"/>
                          <a:ea typeface="+mn-ea"/>
                          <a:cs typeface="+mn-cs"/>
                        </a:rPr>
                        <a:t>Podcasts </a:t>
                      </a:r>
                      <a:r>
                        <a:rPr kumimoji="0" lang="pl-PL" sz="1000" b="1" i="0" u="none" strike="noStrike" kern="1200" cap="none" spc="0" normalizeH="0" baseline="0">
                          <a:ln>
                            <a:noFill/>
                          </a:ln>
                          <a:solidFill>
                            <a:srgbClr val="0A2F24"/>
                          </a:solidFill>
                          <a:effectLst/>
                          <a:uLnTx/>
                          <a:uFillTx/>
                          <a:latin typeface="+mn-lt"/>
                          <a:ea typeface="+mn-ea"/>
                          <a:cs typeface="+mn-cs"/>
                        </a:rPr>
                        <a:t>and</a:t>
                      </a:r>
                      <a:r>
                        <a:rPr kumimoji="0" lang="en-US" sz="1000" b="1" i="0" u="none" strike="noStrike" kern="1200" cap="none" spc="0" normalizeH="0" baseline="0">
                          <a:ln>
                            <a:noFill/>
                          </a:ln>
                          <a:solidFill>
                            <a:srgbClr val="0A2F24"/>
                          </a:solidFill>
                          <a:effectLst/>
                          <a:uLnTx/>
                          <a:uFillTx/>
                          <a:latin typeface="+mn-lt"/>
                          <a:ea typeface="+mn-ea"/>
                          <a:cs typeface="+mn-cs"/>
                        </a:rPr>
                        <a:t> transcribed video</a:t>
                      </a:r>
                      <a:r>
                        <a:rPr kumimoji="0" lang="pl-PL" sz="1000" b="1" i="0" u="none" strike="noStrike" kern="1200" cap="none" spc="0" normalizeH="0" baseline="0">
                          <a:ln>
                            <a:noFill/>
                          </a:ln>
                          <a:solidFill>
                            <a:srgbClr val="0A2F24"/>
                          </a:solidFill>
                          <a:effectLst/>
                          <a:uLnTx/>
                          <a:uFillTx/>
                          <a:latin typeface="+mn-lt"/>
                          <a:ea typeface="+mn-ea"/>
                          <a:cs typeface="+mn-cs"/>
                        </a:rPr>
                        <a:t> </a:t>
                      </a:r>
                      <a:r>
                        <a:rPr kumimoji="0" lang="pl-PL" sz="1000" b="0" i="0" u="none" strike="noStrike" kern="1200" cap="none" spc="0" normalizeH="0" baseline="0">
                          <a:ln>
                            <a:noFill/>
                          </a:ln>
                          <a:solidFill>
                            <a:srgbClr val="0A2F24"/>
                          </a:solidFill>
                          <a:effectLst/>
                          <a:uLnTx/>
                          <a:uFillTx/>
                          <a:latin typeface="+mn-lt"/>
                          <a:ea typeface="+mn-ea"/>
                          <a:cs typeface="+mn-cs"/>
                        </a:rPr>
                        <a:t>- a</a:t>
                      </a:r>
                      <a:r>
                        <a:rPr kumimoji="0" lang="en-US" sz="1000" b="0" i="0" u="none" strike="noStrike" kern="1200" cap="none" spc="0" normalizeH="0" baseline="0">
                          <a:ln>
                            <a:noFill/>
                          </a:ln>
                          <a:solidFill>
                            <a:srgbClr val="0A2F24"/>
                          </a:solidFill>
                          <a:effectLst/>
                          <a:uLnTx/>
                          <a:uFillTx/>
                          <a:latin typeface="+mn-lt"/>
                          <a:ea typeface="+mn-ea"/>
                          <a:cs typeface="+mn-cs"/>
                        </a:rPr>
                        <a:t> quoted spokesperson is a citable, brand-named passage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415043673"/>
                  </a:ext>
                </a:extLst>
              </a:tr>
            </a:tbl>
          </a:graphicData>
        </a:graphic>
      </p:graphicFrame>
      <p:graphicFrame>
        <p:nvGraphicFramePr>
          <p:cNvPr id="10" name="Table 9">
            <a:extLst>
              <a:ext uri="{FF2B5EF4-FFF2-40B4-BE49-F238E27FC236}">
                <a16:creationId xmlns:a16="http://schemas.microsoft.com/office/drawing/2014/main" id="{7AB7B898-ECA6-916B-7AA1-03020A3F4351}"/>
              </a:ext>
            </a:extLst>
          </p:cNvPr>
          <p:cNvGraphicFramePr>
            <a:graphicFrameLocks noGrp="1"/>
          </p:cNvGraphicFramePr>
          <p:nvPr>
            <p:extLst>
              <p:ext uri="{D42A27DB-BD31-4B8C-83A1-F6EECF244321}">
                <p14:modId xmlns:p14="http://schemas.microsoft.com/office/powerpoint/2010/main" val="3343515245"/>
              </p:ext>
            </p:extLst>
          </p:nvPr>
        </p:nvGraphicFramePr>
        <p:xfrm>
          <a:off x="3743339" y="1583812"/>
          <a:ext cx="1633384" cy="1615440"/>
        </p:xfrm>
        <a:graphic>
          <a:graphicData uri="http://schemas.openxmlformats.org/drawingml/2006/table">
            <a:tbl>
              <a:tblPr firstRow="1" bandRow="1">
                <a:tableStyleId>{5C22544A-7EE6-4342-B048-85BDC9FD1C3A}</a:tableStyleId>
              </a:tblPr>
              <a:tblGrid>
                <a:gridCol w="1633384">
                  <a:extLst>
                    <a:ext uri="{9D8B030D-6E8A-4147-A177-3AD203B41FA5}">
                      <a16:colId xmlns:a16="http://schemas.microsoft.com/office/drawing/2014/main" val="3037676781"/>
                    </a:ext>
                  </a:extLst>
                </a:gridCol>
              </a:tblGrid>
              <a:tr h="471089">
                <a:tc>
                  <a:txBody>
                    <a:bodyPr/>
                    <a:lstStyle/>
                    <a:p>
                      <a:pPr algn="ctr"/>
                      <a:r>
                        <a:rPr lang="pl-PL" sz="1200" b="1">
                          <a:solidFill>
                            <a:schemeClr val="accent5"/>
                          </a:solidFill>
                        </a:rPr>
                        <a:t>Original research &amp;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144351">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Commission proprietary statistics</a:t>
                      </a:r>
                      <a:r>
                        <a:rPr lang="pl-PL" sz="1000" b="0">
                          <a:solidFill>
                            <a:schemeClr val="tx1"/>
                          </a:solidFill>
                        </a:rPr>
                        <a:t>,</a:t>
                      </a:r>
                      <a:r>
                        <a:rPr lang="en-US" sz="1000" b="0">
                          <a:solidFill>
                            <a:schemeClr val="tx1"/>
                          </a:solidFill>
                        </a:rPr>
                        <a:t> Data is the most “borrowable” asset for journalists and analysts.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75175"/>
                  </a:ext>
                </a:extLst>
              </a:tr>
            </a:tbl>
          </a:graphicData>
        </a:graphic>
      </p:graphicFrame>
      <p:graphicFrame>
        <p:nvGraphicFramePr>
          <p:cNvPr id="13" name="Table 12">
            <a:extLst>
              <a:ext uri="{FF2B5EF4-FFF2-40B4-BE49-F238E27FC236}">
                <a16:creationId xmlns:a16="http://schemas.microsoft.com/office/drawing/2014/main" id="{F3611071-918D-E75D-EB42-7EA2B9A2F4AA}"/>
              </a:ext>
            </a:extLst>
          </p:cNvPr>
          <p:cNvGraphicFramePr>
            <a:graphicFrameLocks noGrp="1"/>
          </p:cNvGraphicFramePr>
          <p:nvPr>
            <p:extLst>
              <p:ext uri="{D42A27DB-BD31-4B8C-83A1-F6EECF244321}">
                <p14:modId xmlns:p14="http://schemas.microsoft.com/office/powerpoint/2010/main" val="1703084094"/>
              </p:ext>
            </p:extLst>
          </p:nvPr>
        </p:nvGraphicFramePr>
        <p:xfrm>
          <a:off x="5460400" y="3294981"/>
          <a:ext cx="1574311" cy="1310641"/>
        </p:xfrm>
        <a:graphic>
          <a:graphicData uri="http://schemas.openxmlformats.org/drawingml/2006/table">
            <a:tbl>
              <a:tblPr firstRow="1" bandRow="1">
                <a:tableStyleId>{5C22544A-7EE6-4342-B048-85BDC9FD1C3A}</a:tableStyleId>
              </a:tblPr>
              <a:tblGrid>
                <a:gridCol w="1574311">
                  <a:extLst>
                    <a:ext uri="{9D8B030D-6E8A-4147-A177-3AD203B41FA5}">
                      <a16:colId xmlns:a16="http://schemas.microsoft.com/office/drawing/2014/main" val="3037676781"/>
                    </a:ext>
                  </a:extLst>
                </a:gridCol>
              </a:tblGrid>
              <a:tr h="445541">
                <a:tc>
                  <a:txBody>
                    <a:bodyPr/>
                    <a:lstStyle/>
                    <a:p>
                      <a:pPr algn="ctr"/>
                      <a:r>
                        <a:rPr lang="pl-PL" sz="1200" b="1">
                          <a:solidFill>
                            <a:schemeClr val="accent5"/>
                          </a:solidFill>
                        </a:rPr>
                        <a:t>Executive bylines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65100">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Contributed articles in trade and business press on </a:t>
                      </a:r>
                      <a:r>
                        <a:rPr lang="pl-PL" sz="1000" b="0">
                          <a:solidFill>
                            <a:schemeClr val="tx1"/>
                          </a:solidFill>
                        </a:rPr>
                        <a:t>topics with impact on the business priority.</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75175"/>
                  </a:ext>
                </a:extLst>
              </a:tr>
            </a:tbl>
          </a:graphicData>
        </a:graphic>
      </p:graphicFrame>
      <p:graphicFrame>
        <p:nvGraphicFramePr>
          <p:cNvPr id="14" name="Table 13">
            <a:extLst>
              <a:ext uri="{FF2B5EF4-FFF2-40B4-BE49-F238E27FC236}">
                <a16:creationId xmlns:a16="http://schemas.microsoft.com/office/drawing/2014/main" id="{BBD97619-2504-DB76-2B38-554B64D6E84C}"/>
              </a:ext>
            </a:extLst>
          </p:cNvPr>
          <p:cNvGraphicFramePr>
            <a:graphicFrameLocks noGrp="1"/>
          </p:cNvGraphicFramePr>
          <p:nvPr>
            <p:extLst>
              <p:ext uri="{D42A27DB-BD31-4B8C-83A1-F6EECF244321}">
                <p14:modId xmlns:p14="http://schemas.microsoft.com/office/powerpoint/2010/main" val="3566374876"/>
              </p:ext>
            </p:extLst>
          </p:nvPr>
        </p:nvGraphicFramePr>
        <p:xfrm>
          <a:off x="7093784" y="1583813"/>
          <a:ext cx="1564854" cy="1619816"/>
        </p:xfrm>
        <a:graphic>
          <a:graphicData uri="http://schemas.openxmlformats.org/drawingml/2006/table">
            <a:tbl>
              <a:tblPr firstRow="1" bandRow="1">
                <a:tableStyleId>{5C22544A-7EE6-4342-B048-85BDC9FD1C3A}</a:tableStyleId>
              </a:tblPr>
              <a:tblGrid>
                <a:gridCol w="1564854">
                  <a:extLst>
                    <a:ext uri="{9D8B030D-6E8A-4147-A177-3AD203B41FA5}">
                      <a16:colId xmlns:a16="http://schemas.microsoft.com/office/drawing/2014/main" val="3037676781"/>
                    </a:ext>
                  </a:extLst>
                </a:gridCol>
              </a:tblGrid>
              <a:tr h="452824">
                <a:tc>
                  <a:txBody>
                    <a:bodyPr/>
                    <a:lstStyle/>
                    <a:p>
                      <a:pPr algn="ctr"/>
                      <a:r>
                        <a:rPr lang="en-US" sz="1200" b="1">
                          <a:solidFill>
                            <a:schemeClr val="accent5"/>
                          </a:solidFill>
                        </a:rPr>
                        <a:t>Rapid-response commentary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162616">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A standing list of spokespeople by topic, able to answer journalist queries within hours</a:t>
                      </a:r>
                      <a:r>
                        <a:rPr lang="pl-PL" sz="1000" b="0">
                          <a:solidFill>
                            <a:schemeClr val="tx1"/>
                          </a:solidFill>
                        </a:rPr>
                        <a:t>.</a:t>
                      </a: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75175"/>
                  </a:ext>
                </a:extLst>
              </a:tr>
            </a:tbl>
          </a:graphicData>
        </a:graphic>
      </p:graphicFrame>
      <p:graphicFrame>
        <p:nvGraphicFramePr>
          <p:cNvPr id="15" name="Table 14">
            <a:extLst>
              <a:ext uri="{FF2B5EF4-FFF2-40B4-BE49-F238E27FC236}">
                <a16:creationId xmlns:a16="http://schemas.microsoft.com/office/drawing/2014/main" id="{EC870DE4-F3E8-0FA7-4E08-71F4BAB44369}"/>
              </a:ext>
            </a:extLst>
          </p:cNvPr>
          <p:cNvGraphicFramePr>
            <a:graphicFrameLocks noGrp="1"/>
          </p:cNvGraphicFramePr>
          <p:nvPr>
            <p:extLst>
              <p:ext uri="{D42A27DB-BD31-4B8C-83A1-F6EECF244321}">
                <p14:modId xmlns:p14="http://schemas.microsoft.com/office/powerpoint/2010/main" val="3223751401"/>
              </p:ext>
            </p:extLst>
          </p:nvPr>
        </p:nvGraphicFramePr>
        <p:xfrm>
          <a:off x="7093784" y="3294982"/>
          <a:ext cx="1564854" cy="1310640"/>
        </p:xfrm>
        <a:graphic>
          <a:graphicData uri="http://schemas.openxmlformats.org/drawingml/2006/table">
            <a:tbl>
              <a:tblPr firstRow="1" bandRow="1">
                <a:tableStyleId>{5C22544A-7EE6-4342-B048-85BDC9FD1C3A}</a:tableStyleId>
              </a:tblPr>
              <a:tblGrid>
                <a:gridCol w="1564854">
                  <a:extLst>
                    <a:ext uri="{9D8B030D-6E8A-4147-A177-3AD203B41FA5}">
                      <a16:colId xmlns:a16="http://schemas.microsoft.com/office/drawing/2014/main" val="3037676781"/>
                    </a:ext>
                  </a:extLst>
                </a:gridCol>
              </a:tblGrid>
              <a:tr h="179302">
                <a:tc>
                  <a:txBody>
                    <a:bodyPr/>
                    <a:lstStyle/>
                    <a:p>
                      <a:pPr algn="ctr"/>
                      <a:r>
                        <a:rPr lang="en-US" sz="1200" b="1">
                          <a:solidFill>
                            <a:schemeClr val="accent5"/>
                          </a:solidFill>
                        </a:rPr>
                        <a:t>Track unlinked mentions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552734">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Monitor brand mentions without a hyperlink too </a:t>
                      </a:r>
                      <a:r>
                        <a:rPr lang="pl-PL" sz="1000" b="0">
                          <a:solidFill>
                            <a:schemeClr val="tx1"/>
                          </a:solidFill>
                        </a:rPr>
                        <a:t>-</a:t>
                      </a:r>
                      <a:r>
                        <a:rPr lang="en-US" sz="1000" b="0">
                          <a:solidFill>
                            <a:schemeClr val="tx1"/>
                          </a:solidFill>
                        </a:rPr>
                        <a:t> these still count for AI visibility.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75175"/>
                  </a:ext>
                </a:extLst>
              </a:tr>
            </a:tbl>
          </a:graphicData>
        </a:graphic>
      </p:graphicFrame>
      <p:graphicFrame>
        <p:nvGraphicFramePr>
          <p:cNvPr id="16" name="Table 15">
            <a:extLst>
              <a:ext uri="{FF2B5EF4-FFF2-40B4-BE49-F238E27FC236}">
                <a16:creationId xmlns:a16="http://schemas.microsoft.com/office/drawing/2014/main" id="{94D8BBF4-9CF3-6D10-9B5C-8930C056F0AA}"/>
              </a:ext>
            </a:extLst>
          </p:cNvPr>
          <p:cNvGraphicFramePr>
            <a:graphicFrameLocks noGrp="1"/>
          </p:cNvGraphicFramePr>
          <p:nvPr>
            <p:extLst>
              <p:ext uri="{D42A27DB-BD31-4B8C-83A1-F6EECF244321}">
                <p14:modId xmlns:p14="http://schemas.microsoft.com/office/powerpoint/2010/main" val="434669246"/>
              </p:ext>
            </p:extLst>
          </p:nvPr>
        </p:nvGraphicFramePr>
        <p:xfrm>
          <a:off x="5469857" y="1583812"/>
          <a:ext cx="1564854" cy="1615440"/>
        </p:xfrm>
        <a:graphic>
          <a:graphicData uri="http://schemas.openxmlformats.org/drawingml/2006/table">
            <a:tbl>
              <a:tblPr firstRow="1" bandRow="1">
                <a:tableStyleId>{5C22544A-7EE6-4342-B048-85BDC9FD1C3A}</a:tableStyleId>
              </a:tblPr>
              <a:tblGrid>
                <a:gridCol w="1564854">
                  <a:extLst>
                    <a:ext uri="{9D8B030D-6E8A-4147-A177-3AD203B41FA5}">
                      <a16:colId xmlns:a16="http://schemas.microsoft.com/office/drawing/2014/main" val="3037676781"/>
                    </a:ext>
                  </a:extLst>
                </a:gridCol>
              </a:tblGrid>
              <a:tr h="179302">
                <a:tc>
                  <a:txBody>
                    <a:bodyPr/>
                    <a:lstStyle/>
                    <a:p>
                      <a:pPr algn="ctr"/>
                      <a:r>
                        <a:rPr lang="en-US" sz="1200" b="1">
                          <a:solidFill>
                            <a:schemeClr val="accent5"/>
                          </a:solidFill>
                        </a:rPr>
                        <a:t>Coordinated amplification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552734">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Land the same story or quote across several trusted outlets in a short window</a:t>
                      </a:r>
                      <a:r>
                        <a:rPr lang="pl-PL" sz="1000" b="0">
                          <a:solidFill>
                            <a:schemeClr val="tx1"/>
                          </a:solidFill>
                        </a:rPr>
                        <a:t>. M</a:t>
                      </a:r>
                      <a:r>
                        <a:rPr lang="en-US" sz="1000" b="0" err="1">
                          <a:solidFill>
                            <a:schemeClr val="tx1"/>
                          </a:solidFill>
                        </a:rPr>
                        <a:t>ulti</a:t>
                      </a:r>
                      <a:r>
                        <a:rPr lang="en-US" sz="1000" b="0">
                          <a:solidFill>
                            <a:schemeClr val="tx1"/>
                          </a:solidFill>
                        </a:rPr>
                        <a:t>-source corroboration is what AI engines look for.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75175"/>
                  </a:ext>
                </a:extLst>
              </a:tr>
            </a:tbl>
          </a:graphicData>
        </a:graphic>
      </p:graphicFrame>
      <p:graphicFrame>
        <p:nvGraphicFramePr>
          <p:cNvPr id="17" name="Table 16">
            <a:extLst>
              <a:ext uri="{FF2B5EF4-FFF2-40B4-BE49-F238E27FC236}">
                <a16:creationId xmlns:a16="http://schemas.microsoft.com/office/drawing/2014/main" id="{96EE274D-417D-7F1D-A9DD-94AAD4F968D3}"/>
              </a:ext>
            </a:extLst>
          </p:cNvPr>
          <p:cNvGraphicFramePr>
            <a:graphicFrameLocks noGrp="1"/>
          </p:cNvGraphicFramePr>
          <p:nvPr>
            <p:extLst>
              <p:ext uri="{D42A27DB-BD31-4B8C-83A1-F6EECF244321}">
                <p14:modId xmlns:p14="http://schemas.microsoft.com/office/powerpoint/2010/main" val="4119325478"/>
              </p:ext>
            </p:extLst>
          </p:nvPr>
        </p:nvGraphicFramePr>
        <p:xfrm>
          <a:off x="3752941" y="3294982"/>
          <a:ext cx="1633384" cy="1310640"/>
        </p:xfrm>
        <a:graphic>
          <a:graphicData uri="http://schemas.openxmlformats.org/drawingml/2006/table">
            <a:tbl>
              <a:tblPr firstRow="1" bandRow="1">
                <a:tableStyleId>{5C22544A-7EE6-4342-B048-85BDC9FD1C3A}</a:tableStyleId>
              </a:tblPr>
              <a:tblGrid>
                <a:gridCol w="1633384">
                  <a:extLst>
                    <a:ext uri="{9D8B030D-6E8A-4147-A177-3AD203B41FA5}">
                      <a16:colId xmlns:a16="http://schemas.microsoft.com/office/drawing/2014/main" val="3037676781"/>
                    </a:ext>
                  </a:extLst>
                </a:gridCol>
              </a:tblGrid>
              <a:tr h="280851">
                <a:tc>
                  <a:txBody>
                    <a:bodyPr/>
                    <a:lstStyle/>
                    <a:p>
                      <a:pPr algn="ctr"/>
                      <a:r>
                        <a:rPr lang="en-US" sz="1200" b="1">
                          <a:solidFill>
                            <a:schemeClr val="accent5"/>
                          </a:solidFill>
                        </a:rPr>
                        <a:t>Refresh outreach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029789">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Revisit older coverage with updated statistics or a sharper current-market angle to prevent citation decay.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33980535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7CEA3-2878-69AB-D5AE-CD010EEB703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1C6AB1A6-187E-6382-159E-4CB9FD9FFB90}"/>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49D5EB55-C3EE-993A-E87B-1504CACC5C52}"/>
              </a:ext>
            </a:extLst>
          </p:cNvPr>
          <p:cNvSpPr/>
          <p:nvPr/>
        </p:nvSpPr>
        <p:spPr>
          <a:xfrm>
            <a:off x="342900" y="192024"/>
            <a:ext cx="7886700" cy="377190"/>
          </a:xfrm>
          <a:prstGeom prst="rect">
            <a:avLst/>
          </a:prstGeom>
          <a:noFill/>
          <a:ln/>
        </p:spPr>
        <p:txBody>
          <a:bodyPr wrap="square" lIns="0" tIns="0" rIns="0" bIns="0" rtlCol="0" anchor="ctr"/>
          <a:lstStyle/>
          <a:p>
            <a:pPr marL="0" marR="0" lvl="0" indent="0" defTabSz="457184" rtl="0" eaLnBrk="1" fontAlgn="auto" latinLnBrk="0" hangingPunct="1">
              <a:lnSpc>
                <a:spcPct val="100000"/>
              </a:lnSpc>
              <a:spcBef>
                <a:spcPts val="0"/>
              </a:spcBef>
              <a:spcAft>
                <a:spcPts val="0"/>
              </a:spcAft>
              <a:buClrTx/>
              <a:buSzTx/>
              <a:buFontTx/>
              <a:buNone/>
              <a:tabLst/>
              <a:defRPr/>
            </a:pPr>
            <a:r>
              <a:rPr lang="en-US" sz="2200">
                <a:solidFill>
                  <a:srgbClr val="E7FFD9"/>
                </a:solidFill>
                <a:latin typeface="Poppins"/>
                <a:cs typeface="Arial"/>
              </a:rPr>
              <a:t>Plan </a:t>
            </a:r>
            <a:r>
              <a:rPr lang="pl-PL" sz="2200">
                <a:solidFill>
                  <a:srgbClr val="E7FFD9"/>
                </a:solidFill>
                <a:latin typeface="Poppins"/>
                <a:cs typeface="Arial"/>
              </a:rPr>
              <a:t>I</a:t>
            </a:r>
            <a:r>
              <a:rPr lang="en-US" sz="2200" err="1">
                <a:solidFill>
                  <a:srgbClr val="E7FFD9"/>
                </a:solidFill>
                <a:latin typeface="Poppins"/>
                <a:cs typeface="Arial"/>
              </a:rPr>
              <a:t>nternal</a:t>
            </a:r>
            <a:r>
              <a:rPr lang="en-US" sz="2200">
                <a:solidFill>
                  <a:srgbClr val="E7FFD9"/>
                </a:solidFill>
                <a:latin typeface="Poppins"/>
                <a:cs typeface="Arial"/>
              </a:rPr>
              <a:t> and </a:t>
            </a:r>
            <a:r>
              <a:rPr lang="pl-PL" sz="2200">
                <a:solidFill>
                  <a:srgbClr val="E7FFD9"/>
                </a:solidFill>
                <a:latin typeface="Poppins"/>
                <a:cs typeface="Arial"/>
              </a:rPr>
              <a:t>E</a:t>
            </a:r>
            <a:r>
              <a:rPr lang="en-US" sz="2200" err="1">
                <a:solidFill>
                  <a:srgbClr val="E7FFD9"/>
                </a:solidFill>
                <a:latin typeface="Poppins"/>
                <a:cs typeface="Arial"/>
              </a:rPr>
              <a:t>xternal</a:t>
            </a:r>
            <a:r>
              <a:rPr lang="en-US" sz="2200">
                <a:solidFill>
                  <a:srgbClr val="E7FFD9"/>
                </a:solidFill>
                <a:latin typeface="Poppins"/>
                <a:cs typeface="Arial"/>
              </a:rPr>
              <a:t> </a:t>
            </a:r>
            <a:r>
              <a:rPr lang="pl-PL" sz="2200">
                <a:solidFill>
                  <a:srgbClr val="E7FFD9"/>
                </a:solidFill>
                <a:latin typeface="Poppins"/>
                <a:cs typeface="Arial"/>
              </a:rPr>
              <a:t>T</a:t>
            </a:r>
            <a:r>
              <a:rPr lang="en-US" sz="2200" err="1">
                <a:solidFill>
                  <a:srgbClr val="E7FFD9"/>
                </a:solidFill>
                <a:latin typeface="Poppins"/>
                <a:cs typeface="Arial"/>
              </a:rPr>
              <a:t>ogether</a:t>
            </a:r>
            <a:endParaRPr lang="en-US" sz="2200">
              <a:solidFill>
                <a:srgbClr val="E7FFD9"/>
              </a:solidFill>
              <a:latin typeface="Poppins"/>
              <a:cs typeface="Arial"/>
            </a:endParaRPr>
          </a:p>
        </p:txBody>
      </p:sp>
      <p:sp>
        <p:nvSpPr>
          <p:cNvPr id="12" name="Text 2">
            <a:extLst>
              <a:ext uri="{FF2B5EF4-FFF2-40B4-BE49-F238E27FC236}">
                <a16:creationId xmlns:a16="http://schemas.microsoft.com/office/drawing/2014/main" id="{EF42AC87-B9C5-EF58-2B13-F2BE325AEA2A}"/>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And what to avoid.</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241F6A4D-30DB-DC81-147A-1B6456C09747}"/>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9E8C24D5-BB17-8D02-9863-85D6223DE03A}"/>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115</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3" name="Table 2">
            <a:extLst>
              <a:ext uri="{FF2B5EF4-FFF2-40B4-BE49-F238E27FC236}">
                <a16:creationId xmlns:a16="http://schemas.microsoft.com/office/drawing/2014/main" id="{10BCC8BA-DDDA-7D23-3ED1-8A698425BC01}"/>
              </a:ext>
            </a:extLst>
          </p:cNvPr>
          <p:cNvGraphicFramePr>
            <a:graphicFrameLocks noGrp="1"/>
          </p:cNvGraphicFramePr>
          <p:nvPr>
            <p:extLst>
              <p:ext uri="{D42A27DB-BD31-4B8C-83A1-F6EECF244321}">
                <p14:modId xmlns:p14="http://schemas.microsoft.com/office/powerpoint/2010/main" val="1581081092"/>
              </p:ext>
            </p:extLst>
          </p:nvPr>
        </p:nvGraphicFramePr>
        <p:xfrm>
          <a:off x="871570" y="1116259"/>
          <a:ext cx="7400859" cy="1739622"/>
        </p:xfrm>
        <a:graphic>
          <a:graphicData uri="http://schemas.openxmlformats.org/drawingml/2006/table">
            <a:tbl>
              <a:tblPr firstRow="1" bandRow="1">
                <a:tableStyleId>{5C22544A-7EE6-4342-B048-85BDC9FD1C3A}</a:tableStyleId>
              </a:tblPr>
              <a:tblGrid>
                <a:gridCol w="2466953">
                  <a:extLst>
                    <a:ext uri="{9D8B030D-6E8A-4147-A177-3AD203B41FA5}">
                      <a16:colId xmlns:a16="http://schemas.microsoft.com/office/drawing/2014/main" val="896702349"/>
                    </a:ext>
                  </a:extLst>
                </a:gridCol>
                <a:gridCol w="2466953">
                  <a:extLst>
                    <a:ext uri="{9D8B030D-6E8A-4147-A177-3AD203B41FA5}">
                      <a16:colId xmlns:a16="http://schemas.microsoft.com/office/drawing/2014/main" val="3183027250"/>
                    </a:ext>
                  </a:extLst>
                </a:gridCol>
                <a:gridCol w="2466953">
                  <a:extLst>
                    <a:ext uri="{9D8B030D-6E8A-4147-A177-3AD203B41FA5}">
                      <a16:colId xmlns:a16="http://schemas.microsoft.com/office/drawing/2014/main" val="450926009"/>
                    </a:ext>
                  </a:extLst>
                </a:gridCol>
              </a:tblGrid>
              <a:tr h="320952">
                <a:tc>
                  <a:txBody>
                    <a:bodyPr/>
                    <a:lstStyle/>
                    <a:p>
                      <a:pPr algn="ctr"/>
                      <a:r>
                        <a:rPr lang="en-US" sz="1200" b="1">
                          <a:solidFill>
                            <a:schemeClr val="accent5"/>
                          </a:solidFill>
                        </a:rPr>
                        <a:t>Hub pages receive the win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b="1">
                          <a:solidFill>
                            <a:schemeClr val="accent5"/>
                          </a:solidFill>
                        </a:rPr>
                        <a:t>External validates internal claims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b="1">
                          <a:solidFill>
                            <a:schemeClr val="accent5"/>
                          </a:solidFill>
                        </a:rPr>
                        <a:t>One shared entity map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1282422">
                <a:tc>
                  <a:txBody>
                    <a:bodyPr/>
                    <a:lstStyle/>
                    <a:p>
                      <a:pPr>
                        <a:lnSpc>
                          <a:spcPct val="150000"/>
                        </a:lnSpc>
                        <a:spcBef>
                          <a:spcPts val="0"/>
                        </a:spcBef>
                        <a:spcAft>
                          <a:spcPts val="0"/>
                        </a:spcAft>
                        <a:buClr>
                          <a:schemeClr val="tx2"/>
                        </a:buClr>
                        <a:defRPr/>
                      </a:pPr>
                      <a:r>
                        <a:rPr lang="en-US" sz="1000" b="0"/>
                        <a:t>Every digital-PR placement points back to </a:t>
                      </a:r>
                      <a:r>
                        <a:rPr lang="pl-PL" sz="1000" b="0"/>
                        <a:t>-</a:t>
                      </a:r>
                      <a:r>
                        <a:rPr lang="en-US" sz="1000" b="0"/>
                        <a:t> or is cross-referenced from </a:t>
                      </a:r>
                      <a:r>
                        <a:rPr lang="pl-PL" sz="1000" b="0"/>
                        <a:t>-</a:t>
                      </a:r>
                      <a:r>
                        <a:rPr lang="en-US" sz="1000" b="0"/>
                        <a:t> the relevant internal hub page.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nSpc>
                          <a:spcPct val="150000"/>
                        </a:lnSpc>
                        <a:spcBef>
                          <a:spcPts val="0"/>
                        </a:spcBef>
                        <a:spcAft>
                          <a:spcPts val="0"/>
                        </a:spcAft>
                        <a:buClr>
                          <a:schemeClr val="tx2"/>
                        </a:buClr>
                        <a:defRPr/>
                      </a:pPr>
                      <a:r>
                        <a:rPr lang="en-US" sz="1000" b="0"/>
                        <a:t>Sustainability and performance claims are stronger in AI answers once independently corroborated (</a:t>
                      </a:r>
                      <a:r>
                        <a:rPr lang="pl-PL" sz="1000" b="0"/>
                        <a:t>e.g. </a:t>
                      </a:r>
                      <a:r>
                        <a:rPr lang="en-US" sz="1000" b="0"/>
                        <a:t>analyst reports, customer case studies).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nSpc>
                          <a:spcPct val="150000"/>
                        </a:lnSpc>
                        <a:spcBef>
                          <a:spcPts val="0"/>
                        </a:spcBef>
                        <a:spcAft>
                          <a:spcPts val="0"/>
                        </a:spcAft>
                        <a:buClr>
                          <a:schemeClr val="tx2"/>
                        </a:buClr>
                        <a:defRPr/>
                      </a:pPr>
                      <a:r>
                        <a:rPr lang="pl-PL" sz="1000" b="0"/>
                        <a:t>Knowledge graph of your scope so you can keep track on what pages are connected – and how.</a:t>
                      </a:r>
                      <a:endParaRPr lang="en-US" sz="10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4" name="Table 3">
            <a:extLst>
              <a:ext uri="{FF2B5EF4-FFF2-40B4-BE49-F238E27FC236}">
                <a16:creationId xmlns:a16="http://schemas.microsoft.com/office/drawing/2014/main" id="{F921F3B7-1DE9-0B0C-3CFF-4CDB7E120422}"/>
              </a:ext>
            </a:extLst>
          </p:cNvPr>
          <p:cNvGraphicFramePr>
            <a:graphicFrameLocks noGrp="1"/>
          </p:cNvGraphicFramePr>
          <p:nvPr>
            <p:extLst>
              <p:ext uri="{D42A27DB-BD31-4B8C-83A1-F6EECF244321}">
                <p14:modId xmlns:p14="http://schemas.microsoft.com/office/powerpoint/2010/main" val="2774676994"/>
              </p:ext>
            </p:extLst>
          </p:nvPr>
        </p:nvGraphicFramePr>
        <p:xfrm>
          <a:off x="890918" y="2950338"/>
          <a:ext cx="7400859" cy="1603374"/>
        </p:xfrm>
        <a:graphic>
          <a:graphicData uri="http://schemas.openxmlformats.org/drawingml/2006/table">
            <a:tbl>
              <a:tblPr firstRow="1" bandRow="1">
                <a:tableStyleId>{5C22544A-7EE6-4342-B048-85BDC9FD1C3A}</a:tableStyleId>
              </a:tblPr>
              <a:tblGrid>
                <a:gridCol w="2466953">
                  <a:extLst>
                    <a:ext uri="{9D8B030D-6E8A-4147-A177-3AD203B41FA5}">
                      <a16:colId xmlns:a16="http://schemas.microsoft.com/office/drawing/2014/main" val="896702349"/>
                    </a:ext>
                  </a:extLst>
                </a:gridCol>
                <a:gridCol w="2466953">
                  <a:extLst>
                    <a:ext uri="{9D8B030D-6E8A-4147-A177-3AD203B41FA5}">
                      <a16:colId xmlns:a16="http://schemas.microsoft.com/office/drawing/2014/main" val="3183027250"/>
                    </a:ext>
                  </a:extLst>
                </a:gridCol>
                <a:gridCol w="2466953">
                  <a:extLst>
                    <a:ext uri="{9D8B030D-6E8A-4147-A177-3AD203B41FA5}">
                      <a16:colId xmlns:a16="http://schemas.microsoft.com/office/drawing/2014/main" val="450926009"/>
                    </a:ext>
                  </a:extLst>
                </a:gridCol>
              </a:tblGrid>
              <a:tr h="320952">
                <a:tc gridSpan="3">
                  <a:txBody>
                    <a:bodyPr/>
                    <a:lstStyle/>
                    <a:p>
                      <a:pPr algn="ctr"/>
                      <a:r>
                        <a:rPr lang="pl-PL" sz="1200" b="1">
                          <a:solidFill>
                            <a:schemeClr val="tx1"/>
                          </a:solidFill>
                        </a:rPr>
                        <a:t>Dont’s</a:t>
                      </a:r>
                      <a:endParaRPr lang="en-US" sz="12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pPr algn="ctr"/>
                      <a:endParaRPr lang="en-US" sz="1200" b="1">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en-US" sz="1200" b="1">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1282422">
                <a:tc>
                  <a:txBody>
                    <a:bodyPr/>
                    <a:lstStyle/>
                    <a:p>
                      <a:pPr>
                        <a:lnSpc>
                          <a:spcPct val="150000"/>
                        </a:lnSpc>
                        <a:spcBef>
                          <a:spcPts val="0"/>
                        </a:spcBef>
                        <a:spcAft>
                          <a:spcPts val="0"/>
                        </a:spcAft>
                        <a:buClr>
                          <a:schemeClr val="tx2"/>
                        </a:buClr>
                        <a:defRPr/>
                      </a:pPr>
                      <a:r>
                        <a:rPr lang="en-US" sz="1000" b="0"/>
                        <a:t>Paid link schemes </a:t>
                      </a:r>
                      <a:r>
                        <a:rPr lang="pl-PL" sz="1000" b="0"/>
                        <a:t>and</a:t>
                      </a:r>
                      <a:r>
                        <a:rPr lang="en-US" sz="1000" b="0"/>
                        <a:t> low-quality guest posts</a:t>
                      </a:r>
                      <a:r>
                        <a:rPr lang="pl-PL" sz="1000" b="0"/>
                        <a:t> - m</a:t>
                      </a:r>
                      <a:r>
                        <a:rPr lang="en-US" sz="1000" b="0" err="1"/>
                        <a:t>arginal</a:t>
                      </a:r>
                      <a:r>
                        <a:rPr lang="en-US" sz="1000" b="0"/>
                        <a:t> help for traditional SEO; little to no AI trust signal, with reputational risk.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nSpc>
                          <a:spcPct val="150000"/>
                        </a:lnSpc>
                        <a:spcBef>
                          <a:spcPts val="0"/>
                        </a:spcBef>
                        <a:spcAft>
                          <a:spcPts val="0"/>
                        </a:spcAft>
                        <a:buClr>
                          <a:schemeClr val="tx2"/>
                        </a:buClr>
                        <a:defRPr/>
                      </a:pPr>
                      <a:r>
                        <a:rPr lang="en-US" sz="1000" b="0"/>
                        <a:t>Disguised advertorials</a:t>
                      </a:r>
                      <a:r>
                        <a:rPr lang="pl-PL" sz="1000" b="0"/>
                        <a:t> - c</a:t>
                      </a:r>
                      <a:r>
                        <a:rPr lang="en-US" sz="1000" b="0" err="1"/>
                        <a:t>ontent</a:t>
                      </a:r>
                      <a:r>
                        <a:rPr lang="en-US" sz="1000" b="0"/>
                        <a:t> that reads as brand-controlled is increasingly discounted by AI systems, even hosted externally.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nSpc>
                          <a:spcPct val="150000"/>
                        </a:lnSpc>
                        <a:spcBef>
                          <a:spcPts val="0"/>
                        </a:spcBef>
                        <a:spcAft>
                          <a:spcPts val="0"/>
                        </a:spcAft>
                        <a:buClr>
                          <a:schemeClr val="tx2"/>
                        </a:buClr>
                        <a:defRPr/>
                      </a:pPr>
                      <a:r>
                        <a:rPr lang="en-US" sz="1000" b="0"/>
                        <a:t>Inconsistent entity naming</a:t>
                      </a:r>
                      <a:r>
                        <a:rPr lang="pl-PL" sz="1000" b="0"/>
                        <a:t> - d</a:t>
                      </a:r>
                      <a:r>
                        <a:rPr lang="en-US" sz="1000" b="0" err="1"/>
                        <a:t>ifferent</a:t>
                      </a:r>
                      <a:r>
                        <a:rPr lang="en-US" sz="1000" b="0"/>
                        <a:t> names or claims across press releases, bylines, and product pages undermine cross-source corroboration.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728453341"/>
                  </a:ext>
                </a:extLst>
              </a:tr>
            </a:tbl>
          </a:graphicData>
        </a:graphic>
      </p:graphicFrame>
    </p:spTree>
    <p:extLst>
      <p:ext uri="{BB962C8B-B14F-4D97-AF65-F5344CB8AC3E}">
        <p14:creationId xmlns:p14="http://schemas.microsoft.com/office/powerpoint/2010/main" val="4482838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3BB0-79C7-07D6-0459-36CD438F53DD}"/>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2BEDBC05-42F0-36C5-5801-07C496E44D70}"/>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F2B0735B-2C89-4CAB-E2EE-EA8451B1E179}"/>
              </a:ext>
            </a:extLst>
          </p:cNvPr>
          <p:cNvSpPr/>
          <p:nvPr/>
        </p:nvSpPr>
        <p:spPr>
          <a:xfrm>
            <a:off x="342900" y="192024"/>
            <a:ext cx="7886700" cy="377190"/>
          </a:xfrm>
          <a:prstGeom prst="rect">
            <a:avLst/>
          </a:prstGeom>
          <a:noFill/>
          <a:ln/>
        </p:spPr>
        <p:txBody>
          <a:bodyPr wrap="square" lIns="0" tIns="0" rIns="0" bIns="0" rtlCol="0" anchor="ctr"/>
          <a:lstStyle/>
          <a:p>
            <a:pPr marL="0" marR="0" lvl="0" indent="0" defTabSz="457184" rtl="0" eaLnBrk="1" fontAlgn="auto" latinLnBrk="0" hangingPunct="1">
              <a:lnSpc>
                <a:spcPct val="100000"/>
              </a:lnSpc>
              <a:spcBef>
                <a:spcPts val="0"/>
              </a:spcBef>
              <a:spcAft>
                <a:spcPts val="0"/>
              </a:spcAft>
              <a:buClrTx/>
              <a:buSzTx/>
              <a:buFontTx/>
              <a:buNone/>
              <a:tabLst/>
              <a:defRPr/>
            </a:pPr>
            <a:r>
              <a:rPr lang="pl-PL" sz="2200">
                <a:solidFill>
                  <a:srgbClr val="E7FFD9"/>
                </a:solidFill>
                <a:latin typeface="Poppins"/>
                <a:cs typeface="Arial"/>
              </a:rPr>
              <a:t>90-day Starter Checklist</a:t>
            </a:r>
          </a:p>
        </p:txBody>
      </p:sp>
      <p:sp>
        <p:nvSpPr>
          <p:cNvPr id="12" name="Text 2">
            <a:extLst>
              <a:ext uri="{FF2B5EF4-FFF2-40B4-BE49-F238E27FC236}">
                <a16:creationId xmlns:a16="http://schemas.microsoft.com/office/drawing/2014/main" id="{2DED33F9-5923-1E82-2DB5-7F68C6E3F9F9}"/>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FFD9"/>
                </a:solidFill>
                <a:effectLst/>
                <a:uLnTx/>
                <a:uFillTx/>
                <a:latin typeface="Poppins"/>
                <a:ea typeface="+mn-ea"/>
                <a:cs typeface="Arial"/>
              </a:rPr>
              <a:t>For e</a:t>
            </a:r>
            <a:r>
              <a:rPr kumimoji="0" lang="pl-PL" sz="1100" b="0" i="0" u="none" strike="noStrike" kern="1200" cap="none" spc="0" normalizeH="0" baseline="0" noProof="0">
                <a:ln>
                  <a:noFill/>
                </a:ln>
                <a:solidFill>
                  <a:srgbClr val="E7FFD9"/>
                </a:solidFill>
                <a:effectLst/>
                <a:uLnTx/>
                <a:uFillTx/>
                <a:latin typeface="Poppins"/>
                <a:ea typeface="+mn-ea"/>
                <a:cs typeface="Arial"/>
              </a:rPr>
              <a:t>very marketer.</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04886CD3-3E53-C7C8-9F7D-42BD965B8863}"/>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F4D059A3-E488-E837-C404-21E3D0CB209F}"/>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116</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Rectangle 1">
            <a:extLst>
              <a:ext uri="{FF2B5EF4-FFF2-40B4-BE49-F238E27FC236}">
                <a16:creationId xmlns:a16="http://schemas.microsoft.com/office/drawing/2014/main" id="{44D491F5-32C0-C09B-DA11-B9B32EF25459}"/>
              </a:ext>
            </a:extLst>
          </p:cNvPr>
          <p:cNvSpPr/>
          <p:nvPr/>
        </p:nvSpPr>
        <p:spPr>
          <a:xfrm>
            <a:off x="1208567" y="1128575"/>
            <a:ext cx="6726865" cy="348646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3" name="Shape 2">
            <a:extLst>
              <a:ext uri="{FF2B5EF4-FFF2-40B4-BE49-F238E27FC236}">
                <a16:creationId xmlns:a16="http://schemas.microsoft.com/office/drawing/2014/main" id="{D62BBA48-6AC1-E517-4181-AE9CFACEF4CD}"/>
              </a:ext>
            </a:extLst>
          </p:cNvPr>
          <p:cNvSpPr/>
          <p:nvPr/>
        </p:nvSpPr>
        <p:spPr>
          <a:xfrm>
            <a:off x="1386131" y="1320599"/>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7" name="Text 3">
            <a:extLst>
              <a:ext uri="{FF2B5EF4-FFF2-40B4-BE49-F238E27FC236}">
                <a16:creationId xmlns:a16="http://schemas.microsoft.com/office/drawing/2014/main" id="{7572B299-A234-0A2E-D148-08108423D6C6}"/>
              </a:ext>
            </a:extLst>
          </p:cNvPr>
          <p:cNvSpPr/>
          <p:nvPr/>
        </p:nvSpPr>
        <p:spPr>
          <a:xfrm>
            <a:off x="1797611" y="1286309"/>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Confirm priority topic hub pages exist and are linked in a product/proof/policy triangle</a:t>
            </a:r>
            <a:r>
              <a:rPr lang="pl-PL" sz="1100">
                <a:latin typeface="+mj-lt"/>
                <a:ea typeface="Calibri" pitchFamily="34" charset="-122"/>
                <a:cs typeface="Calibri" pitchFamily="34" charset="-120"/>
              </a:rPr>
              <a:t>.</a:t>
            </a:r>
            <a:endParaRPr lang="en-US" sz="1100">
              <a:latin typeface="+mj-lt"/>
            </a:endParaRPr>
          </a:p>
        </p:txBody>
      </p:sp>
      <p:sp>
        <p:nvSpPr>
          <p:cNvPr id="13" name="Shape 4">
            <a:extLst>
              <a:ext uri="{FF2B5EF4-FFF2-40B4-BE49-F238E27FC236}">
                <a16:creationId xmlns:a16="http://schemas.microsoft.com/office/drawing/2014/main" id="{D16554F0-39A1-361B-D72F-F7DE56A54E30}"/>
              </a:ext>
            </a:extLst>
          </p:cNvPr>
          <p:cNvSpPr/>
          <p:nvPr/>
        </p:nvSpPr>
        <p:spPr>
          <a:xfrm>
            <a:off x="1386131" y="1786943"/>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14" name="Text 5">
            <a:extLst>
              <a:ext uri="{FF2B5EF4-FFF2-40B4-BE49-F238E27FC236}">
                <a16:creationId xmlns:a16="http://schemas.microsoft.com/office/drawing/2014/main" id="{191534EB-4377-6F2C-C5BB-7C086605FACB}"/>
              </a:ext>
            </a:extLst>
          </p:cNvPr>
          <p:cNvSpPr/>
          <p:nvPr/>
        </p:nvSpPr>
        <p:spPr>
          <a:xfrm>
            <a:off x="1797611" y="1752653"/>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Verify </a:t>
            </a:r>
            <a:r>
              <a:rPr lang="pl-PL" sz="1100">
                <a:latin typeface="+mj-lt"/>
                <a:ea typeface="Calibri" pitchFamily="34" charset="-122"/>
                <a:cs typeface="Calibri" pitchFamily="34" charset="-120"/>
              </a:rPr>
              <a:t>all major AI models</a:t>
            </a:r>
            <a:r>
              <a:rPr lang="en-US" sz="1100">
                <a:latin typeface="+mj-lt"/>
                <a:ea typeface="Calibri" pitchFamily="34" charset="-122"/>
                <a:cs typeface="Calibri" pitchFamily="34" charset="-120"/>
              </a:rPr>
              <a:t> are permitted for your public content</a:t>
            </a:r>
            <a:r>
              <a:rPr lang="pl-PL" sz="1100">
                <a:latin typeface="+mj-lt"/>
                <a:ea typeface="Calibri" pitchFamily="34" charset="-122"/>
                <a:cs typeface="Calibri" pitchFamily="34" charset="-120"/>
              </a:rPr>
              <a:t>.</a:t>
            </a:r>
            <a:endParaRPr lang="en-US" sz="1100">
              <a:latin typeface="+mj-lt"/>
            </a:endParaRPr>
          </a:p>
        </p:txBody>
      </p:sp>
      <p:sp>
        <p:nvSpPr>
          <p:cNvPr id="15" name="Shape 6">
            <a:extLst>
              <a:ext uri="{FF2B5EF4-FFF2-40B4-BE49-F238E27FC236}">
                <a16:creationId xmlns:a16="http://schemas.microsoft.com/office/drawing/2014/main" id="{06862386-5D71-2BF3-4DFE-BEB38842E6AF}"/>
              </a:ext>
            </a:extLst>
          </p:cNvPr>
          <p:cNvSpPr/>
          <p:nvPr/>
        </p:nvSpPr>
        <p:spPr>
          <a:xfrm>
            <a:off x="1386131" y="2253287"/>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16" name="Text 7">
            <a:extLst>
              <a:ext uri="{FF2B5EF4-FFF2-40B4-BE49-F238E27FC236}">
                <a16:creationId xmlns:a16="http://schemas.microsoft.com/office/drawing/2014/main" id="{307EAE56-971F-A630-0EEA-696BF8B791CC}"/>
              </a:ext>
            </a:extLst>
          </p:cNvPr>
          <p:cNvSpPr/>
          <p:nvPr/>
        </p:nvSpPr>
        <p:spPr>
          <a:xfrm>
            <a:off x="1797611" y="2218997"/>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Identify 3–5 target analyst reports, trade publications, or standards bodies and begin outreach</a:t>
            </a:r>
            <a:r>
              <a:rPr lang="pl-PL" sz="1100">
                <a:latin typeface="+mj-lt"/>
                <a:ea typeface="Calibri" pitchFamily="34" charset="-122"/>
                <a:cs typeface="Calibri" pitchFamily="34" charset="-120"/>
              </a:rPr>
              <a:t>.</a:t>
            </a:r>
            <a:endParaRPr lang="en-US" sz="1100">
              <a:latin typeface="+mj-lt"/>
            </a:endParaRPr>
          </a:p>
        </p:txBody>
      </p:sp>
      <p:sp>
        <p:nvSpPr>
          <p:cNvPr id="17" name="Shape 8">
            <a:extLst>
              <a:ext uri="{FF2B5EF4-FFF2-40B4-BE49-F238E27FC236}">
                <a16:creationId xmlns:a16="http://schemas.microsoft.com/office/drawing/2014/main" id="{A3BDB686-BFC0-BEE5-3845-FDAD05C5E727}"/>
              </a:ext>
            </a:extLst>
          </p:cNvPr>
          <p:cNvSpPr/>
          <p:nvPr/>
        </p:nvSpPr>
        <p:spPr>
          <a:xfrm>
            <a:off x="1386131" y="2719631"/>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18" name="Text 9">
            <a:extLst>
              <a:ext uri="{FF2B5EF4-FFF2-40B4-BE49-F238E27FC236}">
                <a16:creationId xmlns:a16="http://schemas.microsoft.com/office/drawing/2014/main" id="{6F92B9EF-9630-3A4A-3DEF-51161157D164}"/>
              </a:ext>
            </a:extLst>
          </p:cNvPr>
          <p:cNvSpPr/>
          <p:nvPr/>
        </p:nvSpPr>
        <p:spPr>
          <a:xfrm>
            <a:off x="1797611" y="2685341"/>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Audit the last 6 months of press releases and case studies for orphaned pages and inconsistent naming</a:t>
            </a:r>
            <a:r>
              <a:rPr lang="pl-PL" sz="1100">
                <a:latin typeface="+mj-lt"/>
                <a:ea typeface="Calibri" pitchFamily="34" charset="-122"/>
                <a:cs typeface="Calibri" pitchFamily="34" charset="-120"/>
              </a:rPr>
              <a:t>.</a:t>
            </a:r>
            <a:endParaRPr lang="en-US" sz="1100">
              <a:latin typeface="+mj-lt"/>
            </a:endParaRPr>
          </a:p>
        </p:txBody>
      </p:sp>
      <p:sp>
        <p:nvSpPr>
          <p:cNvPr id="19" name="Shape 10">
            <a:extLst>
              <a:ext uri="{FF2B5EF4-FFF2-40B4-BE49-F238E27FC236}">
                <a16:creationId xmlns:a16="http://schemas.microsoft.com/office/drawing/2014/main" id="{DB05D5C4-2461-9282-5E50-0C86CD75AAF8}"/>
              </a:ext>
            </a:extLst>
          </p:cNvPr>
          <p:cNvSpPr/>
          <p:nvPr/>
        </p:nvSpPr>
        <p:spPr>
          <a:xfrm>
            <a:off x="1386131" y="3185975"/>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20" name="Text 11">
            <a:extLst>
              <a:ext uri="{FF2B5EF4-FFF2-40B4-BE49-F238E27FC236}">
                <a16:creationId xmlns:a16="http://schemas.microsoft.com/office/drawing/2014/main" id="{ED3D817E-8AA3-5620-046F-AC68728ABB53}"/>
              </a:ext>
            </a:extLst>
          </p:cNvPr>
          <p:cNvSpPr/>
          <p:nvPr/>
        </p:nvSpPr>
        <p:spPr>
          <a:xfrm>
            <a:off x="1797611" y="3151685"/>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Nominate a rapid-response spokesperson for </a:t>
            </a:r>
            <a:r>
              <a:rPr lang="pl-PL" sz="1100">
                <a:latin typeface="+mj-lt"/>
                <a:ea typeface="Calibri" pitchFamily="34" charset="-122"/>
                <a:cs typeface="Calibri" pitchFamily="34" charset="-120"/>
              </a:rPr>
              <a:t>expert/</a:t>
            </a:r>
            <a:r>
              <a:rPr lang="en-US" sz="1100">
                <a:latin typeface="+mj-lt"/>
                <a:ea typeface="Calibri" pitchFamily="34" charset="-122"/>
                <a:cs typeface="Calibri" pitchFamily="34" charset="-120"/>
              </a:rPr>
              <a:t>journalist</a:t>
            </a:r>
            <a:r>
              <a:rPr lang="pl-PL" sz="1100">
                <a:latin typeface="+mj-lt"/>
                <a:ea typeface="Calibri" pitchFamily="34" charset="-122"/>
                <a:cs typeface="Calibri" pitchFamily="34" charset="-120"/>
              </a:rPr>
              <a:t>/community</a:t>
            </a:r>
            <a:r>
              <a:rPr lang="en-US" sz="1100">
                <a:latin typeface="+mj-lt"/>
                <a:ea typeface="Calibri" pitchFamily="34" charset="-122"/>
                <a:cs typeface="Calibri" pitchFamily="34" charset="-120"/>
              </a:rPr>
              <a:t> queries in your topic area</a:t>
            </a:r>
            <a:r>
              <a:rPr lang="pl-PL" sz="1100">
                <a:latin typeface="+mj-lt"/>
                <a:ea typeface="Calibri" pitchFamily="34" charset="-122"/>
                <a:cs typeface="Calibri" pitchFamily="34" charset="-120"/>
              </a:rPr>
              <a:t>.</a:t>
            </a:r>
            <a:endParaRPr lang="en-US" sz="1100">
              <a:latin typeface="+mj-lt"/>
            </a:endParaRPr>
          </a:p>
        </p:txBody>
      </p:sp>
      <p:sp>
        <p:nvSpPr>
          <p:cNvPr id="21" name="Shape 12">
            <a:extLst>
              <a:ext uri="{FF2B5EF4-FFF2-40B4-BE49-F238E27FC236}">
                <a16:creationId xmlns:a16="http://schemas.microsoft.com/office/drawing/2014/main" id="{262126DC-820F-22E4-C2A2-4680DCE8248E}"/>
              </a:ext>
            </a:extLst>
          </p:cNvPr>
          <p:cNvSpPr/>
          <p:nvPr/>
        </p:nvSpPr>
        <p:spPr>
          <a:xfrm>
            <a:off x="1386131" y="3652319"/>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22" name="Text 13">
            <a:extLst>
              <a:ext uri="{FF2B5EF4-FFF2-40B4-BE49-F238E27FC236}">
                <a16:creationId xmlns:a16="http://schemas.microsoft.com/office/drawing/2014/main" id="{A595A972-9D7B-5415-B248-0766858445CB}"/>
              </a:ext>
            </a:extLst>
          </p:cNvPr>
          <p:cNvSpPr/>
          <p:nvPr/>
        </p:nvSpPr>
        <p:spPr>
          <a:xfrm>
            <a:off x="1797611" y="3618029"/>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Identify one proprietary statistic or piece of original research to offer press/analysts this quarter</a:t>
            </a:r>
            <a:r>
              <a:rPr lang="pl-PL" sz="1100">
                <a:latin typeface="+mj-lt"/>
                <a:ea typeface="Calibri" pitchFamily="34" charset="-122"/>
                <a:cs typeface="Calibri" pitchFamily="34" charset="-120"/>
              </a:rPr>
              <a:t>.</a:t>
            </a:r>
            <a:endParaRPr lang="en-US" sz="1100">
              <a:latin typeface="+mj-lt"/>
            </a:endParaRPr>
          </a:p>
        </p:txBody>
      </p:sp>
      <p:sp>
        <p:nvSpPr>
          <p:cNvPr id="23" name="Shape 14">
            <a:extLst>
              <a:ext uri="{FF2B5EF4-FFF2-40B4-BE49-F238E27FC236}">
                <a16:creationId xmlns:a16="http://schemas.microsoft.com/office/drawing/2014/main" id="{D48C2C8B-EFB7-470A-51D2-44B23EBDC946}"/>
              </a:ext>
            </a:extLst>
          </p:cNvPr>
          <p:cNvSpPr/>
          <p:nvPr/>
        </p:nvSpPr>
        <p:spPr>
          <a:xfrm>
            <a:off x="1386131" y="4118663"/>
            <a:ext cx="274320" cy="274320"/>
          </a:xfrm>
          <a:prstGeom prst="roundRect">
            <a:avLst>
              <a:gd name="adj" fmla="val 15000"/>
            </a:avLst>
          </a:prstGeom>
          <a:solidFill>
            <a:srgbClr val="FFFFFF"/>
          </a:solidFill>
          <a:ln w="19050">
            <a:solidFill>
              <a:schemeClr val="tx1"/>
            </a:solidFill>
            <a:prstDash val="solid"/>
          </a:ln>
        </p:spPr>
        <p:txBody>
          <a:bodyPr/>
          <a:lstStyle/>
          <a:p>
            <a:pPr defTabSz="685800"/>
            <a:endParaRPr lang="pl-PL" sz="1350">
              <a:latin typeface="Calibri" panose="020F0502020204030204"/>
            </a:endParaRPr>
          </a:p>
        </p:txBody>
      </p:sp>
      <p:sp>
        <p:nvSpPr>
          <p:cNvPr id="24" name="Text 15">
            <a:extLst>
              <a:ext uri="{FF2B5EF4-FFF2-40B4-BE49-F238E27FC236}">
                <a16:creationId xmlns:a16="http://schemas.microsoft.com/office/drawing/2014/main" id="{DCA80014-6F55-93BA-241E-6E77E3CD5616}"/>
              </a:ext>
            </a:extLst>
          </p:cNvPr>
          <p:cNvSpPr/>
          <p:nvPr/>
        </p:nvSpPr>
        <p:spPr>
          <a:xfrm>
            <a:off x="1797611" y="4084373"/>
            <a:ext cx="5783402" cy="377190"/>
          </a:xfrm>
          <a:prstGeom prst="rect">
            <a:avLst/>
          </a:prstGeom>
          <a:noFill/>
          <a:ln/>
        </p:spPr>
        <p:txBody>
          <a:bodyPr wrap="square" rtlCol="0" anchor="ctr"/>
          <a:lstStyle/>
          <a:p>
            <a:pPr defTabSz="685800"/>
            <a:r>
              <a:rPr lang="en-US" sz="1100">
                <a:latin typeface="+mj-lt"/>
                <a:ea typeface="Calibri" pitchFamily="34" charset="-122"/>
                <a:cs typeface="Calibri" pitchFamily="34" charset="-120"/>
              </a:rPr>
              <a:t>Check that Wikidata/Wikipedia facts for your business unit or product line are current and sourced</a:t>
            </a:r>
            <a:r>
              <a:rPr lang="pl-PL" sz="1100">
                <a:latin typeface="+mj-lt"/>
                <a:ea typeface="Calibri" pitchFamily="34" charset="-122"/>
                <a:cs typeface="Calibri" pitchFamily="34" charset="-120"/>
              </a:rPr>
              <a:t>.</a:t>
            </a:r>
            <a:endParaRPr lang="en-US" sz="1100">
              <a:latin typeface="+mj-lt"/>
            </a:endParaRPr>
          </a:p>
        </p:txBody>
      </p:sp>
    </p:spTree>
    <p:extLst>
      <p:ext uri="{BB962C8B-B14F-4D97-AF65-F5344CB8AC3E}">
        <p14:creationId xmlns:p14="http://schemas.microsoft.com/office/powerpoint/2010/main" val="37571638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118F-52A8-6484-0720-A740BE4C6E7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9282ECA-0E49-AED6-78A9-0A96FAC877F4}"/>
              </a:ext>
            </a:extLst>
          </p:cNvPr>
          <p:cNvSpPr/>
          <p:nvPr/>
        </p:nvSpPr>
        <p:spPr>
          <a:xfrm>
            <a:off x="742950" y="1820791"/>
            <a:ext cx="7659831" cy="1107996"/>
          </a:xfrm>
          <a:prstGeom prst="rect">
            <a:avLst/>
          </a:prstGeom>
          <a:noFill/>
          <a:ln/>
        </p:spPr>
        <p:txBody>
          <a:bodyPr wrap="square" lIns="0" tIns="0" rIns="0" bIns="0" rtlCol="0" anchor="t">
            <a:spAutoFit/>
          </a:bodyPr>
          <a:lstStyle/>
          <a:p>
            <a:r>
              <a:rPr lang="pl-PL" sz="3600">
                <a:solidFill>
                  <a:schemeClr val="accent5"/>
                </a:solidFill>
              </a:rPr>
              <a:t>Chapter 12: Editorial and Product UX design</a:t>
            </a:r>
            <a:endParaRPr lang="en-US" sz="3600">
              <a:solidFill>
                <a:schemeClr val="accent5"/>
              </a:solidFill>
            </a:endParaRPr>
          </a:p>
        </p:txBody>
      </p:sp>
      <p:sp>
        <p:nvSpPr>
          <p:cNvPr id="5" name="Text 2">
            <a:extLst>
              <a:ext uri="{FF2B5EF4-FFF2-40B4-BE49-F238E27FC236}">
                <a16:creationId xmlns:a16="http://schemas.microsoft.com/office/drawing/2014/main" id="{9DD8EBAB-6D26-5A65-8ED8-85E6E00D6317}"/>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9FA4C078-7FD5-065B-C766-7239BADBF3E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B563946F-C94B-A5D6-8B62-74F7E12681D6}"/>
              </a:ext>
            </a:extLst>
          </p:cNvPr>
          <p:cNvSpPr>
            <a:spLocks noGrp="1"/>
          </p:cNvSpPr>
          <p:nvPr>
            <p:ph type="body" sz="quarter" idx="4294967295"/>
          </p:nvPr>
        </p:nvSpPr>
        <p:spPr>
          <a:xfrm>
            <a:off x="742949" y="4108450"/>
            <a:ext cx="7344883" cy="215900"/>
          </a:xfrm>
        </p:spPr>
        <p:txBody>
          <a:bodyPr/>
          <a:lstStyle/>
          <a:p>
            <a:r>
              <a:rPr lang="pl-PL"/>
              <a:t>Jakub Falkowski</a:t>
            </a:r>
          </a:p>
        </p:txBody>
      </p:sp>
    </p:spTree>
    <p:extLst>
      <p:ext uri="{BB962C8B-B14F-4D97-AF65-F5344CB8AC3E}">
        <p14:creationId xmlns:p14="http://schemas.microsoft.com/office/powerpoint/2010/main" val="34940320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EA57-B9BD-E776-B45F-A5E4222A0B34}"/>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EF985A9C-AC3F-B260-3D88-8D2E34FEE383}"/>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7D94A2D7-9A58-401D-CFD8-2C8AF7B175DE}"/>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Good UX Is Now Part of GEO</a:t>
            </a:r>
          </a:p>
        </p:txBody>
      </p:sp>
      <p:sp>
        <p:nvSpPr>
          <p:cNvPr id="12" name="Text 2">
            <a:extLst>
              <a:ext uri="{FF2B5EF4-FFF2-40B4-BE49-F238E27FC236}">
                <a16:creationId xmlns:a16="http://schemas.microsoft.com/office/drawing/2014/main" id="{57F86ACA-9A30-C8E4-DCC9-194A7F88B9C2}"/>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The </a:t>
            </a:r>
            <a:r>
              <a:rPr kumimoji="0" lang="en-AU" sz="1100" b="0" i="0" u="none" strike="noStrike" kern="1200" cap="none" spc="0" normalizeH="0" baseline="0" noProof="0">
                <a:ln>
                  <a:noFill/>
                </a:ln>
                <a:solidFill>
                  <a:srgbClr val="E7FFD9"/>
                </a:solidFill>
                <a:effectLst/>
                <a:uLnTx/>
                <a:uFillTx/>
                <a:latin typeface="Poppins"/>
                <a:ea typeface="+mn-ea"/>
                <a:cs typeface="Arial"/>
              </a:rPr>
              <a:t>“</a:t>
            </a:r>
            <a:r>
              <a:rPr kumimoji="0" lang="pl-PL" sz="1100" b="0" i="0" u="none" strike="noStrike" kern="1200" cap="none" spc="0" normalizeH="0" baseline="0" noProof="0">
                <a:ln>
                  <a:noFill/>
                </a:ln>
                <a:solidFill>
                  <a:srgbClr val="E7FFD9"/>
                </a:solidFill>
                <a:effectLst/>
                <a:uLnTx/>
                <a:uFillTx/>
                <a:latin typeface="Poppins"/>
                <a:ea typeface="+mn-ea"/>
                <a:cs typeface="Arial"/>
              </a:rPr>
              <a:t>w</a:t>
            </a:r>
            <a:r>
              <a:rPr kumimoji="0" lang="en-US" sz="1100" b="0" i="0" u="none" strike="noStrike" kern="1200" cap="none" spc="0" normalizeH="0" baseline="0" noProof="0">
                <a:ln>
                  <a:noFill/>
                </a:ln>
                <a:solidFill>
                  <a:srgbClr val="E7FFD9"/>
                </a:solidFill>
                <a:effectLst/>
                <a:uLnTx/>
                <a:uFillTx/>
                <a:latin typeface="Poppins"/>
                <a:ea typeface="+mn-ea"/>
                <a:cs typeface="Arial"/>
              </a:rPr>
              <a:t>hy</a:t>
            </a:r>
            <a:r>
              <a:rPr kumimoji="0" lang="pl-PL" sz="1100" b="0" i="0" u="none" strike="noStrike" kern="1200" cap="none" spc="0" normalizeH="0" baseline="0" noProof="0">
                <a:ln>
                  <a:noFill/>
                </a:ln>
                <a:solidFill>
                  <a:srgbClr val="E7FFD9"/>
                </a:solidFill>
                <a:effectLst/>
                <a:uLnTx/>
                <a:uFillTx/>
                <a:latin typeface="Poppins"/>
                <a:ea typeface="+mn-ea"/>
                <a:cs typeface="Arial"/>
              </a:rPr>
              <a:t>”</a:t>
            </a:r>
            <a:r>
              <a:rPr kumimoji="0" lang="en-US" sz="1100" b="0" i="0" u="none" strike="noStrike" kern="1200" cap="none" spc="0" normalizeH="0" baseline="0" noProof="0">
                <a:ln>
                  <a:noFill/>
                </a:ln>
                <a:solidFill>
                  <a:srgbClr val="E7FFD9"/>
                </a:solidFill>
                <a:effectLst/>
                <a:uLnTx/>
                <a:uFillTx/>
                <a:latin typeface="Poppins"/>
                <a:ea typeface="+mn-ea"/>
                <a:cs typeface="Arial"/>
              </a:rPr>
              <a:t> UX Optimization Matters for GEO</a:t>
            </a:r>
            <a:r>
              <a:rPr kumimoji="0" lang="pl-PL" sz="1100" b="0" i="0" u="none" strike="noStrike" kern="1200" cap="none" spc="0" normalizeH="0" baseline="0" noProof="0">
                <a:ln>
                  <a:noFill/>
                </a:ln>
                <a:solidFill>
                  <a:srgbClr val="E7FFD9"/>
                </a:solidFill>
                <a:effectLst/>
                <a:uLnTx/>
                <a:uFillTx/>
                <a:latin typeface="Poppins"/>
                <a:ea typeface="+mn-ea"/>
                <a:cs typeface="Arial"/>
              </a:rPr>
              <a: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2A5230BF-AAE1-B3D6-D6E8-EC89589B5B10}"/>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ED54F90A-934F-B440-9B34-9592929E3B8D}"/>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118</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TextBox 1">
            <a:extLst>
              <a:ext uri="{FF2B5EF4-FFF2-40B4-BE49-F238E27FC236}">
                <a16:creationId xmlns:a16="http://schemas.microsoft.com/office/drawing/2014/main" id="{8F2D4180-3F05-DB0D-431F-CFFB113ECD37}"/>
              </a:ext>
            </a:extLst>
          </p:cNvPr>
          <p:cNvSpPr txBox="1"/>
          <p:nvPr/>
        </p:nvSpPr>
        <p:spPr>
          <a:xfrm>
            <a:off x="4571999" y="3952931"/>
            <a:ext cx="4077741" cy="569387"/>
          </a:xfrm>
          <a:prstGeom prst="rect">
            <a:avLst/>
          </a:prstGeom>
          <a:solidFill>
            <a:schemeClr val="tx1"/>
          </a:solidFill>
          <a:ln>
            <a:noFill/>
          </a:ln>
        </p:spPr>
        <p:txBody>
          <a:bodyPr wrap="square" lIns="91440" tIns="45720" rIns="91440" bIns="45720" anchor="t">
            <a:spAutoFit/>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100" b="1" i="0" u="none" strike="noStrike" kern="1200" cap="none" spc="0" normalizeH="0" baseline="0" noProof="0">
                <a:ln>
                  <a:noFill/>
                </a:ln>
                <a:solidFill>
                  <a:srgbClr val="E7FFD9"/>
                </a:solidFill>
                <a:effectLst/>
                <a:uLnTx/>
                <a:uFillTx/>
                <a:latin typeface="Poppins"/>
                <a:ea typeface="+mn-ea"/>
                <a:cs typeface="+mn-cs"/>
              </a:rPr>
              <a:t>Key </a:t>
            </a:r>
            <a:r>
              <a:rPr lang="pl-PL" sz="1100" b="1">
                <a:solidFill>
                  <a:srgbClr val="E7FFD9"/>
                </a:solidFill>
                <a:latin typeface="Poppins"/>
              </a:rPr>
              <a:t>takeaway</a:t>
            </a:r>
            <a:r>
              <a:rPr kumimoji="0" lang="en-US" sz="1100" b="1" i="0" u="none" strike="noStrike" kern="1200" cap="none" spc="0" normalizeH="0" baseline="0" noProof="0">
                <a:ln>
                  <a:noFill/>
                </a:ln>
                <a:solidFill>
                  <a:srgbClr val="E7FFD9"/>
                </a:solidFill>
                <a:effectLst/>
                <a:uLnTx/>
                <a:uFillTx/>
                <a:latin typeface="Poppins"/>
                <a:ea typeface="+mn-ea"/>
                <a:cs typeface="+mn-cs"/>
              </a:rPr>
              <a:t>: </a:t>
            </a:r>
            <a:r>
              <a:rPr kumimoji="0" lang="en-US" sz="1000" b="0" i="0" u="none" strike="noStrike" kern="1200" cap="none" spc="0" normalizeH="0" baseline="0" noProof="0">
                <a:ln>
                  <a:noFill/>
                </a:ln>
                <a:solidFill>
                  <a:srgbClr val="E7FFD9"/>
                </a:solidFill>
                <a:effectLst/>
                <a:uLnTx/>
                <a:uFillTx/>
                <a:latin typeface="Poppins"/>
                <a:ea typeface="+mn-ea"/>
                <a:cs typeface="+mn-cs"/>
              </a:rPr>
              <a:t>The future of search is not just about ranking content. It</a:t>
            </a:r>
            <a:r>
              <a:rPr kumimoji="0" lang="pl-PL" sz="1000" b="0" i="0" u="none" strike="noStrike" kern="1200" cap="none" spc="0" normalizeH="0" baseline="0" noProof="0">
                <a:ln>
                  <a:noFill/>
                </a:ln>
                <a:solidFill>
                  <a:srgbClr val="E7FFD9"/>
                </a:solidFill>
                <a:effectLst/>
                <a:uLnTx/>
                <a:uFillTx/>
                <a:latin typeface="Poppins"/>
                <a:ea typeface="+mn-ea"/>
                <a:cs typeface="+mn-cs"/>
              </a:rPr>
              <a:t> i</a:t>
            </a:r>
            <a:r>
              <a:rPr kumimoji="0" lang="en-US" sz="1000" b="0" i="0" u="none" strike="noStrike" kern="1200" cap="none" spc="0" normalizeH="0" baseline="0" noProof="0">
                <a:ln>
                  <a:noFill/>
                </a:ln>
                <a:solidFill>
                  <a:srgbClr val="E7FFD9"/>
                </a:solidFill>
                <a:effectLst/>
                <a:uLnTx/>
                <a:uFillTx/>
                <a:latin typeface="Poppins"/>
                <a:ea typeface="+mn-ea"/>
                <a:cs typeface="+mn-cs"/>
              </a:rPr>
              <a:t>s about designing experiences that become trusted sources for AI-generated answers</a:t>
            </a:r>
            <a:r>
              <a:rPr kumimoji="0" lang="pl-PL" sz="1000" b="0" i="0" u="none" strike="noStrike" kern="1200" cap="none" spc="0" normalizeH="0" baseline="0" noProof="0">
                <a:ln>
                  <a:noFill/>
                </a:ln>
                <a:solidFill>
                  <a:srgbClr val="E7FFD9"/>
                </a:solidFill>
                <a:effectLst/>
                <a:uLnTx/>
                <a:uFillTx/>
                <a:latin typeface="Poppins"/>
                <a:ea typeface="+mn-ea"/>
                <a:cs typeface="+mn-cs"/>
              </a:rPr>
              <a:t>.</a:t>
            </a:r>
            <a:endParaRPr kumimoji="0" lang="en-US" sz="1100" b="0" i="0" u="none" strike="noStrike" kern="1200" cap="none" spc="0" normalizeH="0" baseline="0" noProof="0">
              <a:ln>
                <a:noFill/>
              </a:ln>
              <a:solidFill>
                <a:srgbClr val="E7FFD9"/>
              </a:solidFill>
              <a:effectLst/>
              <a:uLnTx/>
              <a:uFillTx/>
              <a:latin typeface="Poppins"/>
              <a:ea typeface="+mn-ea"/>
              <a:cs typeface="+mn-cs"/>
            </a:endParaRPr>
          </a:p>
        </p:txBody>
      </p:sp>
      <p:graphicFrame>
        <p:nvGraphicFramePr>
          <p:cNvPr id="3" name="Table 2">
            <a:extLst>
              <a:ext uri="{FF2B5EF4-FFF2-40B4-BE49-F238E27FC236}">
                <a16:creationId xmlns:a16="http://schemas.microsoft.com/office/drawing/2014/main" id="{5566C2E3-513A-6D4B-B400-B8C6B7864393}"/>
              </a:ext>
            </a:extLst>
          </p:cNvPr>
          <p:cNvGraphicFramePr>
            <a:graphicFrameLocks noGrp="1"/>
          </p:cNvGraphicFramePr>
          <p:nvPr>
            <p:extLst>
              <p:ext uri="{D42A27DB-BD31-4B8C-83A1-F6EECF244321}">
                <p14:modId xmlns:p14="http://schemas.microsoft.com/office/powerpoint/2010/main" val="2151268728"/>
              </p:ext>
            </p:extLst>
          </p:nvPr>
        </p:nvGraphicFramePr>
        <p:xfrm>
          <a:off x="566472" y="1203621"/>
          <a:ext cx="3713711" cy="2101144"/>
        </p:xfrm>
        <a:graphic>
          <a:graphicData uri="http://schemas.openxmlformats.org/drawingml/2006/table">
            <a:tbl>
              <a:tblPr firstRow="1" bandRow="1">
                <a:tableStyleId>{5C22544A-7EE6-4342-B048-85BDC9FD1C3A}</a:tableStyleId>
              </a:tblPr>
              <a:tblGrid>
                <a:gridCol w="3713711">
                  <a:extLst>
                    <a:ext uri="{9D8B030D-6E8A-4147-A177-3AD203B41FA5}">
                      <a16:colId xmlns:a16="http://schemas.microsoft.com/office/drawing/2014/main" val="896702349"/>
                    </a:ext>
                  </a:extLst>
                </a:gridCol>
              </a:tblGrid>
              <a:tr h="187520">
                <a:tc>
                  <a:txBody>
                    <a:bodyPr/>
                    <a:lstStyle/>
                    <a:p>
                      <a:pPr algn="ctr"/>
                      <a:r>
                        <a:rPr lang="en-US" sz="1200" b="1">
                          <a:solidFill>
                            <a:schemeClr val="accent5"/>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432616454"/>
                  </a:ext>
                </a:extLst>
              </a:tr>
              <a:tr h="1826824">
                <a:tc>
                  <a:txBody>
                    <a:bodyPr/>
                    <a:lstStyle/>
                    <a:p>
                      <a:pPr>
                        <a:lnSpc>
                          <a:spcPct val="150000"/>
                        </a:lnSpc>
                        <a:spcBef>
                          <a:spcPts val="0"/>
                        </a:spcBef>
                        <a:spcAft>
                          <a:spcPts val="0"/>
                        </a:spcAft>
                        <a:buClr>
                          <a:schemeClr val="tx2"/>
                        </a:buClr>
                        <a:defRPr/>
                      </a:pPr>
                      <a:r>
                        <a:rPr lang="pl-PL" sz="1000" b="0"/>
                        <a:t>When we are talking about UX, we are thinking about providing our users the best experience, trying to anticipate their needs but also reach our goal. Now AI models are becoming users too.</a:t>
                      </a:r>
                      <a:endParaRPr lang="en-US" sz="1000" b="0"/>
                    </a:p>
                    <a:p>
                      <a:pPr>
                        <a:lnSpc>
                          <a:spcPct val="150000"/>
                        </a:lnSpc>
                        <a:spcBef>
                          <a:spcPts val="0"/>
                        </a:spcBef>
                        <a:spcAft>
                          <a:spcPts val="0"/>
                        </a:spcAft>
                        <a:buClr>
                          <a:schemeClr val="tx2"/>
                        </a:buClr>
                        <a:defRPr/>
                      </a:pPr>
                      <a:endParaRPr lang="pl-PL" sz="1000" b="1"/>
                    </a:p>
                    <a:p>
                      <a:pPr>
                        <a:lnSpc>
                          <a:spcPct val="150000"/>
                        </a:lnSpc>
                        <a:spcBef>
                          <a:spcPts val="0"/>
                        </a:spcBef>
                        <a:spcAft>
                          <a:spcPts val="0"/>
                        </a:spcAft>
                        <a:buClr>
                          <a:schemeClr val="tx2"/>
                        </a:buClr>
                        <a:defRPr/>
                      </a:pPr>
                      <a:r>
                        <a:rPr lang="pl-PL" sz="1000" b="0"/>
                        <a:t>This is big mindset change to start </a:t>
                      </a:r>
                      <a:r>
                        <a:rPr lang="pl-PL" sz="1000" b="1"/>
                        <a:t>thinking about machine as a regular user</a:t>
                      </a:r>
                      <a:r>
                        <a:rPr lang="pl-PL" sz="1000" b="0"/>
                        <a:t> that has its own needs. </a:t>
                      </a:r>
                      <a:endParaRPr lang="en-US" sz="10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728453341"/>
                  </a:ext>
                </a:extLst>
              </a:tr>
            </a:tbl>
          </a:graphicData>
        </a:graphic>
      </p:graphicFrame>
      <p:graphicFrame>
        <p:nvGraphicFramePr>
          <p:cNvPr id="7" name="Table 6">
            <a:extLst>
              <a:ext uri="{FF2B5EF4-FFF2-40B4-BE49-F238E27FC236}">
                <a16:creationId xmlns:a16="http://schemas.microsoft.com/office/drawing/2014/main" id="{511DC448-E6BB-A086-C3F6-D175FDEFA3F7}"/>
              </a:ext>
            </a:extLst>
          </p:cNvPr>
          <p:cNvGraphicFramePr>
            <a:graphicFrameLocks noGrp="1"/>
          </p:cNvGraphicFramePr>
          <p:nvPr>
            <p:extLst>
              <p:ext uri="{D42A27DB-BD31-4B8C-83A1-F6EECF244321}">
                <p14:modId xmlns:p14="http://schemas.microsoft.com/office/powerpoint/2010/main" val="2556035390"/>
              </p:ext>
            </p:extLst>
          </p:nvPr>
        </p:nvGraphicFramePr>
        <p:xfrm>
          <a:off x="566472" y="3377767"/>
          <a:ext cx="3713710" cy="1144551"/>
        </p:xfrm>
        <a:graphic>
          <a:graphicData uri="http://schemas.openxmlformats.org/drawingml/2006/table">
            <a:tbl>
              <a:tblPr firstRow="1" bandRow="1">
                <a:tableStyleId>{5C22544A-7EE6-4342-B048-85BDC9FD1C3A}</a:tableStyleId>
              </a:tblPr>
              <a:tblGrid>
                <a:gridCol w="3713710">
                  <a:extLst>
                    <a:ext uri="{9D8B030D-6E8A-4147-A177-3AD203B41FA5}">
                      <a16:colId xmlns:a16="http://schemas.microsoft.com/office/drawing/2014/main" val="1082219581"/>
                    </a:ext>
                  </a:extLst>
                </a:gridCol>
              </a:tblGrid>
              <a:tr h="21637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Structure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290077">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Information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290077">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Scannability and </a:t>
                      </a:r>
                      <a:r>
                        <a:rPr lang="en-US" sz="1000" b="0" i="0" u="none" strike="noStrike" kern="1200" cap="none" spc="0" normalizeH="0" baseline="0" noProof="0">
                          <a:ln>
                            <a:noFill/>
                          </a:ln>
                          <a:solidFill>
                            <a:srgbClr val="0A2F24"/>
                          </a:solidFill>
                          <a:effectLst/>
                          <a:uLnTx/>
                          <a:uFillTx/>
                          <a:latin typeface="+mn-lt"/>
                          <a:ea typeface="+mn-ea"/>
                          <a:cs typeface="+mn-cs"/>
                        </a:rPr>
                        <a:t>chuncking</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290077">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Cognitive load reduction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bl>
          </a:graphicData>
        </a:graphic>
      </p:graphicFrame>
      <p:graphicFrame>
        <p:nvGraphicFramePr>
          <p:cNvPr id="9" name="Table 8">
            <a:extLst>
              <a:ext uri="{FF2B5EF4-FFF2-40B4-BE49-F238E27FC236}">
                <a16:creationId xmlns:a16="http://schemas.microsoft.com/office/drawing/2014/main" id="{472A8930-412B-465C-DA9C-E986797DA391}"/>
              </a:ext>
            </a:extLst>
          </p:cNvPr>
          <p:cNvGraphicFramePr>
            <a:graphicFrameLocks noGrp="1"/>
          </p:cNvGraphicFramePr>
          <p:nvPr>
            <p:extLst>
              <p:ext uri="{D42A27DB-BD31-4B8C-83A1-F6EECF244321}">
                <p14:modId xmlns:p14="http://schemas.microsoft.com/office/powerpoint/2010/main" val="678800194"/>
              </p:ext>
            </p:extLst>
          </p:nvPr>
        </p:nvGraphicFramePr>
        <p:xfrm>
          <a:off x="4572000" y="1203621"/>
          <a:ext cx="4077740" cy="2631547"/>
        </p:xfrm>
        <a:graphic>
          <a:graphicData uri="http://schemas.openxmlformats.org/drawingml/2006/table">
            <a:tbl>
              <a:tblPr firstRow="1" bandRow="1">
                <a:tableStyleId>{5C22544A-7EE6-4342-B048-85BDC9FD1C3A}</a:tableStyleId>
              </a:tblPr>
              <a:tblGrid>
                <a:gridCol w="2038870">
                  <a:extLst>
                    <a:ext uri="{9D8B030D-6E8A-4147-A177-3AD203B41FA5}">
                      <a16:colId xmlns:a16="http://schemas.microsoft.com/office/drawing/2014/main" val="1082219581"/>
                    </a:ext>
                  </a:extLst>
                </a:gridCol>
                <a:gridCol w="2038870">
                  <a:extLst>
                    <a:ext uri="{9D8B030D-6E8A-4147-A177-3AD203B41FA5}">
                      <a16:colId xmlns:a16="http://schemas.microsoft.com/office/drawing/2014/main" val="3023339729"/>
                    </a:ext>
                  </a:extLst>
                </a:gridCol>
              </a:tblGrid>
              <a:tr h="277851">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chemeClr val="tx1"/>
                          </a:solidFill>
                          <a:effectLst/>
                          <a:uLnTx/>
                          <a:uFillTx/>
                          <a:latin typeface="+mn-lt"/>
                          <a:ea typeface="+mn-ea"/>
                          <a:cs typeface="+mn-cs"/>
                        </a:rPr>
                        <a:t>Current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New Mindset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372496">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Designing for the click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lvl="0" algn="ctr"/>
                      <a:r>
                        <a:rPr kumimoji="0" lang="en-US" sz="1000" b="0" i="0" u="none" strike="noStrike" kern="1200" cap="none" spc="0" normalizeH="0" baseline="0" noProof="0">
                          <a:ln>
                            <a:noFill/>
                          </a:ln>
                          <a:solidFill>
                            <a:srgbClr val="0A2F24"/>
                          </a:solidFill>
                          <a:effectLst/>
                          <a:uLnTx/>
                          <a:uFillTx/>
                          <a:latin typeface="+mn-lt"/>
                          <a:ea typeface="+mn-ea"/>
                          <a:cs typeface="+mn-cs"/>
                        </a:rPr>
                        <a:t>Designing for the 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Human-only audience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Dual audience — humans and AI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Funnel thinking: multi-step journeys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Moment thinking: every page a self-sufficient entry 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Visual hierarchy alone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Visual hierarchy paired with semantic 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99167559"/>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Engagement as a vanity 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Engagement as a trust signal AI systems weigh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76559511"/>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One monolithic page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Modular, independently citable content blocks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30365930"/>
                  </a:ext>
                </a:extLst>
              </a:tr>
            </a:tbl>
          </a:graphicData>
        </a:graphic>
      </p:graphicFrame>
    </p:spTree>
    <p:extLst>
      <p:ext uri="{BB962C8B-B14F-4D97-AF65-F5344CB8AC3E}">
        <p14:creationId xmlns:p14="http://schemas.microsoft.com/office/powerpoint/2010/main" val="8745578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716AB-3CB5-DCC6-0D09-9E5C6272DBB3}"/>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A19D5A53-39E7-23EF-B9A8-00B445255FEA}"/>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EBEF6720-9B69-D22C-A3EC-9F51C7BC074A}"/>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Information Architecture</a:t>
            </a:r>
          </a:p>
        </p:txBody>
      </p:sp>
      <p:sp>
        <p:nvSpPr>
          <p:cNvPr id="12" name="Text 2">
            <a:extLst>
              <a:ext uri="{FF2B5EF4-FFF2-40B4-BE49-F238E27FC236}">
                <a16:creationId xmlns:a16="http://schemas.microsoft.com/office/drawing/2014/main" id="{42F8E243-BDB4-F739-0885-AE181CBD3636}"/>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Structure content so generative engines can parse hierarchy instantly</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B5A93F39-1194-92CE-ED0B-80B536187CE2}"/>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9E87C029-5065-28B8-F3C3-9F873F28C563}"/>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119</a:t>
            </a:fld>
            <a:endParaRPr lang="en-US">
              <a:solidFill>
                <a:srgbClr val="3DCD58"/>
              </a:solidFill>
            </a:endParaRPr>
          </a:p>
        </p:txBody>
      </p:sp>
      <p:sp>
        <p:nvSpPr>
          <p:cNvPr id="9" name="Rectangle 8">
            <a:extLst>
              <a:ext uri="{FF2B5EF4-FFF2-40B4-BE49-F238E27FC236}">
                <a16:creationId xmlns:a16="http://schemas.microsoft.com/office/drawing/2014/main" id="{E9EA36E7-D6C2-CD11-7A0B-9B113B11EB05}"/>
              </a:ext>
            </a:extLst>
          </p:cNvPr>
          <p:cNvSpPr/>
          <p:nvPr/>
        </p:nvSpPr>
        <p:spPr>
          <a:xfrm>
            <a:off x="5266660" y="1162492"/>
            <a:ext cx="2664342" cy="3338623"/>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1" i="0" u="none" strike="noStrike" kern="1200" cap="none" spc="0" normalizeH="0" baseline="0" noProof="0">
                <a:ln>
                  <a:noFill/>
                </a:ln>
                <a:solidFill>
                  <a:schemeClr val="accent5"/>
                </a:solidFill>
                <a:effectLst/>
                <a:uLnTx/>
                <a:uFillTx/>
                <a:latin typeface="Poppins"/>
                <a:ea typeface="+mn-ea"/>
                <a:cs typeface="+mn-cs"/>
              </a:rPr>
              <a:t>Query-matched Hierarchy</a:t>
            </a:r>
            <a:endParaRPr kumimoji="0" lang="en-US" sz="1000" b="1" i="0" u="none" strike="noStrike" kern="1200" cap="none" spc="0" normalizeH="0" baseline="0" noProof="0">
              <a:ln>
                <a:noFill/>
              </a:ln>
              <a:solidFill>
                <a:schemeClr val="accent5"/>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lang="pl-PL" sz="1000">
              <a:solidFill>
                <a:schemeClr val="accent5"/>
              </a:solidFill>
              <a:latin typeface="Poppin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lang="pl-PL" sz="1000">
                <a:solidFill>
                  <a:schemeClr val="accent5"/>
                </a:solidFill>
                <a:latin typeface="Poppins"/>
              </a:rPr>
              <a:t>Prompt: </a:t>
            </a:r>
            <a:r>
              <a:rPr lang="pl-PL" sz="1000" i="1">
                <a:solidFill>
                  <a:schemeClr val="accent5"/>
                </a:solidFill>
                <a:latin typeface="Poppins"/>
              </a:rPr>
              <a:t>What is GEO and how can I improve it?</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b="0" i="0" u="none" strike="noStrike" kern="1200" cap="none" spc="0" normalizeH="0" baseline="0" noProof="0">
              <a:ln>
                <a:noFill/>
              </a:ln>
              <a:solidFill>
                <a:schemeClr val="accent5"/>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lang="pl-PL" sz="1000">
                <a:solidFill>
                  <a:schemeClr val="accent5"/>
                </a:solidFill>
                <a:latin typeface="Poppins"/>
              </a:rPr>
              <a:t>Information architecture:</a:t>
            </a:r>
          </a:p>
          <a:p>
            <a:pPr marL="0" marR="0" lvl="0" indent="0" algn="l" defTabSz="457184" rtl="0" eaLnBrk="1" fontAlgn="auto" latinLnBrk="0" hangingPunct="1">
              <a:lnSpc>
                <a:spcPct val="100000"/>
              </a:lnSpc>
              <a:spcBef>
                <a:spcPts val="0"/>
              </a:spcBef>
              <a:spcAft>
                <a:spcPts val="300"/>
              </a:spcAft>
              <a:buClrTx/>
              <a:buSzTx/>
              <a:buFontTx/>
              <a:buNone/>
              <a:tabLst/>
              <a:defRPr/>
            </a:pPr>
            <a:r>
              <a:rPr lang="pl-PL" sz="1000">
                <a:solidFill>
                  <a:schemeClr val="accent5"/>
                </a:solidFill>
                <a:latin typeface="Poppins"/>
              </a:rPr>
              <a:t>&lt;H1&gt; What is GEO</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0" i="0" u="none" strike="noStrike" kern="1200" cap="none" spc="0" normalizeH="0" baseline="0" noProof="0">
                <a:ln>
                  <a:noFill/>
                </a:ln>
                <a:solidFill>
                  <a:schemeClr val="accent5"/>
                </a:solidFill>
                <a:effectLst/>
                <a:uLnTx/>
                <a:uFillTx/>
                <a:latin typeface="Poppins"/>
                <a:ea typeface="+mn-ea"/>
                <a:cs typeface="+mn-cs"/>
              </a:rPr>
              <a:t>	</a:t>
            </a:r>
            <a:r>
              <a:rPr lang="pl-PL" sz="1000">
                <a:solidFill>
                  <a:schemeClr val="accent5"/>
                </a:solidFill>
                <a:latin typeface="Poppins"/>
              </a:rPr>
              <a:t>&lt;H2&gt; Why it matters</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0" i="0" u="none" strike="noStrike" kern="1200" cap="none" spc="0" normalizeH="0" baseline="0" noProof="0">
                <a:ln>
                  <a:noFill/>
                </a:ln>
                <a:solidFill>
                  <a:schemeClr val="accent5"/>
                </a:solidFill>
                <a:effectLst/>
                <a:uLnTx/>
                <a:uFillTx/>
                <a:latin typeface="Poppins"/>
                <a:ea typeface="+mn-ea"/>
                <a:cs typeface="+mn-cs"/>
              </a:rPr>
              <a:t>		&lt;H3&gt; Ranking Signals</a:t>
            </a:r>
          </a:p>
          <a:p>
            <a:pPr marL="0" marR="0" lvl="0" indent="0" algn="l" defTabSz="457184" rtl="0" eaLnBrk="1" fontAlgn="auto" latinLnBrk="0" hangingPunct="1">
              <a:lnSpc>
                <a:spcPct val="100000"/>
              </a:lnSpc>
              <a:spcBef>
                <a:spcPts val="0"/>
              </a:spcBef>
              <a:spcAft>
                <a:spcPts val="300"/>
              </a:spcAft>
              <a:buClrTx/>
              <a:buSzTx/>
              <a:buFontTx/>
              <a:buNone/>
              <a:tabLst/>
              <a:defRPr/>
            </a:pPr>
            <a:r>
              <a:rPr lang="pl-PL" sz="1000">
                <a:solidFill>
                  <a:schemeClr val="accent5"/>
                </a:solidFill>
                <a:latin typeface="Poppins"/>
              </a:rPr>
              <a:t>	&lt;H2&gt;How to Optimize</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0" i="0" u="none" strike="noStrike" kern="1200" cap="none" spc="0" normalizeH="0" baseline="0" noProof="0">
                <a:ln>
                  <a:noFill/>
                </a:ln>
                <a:solidFill>
                  <a:schemeClr val="accent5"/>
                </a:solidFill>
                <a:effectLst/>
                <a:uLnTx/>
                <a:uFillTx/>
                <a:latin typeface="Poppins"/>
                <a:ea typeface="+mn-ea"/>
                <a:cs typeface="+mn-cs"/>
              </a:rPr>
              <a:t>		&lt;H3&gt; Content structure</a:t>
            </a:r>
          </a:p>
          <a:p>
            <a:pPr marL="0" marR="0" lvl="0" indent="0" algn="l" defTabSz="457184" rtl="0" eaLnBrk="1" fontAlgn="auto" latinLnBrk="0" hangingPunct="1">
              <a:lnSpc>
                <a:spcPct val="100000"/>
              </a:lnSpc>
              <a:spcBef>
                <a:spcPts val="0"/>
              </a:spcBef>
              <a:spcAft>
                <a:spcPts val="300"/>
              </a:spcAft>
              <a:buClrTx/>
              <a:buSzTx/>
              <a:buFontTx/>
              <a:buNone/>
              <a:tabLst/>
              <a:defRPr/>
            </a:pPr>
            <a:r>
              <a:rPr lang="pl-PL" sz="1000">
                <a:solidFill>
                  <a:schemeClr val="accent5"/>
                </a:solidFill>
                <a:latin typeface="Poppins"/>
              </a:rPr>
              <a:t>		&lt;H3&gt; UX principles</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b="0" i="0" u="none" strike="noStrike" kern="1200" cap="none" spc="0" normalizeH="0" baseline="0" noProof="0">
              <a:ln>
                <a:noFill/>
              </a:ln>
              <a:solidFill>
                <a:schemeClr val="accent5"/>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0" i="0" u="none" strike="noStrike" kern="1200" cap="none" spc="0" normalizeH="0" baseline="0" noProof="0">
                <a:ln>
                  <a:noFill/>
                </a:ln>
                <a:solidFill>
                  <a:schemeClr val="accent5"/>
                </a:solidFill>
                <a:effectLst/>
                <a:uLnTx/>
                <a:uFillTx/>
                <a:latin typeface="Poppins"/>
                <a:ea typeface="+mn-ea"/>
                <a:cs typeface="+mn-cs"/>
              </a:rPr>
              <a:t>UX action: </a:t>
            </a:r>
            <a:r>
              <a:rPr lang="pl-PL" sz="1000">
                <a:solidFill>
                  <a:schemeClr val="accent5"/>
                </a:solidFill>
                <a:latin typeface="Poppins"/>
              </a:rPr>
              <a:t>d</a:t>
            </a:r>
            <a:r>
              <a:rPr lang="en-US" sz="1000" err="1">
                <a:solidFill>
                  <a:schemeClr val="accent5"/>
                </a:solidFill>
                <a:latin typeface="Poppins"/>
              </a:rPr>
              <a:t>esign</a:t>
            </a:r>
            <a:r>
              <a:rPr lang="en-US" sz="1000">
                <a:solidFill>
                  <a:schemeClr val="accent5"/>
                </a:solidFill>
                <a:latin typeface="Poppins"/>
              </a:rPr>
              <a:t> your information architecture around topics and user intent, not around your organization. This helps both users and </a:t>
            </a:r>
            <a:r>
              <a:rPr lang="pl-PL" sz="1000">
                <a:solidFill>
                  <a:schemeClr val="accent5"/>
                </a:solidFill>
                <a:latin typeface="Poppins"/>
              </a:rPr>
              <a:t>AI</a:t>
            </a:r>
            <a:r>
              <a:rPr lang="en-US" sz="1000">
                <a:solidFill>
                  <a:schemeClr val="accent5"/>
                </a:solidFill>
                <a:latin typeface="Poppins"/>
              </a:rPr>
              <a:t> find, understand and trust your content</a:t>
            </a:r>
            <a:r>
              <a:rPr lang="pl-PL" sz="1000">
                <a:solidFill>
                  <a:schemeClr val="accent5"/>
                </a:solidFill>
                <a:latin typeface="Poppins"/>
              </a:rPr>
              <a:t>.</a:t>
            </a:r>
            <a:endParaRPr lang="en-US" sz="1000">
              <a:solidFill>
                <a:schemeClr val="accent5"/>
              </a:solidFill>
              <a:latin typeface="Poppins"/>
            </a:endParaRPr>
          </a:p>
        </p:txBody>
      </p:sp>
      <p:sp>
        <p:nvSpPr>
          <p:cNvPr id="4" name="Rectangle 3">
            <a:extLst>
              <a:ext uri="{FF2B5EF4-FFF2-40B4-BE49-F238E27FC236}">
                <a16:creationId xmlns:a16="http://schemas.microsoft.com/office/drawing/2014/main" id="{5C0E52DB-4895-A6B4-AFE5-5C804A9A9B84}"/>
              </a:ext>
            </a:extLst>
          </p:cNvPr>
          <p:cNvSpPr/>
          <p:nvPr/>
        </p:nvSpPr>
        <p:spPr>
          <a:xfrm>
            <a:off x="947103" y="1162492"/>
            <a:ext cx="4057740" cy="333862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184" rtl="0" eaLnBrk="1" fontAlgn="auto" latinLnBrk="0" hangingPunct="1">
              <a:lnSpc>
                <a:spcPct val="100000"/>
              </a:lnSpc>
              <a:spcBef>
                <a:spcPts val="0"/>
              </a:spcBef>
              <a:spcAft>
                <a:spcPts val="300"/>
              </a:spcAft>
              <a:buClrTx/>
              <a:buSzTx/>
              <a:buFontTx/>
              <a:buNone/>
              <a:tabLst/>
              <a:defRPr/>
            </a:pPr>
            <a:r>
              <a:rPr lang="pl-PL" sz="1050" b="1">
                <a:solidFill>
                  <a:schemeClr val="tx1"/>
                </a:solidFill>
                <a:latin typeface="Poppins"/>
              </a:rPr>
              <a:t>Optimized Information architecture:</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Mirror the query in your hierarchy</a:t>
            </a:r>
            <a:endParaRPr kumimoji="0" lang="pl-PL" sz="1000" b="1" i="0" u="none" strike="noStrike" kern="1200" cap="none" spc="0" normalizeH="0" baseline="0" noProof="0">
              <a:ln>
                <a:noFill/>
              </a:ln>
              <a:solidFill>
                <a:schemeClr val="tx1"/>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H1</a:t>
            </a:r>
            <a:r>
              <a:rPr kumimoji="0" lang="pl-PL" sz="1000" i="0" u="none" strike="noStrike" kern="1200" cap="none" spc="0" normalizeH="0" baseline="0" noProof="0">
                <a:ln>
                  <a:noFill/>
                </a:ln>
                <a:solidFill>
                  <a:schemeClr val="tx1"/>
                </a:solidFill>
                <a:effectLst/>
                <a:uLnTx/>
                <a:uFillTx/>
                <a:latin typeface="Poppins"/>
                <a:ea typeface="+mn-ea"/>
                <a:cs typeface="+mn-cs"/>
              </a:rPr>
              <a:t>-</a:t>
            </a:r>
            <a:r>
              <a:rPr kumimoji="0" lang="en-US" sz="1000" i="0" u="none" strike="noStrike" kern="1200" cap="none" spc="0" normalizeH="0" baseline="0" noProof="0">
                <a:ln>
                  <a:noFill/>
                </a:ln>
                <a:solidFill>
                  <a:schemeClr val="tx1"/>
                </a:solidFill>
                <a:effectLst/>
                <a:uLnTx/>
                <a:uFillTx/>
                <a:latin typeface="Poppins"/>
                <a:ea typeface="+mn-ea"/>
                <a:cs typeface="+mn-cs"/>
              </a:rPr>
              <a:t>H3 headers should echo how people phrase the question, not internal jargon.</a:t>
            </a: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One idea per section</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Each heading owns a single, extractable concept </a:t>
            </a:r>
            <a:r>
              <a:rPr kumimoji="0" lang="pl-PL" sz="1000" i="0" u="none" strike="noStrike" kern="1200" cap="none" spc="0" normalizeH="0" baseline="0" noProof="0">
                <a:ln>
                  <a:noFill/>
                </a:ln>
                <a:solidFill>
                  <a:schemeClr val="tx1"/>
                </a:solidFill>
                <a:effectLst/>
                <a:uLnTx/>
                <a:uFillTx/>
                <a:latin typeface="Poppins"/>
                <a:ea typeface="+mn-ea"/>
                <a:cs typeface="+mn-cs"/>
              </a:rPr>
              <a:t>-</a:t>
            </a:r>
            <a:r>
              <a:rPr kumimoji="0" lang="en-US" sz="1000" i="0" u="none" strike="noStrike" kern="1200" cap="none" spc="0" normalizeH="0" baseline="0" noProof="0">
                <a:ln>
                  <a:noFill/>
                </a:ln>
                <a:solidFill>
                  <a:schemeClr val="tx1"/>
                </a:solidFill>
                <a:effectLst/>
                <a:uLnTx/>
                <a:uFillTx/>
                <a:latin typeface="Poppins"/>
                <a:ea typeface="+mn-ea"/>
                <a:cs typeface="+mn-cs"/>
              </a:rPr>
              <a:t> no overlapping subtopics.</a:t>
            </a: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pl-PL" sz="1000" b="1" i="0" u="none" strike="noStrike" kern="1200" cap="none" spc="0" normalizeH="0" baseline="0" noProof="0">
                <a:ln>
                  <a:noFill/>
                </a:ln>
                <a:solidFill>
                  <a:schemeClr val="tx1"/>
                </a:solidFill>
                <a:effectLst/>
                <a:uLnTx/>
                <a:uFillTx/>
                <a:latin typeface="Poppins"/>
                <a:ea typeface="+mn-ea"/>
                <a:cs typeface="+mn-cs"/>
              </a:rPr>
              <a:t>Avoiding structure complexity</a:t>
            </a:r>
            <a:endParaRPr kumimoji="0" lang="en-US" sz="1000" b="1" i="0" u="none" strike="noStrike" kern="1200" cap="none" spc="0" normalizeH="0" baseline="0" noProof="0">
              <a:ln>
                <a:noFill/>
              </a:ln>
              <a:solidFill>
                <a:schemeClr val="tx1"/>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Cap depth at 3 levels so the structure stays easy to traverse and cite.</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Use real semantic tags</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H1</a:t>
            </a:r>
            <a:r>
              <a:rPr kumimoji="0" lang="pl-PL" sz="1000" i="0" u="none" strike="noStrike" kern="1200" cap="none" spc="0" normalizeH="0" baseline="0" noProof="0">
                <a:ln>
                  <a:noFill/>
                </a:ln>
                <a:solidFill>
                  <a:schemeClr val="tx1"/>
                </a:solidFill>
                <a:effectLst/>
                <a:uLnTx/>
                <a:uFillTx/>
                <a:latin typeface="Poppins"/>
                <a:ea typeface="+mn-ea"/>
                <a:cs typeface="+mn-cs"/>
              </a:rPr>
              <a:t>-</a:t>
            </a:r>
            <a:r>
              <a:rPr kumimoji="0" lang="en-US" sz="1000" i="0" u="none" strike="noStrike" kern="1200" cap="none" spc="0" normalizeH="0" baseline="0" noProof="0">
                <a:ln>
                  <a:noFill/>
                </a:ln>
                <a:solidFill>
                  <a:schemeClr val="tx1"/>
                </a:solidFill>
                <a:effectLst/>
                <a:uLnTx/>
                <a:uFillTx/>
                <a:latin typeface="Poppins"/>
                <a:ea typeface="+mn-ea"/>
                <a:cs typeface="+mn-cs"/>
              </a:rPr>
              <a:t>H</a:t>
            </a:r>
            <a:r>
              <a:rPr kumimoji="0" lang="pl-PL" sz="1000" i="0" u="none" strike="noStrike" kern="1200" cap="none" spc="0" normalizeH="0" baseline="0" noProof="0">
                <a:ln>
                  <a:noFill/>
                </a:ln>
                <a:solidFill>
                  <a:schemeClr val="tx1"/>
                </a:solidFill>
                <a:effectLst/>
                <a:uLnTx/>
                <a:uFillTx/>
                <a:latin typeface="Poppins"/>
                <a:ea typeface="+mn-ea"/>
                <a:cs typeface="+mn-cs"/>
              </a:rPr>
              <a:t>3</a:t>
            </a:r>
            <a:r>
              <a:rPr kumimoji="0" lang="en-US" sz="1000" i="0" u="none" strike="noStrike" kern="1200" cap="none" spc="0" normalizeH="0" baseline="0" noProof="0">
                <a:ln>
                  <a:noFill/>
                </a:ln>
                <a:solidFill>
                  <a:schemeClr val="tx1"/>
                </a:solidFill>
                <a:effectLst/>
                <a:uLnTx/>
                <a:uFillTx/>
                <a:latin typeface="Poppins"/>
                <a:ea typeface="+mn-ea"/>
                <a:cs typeface="+mn-cs"/>
              </a:rPr>
              <a:t> and lists, not bold paragraph text pretending to be a heading.</a:t>
            </a:r>
          </a:p>
        </p:txBody>
      </p:sp>
    </p:spTree>
    <p:extLst>
      <p:ext uri="{BB962C8B-B14F-4D97-AF65-F5344CB8AC3E}">
        <p14:creationId xmlns:p14="http://schemas.microsoft.com/office/powerpoint/2010/main" val="331809561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521DA-F330-9C43-6EE5-E7332726F04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10F6ECAC-465F-9428-DEBE-1DDF5E1996E8}"/>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4CE1C909-CA24-2366-F206-4BB0D2B0A74C}"/>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Scanability </a:t>
            </a:r>
            <a:r>
              <a:rPr lang="pl-PL" sz="2200">
                <a:solidFill>
                  <a:schemeClr val="accent5"/>
                </a:solidFill>
                <a:cs typeface="Arial"/>
              </a:rPr>
              <a:t>and</a:t>
            </a:r>
            <a:r>
              <a:rPr lang="en-US" sz="2200">
                <a:solidFill>
                  <a:schemeClr val="accent5"/>
                </a:solidFill>
                <a:cs typeface="Arial"/>
              </a:rPr>
              <a:t> Chunking</a:t>
            </a:r>
          </a:p>
        </p:txBody>
      </p:sp>
      <p:sp>
        <p:nvSpPr>
          <p:cNvPr id="12" name="Text 2">
            <a:extLst>
              <a:ext uri="{FF2B5EF4-FFF2-40B4-BE49-F238E27FC236}">
                <a16:creationId xmlns:a16="http://schemas.microsoft.com/office/drawing/2014/main" id="{EB63C2FA-A022-E559-5DA7-796A07304BD4}"/>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Use UX to b</a:t>
            </a:r>
            <a:r>
              <a:rPr lang="en-US" sz="1100" err="1">
                <a:solidFill>
                  <a:schemeClr val="accent5"/>
                </a:solidFill>
                <a:cs typeface="Arial"/>
              </a:rPr>
              <a:t>reak</a:t>
            </a:r>
            <a:r>
              <a:rPr lang="en-US" sz="1100">
                <a:solidFill>
                  <a:schemeClr val="accent5"/>
                </a:solidFill>
                <a:cs typeface="Arial"/>
              </a:rPr>
              <a:t> content into small, self-contained units an engine can extract on their own</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CBE0DC98-364C-9D3C-5C1B-3018E614F28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6B0D4A73-D01B-FB1F-9686-D875BB277824}"/>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120</a:t>
            </a:fld>
            <a:endParaRPr lang="en-US">
              <a:solidFill>
                <a:srgbClr val="3DCD58"/>
              </a:solidFill>
            </a:endParaRPr>
          </a:p>
        </p:txBody>
      </p:sp>
      <p:sp>
        <p:nvSpPr>
          <p:cNvPr id="4" name="Rectangle 3">
            <a:extLst>
              <a:ext uri="{FF2B5EF4-FFF2-40B4-BE49-F238E27FC236}">
                <a16:creationId xmlns:a16="http://schemas.microsoft.com/office/drawing/2014/main" id="{04697684-1D28-7538-DB56-B39AC90F8E1B}"/>
              </a:ext>
            </a:extLst>
          </p:cNvPr>
          <p:cNvSpPr/>
          <p:nvPr/>
        </p:nvSpPr>
        <p:spPr>
          <a:xfrm>
            <a:off x="952710" y="1220724"/>
            <a:ext cx="2784900" cy="3223260"/>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457184" rtl="0" eaLnBrk="1" fontAlgn="auto" latinLnBrk="0" hangingPunct="1">
              <a:lnSpc>
                <a:spcPct val="100000"/>
              </a:lnSpc>
              <a:spcBef>
                <a:spcPts val="0"/>
              </a:spcBef>
              <a:spcAft>
                <a:spcPts val="300"/>
              </a:spcAft>
              <a:buClrTx/>
              <a:buSzTx/>
              <a:buFontTx/>
              <a:buNone/>
              <a:tabLst/>
              <a:defRPr/>
            </a:pPr>
            <a:r>
              <a:rPr lang="pl-PL" sz="1050" b="1">
                <a:solidFill>
                  <a:schemeClr val="tx1"/>
                </a:solidFill>
                <a:latin typeface="Poppins"/>
              </a:rPr>
              <a:t>Chunking checklist:</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r>
              <a:rPr kumimoji="0" lang="en-US" sz="1000" i="0" u="none" strike="noStrike" kern="1200" cap="none" spc="0" normalizeH="0" baseline="0" noProof="0">
                <a:ln>
                  <a:noFill/>
                </a:ln>
                <a:solidFill>
                  <a:schemeClr val="tx1"/>
                </a:solidFill>
                <a:effectLst/>
                <a:uLnTx/>
                <a:uFillTx/>
                <a:latin typeface="Poppins"/>
                <a:ea typeface="+mn-ea"/>
                <a:cs typeface="+mn-cs"/>
              </a:rPr>
              <a:t>Paragraphs capped at 3–4 sentences</a:t>
            </a: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r>
              <a:rPr kumimoji="0" lang="en-US" sz="1000" i="0" u="none" strike="noStrike" kern="1200" cap="none" spc="0" normalizeH="0" baseline="0" noProof="0">
                <a:ln>
                  <a:noFill/>
                </a:ln>
                <a:solidFill>
                  <a:schemeClr val="tx1"/>
                </a:solidFill>
                <a:effectLst/>
                <a:uLnTx/>
                <a:uFillTx/>
                <a:latin typeface="Poppins"/>
                <a:ea typeface="+mn-ea"/>
                <a:cs typeface="+mn-cs"/>
              </a:rPr>
              <a:t>Numbered steps for any process or sequence</a:t>
            </a: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r>
              <a:rPr kumimoji="0" lang="en-US" sz="1000" i="0" u="none" strike="noStrike" kern="1200" cap="none" spc="0" normalizeH="0" baseline="0" noProof="0">
                <a:ln>
                  <a:noFill/>
                </a:ln>
                <a:solidFill>
                  <a:schemeClr val="tx1"/>
                </a:solidFill>
                <a:effectLst/>
                <a:uLnTx/>
                <a:uFillTx/>
                <a:latin typeface="Poppins"/>
                <a:ea typeface="+mn-ea"/>
                <a:cs typeface="+mn-cs"/>
              </a:rPr>
              <a:t>Bulleted lists for attributes</a:t>
            </a:r>
            <a:r>
              <a:rPr kumimoji="0" lang="pl-PL" sz="1000" i="0" u="none" strike="noStrike" kern="1200" cap="none" spc="0" normalizeH="0" baseline="0" noProof="0">
                <a:ln>
                  <a:noFill/>
                </a:ln>
                <a:solidFill>
                  <a:schemeClr val="tx1"/>
                </a:solidFill>
                <a:effectLst/>
                <a:uLnTx/>
                <a:uFillTx/>
                <a:latin typeface="Poppins"/>
                <a:ea typeface="+mn-ea"/>
                <a:cs typeface="+mn-cs"/>
              </a:rPr>
              <a:t> and </a:t>
            </a:r>
            <a:r>
              <a:rPr kumimoji="0" lang="en-US" sz="1000" i="0" u="none" strike="noStrike" kern="1200" cap="none" spc="0" normalizeH="0" baseline="0" noProof="0">
                <a:ln>
                  <a:noFill/>
                </a:ln>
                <a:solidFill>
                  <a:schemeClr val="tx1"/>
                </a:solidFill>
                <a:effectLst/>
                <a:uLnTx/>
                <a:uFillTx/>
                <a:latin typeface="Poppins"/>
                <a:ea typeface="+mn-ea"/>
                <a:cs typeface="+mn-cs"/>
              </a:rPr>
              <a:t> features</a:t>
            </a:r>
            <a:r>
              <a:rPr kumimoji="0" lang="pl-PL" sz="1000" i="0" u="none" strike="noStrike" kern="1200" cap="none" spc="0" normalizeH="0" baseline="0" noProof="0">
                <a:ln>
                  <a:noFill/>
                </a:ln>
                <a:solidFill>
                  <a:schemeClr val="tx1"/>
                </a:solidFill>
                <a:effectLst/>
                <a:uLnTx/>
                <a:uFillTx/>
                <a:latin typeface="Poppins"/>
                <a:ea typeface="+mn-ea"/>
                <a:cs typeface="+mn-cs"/>
              </a:rPr>
              <a:t>. Tables for</a:t>
            </a:r>
            <a:r>
              <a:rPr kumimoji="0" lang="en-US" sz="1000" i="0" u="none" strike="noStrike" kern="1200" cap="none" spc="0" normalizeH="0" baseline="0" noProof="0">
                <a:ln>
                  <a:noFill/>
                </a:ln>
                <a:solidFill>
                  <a:schemeClr val="tx1"/>
                </a:solidFill>
                <a:effectLst/>
                <a:uLnTx/>
                <a:uFillTx/>
                <a:latin typeface="Poppins"/>
                <a:ea typeface="+mn-ea"/>
                <a:cs typeface="+mn-cs"/>
              </a:rPr>
              <a:t> comparisons</a:t>
            </a:r>
            <a:r>
              <a:rPr kumimoji="0" lang="pl-PL" sz="1000" i="0" u="none" strike="noStrike" kern="1200" cap="none" spc="0" normalizeH="0" baseline="0" noProof="0">
                <a:ln>
                  <a:noFill/>
                </a:ln>
                <a:solidFill>
                  <a:schemeClr val="tx1"/>
                </a:solidFill>
                <a:effectLst/>
                <a:uLnTx/>
                <a:uFillTx/>
                <a:latin typeface="Poppins"/>
                <a:ea typeface="+mn-ea"/>
                <a:cs typeface="+mn-cs"/>
              </a:rPr>
              <a:t>.</a:t>
            </a:r>
          </a:p>
          <a:p>
            <a:pPr lvl="1">
              <a:spcAft>
                <a:spcPts val="300"/>
              </a:spcAf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r>
              <a:rPr kumimoji="0" lang="en-US" sz="1000" i="0" u="none" strike="noStrike" kern="1200" cap="none" spc="0" normalizeH="0" baseline="0" noProof="0">
                <a:ln>
                  <a:noFill/>
                </a:ln>
                <a:solidFill>
                  <a:schemeClr val="tx1"/>
                </a:solidFill>
                <a:effectLst/>
                <a:uLnTx/>
                <a:uFillTx/>
                <a:latin typeface="Poppins"/>
                <a:ea typeface="+mn-ea"/>
                <a:cs typeface="+mn-cs"/>
              </a:rPr>
              <a:t>&lt;strong&gt; key terms so meaning survives a skim</a:t>
            </a: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lvl="1">
              <a:spcAft>
                <a:spcPts val="300"/>
              </a:spcAft>
              <a:defRPr/>
            </a:pPr>
            <a:r>
              <a:rPr kumimoji="0" lang="en-US" sz="1000" i="0" u="none" strike="noStrike" kern="1200" cap="none" spc="0" normalizeH="0" baseline="0" noProof="0">
                <a:ln>
                  <a:noFill/>
                </a:ln>
                <a:solidFill>
                  <a:schemeClr val="tx1"/>
                </a:solidFill>
                <a:effectLst/>
                <a:uLnTx/>
                <a:uFillTx/>
                <a:latin typeface="Poppins"/>
                <a:ea typeface="+mn-ea"/>
                <a:cs typeface="+mn-cs"/>
              </a:rPr>
              <a:t>Tables for anything with more than 2 data dimensions</a:t>
            </a:r>
          </a:p>
        </p:txBody>
      </p:sp>
      <p:sp>
        <p:nvSpPr>
          <p:cNvPr id="34" name="Shape 16">
            <a:extLst>
              <a:ext uri="{FF2B5EF4-FFF2-40B4-BE49-F238E27FC236}">
                <a16:creationId xmlns:a16="http://schemas.microsoft.com/office/drawing/2014/main" id="{04B91118-5FC6-8267-5A4B-7534ADA3E158}"/>
              </a:ext>
            </a:extLst>
          </p:cNvPr>
          <p:cNvSpPr/>
          <p:nvPr/>
        </p:nvSpPr>
        <p:spPr>
          <a:xfrm>
            <a:off x="4286250" y="1220724"/>
            <a:ext cx="1851660" cy="3223260"/>
          </a:xfrm>
          <a:prstGeom prst="roundRect">
            <a:avLst>
              <a:gd name="adj" fmla="val 3704"/>
            </a:avLst>
          </a:prstGeom>
          <a:solidFill>
            <a:srgbClr val="F2F3F8"/>
          </a:solidFill>
          <a:ln/>
        </p:spPr>
        <p:txBody>
          <a:bodyPr/>
          <a:lstStyle/>
          <a:p>
            <a:pPr defTabSz="685800"/>
            <a:endParaRPr lang="pl-PL" sz="1350">
              <a:solidFill>
                <a:prstClr val="black"/>
              </a:solidFill>
              <a:latin typeface="Calibri" panose="020F0502020204030204"/>
            </a:endParaRPr>
          </a:p>
        </p:txBody>
      </p:sp>
      <p:sp>
        <p:nvSpPr>
          <p:cNvPr id="35" name="Text 17">
            <a:extLst>
              <a:ext uri="{FF2B5EF4-FFF2-40B4-BE49-F238E27FC236}">
                <a16:creationId xmlns:a16="http://schemas.microsoft.com/office/drawing/2014/main" id="{D224E080-2F3A-74C6-7FE2-28D14F95159E}"/>
              </a:ext>
            </a:extLst>
          </p:cNvPr>
          <p:cNvSpPr/>
          <p:nvPr/>
        </p:nvSpPr>
        <p:spPr>
          <a:xfrm>
            <a:off x="4457700" y="1392174"/>
            <a:ext cx="1508760" cy="205740"/>
          </a:xfrm>
          <a:prstGeom prst="rect">
            <a:avLst/>
          </a:prstGeom>
          <a:noFill/>
          <a:ln/>
        </p:spPr>
        <p:txBody>
          <a:bodyPr wrap="square" rtlCol="0" anchor="ctr"/>
          <a:lstStyle/>
          <a:p>
            <a:pPr defTabSz="685800"/>
            <a:r>
              <a:rPr lang="en-US" sz="1000">
                <a:solidFill>
                  <a:schemeClr val="bg1">
                    <a:lumMod val="50000"/>
                  </a:schemeClr>
                </a:solidFill>
                <a:latin typeface="Poppins"/>
              </a:rPr>
              <a:t>BEFORE</a:t>
            </a:r>
          </a:p>
        </p:txBody>
      </p:sp>
      <p:sp>
        <p:nvSpPr>
          <p:cNvPr id="36" name="Shape 18">
            <a:extLst>
              <a:ext uri="{FF2B5EF4-FFF2-40B4-BE49-F238E27FC236}">
                <a16:creationId xmlns:a16="http://schemas.microsoft.com/office/drawing/2014/main" id="{07222736-4BC4-7BA6-43EA-C751AB2E3D2E}"/>
              </a:ext>
            </a:extLst>
          </p:cNvPr>
          <p:cNvSpPr/>
          <p:nvPr/>
        </p:nvSpPr>
        <p:spPr>
          <a:xfrm>
            <a:off x="4457700" y="1735074"/>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37" name="Shape 19">
            <a:extLst>
              <a:ext uri="{FF2B5EF4-FFF2-40B4-BE49-F238E27FC236}">
                <a16:creationId xmlns:a16="http://schemas.microsoft.com/office/drawing/2014/main" id="{EFEEA74D-43D5-B9C4-5AA5-997AEF1D1C3E}"/>
              </a:ext>
            </a:extLst>
          </p:cNvPr>
          <p:cNvSpPr/>
          <p:nvPr/>
        </p:nvSpPr>
        <p:spPr>
          <a:xfrm>
            <a:off x="4457700" y="1954530"/>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38" name="Shape 20">
            <a:extLst>
              <a:ext uri="{FF2B5EF4-FFF2-40B4-BE49-F238E27FC236}">
                <a16:creationId xmlns:a16="http://schemas.microsoft.com/office/drawing/2014/main" id="{3F2D2712-2B66-042F-93AB-B7967FE2DF98}"/>
              </a:ext>
            </a:extLst>
          </p:cNvPr>
          <p:cNvSpPr/>
          <p:nvPr/>
        </p:nvSpPr>
        <p:spPr>
          <a:xfrm>
            <a:off x="4457700" y="2173986"/>
            <a:ext cx="96012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39" name="Shape 21">
            <a:extLst>
              <a:ext uri="{FF2B5EF4-FFF2-40B4-BE49-F238E27FC236}">
                <a16:creationId xmlns:a16="http://schemas.microsoft.com/office/drawing/2014/main" id="{0C20D60F-9358-E48F-D806-6681524B1977}"/>
              </a:ext>
            </a:extLst>
          </p:cNvPr>
          <p:cNvSpPr/>
          <p:nvPr/>
        </p:nvSpPr>
        <p:spPr>
          <a:xfrm>
            <a:off x="4457700" y="2393442"/>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0" name="Shape 22">
            <a:extLst>
              <a:ext uri="{FF2B5EF4-FFF2-40B4-BE49-F238E27FC236}">
                <a16:creationId xmlns:a16="http://schemas.microsoft.com/office/drawing/2014/main" id="{512D6671-6525-344F-468C-A28B18FAE612}"/>
              </a:ext>
            </a:extLst>
          </p:cNvPr>
          <p:cNvSpPr/>
          <p:nvPr/>
        </p:nvSpPr>
        <p:spPr>
          <a:xfrm>
            <a:off x="4457700" y="2612898"/>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1" name="Shape 23">
            <a:extLst>
              <a:ext uri="{FF2B5EF4-FFF2-40B4-BE49-F238E27FC236}">
                <a16:creationId xmlns:a16="http://schemas.microsoft.com/office/drawing/2014/main" id="{2895AA83-2DC8-1A9C-605B-91AC8EF9865C}"/>
              </a:ext>
            </a:extLst>
          </p:cNvPr>
          <p:cNvSpPr/>
          <p:nvPr/>
        </p:nvSpPr>
        <p:spPr>
          <a:xfrm>
            <a:off x="4457700" y="2832354"/>
            <a:ext cx="96012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2" name="Shape 24">
            <a:extLst>
              <a:ext uri="{FF2B5EF4-FFF2-40B4-BE49-F238E27FC236}">
                <a16:creationId xmlns:a16="http://schemas.microsoft.com/office/drawing/2014/main" id="{BF041D49-0BC0-AE41-47DE-72D77656F0B8}"/>
              </a:ext>
            </a:extLst>
          </p:cNvPr>
          <p:cNvSpPr/>
          <p:nvPr/>
        </p:nvSpPr>
        <p:spPr>
          <a:xfrm>
            <a:off x="4457700" y="3051810"/>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3" name="Shape 25">
            <a:extLst>
              <a:ext uri="{FF2B5EF4-FFF2-40B4-BE49-F238E27FC236}">
                <a16:creationId xmlns:a16="http://schemas.microsoft.com/office/drawing/2014/main" id="{10BD73A5-D4E4-45B2-FA09-AF234FD8DE10}"/>
              </a:ext>
            </a:extLst>
          </p:cNvPr>
          <p:cNvSpPr/>
          <p:nvPr/>
        </p:nvSpPr>
        <p:spPr>
          <a:xfrm>
            <a:off x="4457700" y="3271266"/>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4" name="Shape 26">
            <a:extLst>
              <a:ext uri="{FF2B5EF4-FFF2-40B4-BE49-F238E27FC236}">
                <a16:creationId xmlns:a16="http://schemas.microsoft.com/office/drawing/2014/main" id="{773C5DDD-5DE4-E0CD-26DC-57BDBB8B5514}"/>
              </a:ext>
            </a:extLst>
          </p:cNvPr>
          <p:cNvSpPr/>
          <p:nvPr/>
        </p:nvSpPr>
        <p:spPr>
          <a:xfrm>
            <a:off x="4457700" y="3490722"/>
            <a:ext cx="96012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5" name="Shape 27">
            <a:extLst>
              <a:ext uri="{FF2B5EF4-FFF2-40B4-BE49-F238E27FC236}">
                <a16:creationId xmlns:a16="http://schemas.microsoft.com/office/drawing/2014/main" id="{BC3AE3CC-BF86-B83F-6882-AE96178DC1FC}"/>
              </a:ext>
            </a:extLst>
          </p:cNvPr>
          <p:cNvSpPr/>
          <p:nvPr/>
        </p:nvSpPr>
        <p:spPr>
          <a:xfrm>
            <a:off x="4457700" y="3710178"/>
            <a:ext cx="1508760" cy="68580"/>
          </a:xfrm>
          <a:prstGeom prst="rect">
            <a:avLst/>
          </a:prstGeom>
          <a:solidFill>
            <a:srgbClr val="C7CAD9"/>
          </a:solidFill>
          <a:ln/>
        </p:spPr>
        <p:txBody>
          <a:bodyPr/>
          <a:lstStyle/>
          <a:p>
            <a:pPr defTabSz="685800"/>
            <a:endParaRPr lang="pl-PL" sz="1350">
              <a:solidFill>
                <a:prstClr val="black"/>
              </a:solidFill>
              <a:latin typeface="Calibri" panose="020F0502020204030204"/>
            </a:endParaRPr>
          </a:p>
        </p:txBody>
      </p:sp>
      <p:sp>
        <p:nvSpPr>
          <p:cNvPr id="47" name="Text 29">
            <a:extLst>
              <a:ext uri="{FF2B5EF4-FFF2-40B4-BE49-F238E27FC236}">
                <a16:creationId xmlns:a16="http://schemas.microsoft.com/office/drawing/2014/main" id="{74B86526-1F3F-9126-B6FA-099C54BEC541}"/>
              </a:ext>
            </a:extLst>
          </p:cNvPr>
          <p:cNvSpPr/>
          <p:nvPr/>
        </p:nvSpPr>
        <p:spPr>
          <a:xfrm>
            <a:off x="4457700" y="3826764"/>
            <a:ext cx="1508760" cy="480060"/>
          </a:xfrm>
          <a:prstGeom prst="rect">
            <a:avLst/>
          </a:prstGeom>
          <a:noFill/>
          <a:ln/>
        </p:spPr>
        <p:txBody>
          <a:bodyPr wrap="square" lIns="0" tIns="0" rIns="0" bIns="0" rtlCol="0" anchor="ctr"/>
          <a:lstStyle/>
          <a:p>
            <a:pPr defTabSz="685800"/>
            <a:r>
              <a:rPr lang="en-US" sz="800">
                <a:solidFill>
                  <a:schemeClr val="bg1">
                    <a:lumMod val="50000"/>
                  </a:schemeClr>
                </a:solidFill>
                <a:latin typeface="Poppins"/>
              </a:rPr>
              <a:t>Dense paragraphs with no visual hierarchy — hard to extract a clean answer from</a:t>
            </a:r>
            <a:r>
              <a:rPr lang="en-US" sz="800" i="1">
                <a:solidFill>
                  <a:schemeClr val="bg1">
                    <a:lumMod val="50000"/>
                  </a:schemeClr>
                </a:solidFill>
                <a:latin typeface="Poppins"/>
              </a:rPr>
              <a:t>.</a:t>
            </a:r>
          </a:p>
        </p:txBody>
      </p:sp>
      <p:sp>
        <p:nvSpPr>
          <p:cNvPr id="48" name="Shape 30">
            <a:extLst>
              <a:ext uri="{FF2B5EF4-FFF2-40B4-BE49-F238E27FC236}">
                <a16:creationId xmlns:a16="http://schemas.microsoft.com/office/drawing/2014/main" id="{0E55EF10-BA3F-3A29-78DC-AFEAA54A6B8C}"/>
              </a:ext>
            </a:extLst>
          </p:cNvPr>
          <p:cNvSpPr/>
          <p:nvPr/>
        </p:nvSpPr>
        <p:spPr>
          <a:xfrm>
            <a:off x="6377940" y="1220724"/>
            <a:ext cx="1851660" cy="3223260"/>
          </a:xfrm>
          <a:prstGeom prst="roundRect">
            <a:avLst>
              <a:gd name="adj" fmla="val 3704"/>
            </a:avLst>
          </a:prstGeom>
          <a:solidFill>
            <a:schemeClr val="tx1"/>
          </a:solidFill>
          <a:ln/>
        </p:spPr>
        <p:txBody>
          <a:bodyPr/>
          <a:lstStyle/>
          <a:p>
            <a:pPr defTabSz="685800"/>
            <a:endParaRPr lang="pl-PL" sz="1350">
              <a:solidFill>
                <a:prstClr val="black"/>
              </a:solidFill>
              <a:latin typeface="Calibri" panose="020F0502020204030204"/>
            </a:endParaRPr>
          </a:p>
        </p:txBody>
      </p:sp>
      <p:sp>
        <p:nvSpPr>
          <p:cNvPr id="49" name="Text 31">
            <a:extLst>
              <a:ext uri="{FF2B5EF4-FFF2-40B4-BE49-F238E27FC236}">
                <a16:creationId xmlns:a16="http://schemas.microsoft.com/office/drawing/2014/main" id="{190B200D-4792-DB91-B0CF-B9232FE3A6EA}"/>
              </a:ext>
            </a:extLst>
          </p:cNvPr>
          <p:cNvSpPr/>
          <p:nvPr/>
        </p:nvSpPr>
        <p:spPr>
          <a:xfrm>
            <a:off x="6549390" y="1392174"/>
            <a:ext cx="1508760" cy="205740"/>
          </a:xfrm>
          <a:prstGeom prst="rect">
            <a:avLst/>
          </a:prstGeom>
          <a:noFill/>
          <a:ln/>
        </p:spPr>
        <p:txBody>
          <a:bodyPr wrap="square" rtlCol="0" anchor="ctr"/>
          <a:lstStyle/>
          <a:p>
            <a:pPr defTabSz="685800"/>
            <a:r>
              <a:rPr lang="en-US" sz="1000">
                <a:solidFill>
                  <a:schemeClr val="accent5"/>
                </a:solidFill>
                <a:latin typeface="Poppins"/>
              </a:rPr>
              <a:t>AFTER</a:t>
            </a:r>
          </a:p>
        </p:txBody>
      </p:sp>
      <p:sp>
        <p:nvSpPr>
          <p:cNvPr id="50" name="Shape 32">
            <a:extLst>
              <a:ext uri="{FF2B5EF4-FFF2-40B4-BE49-F238E27FC236}">
                <a16:creationId xmlns:a16="http://schemas.microsoft.com/office/drawing/2014/main" id="{2295F537-A80E-C08D-645A-59BE9A95DC58}"/>
              </a:ext>
            </a:extLst>
          </p:cNvPr>
          <p:cNvSpPr/>
          <p:nvPr/>
        </p:nvSpPr>
        <p:spPr>
          <a:xfrm>
            <a:off x="6549390" y="1735074"/>
            <a:ext cx="617220" cy="68580"/>
          </a:xfrm>
          <a:prstGeom prst="rect">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51" name="Shape 33">
            <a:extLst>
              <a:ext uri="{FF2B5EF4-FFF2-40B4-BE49-F238E27FC236}">
                <a16:creationId xmlns:a16="http://schemas.microsoft.com/office/drawing/2014/main" id="{2DD093B5-0860-9884-4736-88C5BE956B86}"/>
              </a:ext>
            </a:extLst>
          </p:cNvPr>
          <p:cNvSpPr/>
          <p:nvPr/>
        </p:nvSpPr>
        <p:spPr>
          <a:xfrm>
            <a:off x="6549390" y="1920240"/>
            <a:ext cx="1508760" cy="68580"/>
          </a:xfrm>
          <a:prstGeom prst="rect">
            <a:avLst/>
          </a:prstGeom>
          <a:solidFill>
            <a:schemeClr val="bg2"/>
          </a:solidFill>
          <a:ln/>
        </p:spPr>
        <p:txBody>
          <a:bodyPr/>
          <a:lstStyle/>
          <a:p>
            <a:pPr defTabSz="685800"/>
            <a:endParaRPr lang="pl-PL" sz="1350">
              <a:solidFill>
                <a:prstClr val="black"/>
              </a:solidFill>
              <a:latin typeface="Calibri" panose="020F0502020204030204"/>
            </a:endParaRPr>
          </a:p>
        </p:txBody>
      </p:sp>
      <p:sp>
        <p:nvSpPr>
          <p:cNvPr id="52" name="Shape 34">
            <a:extLst>
              <a:ext uri="{FF2B5EF4-FFF2-40B4-BE49-F238E27FC236}">
                <a16:creationId xmlns:a16="http://schemas.microsoft.com/office/drawing/2014/main" id="{9A51EDB5-21AA-6478-89FA-5F2E4D37A601}"/>
              </a:ext>
            </a:extLst>
          </p:cNvPr>
          <p:cNvSpPr/>
          <p:nvPr/>
        </p:nvSpPr>
        <p:spPr>
          <a:xfrm>
            <a:off x="6549390" y="2105406"/>
            <a:ext cx="1234440" cy="68580"/>
          </a:xfrm>
          <a:prstGeom prst="rect">
            <a:avLst/>
          </a:prstGeom>
          <a:solidFill>
            <a:schemeClr val="bg2"/>
          </a:solidFill>
          <a:ln/>
        </p:spPr>
        <p:txBody>
          <a:bodyPr/>
          <a:lstStyle/>
          <a:p>
            <a:pPr defTabSz="685800"/>
            <a:endParaRPr lang="pl-PL" sz="1350">
              <a:solidFill>
                <a:prstClr val="black"/>
              </a:solidFill>
              <a:latin typeface="Calibri" panose="020F0502020204030204"/>
            </a:endParaRPr>
          </a:p>
        </p:txBody>
      </p:sp>
      <p:sp>
        <p:nvSpPr>
          <p:cNvPr id="53" name="Shape 35">
            <a:extLst>
              <a:ext uri="{FF2B5EF4-FFF2-40B4-BE49-F238E27FC236}">
                <a16:creationId xmlns:a16="http://schemas.microsoft.com/office/drawing/2014/main" id="{D33B7976-E172-45E0-EE7B-2ABC0DD6F001}"/>
              </a:ext>
            </a:extLst>
          </p:cNvPr>
          <p:cNvSpPr/>
          <p:nvPr/>
        </p:nvSpPr>
        <p:spPr>
          <a:xfrm>
            <a:off x="6549390" y="2386584"/>
            <a:ext cx="617220" cy="68580"/>
          </a:xfrm>
          <a:prstGeom prst="rect">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54" name="Shape 36">
            <a:extLst>
              <a:ext uri="{FF2B5EF4-FFF2-40B4-BE49-F238E27FC236}">
                <a16:creationId xmlns:a16="http://schemas.microsoft.com/office/drawing/2014/main" id="{6C60BCD2-A200-B320-4AEC-A368E4D9E55C}"/>
              </a:ext>
            </a:extLst>
          </p:cNvPr>
          <p:cNvSpPr/>
          <p:nvPr/>
        </p:nvSpPr>
        <p:spPr>
          <a:xfrm>
            <a:off x="6549390" y="2571750"/>
            <a:ext cx="1508760" cy="68580"/>
          </a:xfrm>
          <a:prstGeom prst="rect">
            <a:avLst/>
          </a:prstGeom>
          <a:solidFill>
            <a:schemeClr val="bg2"/>
          </a:solidFill>
          <a:ln/>
        </p:spPr>
        <p:txBody>
          <a:bodyPr/>
          <a:lstStyle/>
          <a:p>
            <a:pPr defTabSz="685800"/>
            <a:endParaRPr lang="pl-PL" sz="1350">
              <a:solidFill>
                <a:prstClr val="black"/>
              </a:solidFill>
              <a:latin typeface="Calibri" panose="020F0502020204030204"/>
            </a:endParaRPr>
          </a:p>
        </p:txBody>
      </p:sp>
      <p:sp>
        <p:nvSpPr>
          <p:cNvPr id="55" name="Shape 37">
            <a:extLst>
              <a:ext uri="{FF2B5EF4-FFF2-40B4-BE49-F238E27FC236}">
                <a16:creationId xmlns:a16="http://schemas.microsoft.com/office/drawing/2014/main" id="{4DF9FA8B-F340-4A2B-DDDC-C01A2B35AD27}"/>
              </a:ext>
            </a:extLst>
          </p:cNvPr>
          <p:cNvSpPr/>
          <p:nvPr/>
        </p:nvSpPr>
        <p:spPr>
          <a:xfrm>
            <a:off x="6549390" y="2756916"/>
            <a:ext cx="1303020" cy="68580"/>
          </a:xfrm>
          <a:prstGeom prst="rect">
            <a:avLst/>
          </a:prstGeom>
          <a:solidFill>
            <a:schemeClr val="bg2"/>
          </a:solidFill>
          <a:ln/>
        </p:spPr>
        <p:txBody>
          <a:bodyPr/>
          <a:lstStyle/>
          <a:p>
            <a:pPr defTabSz="685800"/>
            <a:endParaRPr lang="pl-PL" sz="1350">
              <a:solidFill>
                <a:prstClr val="black"/>
              </a:solidFill>
              <a:latin typeface="Calibri" panose="020F0502020204030204"/>
            </a:endParaRPr>
          </a:p>
        </p:txBody>
      </p:sp>
      <p:sp>
        <p:nvSpPr>
          <p:cNvPr id="56" name="Shape 38">
            <a:extLst>
              <a:ext uri="{FF2B5EF4-FFF2-40B4-BE49-F238E27FC236}">
                <a16:creationId xmlns:a16="http://schemas.microsoft.com/office/drawing/2014/main" id="{8728B7A0-CBF2-CDD5-0C9F-1F8A945FF11F}"/>
              </a:ext>
            </a:extLst>
          </p:cNvPr>
          <p:cNvSpPr/>
          <p:nvPr/>
        </p:nvSpPr>
        <p:spPr>
          <a:xfrm>
            <a:off x="6549390" y="3038094"/>
            <a:ext cx="617220" cy="68580"/>
          </a:xfrm>
          <a:prstGeom prst="rect">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57" name="Shape 39">
            <a:extLst>
              <a:ext uri="{FF2B5EF4-FFF2-40B4-BE49-F238E27FC236}">
                <a16:creationId xmlns:a16="http://schemas.microsoft.com/office/drawing/2014/main" id="{C8DE7923-445B-A50B-FD65-DDF129C3E244}"/>
              </a:ext>
            </a:extLst>
          </p:cNvPr>
          <p:cNvSpPr/>
          <p:nvPr/>
        </p:nvSpPr>
        <p:spPr>
          <a:xfrm>
            <a:off x="6549390" y="3223260"/>
            <a:ext cx="1440180" cy="68580"/>
          </a:xfrm>
          <a:prstGeom prst="rect">
            <a:avLst/>
          </a:prstGeom>
          <a:solidFill>
            <a:schemeClr val="bg2"/>
          </a:solidFill>
          <a:ln/>
        </p:spPr>
        <p:txBody>
          <a:bodyPr/>
          <a:lstStyle/>
          <a:p>
            <a:pPr defTabSz="685800"/>
            <a:endParaRPr lang="pl-PL" sz="1350">
              <a:solidFill>
                <a:prstClr val="black"/>
              </a:solidFill>
              <a:latin typeface="Calibri" panose="020F0502020204030204"/>
            </a:endParaRPr>
          </a:p>
        </p:txBody>
      </p:sp>
      <p:sp>
        <p:nvSpPr>
          <p:cNvPr id="58" name="Text 40">
            <a:extLst>
              <a:ext uri="{FF2B5EF4-FFF2-40B4-BE49-F238E27FC236}">
                <a16:creationId xmlns:a16="http://schemas.microsoft.com/office/drawing/2014/main" id="{5EA1DCDE-2936-E060-A2B7-CCC57DD204F3}"/>
              </a:ext>
            </a:extLst>
          </p:cNvPr>
          <p:cNvSpPr/>
          <p:nvPr/>
        </p:nvSpPr>
        <p:spPr>
          <a:xfrm>
            <a:off x="6549390" y="3826764"/>
            <a:ext cx="1508760" cy="480060"/>
          </a:xfrm>
          <a:prstGeom prst="rect">
            <a:avLst/>
          </a:prstGeom>
          <a:noFill/>
          <a:ln/>
        </p:spPr>
        <p:txBody>
          <a:bodyPr wrap="square" lIns="0" tIns="0" rIns="0" bIns="0" rtlCol="0" anchor="ctr"/>
          <a:lstStyle/>
          <a:p>
            <a:pPr defTabSz="685800"/>
            <a:r>
              <a:rPr lang="en-US" sz="800">
                <a:solidFill>
                  <a:schemeClr val="accent5"/>
                </a:solidFill>
                <a:latin typeface="Poppins"/>
              </a:rPr>
              <a:t>Short, labeled chunks map directly onto extractable answer units.</a:t>
            </a:r>
          </a:p>
        </p:txBody>
      </p:sp>
      <p:sp>
        <p:nvSpPr>
          <p:cNvPr id="59" name="Shape 3">
            <a:extLst>
              <a:ext uri="{FF2B5EF4-FFF2-40B4-BE49-F238E27FC236}">
                <a16:creationId xmlns:a16="http://schemas.microsoft.com/office/drawing/2014/main" id="{1A84E566-6727-2744-4E8D-2ACB9AEE46AA}"/>
              </a:ext>
            </a:extLst>
          </p:cNvPr>
          <p:cNvSpPr/>
          <p:nvPr/>
        </p:nvSpPr>
        <p:spPr>
          <a:xfrm>
            <a:off x="1092091" y="1670156"/>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60" name="Shape 5">
            <a:extLst>
              <a:ext uri="{FF2B5EF4-FFF2-40B4-BE49-F238E27FC236}">
                <a16:creationId xmlns:a16="http://schemas.microsoft.com/office/drawing/2014/main" id="{C399E067-5BD3-6509-99B6-6357FBD362A2}"/>
              </a:ext>
            </a:extLst>
          </p:cNvPr>
          <p:cNvSpPr/>
          <p:nvPr/>
        </p:nvSpPr>
        <p:spPr>
          <a:xfrm>
            <a:off x="1092091" y="2214521"/>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61" name="Shape 7">
            <a:extLst>
              <a:ext uri="{FF2B5EF4-FFF2-40B4-BE49-F238E27FC236}">
                <a16:creationId xmlns:a16="http://schemas.microsoft.com/office/drawing/2014/main" id="{1FDEA39E-3794-9182-0EB7-E2579BA3D8CE}"/>
              </a:ext>
            </a:extLst>
          </p:cNvPr>
          <p:cNvSpPr/>
          <p:nvPr/>
        </p:nvSpPr>
        <p:spPr>
          <a:xfrm>
            <a:off x="1092091" y="2756916"/>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62" name="Shape 9">
            <a:extLst>
              <a:ext uri="{FF2B5EF4-FFF2-40B4-BE49-F238E27FC236}">
                <a16:creationId xmlns:a16="http://schemas.microsoft.com/office/drawing/2014/main" id="{02CE27B4-21BF-0A26-4D1C-6CE86D876741}"/>
              </a:ext>
            </a:extLst>
          </p:cNvPr>
          <p:cNvSpPr/>
          <p:nvPr/>
        </p:nvSpPr>
        <p:spPr>
          <a:xfrm>
            <a:off x="1092091" y="3301298"/>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
        <p:nvSpPr>
          <p:cNvPr id="63" name="Shape 9">
            <a:extLst>
              <a:ext uri="{FF2B5EF4-FFF2-40B4-BE49-F238E27FC236}">
                <a16:creationId xmlns:a16="http://schemas.microsoft.com/office/drawing/2014/main" id="{B9B39EC5-02F6-91F4-3D2C-AB695528ACFC}"/>
              </a:ext>
            </a:extLst>
          </p:cNvPr>
          <p:cNvSpPr/>
          <p:nvPr/>
        </p:nvSpPr>
        <p:spPr>
          <a:xfrm>
            <a:off x="1092091" y="3845680"/>
            <a:ext cx="233172" cy="233172"/>
          </a:xfrm>
          <a:prstGeom prst="roundRect">
            <a:avLst>
              <a:gd name="adj" fmla="val 14706"/>
            </a:avLst>
          </a:prstGeom>
          <a:solidFill>
            <a:srgbClr val="FFFFFF"/>
          </a:solidFill>
          <a:ln w="19050">
            <a:solidFill>
              <a:schemeClr val="tx1"/>
            </a:solidFill>
            <a:prstDash val="solid"/>
          </a:ln>
        </p:spPr>
        <p:txBody>
          <a:bodyPr/>
          <a:lstStyle/>
          <a:p>
            <a:endParaRPr lang="pl-PL" sz="1350"/>
          </a:p>
        </p:txBody>
      </p:sp>
    </p:spTree>
    <p:extLst>
      <p:ext uri="{BB962C8B-B14F-4D97-AF65-F5344CB8AC3E}">
        <p14:creationId xmlns:p14="http://schemas.microsoft.com/office/powerpoint/2010/main" val="22140848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7E58E-D8B5-5388-0AF9-721BCFC70D7B}"/>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DC3D9E2D-D482-5C94-97DD-E90D8207634E}"/>
              </a:ext>
            </a:extLst>
          </p:cNvPr>
          <p:cNvSpPr/>
          <p:nvPr/>
        </p:nvSpPr>
        <p:spPr>
          <a:xfrm>
            <a:off x="5410525" y="1146249"/>
            <a:ext cx="2983230" cy="3407463"/>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R="0" lvl="0" algn="l" defTabSz="457184" rtl="0" eaLnBrk="1" fontAlgn="auto" latinLnBrk="0" hangingPunct="1">
              <a:lnSpc>
                <a:spcPct val="100000"/>
              </a:lnSpc>
              <a:spcBef>
                <a:spcPts val="0"/>
              </a:spcBef>
              <a:spcAft>
                <a:spcPts val="300"/>
              </a:spcAft>
              <a:buClrTx/>
              <a:buSzTx/>
              <a:tabLs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p:txBody>
      </p:sp>
      <p:sp>
        <p:nvSpPr>
          <p:cNvPr id="8" name="Shape 0">
            <a:extLst>
              <a:ext uri="{FF2B5EF4-FFF2-40B4-BE49-F238E27FC236}">
                <a16:creationId xmlns:a16="http://schemas.microsoft.com/office/drawing/2014/main" id="{2AD0BC80-FBCF-E6BB-0CC5-97FD4ED75455}"/>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AAD40198-520C-87CA-BD42-14E54647823A}"/>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Cognitive Load Reduction</a:t>
            </a:r>
          </a:p>
        </p:txBody>
      </p:sp>
      <p:sp>
        <p:nvSpPr>
          <p:cNvPr id="12" name="Text 2">
            <a:extLst>
              <a:ext uri="{FF2B5EF4-FFF2-40B4-BE49-F238E27FC236}">
                <a16:creationId xmlns:a16="http://schemas.microsoft.com/office/drawing/2014/main" id="{1887F8F6-7FB7-D5B2-21F1-851589863626}"/>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Minimize the </a:t>
            </a:r>
            <a:r>
              <a:rPr lang="pl-PL" sz="1100">
                <a:solidFill>
                  <a:schemeClr val="accent5"/>
                </a:solidFill>
                <a:cs typeface="Arial"/>
              </a:rPr>
              <a:t>understanding</a:t>
            </a:r>
            <a:r>
              <a:rPr lang="en-US" sz="1100">
                <a:solidFill>
                  <a:schemeClr val="accent5"/>
                </a:solidFill>
                <a:cs typeface="Arial"/>
              </a:rPr>
              <a:t> effort required to extract meaning from the page</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FF1BC095-C246-D80C-1E64-9335555DEF46}"/>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3A1B7402-412B-3BFF-C192-8D30A66BDA56}"/>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121</a:t>
            </a:fld>
            <a:endParaRPr lang="en-US">
              <a:solidFill>
                <a:srgbClr val="3DCD58"/>
              </a:solidFill>
            </a:endParaRPr>
          </a:p>
        </p:txBody>
      </p:sp>
      <p:sp>
        <p:nvSpPr>
          <p:cNvPr id="4" name="Rectangle 3">
            <a:extLst>
              <a:ext uri="{FF2B5EF4-FFF2-40B4-BE49-F238E27FC236}">
                <a16:creationId xmlns:a16="http://schemas.microsoft.com/office/drawing/2014/main" id="{AB38FDC0-D2D5-D530-E75D-9052E996F042}"/>
              </a:ext>
            </a:extLst>
          </p:cNvPr>
          <p:cNvSpPr/>
          <p:nvPr/>
        </p:nvSpPr>
        <p:spPr>
          <a:xfrm>
            <a:off x="702636" y="1146249"/>
            <a:ext cx="4388155" cy="340746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Cognitive load </a:t>
            </a:r>
            <a:r>
              <a:rPr kumimoji="0" lang="en-US" sz="1000" i="0" u="none" strike="noStrike" kern="1200" cap="none" spc="0" normalizeH="0" baseline="0" noProof="0">
                <a:ln>
                  <a:noFill/>
                </a:ln>
                <a:solidFill>
                  <a:schemeClr val="tx1"/>
                </a:solidFill>
                <a:effectLst/>
                <a:uLnTx/>
                <a:uFillTx/>
                <a:latin typeface="Poppins"/>
                <a:ea typeface="+mn-ea"/>
                <a:cs typeface="+mn-cs"/>
              </a:rPr>
              <a:t>is the amount of mental effort needed to process information — the less clutter and complexity in the way, the more of that effort goes toward actual understanding rather than struggling with presentation.</a:t>
            </a: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endParaRPr lang="pl-PL" sz="1000" b="1">
              <a:solidFill>
                <a:schemeClr val="tx1"/>
              </a:solidFill>
              <a:latin typeface="Poppins"/>
            </a:endParaRPr>
          </a:p>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Plain language first</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Define jargon on first use — engines and readers both need a clean gloss</a:t>
            </a:r>
            <a:r>
              <a:rPr kumimoji="0" lang="pl-PL" sz="1000" i="0" u="none" strike="noStrike" kern="1200" cap="none" spc="0" normalizeH="0" baseline="0" noProof="0">
                <a:ln>
                  <a:noFill/>
                </a:ln>
                <a:solidFill>
                  <a:schemeClr val="tx1"/>
                </a:solidFill>
                <a:effectLst/>
                <a:uLnTx/>
                <a:uFillTx/>
                <a:latin typeface="Poppins"/>
                <a:ea typeface="+mn-ea"/>
                <a:cs typeface="+mn-cs"/>
              </a:rPr>
              <a:t>ary</a:t>
            </a:r>
            <a:r>
              <a:rPr kumimoji="0" lang="en-US" sz="1000" i="0" u="none" strike="noStrike" kern="1200" cap="none" spc="0" normalizeH="0" baseline="0" noProof="0">
                <a:ln>
                  <a:noFill/>
                </a:ln>
                <a:solidFill>
                  <a:schemeClr val="tx1"/>
                </a:solidFill>
                <a:effectLst/>
                <a:uLnTx/>
                <a:uFillTx/>
                <a:latin typeface="Poppins"/>
                <a:ea typeface="+mn-ea"/>
                <a:cs typeface="+mn-cs"/>
              </a:rPr>
              <a:t>.</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One idea per section</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Avoid stacking multiple claims or CTAs in a single block of text.</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pl-PL" sz="1000" b="1" i="0" u="none" strike="noStrike" kern="1200" cap="none" spc="0" normalizeH="0" baseline="0" noProof="0">
                <a:ln>
                  <a:noFill/>
                </a:ln>
                <a:solidFill>
                  <a:schemeClr val="tx1"/>
                </a:solidFill>
                <a:effectLst/>
                <a:uLnTx/>
                <a:uFillTx/>
                <a:latin typeface="Poppins"/>
                <a:ea typeface="+mn-ea"/>
                <a:cs typeface="+mn-cs"/>
              </a:rPr>
              <a:t>Consistent terminology</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Pick one term per concept and reuse it </a:t>
            </a:r>
            <a:r>
              <a:rPr kumimoji="0" lang="pl-PL" sz="1000" i="0" u="none" strike="noStrike" kern="1200" cap="none" spc="0" normalizeH="0" baseline="0" noProof="0">
                <a:ln>
                  <a:noFill/>
                </a:ln>
                <a:solidFill>
                  <a:schemeClr val="tx1"/>
                </a:solidFill>
                <a:effectLst/>
                <a:uLnTx/>
                <a:uFillTx/>
                <a:latin typeface="Poppins"/>
                <a:ea typeface="+mn-ea"/>
                <a:cs typeface="+mn-cs"/>
              </a:rPr>
              <a:t>-</a:t>
            </a:r>
            <a:r>
              <a:rPr kumimoji="0" lang="en-US" sz="1000" i="0" u="none" strike="noStrike" kern="1200" cap="none" spc="0" normalizeH="0" baseline="0" noProof="0">
                <a:ln>
                  <a:noFill/>
                </a:ln>
                <a:solidFill>
                  <a:schemeClr val="tx1"/>
                </a:solidFill>
                <a:effectLst/>
                <a:uLnTx/>
                <a:uFillTx/>
                <a:latin typeface="Poppins"/>
                <a:ea typeface="+mn-ea"/>
                <a:cs typeface="+mn-cs"/>
              </a:rPr>
              <a:t> synonyms fragment topical signal.</a:t>
            </a:r>
          </a:p>
          <a:p>
            <a:pPr marL="0" marR="0" lvl="0" indent="0" algn="l" defTabSz="457184" rtl="0" eaLnBrk="1" fontAlgn="auto" latinLnBrk="0" hangingPunct="1">
              <a:lnSpc>
                <a:spcPct val="100000"/>
              </a:lnSpc>
              <a:spcBef>
                <a:spcPts val="0"/>
              </a:spcBef>
              <a:spcAft>
                <a:spcPts val="300"/>
              </a:spcAft>
              <a:buClrTx/>
              <a:buSzTx/>
              <a:buFontTx/>
              <a:buNone/>
              <a:tabLs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en-US" sz="1000" b="1" i="0" u="none" strike="noStrike" kern="1200" cap="none" spc="0" normalizeH="0" baseline="0" noProof="0">
                <a:ln>
                  <a:noFill/>
                </a:ln>
                <a:solidFill>
                  <a:schemeClr val="tx1"/>
                </a:solidFill>
                <a:effectLst/>
                <a:uLnTx/>
                <a:uFillTx/>
                <a:latin typeface="Poppins"/>
                <a:ea typeface="+mn-ea"/>
                <a:cs typeface="+mn-cs"/>
              </a:rPr>
              <a:t>Show, don’t narrate</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A diagram, table, or chart replaces a paragraph of dense description.</a:t>
            </a:r>
          </a:p>
        </p:txBody>
      </p:sp>
      <p:sp>
        <p:nvSpPr>
          <p:cNvPr id="3" name="Text 14">
            <a:extLst>
              <a:ext uri="{FF2B5EF4-FFF2-40B4-BE49-F238E27FC236}">
                <a16:creationId xmlns:a16="http://schemas.microsoft.com/office/drawing/2014/main" id="{E4303ED9-7D16-549F-0474-1D4150C8A6AE}"/>
              </a:ext>
            </a:extLst>
          </p:cNvPr>
          <p:cNvSpPr/>
          <p:nvPr/>
        </p:nvSpPr>
        <p:spPr>
          <a:xfrm>
            <a:off x="5410524" y="1196960"/>
            <a:ext cx="2983229" cy="414670"/>
          </a:xfrm>
          <a:prstGeom prst="rect">
            <a:avLst/>
          </a:prstGeom>
          <a:noFill/>
          <a:ln/>
        </p:spPr>
        <p:txBody>
          <a:bodyPr wrap="square" rtlCol="0" anchor="ctr"/>
          <a:lstStyle/>
          <a:p>
            <a:pPr defTabSz="685800"/>
            <a:r>
              <a:rPr lang="pl-PL" sz="1000">
                <a:solidFill>
                  <a:schemeClr val="accent5"/>
                </a:solidFill>
                <a:latin typeface="Poppins"/>
              </a:rPr>
              <a:t>How easy it is for AI model to understand the content by enhancing content structure:</a:t>
            </a:r>
            <a:endParaRPr lang="en-US" sz="1000">
              <a:solidFill>
                <a:schemeClr val="accent5"/>
              </a:solidFill>
              <a:latin typeface="Poppins"/>
            </a:endParaRPr>
          </a:p>
        </p:txBody>
      </p:sp>
      <p:sp>
        <p:nvSpPr>
          <p:cNvPr id="7" name="Text 15">
            <a:extLst>
              <a:ext uri="{FF2B5EF4-FFF2-40B4-BE49-F238E27FC236}">
                <a16:creationId xmlns:a16="http://schemas.microsoft.com/office/drawing/2014/main" id="{2BD33DF2-D8AD-65C3-F501-2AD227BB770E}"/>
              </a:ext>
            </a:extLst>
          </p:cNvPr>
          <p:cNvSpPr/>
          <p:nvPr/>
        </p:nvSpPr>
        <p:spPr>
          <a:xfrm>
            <a:off x="5606105" y="1728216"/>
            <a:ext cx="2571750" cy="205740"/>
          </a:xfrm>
          <a:prstGeom prst="rect">
            <a:avLst/>
          </a:prstGeom>
          <a:noFill/>
          <a:ln/>
        </p:spPr>
        <p:txBody>
          <a:bodyPr wrap="square" lIns="0" tIns="0" rIns="0" bIns="0" rtlCol="0" anchor="ctr"/>
          <a:lstStyle/>
          <a:p>
            <a:pPr defTabSz="685800"/>
            <a:r>
              <a:rPr lang="en-US" sz="800">
                <a:solidFill>
                  <a:schemeClr val="accent5"/>
                </a:solidFill>
                <a:latin typeface="Poppins"/>
              </a:rPr>
              <a:t>Unstructured page</a:t>
            </a:r>
          </a:p>
        </p:txBody>
      </p:sp>
      <p:sp>
        <p:nvSpPr>
          <p:cNvPr id="10" name="Shape 16">
            <a:extLst>
              <a:ext uri="{FF2B5EF4-FFF2-40B4-BE49-F238E27FC236}">
                <a16:creationId xmlns:a16="http://schemas.microsoft.com/office/drawing/2014/main" id="{B7A0E4D2-1823-A647-7836-418D53F2775B}"/>
              </a:ext>
            </a:extLst>
          </p:cNvPr>
          <p:cNvSpPr/>
          <p:nvPr/>
        </p:nvSpPr>
        <p:spPr>
          <a:xfrm>
            <a:off x="5606105" y="1947672"/>
            <a:ext cx="2023110" cy="150876"/>
          </a:xfrm>
          <a:prstGeom prst="roundRect">
            <a:avLst>
              <a:gd name="adj" fmla="val 18182"/>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13" name="Shape 17">
            <a:extLst>
              <a:ext uri="{FF2B5EF4-FFF2-40B4-BE49-F238E27FC236}">
                <a16:creationId xmlns:a16="http://schemas.microsoft.com/office/drawing/2014/main" id="{EB1DA700-8944-9DC6-60BD-EF688DAA1660}"/>
              </a:ext>
            </a:extLst>
          </p:cNvPr>
          <p:cNvSpPr/>
          <p:nvPr/>
        </p:nvSpPr>
        <p:spPr>
          <a:xfrm>
            <a:off x="5606105" y="1947672"/>
            <a:ext cx="388295" cy="150876"/>
          </a:xfrm>
          <a:prstGeom prst="roundRect">
            <a:avLst>
              <a:gd name="adj" fmla="val 18182"/>
            </a:avLst>
          </a:prstGeom>
          <a:solidFill>
            <a:schemeClr val="tx2"/>
          </a:solidFill>
          <a:ln/>
        </p:spPr>
        <p:txBody>
          <a:bodyPr/>
          <a:lstStyle/>
          <a:p>
            <a:pPr defTabSz="685800"/>
            <a:endParaRPr lang="pl-PL" sz="1350">
              <a:solidFill>
                <a:prstClr val="black"/>
              </a:solidFill>
              <a:latin typeface="Calibri" panose="020F0502020204030204"/>
            </a:endParaRPr>
          </a:p>
        </p:txBody>
      </p:sp>
      <p:sp>
        <p:nvSpPr>
          <p:cNvPr id="14" name="Text 18">
            <a:extLst>
              <a:ext uri="{FF2B5EF4-FFF2-40B4-BE49-F238E27FC236}">
                <a16:creationId xmlns:a16="http://schemas.microsoft.com/office/drawing/2014/main" id="{F5F3F92E-7990-15C1-3D57-2C0B83C27CAF}"/>
              </a:ext>
            </a:extLst>
          </p:cNvPr>
          <p:cNvSpPr/>
          <p:nvPr/>
        </p:nvSpPr>
        <p:spPr>
          <a:xfrm>
            <a:off x="5606105" y="2379726"/>
            <a:ext cx="2571750" cy="205740"/>
          </a:xfrm>
          <a:prstGeom prst="rect">
            <a:avLst/>
          </a:prstGeom>
          <a:noFill/>
          <a:ln/>
        </p:spPr>
        <p:txBody>
          <a:bodyPr wrap="square" lIns="0" tIns="0" rIns="0" bIns="0" rtlCol="0" anchor="ctr"/>
          <a:lstStyle/>
          <a:p>
            <a:pPr defTabSz="685800"/>
            <a:r>
              <a:rPr lang="pl-PL" sz="800">
                <a:solidFill>
                  <a:schemeClr val="accent5"/>
                </a:solidFill>
                <a:latin typeface="Poppins"/>
              </a:rPr>
              <a:t>Adding c</a:t>
            </a:r>
            <a:r>
              <a:rPr lang="en-US" sz="800" err="1">
                <a:solidFill>
                  <a:schemeClr val="accent5"/>
                </a:solidFill>
                <a:latin typeface="Poppins"/>
              </a:rPr>
              <a:t>lear</a:t>
            </a:r>
            <a:r>
              <a:rPr lang="en-US" sz="800">
                <a:solidFill>
                  <a:schemeClr val="accent5"/>
                </a:solidFill>
                <a:latin typeface="Poppins"/>
              </a:rPr>
              <a:t> hierarchy</a:t>
            </a:r>
          </a:p>
        </p:txBody>
      </p:sp>
      <p:sp>
        <p:nvSpPr>
          <p:cNvPr id="15" name="Shape 19">
            <a:extLst>
              <a:ext uri="{FF2B5EF4-FFF2-40B4-BE49-F238E27FC236}">
                <a16:creationId xmlns:a16="http://schemas.microsoft.com/office/drawing/2014/main" id="{26338721-91A3-37BC-6F95-97D126C28FEF}"/>
              </a:ext>
            </a:extLst>
          </p:cNvPr>
          <p:cNvSpPr/>
          <p:nvPr/>
        </p:nvSpPr>
        <p:spPr>
          <a:xfrm>
            <a:off x="5606105" y="2599182"/>
            <a:ext cx="2023110" cy="150876"/>
          </a:xfrm>
          <a:prstGeom prst="roundRect">
            <a:avLst>
              <a:gd name="adj" fmla="val 18182"/>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16" name="Shape 20">
            <a:extLst>
              <a:ext uri="{FF2B5EF4-FFF2-40B4-BE49-F238E27FC236}">
                <a16:creationId xmlns:a16="http://schemas.microsoft.com/office/drawing/2014/main" id="{8FD1F199-7E51-F867-C423-3833E4146549}"/>
              </a:ext>
            </a:extLst>
          </p:cNvPr>
          <p:cNvSpPr/>
          <p:nvPr/>
        </p:nvSpPr>
        <p:spPr>
          <a:xfrm>
            <a:off x="5606106" y="2599182"/>
            <a:ext cx="809244" cy="150876"/>
          </a:xfrm>
          <a:prstGeom prst="roundRect">
            <a:avLst>
              <a:gd name="adj" fmla="val 18182"/>
            </a:avLst>
          </a:prstGeom>
          <a:solidFill>
            <a:schemeClr val="tx2"/>
          </a:solidFill>
          <a:ln/>
        </p:spPr>
        <p:txBody>
          <a:bodyPr/>
          <a:lstStyle/>
          <a:p>
            <a:pPr defTabSz="685800"/>
            <a:endParaRPr lang="pl-PL" sz="1350">
              <a:solidFill>
                <a:prstClr val="black"/>
              </a:solidFill>
              <a:latin typeface="Calibri" panose="020F0502020204030204"/>
            </a:endParaRPr>
          </a:p>
        </p:txBody>
      </p:sp>
      <p:sp>
        <p:nvSpPr>
          <p:cNvPr id="17" name="Text 21">
            <a:extLst>
              <a:ext uri="{FF2B5EF4-FFF2-40B4-BE49-F238E27FC236}">
                <a16:creationId xmlns:a16="http://schemas.microsoft.com/office/drawing/2014/main" id="{1C393632-8D28-65C4-8BC7-5D0FC5E36F70}"/>
              </a:ext>
            </a:extLst>
          </p:cNvPr>
          <p:cNvSpPr/>
          <p:nvPr/>
        </p:nvSpPr>
        <p:spPr>
          <a:xfrm>
            <a:off x="5606105" y="3031236"/>
            <a:ext cx="2571750" cy="205740"/>
          </a:xfrm>
          <a:prstGeom prst="rect">
            <a:avLst/>
          </a:prstGeom>
          <a:noFill/>
          <a:ln/>
        </p:spPr>
        <p:txBody>
          <a:bodyPr wrap="square" lIns="0" tIns="0" rIns="0" bIns="0" rtlCol="0" anchor="ctr"/>
          <a:lstStyle/>
          <a:p>
            <a:pPr defTabSz="685800"/>
            <a:r>
              <a:rPr lang="pl-PL" sz="800">
                <a:solidFill>
                  <a:schemeClr val="accent5"/>
                </a:solidFill>
                <a:latin typeface="Poppins"/>
              </a:rPr>
              <a:t>Having chunked </a:t>
            </a:r>
            <a:r>
              <a:rPr lang="en-US" sz="800">
                <a:solidFill>
                  <a:schemeClr val="accent5"/>
                </a:solidFill>
                <a:latin typeface="Poppins"/>
              </a:rPr>
              <a:t>content</a:t>
            </a:r>
          </a:p>
        </p:txBody>
      </p:sp>
      <p:sp>
        <p:nvSpPr>
          <p:cNvPr id="18" name="Shape 22">
            <a:extLst>
              <a:ext uri="{FF2B5EF4-FFF2-40B4-BE49-F238E27FC236}">
                <a16:creationId xmlns:a16="http://schemas.microsoft.com/office/drawing/2014/main" id="{B7309B5E-F637-418A-487B-C387D94A0FD1}"/>
              </a:ext>
            </a:extLst>
          </p:cNvPr>
          <p:cNvSpPr/>
          <p:nvPr/>
        </p:nvSpPr>
        <p:spPr>
          <a:xfrm>
            <a:off x="5606105" y="3250692"/>
            <a:ext cx="2023110" cy="150876"/>
          </a:xfrm>
          <a:prstGeom prst="roundRect">
            <a:avLst>
              <a:gd name="adj" fmla="val 18182"/>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19" name="Shape 23">
            <a:extLst>
              <a:ext uri="{FF2B5EF4-FFF2-40B4-BE49-F238E27FC236}">
                <a16:creationId xmlns:a16="http://schemas.microsoft.com/office/drawing/2014/main" id="{802E76A2-B50B-B487-49A4-56C563AC9438}"/>
              </a:ext>
            </a:extLst>
          </p:cNvPr>
          <p:cNvSpPr/>
          <p:nvPr/>
        </p:nvSpPr>
        <p:spPr>
          <a:xfrm>
            <a:off x="5606104" y="3250692"/>
            <a:ext cx="1258245" cy="150876"/>
          </a:xfrm>
          <a:prstGeom prst="roundRect">
            <a:avLst>
              <a:gd name="adj" fmla="val 18182"/>
            </a:avLst>
          </a:prstGeom>
          <a:solidFill>
            <a:schemeClr val="tx2"/>
          </a:solidFill>
          <a:ln/>
        </p:spPr>
        <p:txBody>
          <a:bodyPr/>
          <a:lstStyle/>
          <a:p>
            <a:pPr defTabSz="685800"/>
            <a:endParaRPr lang="pl-PL" sz="1350">
              <a:solidFill>
                <a:prstClr val="black"/>
              </a:solidFill>
              <a:latin typeface="Calibri" panose="020F0502020204030204"/>
            </a:endParaRPr>
          </a:p>
        </p:txBody>
      </p:sp>
      <p:sp>
        <p:nvSpPr>
          <p:cNvPr id="20" name="Text 24">
            <a:extLst>
              <a:ext uri="{FF2B5EF4-FFF2-40B4-BE49-F238E27FC236}">
                <a16:creationId xmlns:a16="http://schemas.microsoft.com/office/drawing/2014/main" id="{36A0E687-314D-1230-733B-3F6C1BAB91CA}"/>
              </a:ext>
            </a:extLst>
          </p:cNvPr>
          <p:cNvSpPr/>
          <p:nvPr/>
        </p:nvSpPr>
        <p:spPr>
          <a:xfrm>
            <a:off x="5606105" y="3682746"/>
            <a:ext cx="2571750" cy="205740"/>
          </a:xfrm>
          <a:prstGeom prst="rect">
            <a:avLst/>
          </a:prstGeom>
          <a:noFill/>
          <a:ln/>
        </p:spPr>
        <p:txBody>
          <a:bodyPr wrap="square" lIns="0" tIns="0" rIns="0" bIns="0" rtlCol="0" anchor="ctr"/>
          <a:lstStyle/>
          <a:p>
            <a:pPr defTabSz="685800"/>
            <a:r>
              <a:rPr lang="pl-PL" sz="800">
                <a:solidFill>
                  <a:schemeClr val="accent5"/>
                </a:solidFill>
                <a:latin typeface="Poppins"/>
              </a:rPr>
              <a:t>Using plain </a:t>
            </a:r>
            <a:r>
              <a:rPr lang="en-US" sz="800">
                <a:solidFill>
                  <a:schemeClr val="accent5"/>
                </a:solidFill>
                <a:latin typeface="Poppins"/>
              </a:rPr>
              <a:t>language</a:t>
            </a:r>
          </a:p>
        </p:txBody>
      </p:sp>
      <p:sp>
        <p:nvSpPr>
          <p:cNvPr id="21" name="Shape 25">
            <a:extLst>
              <a:ext uri="{FF2B5EF4-FFF2-40B4-BE49-F238E27FC236}">
                <a16:creationId xmlns:a16="http://schemas.microsoft.com/office/drawing/2014/main" id="{2D5CFE7D-09DE-5335-A757-D84B9EDB5A91}"/>
              </a:ext>
            </a:extLst>
          </p:cNvPr>
          <p:cNvSpPr/>
          <p:nvPr/>
        </p:nvSpPr>
        <p:spPr>
          <a:xfrm>
            <a:off x="5606105" y="3902202"/>
            <a:ext cx="2023110" cy="150876"/>
          </a:xfrm>
          <a:prstGeom prst="roundRect">
            <a:avLst>
              <a:gd name="adj" fmla="val 18182"/>
            </a:avLst>
          </a:prstGeom>
          <a:solidFill>
            <a:schemeClr val="accent5"/>
          </a:solidFill>
          <a:ln/>
        </p:spPr>
        <p:txBody>
          <a:bodyPr/>
          <a:lstStyle/>
          <a:p>
            <a:pPr defTabSz="685800"/>
            <a:endParaRPr lang="pl-PL" sz="1350">
              <a:solidFill>
                <a:prstClr val="black"/>
              </a:solidFill>
              <a:latin typeface="Calibri" panose="020F0502020204030204"/>
            </a:endParaRPr>
          </a:p>
        </p:txBody>
      </p:sp>
      <p:sp>
        <p:nvSpPr>
          <p:cNvPr id="22" name="Shape 26">
            <a:extLst>
              <a:ext uri="{FF2B5EF4-FFF2-40B4-BE49-F238E27FC236}">
                <a16:creationId xmlns:a16="http://schemas.microsoft.com/office/drawing/2014/main" id="{46766685-97D4-1FC1-F1F5-0A388D54ABAF}"/>
              </a:ext>
            </a:extLst>
          </p:cNvPr>
          <p:cNvSpPr/>
          <p:nvPr/>
        </p:nvSpPr>
        <p:spPr>
          <a:xfrm>
            <a:off x="5606104" y="3902202"/>
            <a:ext cx="1820799" cy="150876"/>
          </a:xfrm>
          <a:prstGeom prst="roundRect">
            <a:avLst>
              <a:gd name="adj" fmla="val 18182"/>
            </a:avLst>
          </a:prstGeom>
          <a:solidFill>
            <a:schemeClr val="tx2"/>
          </a:solidFill>
          <a:ln/>
        </p:spPr>
        <p:txBody>
          <a:bodyPr/>
          <a:lstStyle/>
          <a:p>
            <a:pPr defTabSz="685800"/>
            <a:endParaRPr lang="pl-PL" sz="1350">
              <a:solidFill>
                <a:prstClr val="black"/>
              </a:solidFill>
              <a:latin typeface="Calibri" panose="020F0502020204030204"/>
            </a:endParaRPr>
          </a:p>
        </p:txBody>
      </p:sp>
      <p:sp>
        <p:nvSpPr>
          <p:cNvPr id="23" name="Text 27">
            <a:extLst>
              <a:ext uri="{FF2B5EF4-FFF2-40B4-BE49-F238E27FC236}">
                <a16:creationId xmlns:a16="http://schemas.microsoft.com/office/drawing/2014/main" id="{3321DC0D-60D9-20FA-F187-537FE750CEE5}"/>
              </a:ext>
            </a:extLst>
          </p:cNvPr>
          <p:cNvSpPr/>
          <p:nvPr/>
        </p:nvSpPr>
        <p:spPr>
          <a:xfrm>
            <a:off x="5574559" y="4029314"/>
            <a:ext cx="2571750" cy="548640"/>
          </a:xfrm>
          <a:prstGeom prst="rect">
            <a:avLst/>
          </a:prstGeom>
          <a:noFill/>
          <a:ln/>
        </p:spPr>
        <p:txBody>
          <a:bodyPr wrap="square" lIns="0" tIns="0" rIns="0" bIns="0" rtlCol="0" anchor="ctr"/>
          <a:lstStyle/>
          <a:p>
            <a:pPr defTabSz="685800"/>
            <a:r>
              <a:rPr lang="en-US" sz="800">
                <a:solidFill>
                  <a:schemeClr val="accent5"/>
                </a:solidFill>
                <a:latin typeface="Poppins"/>
              </a:rPr>
              <a:t>Each principle compounds </a:t>
            </a:r>
            <a:r>
              <a:rPr lang="pl-PL" sz="800">
                <a:solidFill>
                  <a:schemeClr val="accent5"/>
                </a:solidFill>
                <a:latin typeface="Poppins"/>
              </a:rPr>
              <a:t>-</a:t>
            </a:r>
            <a:r>
              <a:rPr lang="en-US" sz="800">
                <a:solidFill>
                  <a:schemeClr val="accent5"/>
                </a:solidFill>
                <a:latin typeface="Poppins"/>
              </a:rPr>
              <a:t> hierarchy, chunking, and plain language together cut extraction effort the most.</a:t>
            </a:r>
          </a:p>
        </p:txBody>
      </p:sp>
    </p:spTree>
    <p:extLst>
      <p:ext uri="{BB962C8B-B14F-4D97-AF65-F5344CB8AC3E}">
        <p14:creationId xmlns:p14="http://schemas.microsoft.com/office/powerpoint/2010/main" val="8754691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A3D5-8790-962F-FEBE-7BAEB40292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64FAF2-4CB4-14D5-272F-42A09B3F553C}"/>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3" name="Text 1">
            <a:extLst>
              <a:ext uri="{FF2B5EF4-FFF2-40B4-BE49-F238E27FC236}">
                <a16:creationId xmlns:a16="http://schemas.microsoft.com/office/drawing/2014/main" id="{F4ACD356-8831-576D-3A86-24E21EAA1CCD}"/>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2200" i="0" u="none" strike="noStrike" kern="1200" cap="none" spc="0" normalizeH="0" baseline="0" noProof="0">
                <a:ln>
                  <a:noFill/>
                </a:ln>
                <a:solidFill>
                  <a:srgbClr val="E7FFD9"/>
                </a:solidFill>
                <a:effectLst/>
                <a:uLnTx/>
                <a:uFillTx/>
                <a:latin typeface="Poppins"/>
                <a:ea typeface="+mn-ea"/>
                <a:cs typeface="Poppins"/>
              </a:rPr>
              <a:t>Schneider Electric Templates</a:t>
            </a:r>
            <a:endParaRPr kumimoji="0" lang="es-ES" sz="2200" i="0" u="none" strike="noStrike" kern="1200" cap="none" spc="0" normalizeH="0" baseline="0" noProof="0">
              <a:ln>
                <a:noFill/>
              </a:ln>
              <a:solidFill>
                <a:srgbClr val="E7FFD9"/>
              </a:solidFill>
              <a:effectLst/>
              <a:uLnTx/>
              <a:uFillTx/>
              <a:latin typeface="Poppins"/>
              <a:ea typeface="+mn-ea"/>
              <a:cs typeface="Arial"/>
            </a:endParaRPr>
          </a:p>
        </p:txBody>
      </p:sp>
      <p:sp>
        <p:nvSpPr>
          <p:cNvPr id="4" name="Text 2">
            <a:extLst>
              <a:ext uri="{FF2B5EF4-FFF2-40B4-BE49-F238E27FC236}">
                <a16:creationId xmlns:a16="http://schemas.microsoft.com/office/drawing/2014/main" id="{0C30257C-EE87-37CA-E84E-56F9069A834F}"/>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100">
                <a:solidFill>
                  <a:srgbClr val="E7FFD9"/>
                </a:solidFill>
                <a:latin typeface="Poppins"/>
                <a:ea typeface="+mn-lt"/>
                <a:cs typeface="Poppins"/>
              </a:rPr>
              <a:t>Links to SE UX template optimized for GEO.</a:t>
            </a:r>
            <a:endParaRPr kumimoji="0" lang="en-US" sz="1800" b="0" i="0" u="none" strike="noStrike" kern="1200" cap="none" spc="0" normalizeH="0" baseline="0" noProof="0">
              <a:ln>
                <a:noFill/>
              </a:ln>
              <a:solidFill>
                <a:srgbClr val="E7FFD9"/>
              </a:solidFill>
              <a:effectLst/>
              <a:uLnTx/>
              <a:uFillTx/>
              <a:latin typeface="Poppins"/>
              <a:ea typeface="+mn-ea"/>
              <a:cs typeface="+mn-cs"/>
            </a:endParaRPr>
          </a:p>
        </p:txBody>
      </p:sp>
      <p:sp>
        <p:nvSpPr>
          <p:cNvPr id="5" name="Rectangle 4">
            <a:extLst>
              <a:ext uri="{FF2B5EF4-FFF2-40B4-BE49-F238E27FC236}">
                <a16:creationId xmlns:a16="http://schemas.microsoft.com/office/drawing/2014/main" id="{9C5F41D3-181F-58A3-D0E6-7279D200BFB2}"/>
              </a:ext>
            </a:extLst>
          </p:cNvPr>
          <p:cNvSpPr/>
          <p:nvPr/>
        </p:nvSpPr>
        <p:spPr>
          <a:xfrm>
            <a:off x="5075233" y="1146249"/>
            <a:ext cx="2190200" cy="3412069"/>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R="0" lvl="0" algn="l" defTabSz="457184" rtl="0" eaLnBrk="1" fontAlgn="auto" latinLnBrk="0" hangingPunct="1">
              <a:lnSpc>
                <a:spcPct val="100000"/>
              </a:lnSpc>
              <a:spcBef>
                <a:spcPts val="0"/>
              </a:spcBef>
              <a:spcAft>
                <a:spcPts val="300"/>
              </a:spcAft>
              <a:buClrTx/>
              <a:buSzTx/>
              <a:tabLst/>
              <a:defRPr/>
            </a:pPr>
            <a:r>
              <a:rPr lang="pl-PL" sz="1000" b="1">
                <a:solidFill>
                  <a:schemeClr val="accent5"/>
                </a:solidFill>
                <a:latin typeface="Poppins"/>
              </a:rPr>
              <a:t>I</a:t>
            </a:r>
            <a:r>
              <a:rPr kumimoji="0" lang="pl-PL" sz="1000" b="1" i="0" u="none" strike="noStrike" kern="1200" cap="none" spc="0" normalizeH="0" baseline="0" noProof="0">
                <a:ln>
                  <a:noFill/>
                </a:ln>
                <a:solidFill>
                  <a:schemeClr val="accent5"/>
                </a:solidFill>
                <a:effectLst/>
                <a:uLnTx/>
                <a:uFillTx/>
                <a:latin typeface="Poppins"/>
                <a:ea typeface="+mn-ea"/>
                <a:cs typeface="+mn-cs"/>
              </a:rPr>
              <a:t>mportant: </a:t>
            </a:r>
            <a:r>
              <a:rPr kumimoji="0" lang="en-US" sz="1000" i="0" u="none" strike="noStrike" kern="1200" cap="none" spc="0" normalizeH="0" baseline="0" noProof="0">
                <a:ln>
                  <a:noFill/>
                </a:ln>
                <a:solidFill>
                  <a:schemeClr val="accent5"/>
                </a:solidFill>
                <a:effectLst/>
                <a:uLnTx/>
                <a:uFillTx/>
                <a:latin typeface="Poppins"/>
                <a:ea typeface="+mn-ea"/>
                <a:cs typeface="+mn-cs"/>
              </a:rPr>
              <a:t>pages can have different goals, so don’t always assume you can cover all principles in one page. It can be trickly to get </a:t>
            </a:r>
            <a:r>
              <a:rPr kumimoji="0" lang="en-US" sz="1000" i="0" u="none" strike="noStrike" kern="1200" cap="none" spc="0" normalizeH="0" baseline="0" noProof="0" err="1">
                <a:ln>
                  <a:noFill/>
                </a:ln>
                <a:solidFill>
                  <a:schemeClr val="accent5"/>
                </a:solidFill>
                <a:effectLst/>
                <a:uLnTx/>
                <a:uFillTx/>
                <a:latin typeface="Poppins"/>
                <a:ea typeface="+mn-ea"/>
                <a:cs typeface="+mn-cs"/>
              </a:rPr>
              <a:t>optimised</a:t>
            </a:r>
            <a:r>
              <a:rPr kumimoji="0" lang="en-US" sz="1000" i="0" u="none" strike="noStrike" kern="1200" cap="none" spc="0" normalizeH="0" baseline="0" noProof="0">
                <a:ln>
                  <a:noFill/>
                </a:ln>
                <a:solidFill>
                  <a:schemeClr val="accent5"/>
                </a:solidFill>
                <a:effectLst/>
                <a:uLnTx/>
                <a:uFillTx/>
                <a:latin typeface="Poppins"/>
                <a:ea typeface="+mn-ea"/>
                <a:cs typeface="+mn-cs"/>
              </a:rPr>
              <a:t> results for multiple principles.</a:t>
            </a:r>
            <a:endParaRPr kumimoji="0" lang="pl-PL" sz="1000" i="0" u="none" strike="noStrike" kern="1200" cap="none" spc="0" normalizeH="0" baseline="0" noProof="0">
              <a:ln>
                <a:noFill/>
              </a:ln>
              <a:solidFill>
                <a:schemeClr val="accent5"/>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endParaRPr lang="pl-PL" sz="1000">
              <a:solidFill>
                <a:schemeClr val="accent5"/>
              </a:solidFill>
              <a:latin typeface="Poppins"/>
            </a:endParaRPr>
          </a:p>
          <a:p>
            <a:pPr marR="0" lvl="0" algn="l" defTabSz="457184" rtl="0" eaLnBrk="1" fontAlgn="auto" latinLnBrk="0" hangingPunct="1">
              <a:lnSpc>
                <a:spcPct val="100000"/>
              </a:lnSpc>
              <a:spcBef>
                <a:spcPts val="0"/>
              </a:spcBef>
              <a:spcAft>
                <a:spcPts val="300"/>
              </a:spcAft>
              <a:buClrTx/>
              <a:buSzTx/>
              <a:tabLst/>
              <a:defRPr/>
            </a:pPr>
            <a:r>
              <a:rPr kumimoji="0" lang="pl-PL" sz="1000" b="1" u="none" strike="noStrike" kern="1200" cap="none" spc="0" normalizeH="0" baseline="0" noProof="0">
                <a:ln>
                  <a:noFill/>
                </a:ln>
                <a:solidFill>
                  <a:schemeClr val="accent5"/>
                </a:solidFill>
                <a:effectLst/>
                <a:uLnTx/>
                <a:uFillTx/>
                <a:latin typeface="Poppins"/>
                <a:ea typeface="+mn-ea"/>
                <a:cs typeface="+mn-cs"/>
              </a:rPr>
              <a:t>Example: </a:t>
            </a:r>
            <a:r>
              <a:rPr kumimoji="0" lang="en-US" sz="1000" i="0" u="none" strike="noStrike" kern="1200" cap="none" spc="0" normalizeH="0" baseline="0" noProof="0">
                <a:ln>
                  <a:noFill/>
                </a:ln>
                <a:solidFill>
                  <a:schemeClr val="accent5"/>
                </a:solidFill>
                <a:effectLst/>
                <a:uLnTx/>
                <a:uFillTx/>
                <a:latin typeface="Poppins"/>
                <a:ea typeface="+mn-ea"/>
                <a:cs typeface="+mn-cs"/>
              </a:rPr>
              <a:t> if you want to build a page for AI visibility and include conversion elements, it could harm your main goal (AI visibility). Focus or the main goal to avoid risking a page that doesn’t perform well in any of the intended areas.</a:t>
            </a:r>
          </a:p>
        </p:txBody>
      </p:sp>
      <p:sp>
        <p:nvSpPr>
          <p:cNvPr id="6" name="Rectangle 5">
            <a:extLst>
              <a:ext uri="{FF2B5EF4-FFF2-40B4-BE49-F238E27FC236}">
                <a16:creationId xmlns:a16="http://schemas.microsoft.com/office/drawing/2014/main" id="{745B8B45-53D5-D674-DF2E-5CE20A643F32}"/>
              </a:ext>
            </a:extLst>
          </p:cNvPr>
          <p:cNvSpPr/>
          <p:nvPr/>
        </p:nvSpPr>
        <p:spPr>
          <a:xfrm>
            <a:off x="342900" y="1146249"/>
            <a:ext cx="4514406" cy="3407463"/>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R="0" lvl="0" algn="l" defTabSz="457184" rtl="0" eaLnBrk="1" fontAlgn="auto" latinLnBrk="0" hangingPunct="1">
              <a:lnSpc>
                <a:spcPct val="100000"/>
              </a:lnSpc>
              <a:spcBef>
                <a:spcPts val="0"/>
              </a:spcBef>
              <a:spcAft>
                <a:spcPts val="300"/>
              </a:spcAft>
              <a:buClrTx/>
              <a:buSzTx/>
              <a:tabLst/>
              <a:defRPr/>
            </a:pPr>
            <a:r>
              <a:rPr lang="pl-PL" sz="1000">
                <a:solidFill>
                  <a:schemeClr val="tx1"/>
                </a:solidFill>
                <a:latin typeface="Poppins"/>
              </a:rPr>
              <a:t>Content and UX Team are creating multiple optimized UX templates for different goals and types of pages. There are 3 options for GEO optimized template usage to achieve different goals:</a:t>
            </a:r>
          </a:p>
          <a:p>
            <a:pPr marR="0" lvl="0" algn="l" defTabSz="457184" rtl="0" eaLnBrk="1" fontAlgn="auto" latinLnBrk="0" hangingPunct="1">
              <a:lnSpc>
                <a:spcPct val="100000"/>
              </a:lnSpc>
              <a:spcBef>
                <a:spcPts val="0"/>
              </a:spcBef>
              <a:spcAft>
                <a:spcPts val="300"/>
              </a:spcAft>
              <a:buClrTx/>
              <a:buSzTx/>
              <a:tabLs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pl-PL" sz="1000" b="1">
                <a:solidFill>
                  <a:schemeClr val="tx1"/>
                </a:solidFill>
                <a:latin typeface="Poppins"/>
                <a:hlinkClick r:id="rId3"/>
              </a:rPr>
              <a:t>GEO Power Page Template</a:t>
            </a:r>
            <a:r>
              <a:rPr lang="pl-PL" sz="1000">
                <a:solidFill>
                  <a:schemeClr val="tx1"/>
                </a:solidFill>
                <a:latin typeface="Poppins"/>
                <a:hlinkClick r:id="rId3"/>
              </a:rPr>
              <a:t> </a:t>
            </a:r>
            <a:r>
              <a:rPr lang="pl-PL" sz="1000">
                <a:solidFill>
                  <a:schemeClr val="tx1"/>
                </a:solidFill>
                <a:latin typeface="Poppins"/>
              </a:rPr>
              <a:t>– </a:t>
            </a:r>
            <a:r>
              <a:rPr lang="en-AU" sz="1000">
                <a:solidFill>
                  <a:schemeClr val="tx1"/>
                </a:solidFill>
                <a:latin typeface="Poppins"/>
              </a:rPr>
              <a:t>a </a:t>
            </a:r>
            <a:r>
              <a:rPr lang="pl-PL" sz="1000">
                <a:solidFill>
                  <a:schemeClr val="tx1"/>
                </a:solidFill>
                <a:latin typeface="Poppins"/>
              </a:rPr>
              <a:t>standalone page focused on enhanc</a:t>
            </a:r>
            <a:r>
              <a:rPr lang="en-AU" sz="1000">
                <a:solidFill>
                  <a:schemeClr val="tx1"/>
                </a:solidFill>
                <a:latin typeface="Poppins"/>
              </a:rPr>
              <a:t>ed</a:t>
            </a:r>
            <a:r>
              <a:rPr lang="pl-PL" sz="1000">
                <a:solidFill>
                  <a:schemeClr val="tx1"/>
                </a:solidFill>
                <a:latin typeface="Poppins"/>
              </a:rPr>
              <a:t> AI visibility.</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pl-PL" sz="1000" b="1" i="0" u="none" strike="noStrike" kern="1200" cap="none" spc="0" normalizeH="0" baseline="0" noProof="0">
                <a:ln>
                  <a:noFill/>
                </a:ln>
                <a:solidFill>
                  <a:schemeClr val="tx1"/>
                </a:solidFill>
                <a:effectLst/>
                <a:uLnTx/>
                <a:uFillTx/>
                <a:latin typeface="Poppins"/>
                <a:hlinkClick r:id="rId3"/>
              </a:rPr>
              <a:t>GEO </a:t>
            </a:r>
            <a:r>
              <a:rPr lang="pl-PL" sz="1000" b="1">
                <a:solidFill>
                  <a:schemeClr val="tx1"/>
                </a:solidFill>
                <a:latin typeface="Poppins"/>
                <a:hlinkClick r:id="rId3"/>
              </a:rPr>
              <a:t>Optimized Template </a:t>
            </a:r>
            <a:r>
              <a:rPr lang="pl-PL" sz="1000">
                <a:solidFill>
                  <a:schemeClr val="tx1"/>
                </a:solidFill>
                <a:latin typeface="Poppins"/>
              </a:rPr>
              <a:t>– </a:t>
            </a:r>
            <a:r>
              <a:rPr lang="en-AU" sz="1000">
                <a:solidFill>
                  <a:schemeClr val="tx1"/>
                </a:solidFill>
                <a:latin typeface="Poppins"/>
              </a:rPr>
              <a:t>a </a:t>
            </a:r>
            <a:r>
              <a:rPr lang="pl-PL" sz="1000">
                <a:solidFill>
                  <a:schemeClr val="tx1"/>
                </a:solidFill>
                <a:latin typeface="Poppins"/>
              </a:rPr>
              <a:t>page that focuses on </a:t>
            </a:r>
            <a:r>
              <a:rPr lang="en-AU" sz="1000">
                <a:solidFill>
                  <a:schemeClr val="tx1"/>
                </a:solidFill>
                <a:latin typeface="Poppins"/>
              </a:rPr>
              <a:t>a </a:t>
            </a:r>
            <a:r>
              <a:rPr lang="pl-PL" sz="1000">
                <a:solidFill>
                  <a:schemeClr val="tx1"/>
                </a:solidFill>
                <a:latin typeface="Poppins"/>
              </a:rPr>
              <a:t>different goal (e.g. conversion)</a:t>
            </a:r>
            <a:r>
              <a:rPr lang="en-AU" sz="1000">
                <a:solidFill>
                  <a:schemeClr val="tx1"/>
                </a:solidFill>
                <a:latin typeface="Poppins"/>
              </a:rPr>
              <a:t>,</a:t>
            </a:r>
            <a:r>
              <a:rPr lang="pl-PL" sz="1000">
                <a:solidFill>
                  <a:schemeClr val="tx1"/>
                </a:solidFill>
                <a:latin typeface="Poppins"/>
              </a:rPr>
              <a:t> </a:t>
            </a:r>
            <a:r>
              <a:rPr lang="en-AU" sz="1000">
                <a:solidFill>
                  <a:schemeClr val="tx1"/>
                </a:solidFill>
                <a:latin typeface="Poppins"/>
              </a:rPr>
              <a:t>while</a:t>
            </a:r>
            <a:r>
              <a:rPr lang="pl-PL" sz="1000">
                <a:solidFill>
                  <a:schemeClr val="tx1"/>
                </a:solidFill>
                <a:latin typeface="Poppins"/>
              </a:rPr>
              <a:t> keeping key GEO elements.</a:t>
            </a:r>
          </a:p>
          <a:p>
            <a:pPr marL="171450" marR="0" lvl="0" indent="-171450" algn="l" defTabSz="457184"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pl-PL" sz="1000" b="1" i="0" u="none" strike="noStrike" kern="1200" cap="none" spc="0" normalizeH="0" baseline="0" noProof="0">
                <a:ln>
                  <a:noFill/>
                </a:ln>
                <a:solidFill>
                  <a:schemeClr val="tx1"/>
                </a:solidFill>
                <a:effectLst/>
                <a:uLnTx/>
                <a:uFillTx/>
                <a:latin typeface="Poppins"/>
                <a:ea typeface="+mn-ea"/>
                <a:cs typeface="+mn-cs"/>
              </a:rPr>
              <a:t>GEO Power Couple</a:t>
            </a:r>
            <a:r>
              <a:rPr lang="pl-PL" sz="1000" b="1">
                <a:solidFill>
                  <a:schemeClr val="tx1"/>
                </a:solidFill>
                <a:latin typeface="Poppins"/>
              </a:rPr>
              <a:t> </a:t>
            </a:r>
            <a:r>
              <a:rPr lang="pl-PL" sz="1000">
                <a:solidFill>
                  <a:schemeClr val="tx1"/>
                </a:solidFill>
                <a:latin typeface="Poppins"/>
              </a:rPr>
              <a:t>– </a:t>
            </a:r>
            <a:r>
              <a:rPr lang="en-US" sz="1000">
                <a:solidFill>
                  <a:schemeClr val="tx1"/>
                </a:solidFill>
                <a:latin typeface="Poppins"/>
              </a:rPr>
              <a:t>a fully GEO optimized page, targeting both an AI model (digestibility) and the human reader (conversion) as targeted users.</a:t>
            </a:r>
            <a:r>
              <a:rPr lang="pl-PL" sz="1000">
                <a:solidFill>
                  <a:schemeClr val="tx1"/>
                </a:solidFill>
                <a:latin typeface="Poppins"/>
              </a:rPr>
              <a:t> This strategy uses </a:t>
            </a:r>
            <a:r>
              <a:rPr lang="pl-PL" sz="1000">
                <a:solidFill>
                  <a:schemeClr val="tx1"/>
                </a:solidFill>
                <a:latin typeface="Poppins"/>
                <a:hlinkClick r:id="rId3"/>
              </a:rPr>
              <a:t>GEO Power Page Template</a:t>
            </a:r>
            <a:r>
              <a:rPr lang="pl-PL" sz="1000">
                <a:solidFill>
                  <a:schemeClr val="tx1"/>
                </a:solidFill>
                <a:latin typeface="Poppins"/>
              </a:rPr>
              <a:t>.</a:t>
            </a:r>
          </a:p>
          <a:p>
            <a:pPr marR="0" lvl="0" algn="l" defTabSz="457184" rtl="0" eaLnBrk="1" fontAlgn="auto" latinLnBrk="0" hangingPunct="1">
              <a:lnSpc>
                <a:spcPct val="100000"/>
              </a:lnSpc>
              <a:spcBef>
                <a:spcPts val="0"/>
              </a:spcBef>
              <a:spcAft>
                <a:spcPts val="300"/>
              </a:spcAft>
              <a:buClrTx/>
              <a:buSzTx/>
              <a:tabLst/>
              <a:defRPr/>
            </a:pPr>
            <a:endParaRPr kumimoji="0" lang="pl-PL" sz="1000" i="0" u="none" strike="noStrike" kern="1200" cap="none" spc="0" normalizeH="0" baseline="0" noProof="0">
              <a:ln>
                <a:noFill/>
              </a:ln>
              <a:solidFill>
                <a:schemeClr val="tx1"/>
              </a:solidFill>
              <a:effectLst/>
              <a:uLnTx/>
              <a:uFillTx/>
              <a:latin typeface="Poppins"/>
              <a:ea typeface="+mn-ea"/>
              <a:cs typeface="+mn-cs"/>
            </a:endParaRPr>
          </a:p>
          <a:p>
            <a:pPr marR="0" lvl="0" algn="l" defTabSz="457184" rtl="0" eaLnBrk="1" fontAlgn="auto" latinLnBrk="0" hangingPunct="1">
              <a:lnSpc>
                <a:spcPct val="100000"/>
              </a:lnSpc>
              <a:spcBef>
                <a:spcPts val="0"/>
              </a:spcBef>
              <a:spcAft>
                <a:spcPts val="300"/>
              </a:spcAft>
              <a:buClrTx/>
              <a:buSzTx/>
              <a:tabLst/>
              <a:defRPr/>
            </a:pPr>
            <a:r>
              <a:rPr kumimoji="0" lang="pl-PL" sz="1000" i="0" u="none" strike="noStrike" kern="1200" cap="none" spc="0" normalizeH="0" baseline="0" noProof="0">
                <a:ln>
                  <a:noFill/>
                </a:ln>
                <a:solidFill>
                  <a:schemeClr val="tx1"/>
                </a:solidFill>
                <a:effectLst/>
                <a:uLnTx/>
                <a:uFillTx/>
                <a:latin typeface="Poppins"/>
                <a:ea typeface="+mn-ea"/>
                <a:cs typeface="+mn-cs"/>
              </a:rPr>
              <a:t>Above pages are editorial page templates optimized for GEO</a:t>
            </a:r>
            <a:r>
              <a:rPr kumimoji="0" lang="en-AU" sz="1000" i="0" u="none" strike="noStrike" kern="1200" cap="none" spc="0" normalizeH="0" baseline="0" noProof="0">
                <a:ln>
                  <a:noFill/>
                </a:ln>
                <a:solidFill>
                  <a:schemeClr val="tx1"/>
                </a:solidFill>
                <a:effectLst/>
                <a:uLnTx/>
                <a:uFillTx/>
                <a:latin typeface="Poppins"/>
                <a:ea typeface="+mn-ea"/>
                <a:cs typeface="+mn-cs"/>
              </a:rPr>
              <a:t>. W</a:t>
            </a:r>
            <a:r>
              <a:rPr kumimoji="0" lang="pl-PL" sz="1000" i="0" u="none" strike="noStrike" kern="1200" cap="none" spc="0" normalizeH="0" baseline="0" noProof="0">
                <a:ln>
                  <a:noFill/>
                </a:ln>
                <a:solidFill>
                  <a:schemeClr val="tx1"/>
                </a:solidFill>
                <a:effectLst/>
                <a:uLnTx/>
                <a:uFillTx/>
                <a:latin typeface="Poppins"/>
                <a:ea typeface="+mn-ea"/>
                <a:cs typeface="+mn-cs"/>
              </a:rPr>
              <a:t>e can optimize content for GEO on other pages like </a:t>
            </a:r>
            <a:r>
              <a:rPr kumimoji="0" lang="pl-PL" sz="1000" i="0" u="none" strike="noStrike" kern="1200" cap="none" spc="0" normalizeH="0" baseline="0" noProof="0">
                <a:ln>
                  <a:noFill/>
                </a:ln>
                <a:solidFill>
                  <a:schemeClr val="tx1"/>
                </a:solidFill>
                <a:effectLst/>
                <a:uLnTx/>
                <a:uFillTx/>
                <a:latin typeface="Poppins"/>
                <a:ea typeface="+mn-ea"/>
                <a:cs typeface="+mn-cs"/>
                <a:hlinkClick r:id="rId4"/>
              </a:rPr>
              <a:t>Product Destails Page</a:t>
            </a:r>
            <a:r>
              <a:rPr kumimoji="0" lang="pl-PL" sz="1000" i="0" u="none" strike="noStrike" kern="1200" cap="none" spc="0" normalizeH="0" baseline="0" noProof="0">
                <a:ln>
                  <a:noFill/>
                </a:ln>
                <a:solidFill>
                  <a:schemeClr val="tx1"/>
                </a:solidFill>
                <a:effectLst/>
                <a:uLnTx/>
                <a:uFillTx/>
                <a:latin typeface="Poppins"/>
                <a:ea typeface="+mn-ea"/>
                <a:cs typeface="+mn-cs"/>
              </a:rPr>
              <a:t>, </a:t>
            </a:r>
            <a:r>
              <a:rPr kumimoji="0" lang="pl-PL" sz="1000" i="0" u="none" strike="noStrike" kern="1200" cap="none" spc="0" normalizeH="0" baseline="0" noProof="0">
                <a:ln>
                  <a:noFill/>
                </a:ln>
                <a:solidFill>
                  <a:schemeClr val="tx1"/>
                </a:solidFill>
                <a:effectLst/>
                <a:uLnTx/>
                <a:uFillTx/>
                <a:latin typeface="Poppins"/>
                <a:ea typeface="+mn-ea"/>
                <a:cs typeface="+mn-cs"/>
                <a:hlinkClick r:id="rId4"/>
              </a:rPr>
              <a:t>Product Range Page</a:t>
            </a:r>
            <a:r>
              <a:rPr kumimoji="0" lang="pl-PL" sz="1000" i="0" u="none" strike="noStrike" kern="1200" cap="none" spc="0" normalizeH="0" baseline="0" noProof="0">
                <a:ln>
                  <a:noFill/>
                </a:ln>
                <a:solidFill>
                  <a:schemeClr val="tx1"/>
                </a:solidFill>
                <a:effectLst/>
                <a:uLnTx/>
                <a:uFillTx/>
                <a:latin typeface="Poppins"/>
                <a:ea typeface="+mn-ea"/>
                <a:cs typeface="+mn-cs"/>
              </a:rPr>
              <a:t>, </a:t>
            </a:r>
            <a:r>
              <a:rPr kumimoji="0" lang="pl-PL" sz="1000" i="0" u="none" strike="noStrike" kern="1200" cap="none" spc="0" normalizeH="0" baseline="0" noProof="0">
                <a:ln>
                  <a:noFill/>
                </a:ln>
                <a:solidFill>
                  <a:schemeClr val="tx1"/>
                </a:solidFill>
                <a:effectLst/>
                <a:uLnTx/>
                <a:uFillTx/>
                <a:latin typeface="Poppins"/>
                <a:ea typeface="+mn-ea"/>
                <a:cs typeface="+mn-cs"/>
                <a:hlinkClick r:id="rId4"/>
              </a:rPr>
              <a:t>Product Category Page</a:t>
            </a:r>
            <a:r>
              <a:rPr kumimoji="0" lang="pl-PL" sz="1000" i="0" u="none" strike="noStrike" kern="1200" cap="none" spc="0" normalizeH="0" baseline="0" noProof="0">
                <a:ln>
                  <a:noFill/>
                </a:ln>
                <a:solidFill>
                  <a:schemeClr val="tx1"/>
                </a:solidFill>
                <a:effectLst/>
                <a:uLnTx/>
                <a:uFillTx/>
                <a:latin typeface="Poppins"/>
                <a:ea typeface="+mn-ea"/>
                <a:cs typeface="+mn-cs"/>
              </a:rPr>
              <a:t>, </a:t>
            </a:r>
            <a:r>
              <a:rPr kumimoji="0" lang="pl-PL" sz="1000" i="0" u="none" strike="noStrike" kern="1200" cap="none" spc="0" normalizeH="0" baseline="0" noProof="0">
                <a:ln>
                  <a:noFill/>
                </a:ln>
                <a:solidFill>
                  <a:schemeClr val="tx1"/>
                </a:solidFill>
                <a:effectLst/>
                <a:uLnTx/>
                <a:uFillTx/>
                <a:latin typeface="Poppins"/>
                <a:ea typeface="+mn-ea"/>
                <a:cs typeface="+mn-cs"/>
                <a:hlinkClick r:id="rId4"/>
              </a:rPr>
              <a:t>Supercharge Experience Page</a:t>
            </a:r>
            <a:r>
              <a:rPr kumimoji="0" lang="pl-PL" sz="1000" i="0" u="none" strike="noStrike" kern="1200" cap="none" spc="0" normalizeH="0" baseline="0" noProof="0">
                <a:ln>
                  <a:noFill/>
                </a:ln>
                <a:solidFill>
                  <a:schemeClr val="tx1"/>
                </a:solidFill>
                <a:effectLst/>
                <a:uLnTx/>
                <a:uFillTx/>
                <a:latin typeface="Poppins"/>
                <a:ea typeface="+mn-ea"/>
                <a:cs typeface="+mn-cs"/>
              </a:rPr>
              <a:t>, </a:t>
            </a:r>
            <a:r>
              <a:rPr kumimoji="0" lang="pl-PL" sz="1000" i="0" u="none" strike="noStrike" kern="1200" cap="none" spc="0" normalizeH="0" baseline="0" noProof="0">
                <a:ln>
                  <a:noFill/>
                </a:ln>
                <a:solidFill>
                  <a:schemeClr val="tx1"/>
                </a:solidFill>
                <a:effectLst/>
                <a:uLnTx/>
                <a:uFillTx/>
                <a:latin typeface="Poppins"/>
                <a:ea typeface="+mn-ea"/>
                <a:cs typeface="+mn-cs"/>
                <a:hlinkClick r:id="rId5"/>
              </a:rPr>
              <a:t>CaaS Page</a:t>
            </a:r>
            <a:r>
              <a:rPr kumimoji="0" lang="pl-PL" sz="1000" i="0" u="none" strike="noStrike" kern="1200" cap="none" spc="0" normalizeH="0" baseline="0" noProof="0">
                <a:ln>
                  <a:noFill/>
                </a:ln>
                <a:solidFill>
                  <a:schemeClr val="tx1"/>
                </a:solidFill>
                <a:effectLst/>
                <a:uLnTx/>
                <a:uFillTx/>
                <a:latin typeface="Poppins"/>
                <a:ea typeface="+mn-ea"/>
                <a:cs typeface="+mn-cs"/>
              </a:rPr>
              <a:t>, and more. </a:t>
            </a:r>
            <a:r>
              <a:rPr kumimoji="0" lang="en-US" sz="1000" i="0" u="none" strike="noStrike" kern="1200" cap="none" spc="0" normalizeH="0" baseline="0" noProof="0">
                <a:ln>
                  <a:noFill/>
                </a:ln>
                <a:solidFill>
                  <a:schemeClr val="tx1"/>
                </a:solidFill>
                <a:effectLst/>
                <a:uLnTx/>
                <a:uFillTx/>
                <a:latin typeface="Poppins"/>
                <a:ea typeface="+mn-ea"/>
                <a:cs typeface="+mn-cs"/>
              </a:rPr>
              <a:t>Please remember, some content can’t be edited in </a:t>
            </a:r>
            <a:r>
              <a:rPr kumimoji="0" lang="pl-PL" sz="1000" i="0" u="none" strike="noStrike" kern="1200" cap="none" spc="0" normalizeH="0" baseline="0" noProof="0">
                <a:ln>
                  <a:noFill/>
                </a:ln>
                <a:solidFill>
                  <a:schemeClr val="tx1"/>
                </a:solidFill>
                <a:effectLst/>
                <a:uLnTx/>
                <a:uFillTx/>
                <a:latin typeface="Poppins"/>
                <a:ea typeface="+mn-ea"/>
                <a:cs typeface="+mn-cs"/>
              </a:rPr>
              <a:t>B</a:t>
            </a:r>
            <a:r>
              <a:rPr kumimoji="0" lang="en-US" sz="1000" i="0" u="none" strike="noStrike" kern="1200" cap="none" spc="0" normalizeH="0" baseline="0" noProof="0" err="1">
                <a:ln>
                  <a:noFill/>
                </a:ln>
                <a:solidFill>
                  <a:schemeClr val="tx1"/>
                </a:solidFill>
                <a:effectLst/>
                <a:uLnTx/>
                <a:uFillTx/>
                <a:latin typeface="Poppins"/>
                <a:ea typeface="+mn-ea"/>
                <a:cs typeface="+mn-cs"/>
              </a:rPr>
              <a:t>uilder</a:t>
            </a:r>
            <a:r>
              <a:rPr kumimoji="0" lang="en-US" sz="1000" i="0" u="none" strike="noStrike" kern="1200" cap="none" spc="0" normalizeH="0" baseline="0" noProof="0">
                <a:ln>
                  <a:noFill/>
                </a:ln>
                <a:solidFill>
                  <a:schemeClr val="tx1"/>
                </a:solidFill>
                <a:effectLst/>
                <a:uLnTx/>
                <a:uFillTx/>
                <a:latin typeface="Poppins"/>
                <a:ea typeface="+mn-ea"/>
                <a:cs typeface="+mn-cs"/>
              </a:rPr>
              <a:t>.</a:t>
            </a:r>
            <a:r>
              <a:rPr kumimoji="0" lang="pl-PL" sz="1000" i="0" u="none" strike="noStrike" kern="1200" cap="none" spc="0" normalizeH="0" baseline="0" noProof="0">
                <a:ln>
                  <a:noFill/>
                </a:ln>
                <a:solidFill>
                  <a:schemeClr val="tx1"/>
                </a:solidFill>
                <a:effectLst/>
                <a:uLnTx/>
                <a:uFillTx/>
                <a:latin typeface="Poppins"/>
                <a:ea typeface="+mn-ea"/>
                <a:cs typeface="+mn-cs"/>
              </a:rPr>
              <a:t>IO</a:t>
            </a:r>
            <a:r>
              <a:rPr kumimoji="0" lang="en-US" sz="1000" i="0" u="none" strike="noStrike" kern="1200" cap="none" spc="0" normalizeH="0" baseline="0" noProof="0">
                <a:ln>
                  <a:noFill/>
                </a:ln>
                <a:solidFill>
                  <a:schemeClr val="tx1"/>
                </a:solidFill>
                <a:effectLst/>
                <a:uLnTx/>
                <a:uFillTx/>
                <a:latin typeface="Poppins"/>
                <a:ea typeface="+mn-ea"/>
                <a:cs typeface="+mn-cs"/>
              </a:rPr>
              <a:t> because it comes from a database like PIM or </a:t>
            </a:r>
            <a:r>
              <a:rPr kumimoji="0" lang="en-US" sz="1000" i="0" u="none" strike="noStrike" kern="1200" cap="none" spc="0" normalizeH="0" baseline="0" noProof="0" err="1">
                <a:ln>
                  <a:noFill/>
                </a:ln>
                <a:solidFill>
                  <a:schemeClr val="tx1"/>
                </a:solidFill>
                <a:effectLst/>
                <a:uLnTx/>
                <a:uFillTx/>
                <a:latin typeface="Poppins"/>
                <a:ea typeface="+mn-ea"/>
                <a:cs typeface="+mn-cs"/>
              </a:rPr>
              <a:t>OfferDAM</a:t>
            </a:r>
            <a:r>
              <a:rPr kumimoji="0" lang="en-US" sz="1000" i="0" u="none" strike="noStrike" kern="1200" cap="none" spc="0" normalizeH="0" baseline="0" noProof="0">
                <a:ln>
                  <a:noFill/>
                </a:ln>
                <a:solidFill>
                  <a:schemeClr val="tx1"/>
                </a:solidFill>
                <a:effectLst/>
                <a:uLnTx/>
                <a:uFillTx/>
                <a:latin typeface="Poppins"/>
                <a:ea typeface="+mn-ea"/>
                <a:cs typeface="+mn-cs"/>
              </a:rPr>
              <a:t>. In these instances, consult your PIM Champion.</a:t>
            </a:r>
          </a:p>
          <a:p>
            <a:pPr marR="0" lvl="0" algn="l" defTabSz="457184" rtl="0" eaLnBrk="1" fontAlgn="auto" latinLnBrk="0" hangingPunct="1">
              <a:lnSpc>
                <a:spcPct val="100000"/>
              </a:lnSpc>
              <a:spcBef>
                <a:spcPts val="0"/>
              </a:spcBef>
              <a:spcAft>
                <a:spcPts val="300"/>
              </a:spcAft>
              <a:buClrTx/>
              <a:buSzTx/>
              <a:tabLst/>
              <a:defRPr/>
            </a:pPr>
            <a:endParaRPr kumimoji="0" lang="en-US" sz="1000" i="0" u="none" strike="noStrike" kern="1200" cap="none" spc="0" normalizeH="0" baseline="0" noProof="0">
              <a:ln>
                <a:noFill/>
              </a:ln>
              <a:solidFill>
                <a:schemeClr val="tx1"/>
              </a:solidFill>
              <a:effectLst/>
              <a:uLnTx/>
              <a:uFillTx/>
              <a:latin typeface="Poppins"/>
              <a:ea typeface="+mn-ea"/>
              <a:cs typeface="+mn-cs"/>
            </a:endParaRPr>
          </a:p>
        </p:txBody>
      </p:sp>
      <p:pic>
        <p:nvPicPr>
          <p:cNvPr id="1026" name="Picture 2" descr="A screenshot of a computer&#10;&#10;Description automatically generated">
            <a:extLst>
              <a:ext uri="{FF2B5EF4-FFF2-40B4-BE49-F238E27FC236}">
                <a16:creationId xmlns:a16="http://schemas.microsoft.com/office/drawing/2014/main" id="{C6F7C2FD-0085-24FD-EDFA-DCF039B9FC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3361" y="0"/>
            <a:ext cx="1203325" cy="5143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Footer Placeholder 4">
            <a:extLst>
              <a:ext uri="{FF2B5EF4-FFF2-40B4-BE49-F238E27FC236}">
                <a16:creationId xmlns:a16="http://schemas.microsoft.com/office/drawing/2014/main" id="{59E33B12-3593-297F-E13E-C4F0C32A27E3}"/>
              </a:ext>
            </a:extLst>
          </p:cNvPr>
          <p:cNvSpPr txBox="1">
            <a:spLocks/>
          </p:cNvSpPr>
          <p:nvPr/>
        </p:nvSpPr>
        <p:spPr>
          <a:xfrm>
            <a:off x="398463" y="4871780"/>
            <a:ext cx="1097280" cy="92333"/>
          </a:xfrm>
          <a:prstGeom prst="rect">
            <a:avLst/>
          </a:prstGeom>
        </p:spPr>
        <p:txBody>
          <a:bodyPr vert="horz" wrap="square" lIns="0" tIns="0" rIns="0" bIns="0" rtlCol="0" anchor="ctr">
            <a:spAutoFit/>
          </a:bodyPr>
          <a:lstStyle>
            <a:defPPr>
              <a:defRPr lang="en-US"/>
            </a:defPPr>
            <a:lvl1pPr marR="0" indent="0" defTabSz="685800" fontAlgn="auto">
              <a:lnSpc>
                <a:spcPct val="100000"/>
              </a:lnSpc>
              <a:spcBef>
                <a:spcPts val="0"/>
              </a:spcBef>
              <a:spcAft>
                <a:spcPts val="0"/>
              </a:spcAft>
              <a:buClrTx/>
              <a:buSzTx/>
              <a:buFontTx/>
              <a:buNone/>
              <a:tabLst/>
              <a:defRPr sz="600">
                <a:solidFill>
                  <a:srgbClr val="626469"/>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Property of Schneider Electric |</a:t>
            </a:r>
          </a:p>
        </p:txBody>
      </p:sp>
      <p:sp>
        <p:nvSpPr>
          <p:cNvPr id="8" name="Slide Number Placeholder 5">
            <a:extLst>
              <a:ext uri="{FF2B5EF4-FFF2-40B4-BE49-F238E27FC236}">
                <a16:creationId xmlns:a16="http://schemas.microsoft.com/office/drawing/2014/main" id="{CDBC8956-CBCA-DAC3-0669-7DE91D09AB79}"/>
              </a:ext>
            </a:extLst>
          </p:cNvPr>
          <p:cNvSpPr txBox="1">
            <a:spLocks/>
          </p:cNvSpPr>
          <p:nvPr/>
        </p:nvSpPr>
        <p:spPr>
          <a:xfrm>
            <a:off x="1494313" y="4871781"/>
            <a:ext cx="525690" cy="92333"/>
          </a:xfrm>
          <a:prstGeom prst="rect">
            <a:avLst/>
          </a:prstGeom>
        </p:spPr>
        <p:txBody>
          <a:bodyPr vert="horz" lIns="0" tIns="0" rIns="0" bIns="0" rtlCol="0" anchor="ctr">
            <a:spAutoFit/>
          </a:bodyPr>
          <a:lstStyle>
            <a:defPPr>
              <a:defRPr lang="en-US"/>
            </a:defPPr>
            <a:lvl1pPr defTabSz="685800">
              <a:defRPr sz="600">
                <a:solidFill>
                  <a:srgbClr val="3DCD58"/>
                </a:solidFill>
                <a:latin typeface="Arial"/>
                <a:cs typeface="Arial"/>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a:lstStyle>
          <a:p>
            <a:r>
              <a:rPr lang="en-US"/>
              <a:t>Page </a:t>
            </a:r>
            <a:fld id="{5A9C12DC-491F-9444-86A2-13AC5C62A2FC}" type="slidenum">
              <a:rPr lang="en-US"/>
              <a:pPr/>
              <a:t>122</a:t>
            </a:fld>
            <a:endParaRPr lang="en-US"/>
          </a:p>
        </p:txBody>
      </p:sp>
    </p:spTree>
    <p:extLst>
      <p:ext uri="{BB962C8B-B14F-4D97-AF65-F5344CB8AC3E}">
        <p14:creationId xmlns:p14="http://schemas.microsoft.com/office/powerpoint/2010/main" val="410796456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03C31-50F4-8D76-FFEF-62027659487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BE4245F-940C-04CA-AA3A-3DA83CA97F70}"/>
              </a:ext>
            </a:extLst>
          </p:cNvPr>
          <p:cNvSpPr/>
          <p:nvPr/>
        </p:nvSpPr>
        <p:spPr>
          <a:xfrm>
            <a:off x="742950" y="1820791"/>
            <a:ext cx="7659831" cy="553998"/>
          </a:xfrm>
          <a:prstGeom prst="rect">
            <a:avLst/>
          </a:prstGeom>
          <a:noFill/>
          <a:ln/>
        </p:spPr>
        <p:txBody>
          <a:bodyPr wrap="square" lIns="0" tIns="0" rIns="0" bIns="0" rtlCol="0" anchor="t">
            <a:spAutoFit/>
          </a:bodyPr>
          <a:lstStyle/>
          <a:p>
            <a:r>
              <a:rPr lang="pl-PL" sz="3600">
                <a:solidFill>
                  <a:schemeClr val="accent5"/>
                </a:solidFill>
              </a:rPr>
              <a:t>Chapter 13: GEO Analytics</a:t>
            </a:r>
            <a:endParaRPr lang="en-US" sz="3600">
              <a:solidFill>
                <a:schemeClr val="accent5"/>
              </a:solidFill>
            </a:endParaRPr>
          </a:p>
        </p:txBody>
      </p:sp>
      <p:sp>
        <p:nvSpPr>
          <p:cNvPr id="5" name="Text 2">
            <a:extLst>
              <a:ext uri="{FF2B5EF4-FFF2-40B4-BE49-F238E27FC236}">
                <a16:creationId xmlns:a16="http://schemas.microsoft.com/office/drawing/2014/main" id="{0A6588E9-63AA-6FFE-3FDC-C8E36FD36769}"/>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B8CD42BA-999A-D057-843B-71975BDE3E8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C432F552-232D-E9C6-5014-BC1304896BBE}"/>
              </a:ext>
            </a:extLst>
          </p:cNvPr>
          <p:cNvSpPr>
            <a:spLocks noGrp="1"/>
          </p:cNvSpPr>
          <p:nvPr>
            <p:ph type="body" sz="quarter" idx="4294967295"/>
          </p:nvPr>
        </p:nvSpPr>
        <p:spPr>
          <a:xfrm>
            <a:off x="742950" y="4108450"/>
            <a:ext cx="6115050" cy="215900"/>
          </a:xfrm>
        </p:spPr>
        <p:txBody>
          <a:bodyPr/>
          <a:lstStyle/>
          <a:p>
            <a:r>
              <a:rPr lang="pl-PL"/>
              <a:t>Jakub Falkowski</a:t>
            </a:r>
          </a:p>
        </p:txBody>
      </p:sp>
    </p:spTree>
    <p:extLst>
      <p:ext uri="{BB962C8B-B14F-4D97-AF65-F5344CB8AC3E}">
        <p14:creationId xmlns:p14="http://schemas.microsoft.com/office/powerpoint/2010/main" val="35795817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58CF2-4400-7380-C41D-849301CDA7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A2DB631-A742-28A0-78E9-6664BC6761A3}"/>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3" name="Text 1">
            <a:extLst>
              <a:ext uri="{FF2B5EF4-FFF2-40B4-BE49-F238E27FC236}">
                <a16:creationId xmlns:a16="http://schemas.microsoft.com/office/drawing/2014/main" id="{B82E5FCE-2628-FD6D-1388-822FD06A2942}"/>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2200" b="0" i="0" u="none" strike="noStrike" kern="1200" cap="none" spc="0" normalizeH="0" baseline="0" noProof="0">
                <a:ln>
                  <a:noFill/>
                </a:ln>
                <a:solidFill>
                  <a:srgbClr val="E7FFD9"/>
                </a:solidFill>
                <a:effectLst/>
                <a:uLnTx/>
                <a:uFillTx/>
                <a:latin typeface="Poppins"/>
                <a:ea typeface="+mn-ea"/>
                <a:cs typeface="Arial"/>
              </a:rPr>
              <a:t>About this Chapter</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4" name="Text 2">
            <a:extLst>
              <a:ext uri="{FF2B5EF4-FFF2-40B4-BE49-F238E27FC236}">
                <a16:creationId xmlns:a16="http://schemas.microsoft.com/office/drawing/2014/main" id="{ED386EAD-6A75-5599-3839-231EC3266E5B}"/>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10" name="Text 2">
            <a:extLst>
              <a:ext uri="{FF2B5EF4-FFF2-40B4-BE49-F238E27FC236}">
                <a16:creationId xmlns:a16="http://schemas.microsoft.com/office/drawing/2014/main" id="{8359511E-2DAC-6713-7375-A48B1A7849E0}"/>
              </a:ext>
            </a:extLst>
          </p:cNvPr>
          <p:cNvSpPr/>
          <p:nvPr/>
        </p:nvSpPr>
        <p:spPr>
          <a:xfrm>
            <a:off x="377189"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GEO Analytics with your laptop.</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graphicFrame>
        <p:nvGraphicFramePr>
          <p:cNvPr id="8" name="Table 7">
            <a:extLst>
              <a:ext uri="{FF2B5EF4-FFF2-40B4-BE49-F238E27FC236}">
                <a16:creationId xmlns:a16="http://schemas.microsoft.com/office/drawing/2014/main" id="{F95C94D4-1CC4-0FBB-453F-214221ED7FC7}"/>
              </a:ext>
            </a:extLst>
          </p:cNvPr>
          <p:cNvGraphicFramePr>
            <a:graphicFrameLocks noGrp="1"/>
          </p:cNvGraphicFramePr>
          <p:nvPr>
            <p:extLst>
              <p:ext uri="{D42A27DB-BD31-4B8C-83A1-F6EECF244321}">
                <p14:modId xmlns:p14="http://schemas.microsoft.com/office/powerpoint/2010/main" val="2377036528"/>
              </p:ext>
            </p:extLst>
          </p:nvPr>
        </p:nvGraphicFramePr>
        <p:xfrm>
          <a:off x="1605048" y="1535430"/>
          <a:ext cx="5430982" cy="2621280"/>
        </p:xfrm>
        <a:graphic>
          <a:graphicData uri="http://schemas.openxmlformats.org/drawingml/2006/table">
            <a:tbl>
              <a:tblPr firstRow="1" bandRow="1">
                <a:tableStyleId>{5C22544A-7EE6-4342-B048-85BDC9FD1C3A}</a:tableStyleId>
              </a:tblPr>
              <a:tblGrid>
                <a:gridCol w="5430982">
                  <a:extLst>
                    <a:ext uri="{9D8B030D-6E8A-4147-A177-3AD203B41FA5}">
                      <a16:colId xmlns:a16="http://schemas.microsoft.com/office/drawing/2014/main" val="3037676781"/>
                    </a:ext>
                  </a:extLst>
                </a:gridCol>
              </a:tblGrid>
              <a:tr h="260914">
                <a:tc>
                  <a:txBody>
                    <a:bodyPr/>
                    <a:lstStyle/>
                    <a:p>
                      <a:pPr algn="ctr"/>
                      <a:r>
                        <a:rPr lang="pl-PL" sz="1600" b="1">
                          <a:solidFill>
                            <a:schemeClr val="accent5"/>
                          </a:solidFill>
                        </a:rPr>
                        <a:t>Context and goal</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pl-PL" sz="1200" b="0">
                          <a:solidFill>
                            <a:schemeClr val="tx1"/>
                          </a:solidFill>
                        </a:rPr>
                        <a:t>There are multiple tools that can help you tracking your prompts, providing share of voice and share of citation score. Schneider Electric of courses uses this type of tools, currently we are using Profound for prompts tracking and AI visibility support.</a:t>
                      </a:r>
                    </a:p>
                    <a:p>
                      <a:pPr marL="0" indent="0">
                        <a:spcBef>
                          <a:spcPts val="0"/>
                        </a:spcBef>
                        <a:spcAft>
                          <a:spcPts val="0"/>
                        </a:spcAft>
                        <a:buClr>
                          <a:srgbClr val="3DCD58"/>
                        </a:buClr>
                        <a:buFont typeface="Wingdings" panose="05000000000000000000" pitchFamily="2" charset="2"/>
                        <a:buNone/>
                        <a:defRPr/>
                      </a:pPr>
                      <a:endParaRPr lang="pl-PL" sz="12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pl-PL" sz="1200" b="0">
                          <a:solidFill>
                            <a:schemeClr val="tx1"/>
                          </a:solidFill>
                        </a:rPr>
                        <a:t>But as a owner of a particular web page or an asset, you do not need to have access to the advance tools – your laptop and access to the World Wide Web (BTW this is what is behind famous WWW) is all that you need to check and follow your GEO position. If you have access to the free tool provided by Google like Google Analytics 4 or Google Search Console you will be able to track your performance and build improvement plan based on data.</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420901938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759F-B5D6-509E-74D2-9F9BD66A4F5F}"/>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6F031E93-F1B2-5F69-B409-ED617F7B3476}"/>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7994613A-7064-9840-76B5-5822C4856C87}"/>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E7FFD9"/>
                </a:solidFill>
                <a:effectLst/>
                <a:uLnTx/>
                <a:uFillTx/>
                <a:latin typeface="Poppins"/>
                <a:ea typeface="+mn-ea"/>
                <a:cs typeface="Arial"/>
              </a:rPr>
              <a:t>Content Gap Mapping: Authority Voids</a:t>
            </a:r>
          </a:p>
        </p:txBody>
      </p:sp>
      <p:sp>
        <p:nvSpPr>
          <p:cNvPr id="12" name="Text 2">
            <a:extLst>
              <a:ext uri="{FF2B5EF4-FFF2-40B4-BE49-F238E27FC236}">
                <a16:creationId xmlns:a16="http://schemas.microsoft.com/office/drawing/2014/main" id="{B7548751-3E88-0491-8F15-A2BA2611CEF7}"/>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E7FFD9"/>
                </a:solidFill>
                <a:effectLst/>
                <a:uLnTx/>
                <a:uFillTx/>
                <a:latin typeface="Poppins"/>
                <a:ea typeface="+mn-ea"/>
                <a:cs typeface="Arial"/>
              </a:rPr>
              <a:t>Audit existing assets against the strategic GEO pillars</a:t>
            </a:r>
            <a:r>
              <a:rPr kumimoji="0" lang="pl-PL" sz="1100" b="0" i="0" u="none" strike="noStrike" kern="1200" cap="none" spc="0" normalizeH="0" baseline="0" noProof="0">
                <a:ln>
                  <a:noFill/>
                </a:ln>
                <a:solidFill>
                  <a:srgbClr val="E7FFD9"/>
                </a:solidFill>
                <a:effectLst/>
                <a:uLnTx/>
                <a:uFillTx/>
                <a:latin typeface="Poppins"/>
                <a:ea typeface="+mn-ea"/>
                <a:cs typeface="Arial"/>
              </a:rPr>
              <a: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BDF7FF7F-0714-DDE1-B6CE-BD0F50E33A71}"/>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4A3E5BAB-321F-451C-7F26-3F60E2861170}"/>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125</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3" name="Shape 9">
            <a:extLst>
              <a:ext uri="{FF2B5EF4-FFF2-40B4-BE49-F238E27FC236}">
                <a16:creationId xmlns:a16="http://schemas.microsoft.com/office/drawing/2014/main" id="{EB40A99C-EFD4-5133-EAD1-0C1F0643EC6E}"/>
              </a:ext>
            </a:extLst>
          </p:cNvPr>
          <p:cNvSpPr/>
          <p:nvPr/>
        </p:nvSpPr>
        <p:spPr>
          <a:xfrm>
            <a:off x="4629150" y="1309932"/>
            <a:ext cx="4169664" cy="973836"/>
          </a:xfrm>
          <a:prstGeom prst="roundRect">
            <a:avLst>
              <a:gd name="adj" fmla="val 4930"/>
            </a:avLst>
          </a:prstGeom>
          <a:solidFill>
            <a:schemeClr val="accent5"/>
          </a:solidFill>
          <a:ln w="12700">
            <a:solidFill>
              <a:schemeClr val="tx1"/>
            </a:solidFill>
            <a:prstDash val="solid"/>
          </a:ln>
        </p:spPr>
        <p:txBody>
          <a:bodyPr/>
          <a:lstStyle/>
          <a:p>
            <a:pPr defTabSz="685800"/>
            <a:endParaRPr lang="pl-PL" sz="1350">
              <a:latin typeface="Calibri" panose="020F0502020204030204"/>
            </a:endParaRPr>
          </a:p>
        </p:txBody>
      </p:sp>
      <p:sp>
        <p:nvSpPr>
          <p:cNvPr id="4" name="Shape 10">
            <a:extLst>
              <a:ext uri="{FF2B5EF4-FFF2-40B4-BE49-F238E27FC236}">
                <a16:creationId xmlns:a16="http://schemas.microsoft.com/office/drawing/2014/main" id="{DCD2CB61-E85C-F162-D4C6-97A012A6FB34}"/>
              </a:ext>
            </a:extLst>
          </p:cNvPr>
          <p:cNvSpPr/>
          <p:nvPr/>
        </p:nvSpPr>
        <p:spPr>
          <a:xfrm>
            <a:off x="4766310" y="1460808"/>
            <a:ext cx="493776" cy="493776"/>
          </a:xfrm>
          <a:prstGeom prst="roundRect">
            <a:avLst>
              <a:gd name="adj" fmla="val 8333"/>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7" name="Text 11">
            <a:extLst>
              <a:ext uri="{FF2B5EF4-FFF2-40B4-BE49-F238E27FC236}">
                <a16:creationId xmlns:a16="http://schemas.microsoft.com/office/drawing/2014/main" id="{B9236FDE-1047-97B0-8D90-A0F187996082}"/>
              </a:ext>
            </a:extLst>
          </p:cNvPr>
          <p:cNvSpPr/>
          <p:nvPr/>
        </p:nvSpPr>
        <p:spPr>
          <a:xfrm>
            <a:off x="4766310" y="1460808"/>
            <a:ext cx="493776" cy="493776"/>
          </a:xfrm>
          <a:prstGeom prst="rect">
            <a:avLst/>
          </a:prstGeom>
          <a:noFill/>
          <a:ln/>
        </p:spPr>
        <p:txBody>
          <a:bodyPr wrap="square" lIns="0" tIns="0" rIns="0" bIns="0" rtlCol="0" anchor="ctr"/>
          <a:lstStyle/>
          <a:p>
            <a:pPr algn="ctr" defTabSz="685800"/>
            <a:r>
              <a:rPr lang="en-US" sz="1200" b="1">
                <a:solidFill>
                  <a:schemeClr val="accent5"/>
                </a:solidFill>
                <a:ea typeface="Arial" pitchFamily="34" charset="-122"/>
                <a:cs typeface="Arial" pitchFamily="34" charset="-120"/>
              </a:rPr>
              <a:t>P1</a:t>
            </a:r>
            <a:endParaRPr lang="en-US" sz="1200">
              <a:solidFill>
                <a:schemeClr val="accent5"/>
              </a:solidFill>
            </a:endParaRPr>
          </a:p>
        </p:txBody>
      </p:sp>
      <p:sp>
        <p:nvSpPr>
          <p:cNvPr id="10" name="Text 12">
            <a:extLst>
              <a:ext uri="{FF2B5EF4-FFF2-40B4-BE49-F238E27FC236}">
                <a16:creationId xmlns:a16="http://schemas.microsoft.com/office/drawing/2014/main" id="{1123DD0B-EDB8-1E6E-5A88-F9168575F8FE}"/>
              </a:ext>
            </a:extLst>
          </p:cNvPr>
          <p:cNvSpPr/>
          <p:nvPr/>
        </p:nvSpPr>
        <p:spPr>
          <a:xfrm>
            <a:off x="5383530" y="1419660"/>
            <a:ext cx="3326130" cy="246888"/>
          </a:xfrm>
          <a:prstGeom prst="rect">
            <a:avLst/>
          </a:prstGeom>
          <a:noFill/>
          <a:ln/>
        </p:spPr>
        <p:txBody>
          <a:bodyPr wrap="square" lIns="0" tIns="0" rIns="0" bIns="0" rtlCol="0" anchor="ctr"/>
          <a:lstStyle/>
          <a:p>
            <a:pPr defTabSz="685800"/>
            <a:r>
              <a:rPr lang="en-US" sz="1100" b="1">
                <a:solidFill>
                  <a:srgbClr val="0C3B2E"/>
                </a:solidFill>
                <a:ea typeface="Arial" pitchFamily="34" charset="-122"/>
                <a:cs typeface="Arial" pitchFamily="34" charset="-120"/>
              </a:rPr>
              <a:t>Visibility — the foundation</a:t>
            </a:r>
            <a:endParaRPr lang="en-US" sz="1100">
              <a:solidFill>
                <a:prstClr val="black"/>
              </a:solidFill>
            </a:endParaRPr>
          </a:p>
        </p:txBody>
      </p:sp>
      <p:sp>
        <p:nvSpPr>
          <p:cNvPr id="14" name="Text 13">
            <a:extLst>
              <a:ext uri="{FF2B5EF4-FFF2-40B4-BE49-F238E27FC236}">
                <a16:creationId xmlns:a16="http://schemas.microsoft.com/office/drawing/2014/main" id="{E7436D29-0F52-B023-C73F-19E3F392DB22}"/>
              </a:ext>
            </a:extLst>
          </p:cNvPr>
          <p:cNvSpPr/>
          <p:nvPr/>
        </p:nvSpPr>
        <p:spPr>
          <a:xfrm>
            <a:off x="5383530" y="1666548"/>
            <a:ext cx="3326130" cy="342900"/>
          </a:xfrm>
          <a:prstGeom prst="rect">
            <a:avLst/>
          </a:prstGeom>
          <a:noFill/>
          <a:ln/>
        </p:spPr>
        <p:txBody>
          <a:bodyPr wrap="square" lIns="0" tIns="0" rIns="0" bIns="0" rtlCol="0" anchor="t"/>
          <a:lstStyle/>
          <a:p>
            <a:pPr defTabSz="685800"/>
            <a:r>
              <a:rPr lang="en-US" sz="1000">
                <a:ea typeface="Arial" pitchFamily="34" charset="-122"/>
                <a:cs typeface="Arial" pitchFamily="34" charset="-120"/>
              </a:rPr>
              <a:t>Content built to be found and cited for core, high-volume topics.</a:t>
            </a:r>
            <a:endParaRPr lang="en-US" sz="1000"/>
          </a:p>
        </p:txBody>
      </p:sp>
      <p:sp>
        <p:nvSpPr>
          <p:cNvPr id="21" name="Text 14">
            <a:extLst>
              <a:ext uri="{FF2B5EF4-FFF2-40B4-BE49-F238E27FC236}">
                <a16:creationId xmlns:a16="http://schemas.microsoft.com/office/drawing/2014/main" id="{5B2F0C88-C90C-E9A7-A5A7-676D57FB85EB}"/>
              </a:ext>
            </a:extLst>
          </p:cNvPr>
          <p:cNvSpPr/>
          <p:nvPr/>
        </p:nvSpPr>
        <p:spPr>
          <a:xfrm>
            <a:off x="5383530" y="1995732"/>
            <a:ext cx="3326130" cy="219456"/>
          </a:xfrm>
          <a:prstGeom prst="rect">
            <a:avLst/>
          </a:prstGeom>
          <a:noFill/>
          <a:ln/>
        </p:spPr>
        <p:txBody>
          <a:bodyPr wrap="square" lIns="0" tIns="0" rIns="0" bIns="0" rtlCol="0" anchor="ctr"/>
          <a:lstStyle/>
          <a:p>
            <a:pPr defTabSz="685800"/>
            <a:r>
              <a:rPr lang="en-US" sz="800" b="1" i="1">
                <a:ea typeface="Arial" pitchFamily="34" charset="-122"/>
                <a:cs typeface="Arial" pitchFamily="34" charset="-120"/>
              </a:rPr>
              <a:t>Are we present?</a:t>
            </a:r>
            <a:endParaRPr lang="en-US" sz="800"/>
          </a:p>
        </p:txBody>
      </p:sp>
      <p:sp>
        <p:nvSpPr>
          <p:cNvPr id="36" name="Shape 15">
            <a:extLst>
              <a:ext uri="{FF2B5EF4-FFF2-40B4-BE49-F238E27FC236}">
                <a16:creationId xmlns:a16="http://schemas.microsoft.com/office/drawing/2014/main" id="{9A0DCAEB-5D77-9A9D-0936-5D2DE45DB854}"/>
              </a:ext>
            </a:extLst>
          </p:cNvPr>
          <p:cNvSpPr/>
          <p:nvPr/>
        </p:nvSpPr>
        <p:spPr>
          <a:xfrm>
            <a:off x="4629150" y="2372922"/>
            <a:ext cx="4169664" cy="973836"/>
          </a:xfrm>
          <a:prstGeom prst="roundRect">
            <a:avLst>
              <a:gd name="adj" fmla="val 4930"/>
            </a:avLst>
          </a:prstGeom>
          <a:solidFill>
            <a:schemeClr val="accent5"/>
          </a:solidFill>
          <a:ln w="12700">
            <a:solidFill>
              <a:schemeClr val="tx1"/>
            </a:solidFill>
            <a:prstDash val="solid"/>
          </a:ln>
        </p:spPr>
        <p:txBody>
          <a:bodyPr/>
          <a:lstStyle/>
          <a:p>
            <a:pPr defTabSz="685800"/>
            <a:endParaRPr lang="pl-PL" sz="1350">
              <a:latin typeface="Calibri" panose="020F0502020204030204"/>
            </a:endParaRPr>
          </a:p>
        </p:txBody>
      </p:sp>
      <p:sp>
        <p:nvSpPr>
          <p:cNvPr id="37" name="Shape 16">
            <a:extLst>
              <a:ext uri="{FF2B5EF4-FFF2-40B4-BE49-F238E27FC236}">
                <a16:creationId xmlns:a16="http://schemas.microsoft.com/office/drawing/2014/main" id="{82C3119B-B55C-2075-293F-BE6BA1051BE0}"/>
              </a:ext>
            </a:extLst>
          </p:cNvPr>
          <p:cNvSpPr/>
          <p:nvPr/>
        </p:nvSpPr>
        <p:spPr>
          <a:xfrm>
            <a:off x="4766310" y="2523798"/>
            <a:ext cx="493776" cy="493776"/>
          </a:xfrm>
          <a:prstGeom prst="roundRect">
            <a:avLst>
              <a:gd name="adj" fmla="val 8333"/>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38" name="Text 17">
            <a:extLst>
              <a:ext uri="{FF2B5EF4-FFF2-40B4-BE49-F238E27FC236}">
                <a16:creationId xmlns:a16="http://schemas.microsoft.com/office/drawing/2014/main" id="{0CE8F8BC-9D38-77FE-084A-6612992A8A2C}"/>
              </a:ext>
            </a:extLst>
          </p:cNvPr>
          <p:cNvSpPr/>
          <p:nvPr/>
        </p:nvSpPr>
        <p:spPr>
          <a:xfrm>
            <a:off x="4766310" y="2523798"/>
            <a:ext cx="493776" cy="493776"/>
          </a:xfrm>
          <a:prstGeom prst="rect">
            <a:avLst/>
          </a:prstGeom>
          <a:noFill/>
          <a:ln/>
        </p:spPr>
        <p:txBody>
          <a:bodyPr wrap="square" lIns="0" tIns="0" rIns="0" bIns="0" rtlCol="0" anchor="ctr"/>
          <a:lstStyle/>
          <a:p>
            <a:pPr algn="ctr" defTabSz="685800"/>
            <a:r>
              <a:rPr lang="en-US" sz="1200" b="1">
                <a:solidFill>
                  <a:schemeClr val="accent5"/>
                </a:solidFill>
                <a:cs typeface="Arial" pitchFamily="34" charset="-120"/>
              </a:rPr>
              <a:t>P2</a:t>
            </a:r>
          </a:p>
        </p:txBody>
      </p:sp>
      <p:sp>
        <p:nvSpPr>
          <p:cNvPr id="39" name="Text 18">
            <a:extLst>
              <a:ext uri="{FF2B5EF4-FFF2-40B4-BE49-F238E27FC236}">
                <a16:creationId xmlns:a16="http://schemas.microsoft.com/office/drawing/2014/main" id="{14EC0304-6A27-362E-2A12-648306D7F907}"/>
              </a:ext>
            </a:extLst>
          </p:cNvPr>
          <p:cNvSpPr/>
          <p:nvPr/>
        </p:nvSpPr>
        <p:spPr>
          <a:xfrm>
            <a:off x="5383530" y="2482650"/>
            <a:ext cx="3326130" cy="246888"/>
          </a:xfrm>
          <a:prstGeom prst="rect">
            <a:avLst/>
          </a:prstGeom>
          <a:noFill/>
          <a:ln/>
        </p:spPr>
        <p:txBody>
          <a:bodyPr wrap="square" lIns="0" tIns="0" rIns="0" bIns="0" rtlCol="0" anchor="ctr"/>
          <a:lstStyle/>
          <a:p>
            <a:pPr defTabSz="685800"/>
            <a:r>
              <a:rPr lang="en-US" sz="1100" b="1">
                <a:solidFill>
                  <a:srgbClr val="0C3B2E"/>
                </a:solidFill>
                <a:cs typeface="Arial" pitchFamily="34" charset="-120"/>
              </a:rPr>
              <a:t>Channel — the platform</a:t>
            </a:r>
          </a:p>
        </p:txBody>
      </p:sp>
      <p:sp>
        <p:nvSpPr>
          <p:cNvPr id="40" name="Text 19">
            <a:extLst>
              <a:ext uri="{FF2B5EF4-FFF2-40B4-BE49-F238E27FC236}">
                <a16:creationId xmlns:a16="http://schemas.microsoft.com/office/drawing/2014/main" id="{0B3F8EBB-BF66-3FEC-3395-CC3C4B2C79F5}"/>
              </a:ext>
            </a:extLst>
          </p:cNvPr>
          <p:cNvSpPr/>
          <p:nvPr/>
        </p:nvSpPr>
        <p:spPr>
          <a:xfrm>
            <a:off x="5383530" y="2729538"/>
            <a:ext cx="3326130" cy="342900"/>
          </a:xfrm>
          <a:prstGeom prst="rect">
            <a:avLst/>
          </a:prstGeom>
          <a:noFill/>
          <a:ln/>
        </p:spPr>
        <p:txBody>
          <a:bodyPr wrap="square" lIns="0" tIns="0" rIns="0" bIns="0" rtlCol="0" anchor="t"/>
          <a:lstStyle/>
          <a:p>
            <a:pPr defTabSz="685800"/>
            <a:r>
              <a:rPr lang="en-US" sz="1000">
                <a:cs typeface="Arial" pitchFamily="34" charset="-120"/>
              </a:rPr>
              <a:t>Content tuned to each AI platform's flow (ChatGPT vs Perplexity).</a:t>
            </a:r>
          </a:p>
        </p:txBody>
      </p:sp>
      <p:sp>
        <p:nvSpPr>
          <p:cNvPr id="41" name="Text 20">
            <a:extLst>
              <a:ext uri="{FF2B5EF4-FFF2-40B4-BE49-F238E27FC236}">
                <a16:creationId xmlns:a16="http://schemas.microsoft.com/office/drawing/2014/main" id="{51D75FDD-D15C-A323-8D53-8B4E622D8CBE}"/>
              </a:ext>
            </a:extLst>
          </p:cNvPr>
          <p:cNvSpPr/>
          <p:nvPr/>
        </p:nvSpPr>
        <p:spPr>
          <a:xfrm>
            <a:off x="5383530" y="3058722"/>
            <a:ext cx="3326130" cy="219456"/>
          </a:xfrm>
          <a:prstGeom prst="rect">
            <a:avLst/>
          </a:prstGeom>
          <a:noFill/>
          <a:ln/>
        </p:spPr>
        <p:txBody>
          <a:bodyPr wrap="square" lIns="0" tIns="0" rIns="0" bIns="0" rtlCol="0" anchor="ctr"/>
          <a:lstStyle/>
          <a:p>
            <a:pPr defTabSz="685800"/>
            <a:r>
              <a:rPr lang="en-US" sz="800" b="1" i="1">
                <a:cs typeface="Arial" pitchFamily="34" charset="-120"/>
              </a:rPr>
              <a:t>Are we formatted correctly?</a:t>
            </a:r>
          </a:p>
        </p:txBody>
      </p:sp>
      <p:sp>
        <p:nvSpPr>
          <p:cNvPr id="42" name="Shape 21">
            <a:extLst>
              <a:ext uri="{FF2B5EF4-FFF2-40B4-BE49-F238E27FC236}">
                <a16:creationId xmlns:a16="http://schemas.microsoft.com/office/drawing/2014/main" id="{A871C11C-3376-DADC-3AA4-F33FD6E81EFE}"/>
              </a:ext>
            </a:extLst>
          </p:cNvPr>
          <p:cNvSpPr/>
          <p:nvPr/>
        </p:nvSpPr>
        <p:spPr>
          <a:xfrm>
            <a:off x="4629150" y="3435912"/>
            <a:ext cx="4169664" cy="973836"/>
          </a:xfrm>
          <a:prstGeom prst="roundRect">
            <a:avLst>
              <a:gd name="adj" fmla="val 4930"/>
            </a:avLst>
          </a:prstGeom>
          <a:solidFill>
            <a:schemeClr val="accent5"/>
          </a:solidFill>
          <a:ln w="12700">
            <a:solidFill>
              <a:schemeClr val="tx1"/>
            </a:solidFill>
            <a:prstDash val="solid"/>
          </a:ln>
        </p:spPr>
        <p:txBody>
          <a:bodyPr/>
          <a:lstStyle/>
          <a:p>
            <a:pPr defTabSz="685800"/>
            <a:endParaRPr lang="pl-PL" sz="1350">
              <a:latin typeface="Calibri" panose="020F0502020204030204"/>
            </a:endParaRPr>
          </a:p>
        </p:txBody>
      </p:sp>
      <p:sp>
        <p:nvSpPr>
          <p:cNvPr id="43" name="Shape 22">
            <a:extLst>
              <a:ext uri="{FF2B5EF4-FFF2-40B4-BE49-F238E27FC236}">
                <a16:creationId xmlns:a16="http://schemas.microsoft.com/office/drawing/2014/main" id="{C4A56D68-56CB-E997-B569-F5A75C690DCE}"/>
              </a:ext>
            </a:extLst>
          </p:cNvPr>
          <p:cNvSpPr/>
          <p:nvPr/>
        </p:nvSpPr>
        <p:spPr>
          <a:xfrm>
            <a:off x="4766310" y="3586788"/>
            <a:ext cx="493776" cy="493776"/>
          </a:xfrm>
          <a:prstGeom prst="roundRect">
            <a:avLst>
              <a:gd name="adj" fmla="val 8333"/>
            </a:avLst>
          </a:prstGeom>
          <a:solidFill>
            <a:srgbClr val="0C3B2E"/>
          </a:solidFill>
          <a:ln/>
        </p:spPr>
        <p:txBody>
          <a:bodyPr/>
          <a:lstStyle/>
          <a:p>
            <a:pPr defTabSz="685800"/>
            <a:endParaRPr lang="pl-PL" sz="1350">
              <a:solidFill>
                <a:prstClr val="black"/>
              </a:solidFill>
              <a:latin typeface="Calibri" panose="020F0502020204030204"/>
            </a:endParaRPr>
          </a:p>
        </p:txBody>
      </p:sp>
      <p:sp>
        <p:nvSpPr>
          <p:cNvPr id="44" name="Text 23">
            <a:extLst>
              <a:ext uri="{FF2B5EF4-FFF2-40B4-BE49-F238E27FC236}">
                <a16:creationId xmlns:a16="http://schemas.microsoft.com/office/drawing/2014/main" id="{59F85E5B-744F-ED6E-CA83-35A0481DEECA}"/>
              </a:ext>
            </a:extLst>
          </p:cNvPr>
          <p:cNvSpPr/>
          <p:nvPr/>
        </p:nvSpPr>
        <p:spPr>
          <a:xfrm>
            <a:off x="4766310" y="3586788"/>
            <a:ext cx="493776" cy="493776"/>
          </a:xfrm>
          <a:prstGeom prst="rect">
            <a:avLst/>
          </a:prstGeom>
          <a:noFill/>
          <a:ln/>
        </p:spPr>
        <p:txBody>
          <a:bodyPr wrap="square" lIns="0" tIns="0" rIns="0" bIns="0" rtlCol="0" anchor="ctr"/>
          <a:lstStyle/>
          <a:p>
            <a:pPr algn="ctr" defTabSz="685800"/>
            <a:r>
              <a:rPr lang="en-US" sz="1200" b="1">
                <a:solidFill>
                  <a:schemeClr val="accent5"/>
                </a:solidFill>
                <a:cs typeface="Arial" pitchFamily="34" charset="-120"/>
              </a:rPr>
              <a:t>P3</a:t>
            </a:r>
          </a:p>
        </p:txBody>
      </p:sp>
      <p:sp>
        <p:nvSpPr>
          <p:cNvPr id="45" name="Text 24">
            <a:extLst>
              <a:ext uri="{FF2B5EF4-FFF2-40B4-BE49-F238E27FC236}">
                <a16:creationId xmlns:a16="http://schemas.microsoft.com/office/drawing/2014/main" id="{99F45848-C6EA-A167-F8FE-4EA44DD7D762}"/>
              </a:ext>
            </a:extLst>
          </p:cNvPr>
          <p:cNvSpPr/>
          <p:nvPr/>
        </p:nvSpPr>
        <p:spPr>
          <a:xfrm>
            <a:off x="5383530" y="3545640"/>
            <a:ext cx="3326130" cy="246888"/>
          </a:xfrm>
          <a:prstGeom prst="rect">
            <a:avLst/>
          </a:prstGeom>
          <a:noFill/>
          <a:ln/>
        </p:spPr>
        <p:txBody>
          <a:bodyPr wrap="square" lIns="0" tIns="0" rIns="0" bIns="0" rtlCol="0" anchor="ctr"/>
          <a:lstStyle/>
          <a:p>
            <a:pPr defTabSz="685800"/>
            <a:r>
              <a:rPr lang="en-US" sz="1100" b="1">
                <a:solidFill>
                  <a:srgbClr val="0C3B2E"/>
                </a:solidFill>
                <a:cs typeface="Arial" pitchFamily="34" charset="-120"/>
              </a:rPr>
              <a:t>Sentiment — the perception</a:t>
            </a:r>
          </a:p>
        </p:txBody>
      </p:sp>
      <p:sp>
        <p:nvSpPr>
          <p:cNvPr id="46" name="Text 25">
            <a:extLst>
              <a:ext uri="{FF2B5EF4-FFF2-40B4-BE49-F238E27FC236}">
                <a16:creationId xmlns:a16="http://schemas.microsoft.com/office/drawing/2014/main" id="{ABFE0056-4C33-A9BC-F1E0-621C2F7FCA2A}"/>
              </a:ext>
            </a:extLst>
          </p:cNvPr>
          <p:cNvSpPr/>
          <p:nvPr/>
        </p:nvSpPr>
        <p:spPr>
          <a:xfrm>
            <a:off x="5383530" y="3792528"/>
            <a:ext cx="3326130" cy="342900"/>
          </a:xfrm>
          <a:prstGeom prst="rect">
            <a:avLst/>
          </a:prstGeom>
          <a:noFill/>
          <a:ln/>
        </p:spPr>
        <p:txBody>
          <a:bodyPr wrap="square" lIns="0" tIns="0" rIns="0" bIns="0" rtlCol="0" anchor="t"/>
          <a:lstStyle/>
          <a:p>
            <a:pPr defTabSz="685800"/>
            <a:r>
              <a:rPr lang="en-US" sz="1000">
                <a:cs typeface="Arial" pitchFamily="34" charset="-120"/>
              </a:rPr>
              <a:t>Content that shapes perception and corrects AI inaccuracies.</a:t>
            </a:r>
          </a:p>
        </p:txBody>
      </p:sp>
      <p:sp>
        <p:nvSpPr>
          <p:cNvPr id="47" name="Text 26">
            <a:extLst>
              <a:ext uri="{FF2B5EF4-FFF2-40B4-BE49-F238E27FC236}">
                <a16:creationId xmlns:a16="http://schemas.microsoft.com/office/drawing/2014/main" id="{13A506C4-873F-3EC8-18DB-F33EE4862ADF}"/>
              </a:ext>
            </a:extLst>
          </p:cNvPr>
          <p:cNvSpPr/>
          <p:nvPr/>
        </p:nvSpPr>
        <p:spPr>
          <a:xfrm>
            <a:off x="5383530" y="4121712"/>
            <a:ext cx="3326130" cy="219456"/>
          </a:xfrm>
          <a:prstGeom prst="rect">
            <a:avLst/>
          </a:prstGeom>
          <a:noFill/>
          <a:ln/>
        </p:spPr>
        <p:txBody>
          <a:bodyPr wrap="square" lIns="0" tIns="0" rIns="0" bIns="0" rtlCol="0" anchor="ctr"/>
          <a:lstStyle/>
          <a:p>
            <a:pPr defTabSz="685800"/>
            <a:r>
              <a:rPr lang="en-US" sz="800" b="1" i="1">
                <a:cs typeface="Arial" pitchFamily="34" charset="-120"/>
              </a:rPr>
              <a:t>Are we viewed favorably?</a:t>
            </a:r>
          </a:p>
        </p:txBody>
      </p:sp>
      <p:sp>
        <p:nvSpPr>
          <p:cNvPr id="48" name="Text 8">
            <a:extLst>
              <a:ext uri="{FF2B5EF4-FFF2-40B4-BE49-F238E27FC236}">
                <a16:creationId xmlns:a16="http://schemas.microsoft.com/office/drawing/2014/main" id="{0129A3E2-E6EB-59E6-747E-C198E0E767C2}"/>
              </a:ext>
            </a:extLst>
          </p:cNvPr>
          <p:cNvSpPr/>
          <p:nvPr/>
        </p:nvSpPr>
        <p:spPr>
          <a:xfrm>
            <a:off x="4629150" y="4454325"/>
            <a:ext cx="3669030" cy="240030"/>
          </a:xfrm>
          <a:prstGeom prst="rect">
            <a:avLst/>
          </a:prstGeom>
          <a:noFill/>
          <a:ln/>
        </p:spPr>
        <p:txBody>
          <a:bodyPr wrap="square" lIns="0" tIns="0" rIns="0" bIns="0" rtlCol="0" anchor="ctr"/>
          <a:lstStyle/>
          <a:p>
            <a:pPr defTabSz="685800"/>
            <a:r>
              <a:rPr lang="en-US" sz="800" b="1">
                <a:solidFill>
                  <a:srgbClr val="3DCD58"/>
                </a:solidFill>
                <a:ea typeface="Arial" pitchFamily="34" charset="-122"/>
                <a:cs typeface="Arial" pitchFamily="34" charset="-120"/>
              </a:rPr>
              <a:t>● </a:t>
            </a:r>
            <a:r>
              <a:rPr lang="en-US" sz="800" b="1">
                <a:ea typeface="Arial" pitchFamily="34" charset="-122"/>
                <a:cs typeface="Arial" pitchFamily="34" charset="-120"/>
              </a:rPr>
              <a:t>Covered</a:t>
            </a:r>
            <a:r>
              <a:rPr lang="en-US" sz="800" b="1">
                <a:solidFill>
                  <a:srgbClr val="5F6F68"/>
                </a:solidFill>
                <a:ea typeface="Arial" pitchFamily="34" charset="-122"/>
                <a:cs typeface="Arial" pitchFamily="34" charset="-120"/>
              </a:rPr>
              <a:t>    </a:t>
            </a:r>
            <a:r>
              <a:rPr lang="en-US" sz="800" b="1">
                <a:solidFill>
                  <a:srgbClr val="E4A400"/>
                </a:solidFill>
                <a:ea typeface="Arial" pitchFamily="34" charset="-122"/>
                <a:cs typeface="Arial" pitchFamily="34" charset="-120"/>
              </a:rPr>
              <a:t>◐ </a:t>
            </a:r>
            <a:r>
              <a:rPr lang="en-US" sz="800" b="1">
                <a:ea typeface="Arial" pitchFamily="34" charset="-122"/>
                <a:cs typeface="Arial" pitchFamily="34" charset="-120"/>
              </a:rPr>
              <a:t>Partial</a:t>
            </a:r>
            <a:r>
              <a:rPr lang="en-US" sz="800" b="1">
                <a:solidFill>
                  <a:srgbClr val="5F6F68"/>
                </a:solidFill>
                <a:ea typeface="Arial" pitchFamily="34" charset="-122"/>
                <a:cs typeface="Arial" pitchFamily="34" charset="-120"/>
              </a:rPr>
              <a:t>    </a:t>
            </a:r>
            <a:r>
              <a:rPr lang="en-US" sz="800" b="1">
                <a:solidFill>
                  <a:srgbClr val="C0392B"/>
                </a:solidFill>
                <a:ea typeface="Arial" pitchFamily="34" charset="-122"/>
                <a:cs typeface="Arial" pitchFamily="34" charset="-120"/>
              </a:rPr>
              <a:t>● </a:t>
            </a:r>
            <a:r>
              <a:rPr lang="en-US" sz="800" b="1">
                <a:ea typeface="Arial" pitchFamily="34" charset="-122"/>
                <a:cs typeface="Arial" pitchFamily="34" charset="-120"/>
              </a:rPr>
              <a:t>Gap</a:t>
            </a:r>
            <a:endParaRPr lang="en-US" sz="800"/>
          </a:p>
        </p:txBody>
      </p:sp>
      <p:sp>
        <p:nvSpPr>
          <p:cNvPr id="49" name="TextBox 48">
            <a:extLst>
              <a:ext uri="{FF2B5EF4-FFF2-40B4-BE49-F238E27FC236}">
                <a16:creationId xmlns:a16="http://schemas.microsoft.com/office/drawing/2014/main" id="{C18BC801-CAF9-9E34-974C-4CFDDE4ECD88}"/>
              </a:ext>
            </a:extLst>
          </p:cNvPr>
          <p:cNvSpPr txBox="1"/>
          <p:nvPr/>
        </p:nvSpPr>
        <p:spPr>
          <a:xfrm>
            <a:off x="434340" y="1871097"/>
            <a:ext cx="2357444" cy="2092881"/>
          </a:xfrm>
          <a:prstGeom prst="rect">
            <a:avLst/>
          </a:prstGeom>
          <a:solidFill>
            <a:schemeClr val="accent5"/>
          </a:solidFill>
          <a:ln>
            <a:solidFill>
              <a:schemeClr val="tx1"/>
            </a:solidFill>
          </a:ln>
        </p:spPr>
        <p:txBody>
          <a:bodyPr wrap="square" lIns="91440" tIns="45720" rIns="91440" bIns="45720" anchor="t">
            <a:spAutoFit/>
          </a:bodyPr>
          <a:lstStyle/>
          <a:p>
            <a:pPr>
              <a:spcAft>
                <a:spcPts val="300"/>
              </a:spcAft>
            </a:pPr>
            <a:r>
              <a:rPr lang="pl-PL" sz="1000" b="1"/>
              <a:t>Why audit?</a:t>
            </a:r>
          </a:p>
          <a:p>
            <a:pPr>
              <a:spcAft>
                <a:spcPts val="300"/>
              </a:spcAft>
            </a:pPr>
            <a:endParaRPr lang="pl-PL" sz="1000" b="1"/>
          </a:p>
          <a:p>
            <a:pPr>
              <a:spcAft>
                <a:spcPts val="300"/>
              </a:spcAft>
            </a:pPr>
            <a:r>
              <a:rPr lang="en-US" sz="1000" b="1"/>
              <a:t>The challenge</a:t>
            </a:r>
            <a:r>
              <a:rPr lang="pl-PL" sz="1000" b="1"/>
              <a:t>:</a:t>
            </a:r>
            <a:r>
              <a:rPr lang="en-US" sz="1000" b="1"/>
              <a:t> </a:t>
            </a:r>
            <a:r>
              <a:rPr lang="pl-PL" sz="1000"/>
              <a:t>w</a:t>
            </a:r>
            <a:r>
              <a:rPr lang="en-US" sz="1000"/>
              <a:t>e must systematically find where Schneider is 'blind' in AI-engine results.</a:t>
            </a:r>
            <a:endParaRPr lang="pl-PL" sz="1000"/>
          </a:p>
          <a:p>
            <a:pPr>
              <a:spcAft>
                <a:spcPts val="300"/>
              </a:spcAft>
            </a:pPr>
            <a:endParaRPr lang="pl-PL" sz="1000" b="1"/>
          </a:p>
          <a:p>
            <a:pPr>
              <a:spcAft>
                <a:spcPts val="300"/>
              </a:spcAft>
            </a:pPr>
            <a:r>
              <a:rPr lang="en-US" sz="1000" b="1"/>
              <a:t>The solution</a:t>
            </a:r>
            <a:r>
              <a:rPr lang="pl-PL" sz="1000" b="1"/>
              <a:t>:</a:t>
            </a:r>
            <a:r>
              <a:rPr lang="en-US" sz="1000" b="1"/>
              <a:t> </a:t>
            </a:r>
            <a:r>
              <a:rPr lang="pl-PL" sz="1000"/>
              <a:t>a</a:t>
            </a:r>
            <a:r>
              <a:rPr lang="en-US" sz="1000"/>
              <a:t> structured Content Gap Map that scores coverage against three strategic pillars — the roadmap for prioritized content creation.</a:t>
            </a:r>
          </a:p>
        </p:txBody>
      </p:sp>
      <p:cxnSp>
        <p:nvCxnSpPr>
          <p:cNvPr id="50" name="Straight Arrow Connector 49">
            <a:extLst>
              <a:ext uri="{FF2B5EF4-FFF2-40B4-BE49-F238E27FC236}">
                <a16:creationId xmlns:a16="http://schemas.microsoft.com/office/drawing/2014/main" id="{78AEC8E0-E7A3-0E8E-3588-5EA5AA26AB26}"/>
              </a:ext>
            </a:extLst>
          </p:cNvPr>
          <p:cNvCxnSpPr>
            <a:cxnSpLocks/>
            <a:stCxn id="49" idx="3"/>
            <a:endCxn id="3" idx="1"/>
          </p:cNvCxnSpPr>
          <p:nvPr/>
        </p:nvCxnSpPr>
        <p:spPr>
          <a:xfrm flipV="1">
            <a:off x="2791784" y="1796850"/>
            <a:ext cx="1837366" cy="112068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1" name="Straight Arrow Connector 50">
            <a:extLst>
              <a:ext uri="{FF2B5EF4-FFF2-40B4-BE49-F238E27FC236}">
                <a16:creationId xmlns:a16="http://schemas.microsoft.com/office/drawing/2014/main" id="{7810FB3D-62B7-BC64-C0E7-94E422F6A249}"/>
              </a:ext>
            </a:extLst>
          </p:cNvPr>
          <p:cNvCxnSpPr>
            <a:cxnSpLocks/>
            <a:stCxn id="49" idx="3"/>
            <a:endCxn id="36" idx="1"/>
          </p:cNvCxnSpPr>
          <p:nvPr/>
        </p:nvCxnSpPr>
        <p:spPr>
          <a:xfrm flipV="1">
            <a:off x="2791784" y="2859840"/>
            <a:ext cx="1837366" cy="57698"/>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52" name="Straight Arrow Connector 51">
            <a:extLst>
              <a:ext uri="{FF2B5EF4-FFF2-40B4-BE49-F238E27FC236}">
                <a16:creationId xmlns:a16="http://schemas.microsoft.com/office/drawing/2014/main" id="{651398EC-8CA9-344B-91C0-0AA0409D2990}"/>
              </a:ext>
            </a:extLst>
          </p:cNvPr>
          <p:cNvCxnSpPr>
            <a:cxnSpLocks/>
            <a:stCxn id="49" idx="3"/>
            <a:endCxn id="42" idx="1"/>
          </p:cNvCxnSpPr>
          <p:nvPr/>
        </p:nvCxnSpPr>
        <p:spPr>
          <a:xfrm>
            <a:off x="2791784" y="2917538"/>
            <a:ext cx="1837366" cy="1005292"/>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59" name="TextBox 58">
            <a:extLst>
              <a:ext uri="{FF2B5EF4-FFF2-40B4-BE49-F238E27FC236}">
                <a16:creationId xmlns:a16="http://schemas.microsoft.com/office/drawing/2014/main" id="{33C212A5-8534-7DDD-F3FE-164A206A639E}"/>
              </a:ext>
            </a:extLst>
          </p:cNvPr>
          <p:cNvSpPr txBox="1"/>
          <p:nvPr/>
        </p:nvSpPr>
        <p:spPr>
          <a:xfrm>
            <a:off x="434340" y="4021676"/>
            <a:ext cx="2357444" cy="723275"/>
          </a:xfrm>
          <a:prstGeom prst="rect">
            <a:avLst/>
          </a:prstGeom>
          <a:solidFill>
            <a:schemeClr val="tx1"/>
          </a:solidFill>
          <a:ln>
            <a:solidFill>
              <a:schemeClr val="tx1"/>
            </a:solidFill>
          </a:ln>
        </p:spPr>
        <p:txBody>
          <a:bodyPr wrap="square" lIns="91440" tIns="45720" rIns="91440" bIns="45720" anchor="t">
            <a:spAutoFit/>
          </a:bodyPr>
          <a:lstStyle/>
          <a:p>
            <a:pPr>
              <a:spcAft>
                <a:spcPts val="300"/>
              </a:spcAft>
            </a:pPr>
            <a:r>
              <a:rPr lang="pl-PL" sz="1100" b="1">
                <a:solidFill>
                  <a:schemeClr val="accent5"/>
                </a:solidFill>
              </a:rPr>
              <a:t>Important: </a:t>
            </a:r>
            <a:r>
              <a:rPr lang="en-US" sz="1000">
                <a:solidFill>
                  <a:schemeClr val="accent5"/>
                </a:solidFill>
              </a:rPr>
              <a:t>Visualizing gaps across Visibility, Channel and Sentiment gives a clear roadmap for prioritized content creation.</a:t>
            </a:r>
          </a:p>
        </p:txBody>
      </p:sp>
    </p:spTree>
    <p:extLst>
      <p:ext uri="{BB962C8B-B14F-4D97-AF65-F5344CB8AC3E}">
        <p14:creationId xmlns:p14="http://schemas.microsoft.com/office/powerpoint/2010/main" val="97534243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8C603-5917-761E-D362-47ADA2E4A7A2}"/>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C2A3256A-34B2-ECF7-99EA-FC860F7D2C75}"/>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5FB544B9-93CC-59A8-F260-47DDCE4D6459}"/>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2200" b="0" i="0" u="none" strike="noStrike" kern="1200" cap="none" spc="0" normalizeH="0" baseline="0" noProof="0">
                <a:ln>
                  <a:noFill/>
                </a:ln>
                <a:solidFill>
                  <a:srgbClr val="E7FFD9"/>
                </a:solidFill>
                <a:effectLst/>
                <a:uLnTx/>
                <a:uFillTx/>
                <a:latin typeface="Poppins"/>
                <a:ea typeface="+mn-ea"/>
                <a:cs typeface="Arial"/>
              </a:rPr>
              <a:t>Prompt Testing with Multiple AI Models</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12" name="Text 2">
            <a:extLst>
              <a:ext uri="{FF2B5EF4-FFF2-40B4-BE49-F238E27FC236}">
                <a16:creationId xmlns:a16="http://schemas.microsoft.com/office/drawing/2014/main" id="{DB3FF1A4-714B-CB95-2285-3FB9AB596E39}"/>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No special tool needed – just fixed set of prompts and making testing a habit.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51AFE476-AA99-6076-537E-D7FCB91FC99A}"/>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13D8CAF7-BC73-18C5-F9C7-4A336D7D4972}"/>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126</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2" name="Shape 2">
            <a:extLst>
              <a:ext uri="{FF2B5EF4-FFF2-40B4-BE49-F238E27FC236}">
                <a16:creationId xmlns:a16="http://schemas.microsoft.com/office/drawing/2014/main" id="{378B3930-2576-4025-13E3-DC43855052C8}"/>
              </a:ext>
            </a:extLst>
          </p:cNvPr>
          <p:cNvSpPr/>
          <p:nvPr/>
        </p:nvSpPr>
        <p:spPr>
          <a:xfrm>
            <a:off x="1260763" y="1732078"/>
            <a:ext cx="1474470" cy="2680215"/>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9" name="Shape 3">
            <a:extLst>
              <a:ext uri="{FF2B5EF4-FFF2-40B4-BE49-F238E27FC236}">
                <a16:creationId xmlns:a16="http://schemas.microsoft.com/office/drawing/2014/main" id="{531B0665-DCA5-B092-E985-2469CE5DB478}"/>
              </a:ext>
            </a:extLst>
          </p:cNvPr>
          <p:cNvSpPr/>
          <p:nvPr/>
        </p:nvSpPr>
        <p:spPr>
          <a:xfrm>
            <a:off x="1757968" y="1903529"/>
            <a:ext cx="480060" cy="480060"/>
          </a:xfrm>
          <a:prstGeom prst="ellipse">
            <a:avLst/>
          </a:prstGeom>
          <a:solidFill>
            <a:schemeClr val="tx1"/>
          </a:solidFill>
          <a:ln/>
        </p:spPr>
        <p:txBody>
          <a:bodyPr/>
          <a:lstStyle/>
          <a:p>
            <a:endParaRPr lang="pl-PL" sz="1350"/>
          </a:p>
        </p:txBody>
      </p:sp>
      <p:pic>
        <p:nvPicPr>
          <p:cNvPr id="13" name="Image 0" descr="/home/claude/geo_deck/icons/search.png">
            <a:extLst>
              <a:ext uri="{FF2B5EF4-FFF2-40B4-BE49-F238E27FC236}">
                <a16:creationId xmlns:a16="http://schemas.microsoft.com/office/drawing/2014/main" id="{3064D35B-8ED4-37EF-7717-8E7E8D74CC92}"/>
              </a:ext>
            </a:extLst>
          </p:cNvPr>
          <p:cNvPicPr>
            <a:picLocks noChangeAspect="1"/>
          </p:cNvPicPr>
          <p:nvPr/>
        </p:nvPicPr>
        <p:blipFill>
          <a:blip r:embed="rId2"/>
          <a:stretch>
            <a:fillRect/>
          </a:stretch>
        </p:blipFill>
        <p:spPr>
          <a:xfrm>
            <a:off x="1860838" y="2006399"/>
            <a:ext cx="274320" cy="274320"/>
          </a:xfrm>
          <a:prstGeom prst="rect">
            <a:avLst/>
          </a:prstGeom>
          <a:solidFill>
            <a:schemeClr val="tx1"/>
          </a:solidFill>
        </p:spPr>
      </p:pic>
      <p:sp>
        <p:nvSpPr>
          <p:cNvPr id="15" name="Text 5">
            <a:extLst>
              <a:ext uri="{FF2B5EF4-FFF2-40B4-BE49-F238E27FC236}">
                <a16:creationId xmlns:a16="http://schemas.microsoft.com/office/drawing/2014/main" id="{8736675B-88D6-2645-0D14-B19E6AEAE3B6}"/>
              </a:ext>
            </a:extLst>
          </p:cNvPr>
          <p:cNvSpPr/>
          <p:nvPr/>
        </p:nvSpPr>
        <p:spPr>
          <a:xfrm>
            <a:off x="1329343" y="2486459"/>
            <a:ext cx="1337310" cy="274320"/>
          </a:xfrm>
          <a:prstGeom prst="rect">
            <a:avLst/>
          </a:prstGeom>
          <a:noFill/>
          <a:ln/>
        </p:spPr>
        <p:txBody>
          <a:bodyPr wrap="square" rtlCol="0" anchor="ctr"/>
          <a:lstStyle/>
          <a:p>
            <a:pPr algn="ctr"/>
            <a:r>
              <a:rPr lang="en-US" sz="1100" b="1">
                <a:cs typeface="Arial"/>
              </a:rPr>
              <a:t>Build a fixed prompt panel</a:t>
            </a:r>
          </a:p>
        </p:txBody>
      </p:sp>
      <p:sp>
        <p:nvSpPr>
          <p:cNvPr id="16" name="Text 6">
            <a:extLst>
              <a:ext uri="{FF2B5EF4-FFF2-40B4-BE49-F238E27FC236}">
                <a16:creationId xmlns:a16="http://schemas.microsoft.com/office/drawing/2014/main" id="{FF24881C-DB0A-62F1-A025-08F6F4BDF9C9}"/>
              </a:ext>
            </a:extLst>
          </p:cNvPr>
          <p:cNvSpPr/>
          <p:nvPr/>
        </p:nvSpPr>
        <p:spPr>
          <a:xfrm>
            <a:off x="1240189" y="2936487"/>
            <a:ext cx="1515618" cy="1475805"/>
          </a:xfrm>
          <a:prstGeom prst="rect">
            <a:avLst/>
          </a:prstGeom>
          <a:noFill/>
          <a:ln/>
        </p:spPr>
        <p:txBody>
          <a:bodyPr wrap="square" rtlCol="0" anchor="t"/>
          <a:lstStyle/>
          <a:p>
            <a:pPr algn="ctr">
              <a:lnSpc>
                <a:spcPct val="115000"/>
              </a:lnSpc>
            </a:pPr>
            <a:r>
              <a:rPr lang="en-US" sz="1000">
                <a:cs typeface="Arial"/>
              </a:rPr>
              <a:t>20–50 prompts covering products, categories, use cases</a:t>
            </a:r>
            <a:r>
              <a:rPr lang="pl-PL" sz="1000">
                <a:cs typeface="Arial"/>
              </a:rPr>
              <a:t> or anything related to your page/content/asset</a:t>
            </a:r>
            <a:r>
              <a:rPr lang="en-US" sz="1000">
                <a:cs typeface="Arial"/>
              </a:rPr>
              <a:t>.</a:t>
            </a:r>
          </a:p>
        </p:txBody>
      </p:sp>
      <p:pic>
        <p:nvPicPr>
          <p:cNvPr id="17" name="Image 1" descr="/home/claude/geo_deck/icons/arrow.png">
            <a:extLst>
              <a:ext uri="{FF2B5EF4-FFF2-40B4-BE49-F238E27FC236}">
                <a16:creationId xmlns:a16="http://schemas.microsoft.com/office/drawing/2014/main" id="{04D4847C-4350-D836-7B5B-0468B4200703}"/>
              </a:ext>
            </a:extLst>
          </p:cNvPr>
          <p:cNvPicPr>
            <a:picLocks noChangeAspect="1"/>
          </p:cNvPicPr>
          <p:nvPr/>
        </p:nvPicPr>
        <p:blipFill>
          <a:blip r:embed="rId3"/>
          <a:stretch>
            <a:fillRect/>
          </a:stretch>
        </p:blipFill>
        <p:spPr>
          <a:xfrm>
            <a:off x="2755807" y="2417879"/>
            <a:ext cx="178308" cy="205740"/>
          </a:xfrm>
          <a:prstGeom prst="rect">
            <a:avLst/>
          </a:prstGeom>
        </p:spPr>
      </p:pic>
      <p:sp>
        <p:nvSpPr>
          <p:cNvPr id="18" name="Shape 7">
            <a:extLst>
              <a:ext uri="{FF2B5EF4-FFF2-40B4-BE49-F238E27FC236}">
                <a16:creationId xmlns:a16="http://schemas.microsoft.com/office/drawing/2014/main" id="{EFE198F3-9082-847B-5267-0C802745F1EA}"/>
              </a:ext>
            </a:extLst>
          </p:cNvPr>
          <p:cNvSpPr/>
          <p:nvPr/>
        </p:nvSpPr>
        <p:spPr>
          <a:xfrm>
            <a:off x="2954689" y="1732079"/>
            <a:ext cx="1474470" cy="2680214"/>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19" name="Shape 8">
            <a:extLst>
              <a:ext uri="{FF2B5EF4-FFF2-40B4-BE49-F238E27FC236}">
                <a16:creationId xmlns:a16="http://schemas.microsoft.com/office/drawing/2014/main" id="{0F59D0AC-8994-2785-D560-4FE36E30D196}"/>
              </a:ext>
            </a:extLst>
          </p:cNvPr>
          <p:cNvSpPr/>
          <p:nvPr/>
        </p:nvSpPr>
        <p:spPr>
          <a:xfrm>
            <a:off x="3451894" y="1903529"/>
            <a:ext cx="480060" cy="480060"/>
          </a:xfrm>
          <a:prstGeom prst="ellipse">
            <a:avLst/>
          </a:prstGeom>
          <a:solidFill>
            <a:schemeClr val="tx1"/>
          </a:solidFill>
          <a:ln/>
        </p:spPr>
        <p:txBody>
          <a:bodyPr/>
          <a:lstStyle/>
          <a:p>
            <a:endParaRPr lang="pl-PL" sz="1350"/>
          </a:p>
        </p:txBody>
      </p:sp>
      <p:pic>
        <p:nvPicPr>
          <p:cNvPr id="20" name="Image 2" descr="/home/claude/geo_deck/icons/tags.png">
            <a:extLst>
              <a:ext uri="{FF2B5EF4-FFF2-40B4-BE49-F238E27FC236}">
                <a16:creationId xmlns:a16="http://schemas.microsoft.com/office/drawing/2014/main" id="{EB196E1C-5B69-ECCC-7D6D-9B0925F3AE93}"/>
              </a:ext>
            </a:extLst>
          </p:cNvPr>
          <p:cNvPicPr>
            <a:picLocks noChangeAspect="1"/>
          </p:cNvPicPr>
          <p:nvPr/>
        </p:nvPicPr>
        <p:blipFill>
          <a:blip r:embed="rId4"/>
          <a:stretch>
            <a:fillRect/>
          </a:stretch>
        </p:blipFill>
        <p:spPr>
          <a:xfrm>
            <a:off x="3554764" y="2006399"/>
            <a:ext cx="274320" cy="274320"/>
          </a:xfrm>
          <a:prstGeom prst="rect">
            <a:avLst/>
          </a:prstGeom>
          <a:solidFill>
            <a:schemeClr val="tx1"/>
          </a:solidFill>
        </p:spPr>
      </p:pic>
      <p:sp>
        <p:nvSpPr>
          <p:cNvPr id="22" name="Text 10">
            <a:extLst>
              <a:ext uri="{FF2B5EF4-FFF2-40B4-BE49-F238E27FC236}">
                <a16:creationId xmlns:a16="http://schemas.microsoft.com/office/drawing/2014/main" id="{0E9B7FE3-A0DB-0A0A-1F2B-D904BF666A80}"/>
              </a:ext>
            </a:extLst>
          </p:cNvPr>
          <p:cNvSpPr/>
          <p:nvPr/>
        </p:nvSpPr>
        <p:spPr>
          <a:xfrm>
            <a:off x="3023269" y="2486459"/>
            <a:ext cx="1337310" cy="274320"/>
          </a:xfrm>
          <a:prstGeom prst="rect">
            <a:avLst/>
          </a:prstGeom>
          <a:noFill/>
          <a:ln/>
        </p:spPr>
        <p:txBody>
          <a:bodyPr wrap="square" rtlCol="0" anchor="ctr"/>
          <a:lstStyle/>
          <a:p>
            <a:pPr algn="ctr"/>
            <a:r>
              <a:rPr lang="en-US" sz="1100" b="1">
                <a:cs typeface="Arial"/>
              </a:rPr>
              <a:t>Run across major engines</a:t>
            </a:r>
          </a:p>
        </p:txBody>
      </p:sp>
      <p:sp>
        <p:nvSpPr>
          <p:cNvPr id="23" name="Text 11">
            <a:extLst>
              <a:ext uri="{FF2B5EF4-FFF2-40B4-BE49-F238E27FC236}">
                <a16:creationId xmlns:a16="http://schemas.microsoft.com/office/drawing/2014/main" id="{E166FEB4-BF46-0497-E066-E9D62BE959A6}"/>
              </a:ext>
            </a:extLst>
          </p:cNvPr>
          <p:cNvSpPr/>
          <p:nvPr/>
        </p:nvSpPr>
        <p:spPr>
          <a:xfrm>
            <a:off x="2975263" y="2936488"/>
            <a:ext cx="1474470" cy="1475805"/>
          </a:xfrm>
          <a:prstGeom prst="rect">
            <a:avLst/>
          </a:prstGeom>
          <a:noFill/>
          <a:ln/>
        </p:spPr>
        <p:txBody>
          <a:bodyPr wrap="square" rtlCol="0" anchor="t"/>
          <a:lstStyle/>
          <a:p>
            <a:pPr algn="ctr">
              <a:lnSpc>
                <a:spcPct val="115000"/>
              </a:lnSpc>
            </a:pPr>
            <a:r>
              <a:rPr lang="en-US" sz="1000">
                <a:cs typeface="Arial"/>
              </a:rPr>
              <a:t>Ask each prompt in ChatGPT, Perplexity, Gemini, Copilot, and Google </a:t>
            </a:r>
            <a:r>
              <a:rPr lang="pl-PL" sz="1000">
                <a:cs typeface="Arial"/>
              </a:rPr>
              <a:t>Gemini </a:t>
            </a:r>
            <a:r>
              <a:rPr lang="en-US" sz="1000">
                <a:cs typeface="Arial"/>
              </a:rPr>
              <a:t>on a fixed monthly date.</a:t>
            </a:r>
          </a:p>
        </p:txBody>
      </p:sp>
      <p:pic>
        <p:nvPicPr>
          <p:cNvPr id="24" name="Image 3" descr="/home/claude/geo_deck/icons/arrow.png">
            <a:extLst>
              <a:ext uri="{FF2B5EF4-FFF2-40B4-BE49-F238E27FC236}">
                <a16:creationId xmlns:a16="http://schemas.microsoft.com/office/drawing/2014/main" id="{0623637C-E158-4AE5-3F50-3C41B60AB60B}"/>
              </a:ext>
            </a:extLst>
          </p:cNvPr>
          <p:cNvPicPr>
            <a:picLocks noChangeAspect="1"/>
          </p:cNvPicPr>
          <p:nvPr/>
        </p:nvPicPr>
        <p:blipFill>
          <a:blip r:embed="rId3"/>
          <a:stretch>
            <a:fillRect/>
          </a:stretch>
        </p:blipFill>
        <p:spPr>
          <a:xfrm>
            <a:off x="4449733" y="2417879"/>
            <a:ext cx="178308" cy="205740"/>
          </a:xfrm>
          <a:prstGeom prst="rect">
            <a:avLst/>
          </a:prstGeom>
        </p:spPr>
      </p:pic>
      <p:sp>
        <p:nvSpPr>
          <p:cNvPr id="25" name="Shape 12">
            <a:extLst>
              <a:ext uri="{FF2B5EF4-FFF2-40B4-BE49-F238E27FC236}">
                <a16:creationId xmlns:a16="http://schemas.microsoft.com/office/drawing/2014/main" id="{CB9A1BA2-B316-F605-9C76-5C6FC9F4C9C5}"/>
              </a:ext>
            </a:extLst>
          </p:cNvPr>
          <p:cNvSpPr/>
          <p:nvPr/>
        </p:nvSpPr>
        <p:spPr>
          <a:xfrm>
            <a:off x="4648615" y="1732079"/>
            <a:ext cx="1474470" cy="2680214"/>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26" name="Shape 13">
            <a:extLst>
              <a:ext uri="{FF2B5EF4-FFF2-40B4-BE49-F238E27FC236}">
                <a16:creationId xmlns:a16="http://schemas.microsoft.com/office/drawing/2014/main" id="{D215640E-D3A6-83E3-6903-19B052E9AFA7}"/>
              </a:ext>
            </a:extLst>
          </p:cNvPr>
          <p:cNvSpPr/>
          <p:nvPr/>
        </p:nvSpPr>
        <p:spPr>
          <a:xfrm>
            <a:off x="5145820" y="1903529"/>
            <a:ext cx="480060" cy="480060"/>
          </a:xfrm>
          <a:prstGeom prst="ellipse">
            <a:avLst/>
          </a:prstGeom>
          <a:solidFill>
            <a:schemeClr val="tx1"/>
          </a:solidFill>
          <a:ln/>
        </p:spPr>
        <p:txBody>
          <a:bodyPr/>
          <a:lstStyle/>
          <a:p>
            <a:endParaRPr lang="pl-PL" sz="1350"/>
          </a:p>
        </p:txBody>
      </p:sp>
      <p:pic>
        <p:nvPicPr>
          <p:cNvPr id="27" name="Image 4" descr="/home/claude/geo_deck/icons/message.png">
            <a:extLst>
              <a:ext uri="{FF2B5EF4-FFF2-40B4-BE49-F238E27FC236}">
                <a16:creationId xmlns:a16="http://schemas.microsoft.com/office/drawing/2014/main" id="{AA0A084B-B487-9C54-86B8-DBD1E0ED7532}"/>
              </a:ext>
            </a:extLst>
          </p:cNvPr>
          <p:cNvPicPr>
            <a:picLocks noChangeAspect="1"/>
          </p:cNvPicPr>
          <p:nvPr/>
        </p:nvPicPr>
        <p:blipFill>
          <a:blip r:embed="rId5"/>
          <a:stretch>
            <a:fillRect/>
          </a:stretch>
        </p:blipFill>
        <p:spPr>
          <a:xfrm>
            <a:off x="5248690" y="2006399"/>
            <a:ext cx="274320" cy="274320"/>
          </a:xfrm>
          <a:prstGeom prst="rect">
            <a:avLst/>
          </a:prstGeom>
          <a:solidFill>
            <a:schemeClr val="tx1"/>
          </a:solidFill>
        </p:spPr>
      </p:pic>
      <p:sp>
        <p:nvSpPr>
          <p:cNvPr id="28" name="Text 15">
            <a:extLst>
              <a:ext uri="{FF2B5EF4-FFF2-40B4-BE49-F238E27FC236}">
                <a16:creationId xmlns:a16="http://schemas.microsoft.com/office/drawing/2014/main" id="{20CC9CC7-017E-FFDA-52A3-21F59B48F186}"/>
              </a:ext>
            </a:extLst>
          </p:cNvPr>
          <p:cNvSpPr/>
          <p:nvPr/>
        </p:nvSpPr>
        <p:spPr>
          <a:xfrm>
            <a:off x="4717195" y="2486459"/>
            <a:ext cx="1337310" cy="274320"/>
          </a:xfrm>
          <a:prstGeom prst="rect">
            <a:avLst/>
          </a:prstGeom>
          <a:noFill/>
          <a:ln/>
        </p:spPr>
        <p:txBody>
          <a:bodyPr wrap="square" rtlCol="0" anchor="ctr"/>
          <a:lstStyle/>
          <a:p>
            <a:pPr algn="ctr"/>
            <a:r>
              <a:rPr lang="en-US" sz="1100" b="1">
                <a:cs typeface="Arial"/>
              </a:rPr>
              <a:t>Score every answer</a:t>
            </a:r>
          </a:p>
        </p:txBody>
      </p:sp>
      <p:sp>
        <p:nvSpPr>
          <p:cNvPr id="29" name="Text 16">
            <a:extLst>
              <a:ext uri="{FF2B5EF4-FFF2-40B4-BE49-F238E27FC236}">
                <a16:creationId xmlns:a16="http://schemas.microsoft.com/office/drawing/2014/main" id="{D16FD5E8-D1F5-36DD-BA45-39856F0F1546}"/>
              </a:ext>
            </a:extLst>
          </p:cNvPr>
          <p:cNvSpPr/>
          <p:nvPr/>
        </p:nvSpPr>
        <p:spPr>
          <a:xfrm>
            <a:off x="4648615" y="2936488"/>
            <a:ext cx="1474470" cy="1475805"/>
          </a:xfrm>
          <a:prstGeom prst="rect">
            <a:avLst/>
          </a:prstGeom>
          <a:noFill/>
          <a:ln/>
        </p:spPr>
        <p:txBody>
          <a:bodyPr wrap="square" rtlCol="0" anchor="t"/>
          <a:lstStyle/>
          <a:p>
            <a:pPr algn="ctr">
              <a:lnSpc>
                <a:spcPct val="115000"/>
              </a:lnSpc>
            </a:pPr>
            <a:r>
              <a:rPr lang="en-US" sz="1000">
                <a:cs typeface="Arial"/>
              </a:rPr>
              <a:t>Mentioned? Cited? Sentiment (positive</a:t>
            </a:r>
            <a:endParaRPr lang="pl-PL" sz="1000">
              <a:cs typeface="Arial"/>
            </a:endParaRPr>
          </a:p>
          <a:p>
            <a:pPr algn="ctr">
              <a:lnSpc>
                <a:spcPct val="115000"/>
              </a:lnSpc>
            </a:pPr>
            <a:r>
              <a:rPr lang="en-US" sz="1000">
                <a:cs typeface="Arial"/>
              </a:rPr>
              <a:t>/neutral/negative)? Position (led with, or buried after competitors)?</a:t>
            </a:r>
          </a:p>
        </p:txBody>
      </p:sp>
      <p:pic>
        <p:nvPicPr>
          <p:cNvPr id="30" name="Image 5" descr="/home/claude/geo_deck/icons/arrow.png">
            <a:extLst>
              <a:ext uri="{FF2B5EF4-FFF2-40B4-BE49-F238E27FC236}">
                <a16:creationId xmlns:a16="http://schemas.microsoft.com/office/drawing/2014/main" id="{79A53856-A9D3-14B2-5AD9-FBCE0A3AF427}"/>
              </a:ext>
            </a:extLst>
          </p:cNvPr>
          <p:cNvPicPr>
            <a:picLocks noChangeAspect="1"/>
          </p:cNvPicPr>
          <p:nvPr/>
        </p:nvPicPr>
        <p:blipFill>
          <a:blip r:embed="rId3"/>
          <a:stretch>
            <a:fillRect/>
          </a:stretch>
        </p:blipFill>
        <p:spPr>
          <a:xfrm>
            <a:off x="6143659" y="2417879"/>
            <a:ext cx="178308" cy="205740"/>
          </a:xfrm>
          <a:prstGeom prst="rect">
            <a:avLst/>
          </a:prstGeom>
        </p:spPr>
      </p:pic>
      <p:sp>
        <p:nvSpPr>
          <p:cNvPr id="31" name="Shape 17">
            <a:extLst>
              <a:ext uri="{FF2B5EF4-FFF2-40B4-BE49-F238E27FC236}">
                <a16:creationId xmlns:a16="http://schemas.microsoft.com/office/drawing/2014/main" id="{F72EDF7B-E3E8-75AC-8878-C61E93D49AD7}"/>
              </a:ext>
            </a:extLst>
          </p:cNvPr>
          <p:cNvSpPr/>
          <p:nvPr/>
        </p:nvSpPr>
        <p:spPr>
          <a:xfrm>
            <a:off x="6342541" y="1732079"/>
            <a:ext cx="1474470" cy="2680214"/>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32" name="Shape 18">
            <a:extLst>
              <a:ext uri="{FF2B5EF4-FFF2-40B4-BE49-F238E27FC236}">
                <a16:creationId xmlns:a16="http://schemas.microsoft.com/office/drawing/2014/main" id="{B262F7E1-1E02-61EC-90D1-150A13C13D4B}"/>
              </a:ext>
            </a:extLst>
          </p:cNvPr>
          <p:cNvSpPr/>
          <p:nvPr/>
        </p:nvSpPr>
        <p:spPr>
          <a:xfrm>
            <a:off x="6839746" y="1903529"/>
            <a:ext cx="480060" cy="480060"/>
          </a:xfrm>
          <a:prstGeom prst="ellipse">
            <a:avLst/>
          </a:prstGeom>
          <a:solidFill>
            <a:schemeClr val="tx1"/>
          </a:solidFill>
          <a:ln/>
        </p:spPr>
        <p:txBody>
          <a:bodyPr/>
          <a:lstStyle/>
          <a:p>
            <a:endParaRPr lang="pl-PL" sz="1350"/>
          </a:p>
        </p:txBody>
      </p:sp>
      <p:pic>
        <p:nvPicPr>
          <p:cNvPr id="33" name="Image 6" descr="/home/claude/geo_deck/icons/clipboard.png">
            <a:extLst>
              <a:ext uri="{FF2B5EF4-FFF2-40B4-BE49-F238E27FC236}">
                <a16:creationId xmlns:a16="http://schemas.microsoft.com/office/drawing/2014/main" id="{095A3E49-2691-A6C7-93D2-A0144DF56412}"/>
              </a:ext>
            </a:extLst>
          </p:cNvPr>
          <p:cNvPicPr>
            <a:picLocks noChangeAspect="1"/>
          </p:cNvPicPr>
          <p:nvPr/>
        </p:nvPicPr>
        <p:blipFill>
          <a:blip r:embed="rId6"/>
          <a:stretch>
            <a:fillRect/>
          </a:stretch>
        </p:blipFill>
        <p:spPr>
          <a:xfrm>
            <a:off x="6942616" y="2006399"/>
            <a:ext cx="274320" cy="274320"/>
          </a:xfrm>
          <a:prstGeom prst="rect">
            <a:avLst/>
          </a:prstGeom>
          <a:solidFill>
            <a:schemeClr val="tx1"/>
          </a:solidFill>
        </p:spPr>
      </p:pic>
      <p:sp>
        <p:nvSpPr>
          <p:cNvPr id="34" name="Text 20">
            <a:extLst>
              <a:ext uri="{FF2B5EF4-FFF2-40B4-BE49-F238E27FC236}">
                <a16:creationId xmlns:a16="http://schemas.microsoft.com/office/drawing/2014/main" id="{4B31A1B8-6DB2-470E-E34E-7577D0CB9C49}"/>
              </a:ext>
            </a:extLst>
          </p:cNvPr>
          <p:cNvSpPr/>
          <p:nvPr/>
        </p:nvSpPr>
        <p:spPr>
          <a:xfrm>
            <a:off x="6411121" y="2486459"/>
            <a:ext cx="1337310" cy="274320"/>
          </a:xfrm>
          <a:prstGeom prst="rect">
            <a:avLst/>
          </a:prstGeom>
          <a:noFill/>
          <a:ln/>
        </p:spPr>
        <p:txBody>
          <a:bodyPr wrap="square" rtlCol="0" anchor="ctr"/>
          <a:lstStyle/>
          <a:p>
            <a:pPr algn="ctr"/>
            <a:r>
              <a:rPr lang="en-US" sz="1100" b="1">
                <a:cs typeface="Arial"/>
              </a:rPr>
              <a:t>Track share of voice</a:t>
            </a:r>
          </a:p>
        </p:txBody>
      </p:sp>
      <p:sp>
        <p:nvSpPr>
          <p:cNvPr id="35" name="Text 21">
            <a:extLst>
              <a:ext uri="{FF2B5EF4-FFF2-40B4-BE49-F238E27FC236}">
                <a16:creationId xmlns:a16="http://schemas.microsoft.com/office/drawing/2014/main" id="{E6FD3157-6D3A-4081-0B9D-35C5CF13794F}"/>
              </a:ext>
            </a:extLst>
          </p:cNvPr>
          <p:cNvSpPr/>
          <p:nvPr/>
        </p:nvSpPr>
        <p:spPr>
          <a:xfrm>
            <a:off x="6321967" y="2936487"/>
            <a:ext cx="1515618" cy="1475805"/>
          </a:xfrm>
          <a:prstGeom prst="rect">
            <a:avLst/>
          </a:prstGeom>
          <a:noFill/>
          <a:ln/>
        </p:spPr>
        <p:txBody>
          <a:bodyPr wrap="square" rtlCol="0" anchor="t"/>
          <a:lstStyle/>
          <a:p>
            <a:pPr algn="ctr">
              <a:lnSpc>
                <a:spcPct val="115000"/>
              </a:lnSpc>
            </a:pPr>
            <a:r>
              <a:rPr lang="en-US" sz="1000">
                <a:cs typeface="Arial"/>
              </a:rPr>
              <a:t>Log results in a simple sheet: </a:t>
            </a:r>
            <a:r>
              <a:rPr lang="pl-PL" sz="1000">
                <a:cs typeface="Arial"/>
              </a:rPr>
              <a:t>your </a:t>
            </a:r>
            <a:r>
              <a:rPr lang="en-US" sz="1000">
                <a:cs typeface="Arial"/>
              </a:rPr>
              <a:t> mentions vs. named competitors, per prompt, per engine, over time.</a:t>
            </a:r>
          </a:p>
        </p:txBody>
      </p:sp>
    </p:spTree>
    <p:extLst>
      <p:ext uri="{BB962C8B-B14F-4D97-AF65-F5344CB8AC3E}">
        <p14:creationId xmlns:p14="http://schemas.microsoft.com/office/powerpoint/2010/main" val="150433696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7C14C-9750-87CA-4870-A607D143B21C}"/>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1C67BEA7-9D46-2928-F73C-EA3E49ED902D}"/>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8B8394B4-F570-9C0F-8C17-341CF62D0BC3}"/>
              </a:ext>
            </a:extLst>
          </p:cNvPr>
          <p:cNvSpPr/>
          <p:nvPr/>
        </p:nvSpPr>
        <p:spPr>
          <a:xfrm>
            <a:off x="342900" y="192024"/>
            <a:ext cx="7886700" cy="377190"/>
          </a:xfrm>
          <a:prstGeom prst="rect">
            <a:avLst/>
          </a:prstGeom>
          <a:noFill/>
          <a:ln/>
        </p:spPr>
        <p:txBody>
          <a:bodyPr wrap="square" lIns="0" tIns="0" rIns="0" bIns="0" rtlCol="0" anchor="ctr"/>
          <a:lstStyle/>
          <a:p>
            <a:pPr lvl="0">
              <a:defRPr/>
            </a:pPr>
            <a:r>
              <a:rPr lang="pl-PL" sz="2200">
                <a:solidFill>
                  <a:srgbClr val="E7FFD9"/>
                </a:solidFill>
                <a:cs typeface="Arial"/>
              </a:rPr>
              <a:t>Prompt Testing with Multiple AI Models</a:t>
            </a:r>
            <a:endParaRPr lang="en-US" sz="2200">
              <a:solidFill>
                <a:srgbClr val="E7FFD9"/>
              </a:solidFill>
              <a:cs typeface="Arial"/>
            </a:endParaRPr>
          </a:p>
        </p:txBody>
      </p:sp>
      <p:sp>
        <p:nvSpPr>
          <p:cNvPr id="12" name="Text 2">
            <a:extLst>
              <a:ext uri="{FF2B5EF4-FFF2-40B4-BE49-F238E27FC236}">
                <a16:creationId xmlns:a16="http://schemas.microsoft.com/office/drawing/2014/main" id="{A933AF76-87D7-B980-F010-F26602D1CE56}"/>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No special tool needed – just fixed set of prompts and making testing a habit.</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F850FE79-7E06-CDF9-3978-7162263635C4}"/>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EFC7EFA3-5BEC-06F3-8829-0BAD9B0E3F58}"/>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127</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10" name="Table 9">
            <a:extLst>
              <a:ext uri="{FF2B5EF4-FFF2-40B4-BE49-F238E27FC236}">
                <a16:creationId xmlns:a16="http://schemas.microsoft.com/office/drawing/2014/main" id="{755059EE-17F6-F978-516F-F233B8C0F88F}"/>
              </a:ext>
            </a:extLst>
          </p:cNvPr>
          <p:cNvGraphicFramePr>
            <a:graphicFrameLocks noGrp="1"/>
          </p:cNvGraphicFramePr>
          <p:nvPr>
            <p:extLst>
              <p:ext uri="{D42A27DB-BD31-4B8C-83A1-F6EECF244321}">
                <p14:modId xmlns:p14="http://schemas.microsoft.com/office/powerpoint/2010/main" val="2669185790"/>
              </p:ext>
            </p:extLst>
          </p:nvPr>
        </p:nvGraphicFramePr>
        <p:xfrm>
          <a:off x="133694" y="2801955"/>
          <a:ext cx="4319295" cy="1718648"/>
        </p:xfrm>
        <a:graphic>
          <a:graphicData uri="http://schemas.openxmlformats.org/drawingml/2006/table">
            <a:tbl>
              <a:tblPr firstRow="1" bandRow="1">
                <a:tableStyleId>{5C22544A-7EE6-4342-B048-85BDC9FD1C3A}</a:tableStyleId>
              </a:tblPr>
              <a:tblGrid>
                <a:gridCol w="863859">
                  <a:extLst>
                    <a:ext uri="{9D8B030D-6E8A-4147-A177-3AD203B41FA5}">
                      <a16:colId xmlns:a16="http://schemas.microsoft.com/office/drawing/2014/main" val="2835010798"/>
                    </a:ext>
                  </a:extLst>
                </a:gridCol>
                <a:gridCol w="863859">
                  <a:extLst>
                    <a:ext uri="{9D8B030D-6E8A-4147-A177-3AD203B41FA5}">
                      <a16:colId xmlns:a16="http://schemas.microsoft.com/office/drawing/2014/main" val="1699443646"/>
                    </a:ext>
                  </a:extLst>
                </a:gridCol>
                <a:gridCol w="863859">
                  <a:extLst>
                    <a:ext uri="{9D8B030D-6E8A-4147-A177-3AD203B41FA5}">
                      <a16:colId xmlns:a16="http://schemas.microsoft.com/office/drawing/2014/main" val="1646138265"/>
                    </a:ext>
                  </a:extLst>
                </a:gridCol>
                <a:gridCol w="863859">
                  <a:extLst>
                    <a:ext uri="{9D8B030D-6E8A-4147-A177-3AD203B41FA5}">
                      <a16:colId xmlns:a16="http://schemas.microsoft.com/office/drawing/2014/main" val="3256447987"/>
                    </a:ext>
                  </a:extLst>
                </a:gridCol>
                <a:gridCol w="863859">
                  <a:extLst>
                    <a:ext uri="{9D8B030D-6E8A-4147-A177-3AD203B41FA5}">
                      <a16:colId xmlns:a16="http://schemas.microsoft.com/office/drawing/2014/main" val="1215824404"/>
                    </a:ext>
                  </a:extLst>
                </a:gridCol>
              </a:tblGrid>
              <a:tr h="308833">
                <a:tc gridSpan="5">
                  <a:txBody>
                    <a:bodyPr/>
                    <a:lstStyle/>
                    <a:p>
                      <a:pPr algn="ctr"/>
                      <a:r>
                        <a:rPr lang="pl-PL" sz="1400" b="1">
                          <a:solidFill>
                            <a:schemeClr val="accent5"/>
                          </a:solidFill>
                        </a:rPr>
                        <a:t>Schneider Electric – Chat 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tc hMerge="1">
                  <a:txBody>
                    <a:bodyPr/>
                    <a:lstStyle/>
                    <a:p>
                      <a:endParaRPr lang="pl-PL" sz="1000"/>
                    </a:p>
                  </a:txBody>
                  <a:tcPr/>
                </a:tc>
                <a:tc hMerge="1">
                  <a:txBody>
                    <a:bodyPr/>
                    <a:lstStyle/>
                    <a:p>
                      <a:endParaRPr lang="pl-PL" sz="1000"/>
                    </a:p>
                  </a:txBody>
                  <a:tcPr/>
                </a:tc>
                <a:tc hMerge="1">
                  <a:txBody>
                    <a:bodyPr/>
                    <a:lstStyle/>
                    <a:p>
                      <a:endParaRPr lang="pl-PL" sz="1000"/>
                    </a:p>
                  </a:txBody>
                  <a:tcPr/>
                </a:tc>
                <a:tc hMerge="1">
                  <a:txBody>
                    <a:bodyPr/>
                    <a:lstStyle/>
                    <a:p>
                      <a:endParaRPr lang="pl-PL" sz="1000"/>
                    </a:p>
                  </a:txBody>
                  <a:tcPr/>
                </a:tc>
                <a:extLst>
                  <a:ext uri="{0D108BD9-81ED-4DB2-BD59-A6C34878D82A}">
                    <a16:rowId xmlns:a16="http://schemas.microsoft.com/office/drawing/2014/main" val="3011920083"/>
                  </a:ext>
                </a:extLst>
              </a:tr>
              <a:tr h="281963">
                <a:tc>
                  <a:txBody>
                    <a:bodyPr/>
                    <a:lstStyle/>
                    <a:p>
                      <a:pPr algn="ctr"/>
                      <a:r>
                        <a:rPr lang="pl-PL" sz="1000" b="0">
                          <a:solidFill>
                            <a:schemeClr val="accent5"/>
                          </a:solidFill>
                        </a:rPr>
                        <a:t>Prompt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Mentioned</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Cited</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Position</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Sentiment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715758303"/>
                  </a:ext>
                </a:extLst>
              </a:tr>
              <a:tr h="281963">
                <a:tc>
                  <a:txBody>
                    <a:bodyPr/>
                    <a:lstStyle/>
                    <a:p>
                      <a:pPr algn="ctr"/>
                      <a:r>
                        <a:rPr lang="pl-PL" sz="1000"/>
                        <a:t>Prompt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809579085"/>
                  </a:ext>
                </a:extLst>
              </a:tr>
              <a:tr h="28196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Prompt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965314"/>
                  </a:ext>
                </a:extLst>
              </a:tr>
              <a:tr h="28196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Prompt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15158843"/>
                  </a:ext>
                </a:extLst>
              </a:tr>
              <a:tr h="281963">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Prompt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Fifth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Neutral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2073736"/>
                  </a:ext>
                </a:extLst>
              </a:tr>
            </a:tbl>
          </a:graphicData>
        </a:graphic>
      </p:graphicFrame>
      <p:graphicFrame>
        <p:nvGraphicFramePr>
          <p:cNvPr id="36" name="Table 35">
            <a:extLst>
              <a:ext uri="{FF2B5EF4-FFF2-40B4-BE49-F238E27FC236}">
                <a16:creationId xmlns:a16="http://schemas.microsoft.com/office/drawing/2014/main" id="{762ED92B-AEFA-A760-08B4-E4609B21DF96}"/>
              </a:ext>
            </a:extLst>
          </p:cNvPr>
          <p:cNvGraphicFramePr>
            <a:graphicFrameLocks noGrp="1"/>
          </p:cNvGraphicFramePr>
          <p:nvPr>
            <p:extLst>
              <p:ext uri="{D42A27DB-BD31-4B8C-83A1-F6EECF244321}">
                <p14:modId xmlns:p14="http://schemas.microsoft.com/office/powerpoint/2010/main" val="2521101860"/>
              </p:ext>
            </p:extLst>
          </p:nvPr>
        </p:nvGraphicFramePr>
        <p:xfrm>
          <a:off x="4691013" y="2801955"/>
          <a:ext cx="4319295" cy="1718650"/>
        </p:xfrm>
        <a:graphic>
          <a:graphicData uri="http://schemas.openxmlformats.org/drawingml/2006/table">
            <a:tbl>
              <a:tblPr firstRow="1" bandRow="1">
                <a:tableStyleId>{5C22544A-7EE6-4342-B048-85BDC9FD1C3A}</a:tableStyleId>
              </a:tblPr>
              <a:tblGrid>
                <a:gridCol w="863859">
                  <a:extLst>
                    <a:ext uri="{9D8B030D-6E8A-4147-A177-3AD203B41FA5}">
                      <a16:colId xmlns:a16="http://schemas.microsoft.com/office/drawing/2014/main" val="2835010798"/>
                    </a:ext>
                  </a:extLst>
                </a:gridCol>
                <a:gridCol w="863859">
                  <a:extLst>
                    <a:ext uri="{9D8B030D-6E8A-4147-A177-3AD203B41FA5}">
                      <a16:colId xmlns:a16="http://schemas.microsoft.com/office/drawing/2014/main" val="1699443646"/>
                    </a:ext>
                  </a:extLst>
                </a:gridCol>
                <a:gridCol w="863859">
                  <a:extLst>
                    <a:ext uri="{9D8B030D-6E8A-4147-A177-3AD203B41FA5}">
                      <a16:colId xmlns:a16="http://schemas.microsoft.com/office/drawing/2014/main" val="1646138265"/>
                    </a:ext>
                  </a:extLst>
                </a:gridCol>
                <a:gridCol w="863859">
                  <a:extLst>
                    <a:ext uri="{9D8B030D-6E8A-4147-A177-3AD203B41FA5}">
                      <a16:colId xmlns:a16="http://schemas.microsoft.com/office/drawing/2014/main" val="3256447987"/>
                    </a:ext>
                  </a:extLst>
                </a:gridCol>
                <a:gridCol w="863859">
                  <a:extLst>
                    <a:ext uri="{9D8B030D-6E8A-4147-A177-3AD203B41FA5}">
                      <a16:colId xmlns:a16="http://schemas.microsoft.com/office/drawing/2014/main" val="1215824404"/>
                    </a:ext>
                  </a:extLst>
                </a:gridCol>
              </a:tblGrid>
              <a:tr h="293470">
                <a:tc gridSpan="5">
                  <a:txBody>
                    <a:bodyPr/>
                    <a:lstStyle/>
                    <a:p>
                      <a:pPr algn="ctr"/>
                      <a:r>
                        <a:rPr lang="pl-PL" sz="1400" b="1">
                          <a:solidFill>
                            <a:schemeClr val="accent5"/>
                          </a:solidFill>
                        </a:rPr>
                        <a:t>Siemens – Chat GPT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tc hMerge="1">
                  <a:txBody>
                    <a:bodyPr/>
                    <a:lstStyle/>
                    <a:p>
                      <a:endParaRPr lang="pl-PL" sz="1000"/>
                    </a:p>
                  </a:txBody>
                  <a:tcPr/>
                </a:tc>
                <a:tc hMerge="1">
                  <a:txBody>
                    <a:bodyPr/>
                    <a:lstStyle/>
                    <a:p>
                      <a:endParaRPr lang="pl-PL" sz="1000"/>
                    </a:p>
                  </a:txBody>
                  <a:tcPr/>
                </a:tc>
                <a:tc hMerge="1">
                  <a:txBody>
                    <a:bodyPr/>
                    <a:lstStyle/>
                    <a:p>
                      <a:endParaRPr lang="pl-PL" sz="1000"/>
                    </a:p>
                  </a:txBody>
                  <a:tcPr/>
                </a:tc>
                <a:tc hMerge="1">
                  <a:txBody>
                    <a:bodyPr/>
                    <a:lstStyle/>
                    <a:p>
                      <a:endParaRPr lang="pl-PL" sz="1000"/>
                    </a:p>
                  </a:txBody>
                  <a:tcPr/>
                </a:tc>
                <a:extLst>
                  <a:ext uri="{0D108BD9-81ED-4DB2-BD59-A6C34878D82A}">
                    <a16:rowId xmlns:a16="http://schemas.microsoft.com/office/drawing/2014/main" val="3011920083"/>
                  </a:ext>
                </a:extLst>
              </a:tr>
              <a:tr h="282770">
                <a:tc>
                  <a:txBody>
                    <a:bodyPr/>
                    <a:lstStyle/>
                    <a:p>
                      <a:pPr algn="ctr"/>
                      <a:r>
                        <a:rPr lang="pl-PL" sz="1000" b="0">
                          <a:solidFill>
                            <a:schemeClr val="accent5"/>
                          </a:solidFill>
                        </a:rPr>
                        <a:t>Prompt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Mentioned</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Cited</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Position</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Sentiment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715758303"/>
                  </a:ext>
                </a:extLst>
              </a:tr>
              <a:tr h="282770">
                <a:tc>
                  <a:txBody>
                    <a:bodyPr/>
                    <a:lstStyle/>
                    <a:p>
                      <a:pPr algn="ctr"/>
                      <a:r>
                        <a:rPr lang="pl-PL" sz="1000"/>
                        <a:t>Prompt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809579085"/>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Prompt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965314"/>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Prompt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Third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Neutral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15158843"/>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a:t>Prompt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2073736"/>
                  </a:ext>
                </a:extLst>
              </a:tr>
            </a:tbl>
          </a:graphicData>
        </a:graphic>
      </p:graphicFrame>
      <p:sp>
        <p:nvSpPr>
          <p:cNvPr id="37" name="TextBox 36">
            <a:extLst>
              <a:ext uri="{FF2B5EF4-FFF2-40B4-BE49-F238E27FC236}">
                <a16:creationId xmlns:a16="http://schemas.microsoft.com/office/drawing/2014/main" id="{A1F27BAA-50FC-FF21-E109-2E1FFE056CCF}"/>
              </a:ext>
            </a:extLst>
          </p:cNvPr>
          <p:cNvSpPr txBox="1"/>
          <p:nvPr/>
        </p:nvSpPr>
        <p:spPr>
          <a:xfrm>
            <a:off x="676379" y="1080483"/>
            <a:ext cx="7553221" cy="1669688"/>
          </a:xfrm>
          <a:prstGeom prst="rect">
            <a:avLst/>
          </a:prstGeom>
          <a:solidFill>
            <a:schemeClr val="accent5"/>
          </a:solidFill>
          <a:ln>
            <a:solidFill>
              <a:schemeClr val="tx1"/>
            </a:solidFill>
          </a:ln>
        </p:spPr>
        <p:txBody>
          <a:bodyPr wrap="square" lIns="91440" tIns="45720" rIns="91440" bIns="45720" anchor="t">
            <a:spAutoFit/>
          </a:bodyPr>
          <a:lstStyle/>
          <a:p>
            <a:pPr>
              <a:spcAft>
                <a:spcPts val="300"/>
              </a:spcAft>
            </a:pPr>
            <a:r>
              <a:rPr lang="pl-PL" sz="1000" b="1"/>
              <a:t>Example of comparison tables to easy track our presence in AI. We can compare the results with any competitor in multiple AI models. Metric used:</a:t>
            </a:r>
            <a:endParaRPr lang="en-US" sz="1000" b="1"/>
          </a:p>
          <a:p>
            <a:pPr marL="31115">
              <a:lnSpc>
                <a:spcPct val="100000"/>
              </a:lnSpc>
            </a:pPr>
            <a:r>
              <a:rPr lang="pl-PL" sz="1000" b="1"/>
              <a:t>Mentioned: </a:t>
            </a:r>
            <a:r>
              <a:rPr lang="en-US" sz="1000"/>
              <a:t>A metric confirming whether your brand name or product is included or completely omitted within an AI engine's response.</a:t>
            </a:r>
            <a:endParaRPr lang="pl-PL" sz="1000"/>
          </a:p>
          <a:p>
            <a:pPr marL="31115">
              <a:lnSpc>
                <a:spcPct val="100000"/>
              </a:lnSpc>
            </a:pPr>
            <a:r>
              <a:rPr lang="pl-PL" sz="1000" b="1"/>
              <a:t>Cited: </a:t>
            </a:r>
            <a:r>
              <a:rPr lang="en-US" sz="1000"/>
              <a:t>A metric indicating if the AI engine explicitly linked to your website as a clickable source for the information it provided.</a:t>
            </a:r>
            <a:endParaRPr lang="pl-PL" sz="1000"/>
          </a:p>
          <a:p>
            <a:pPr marL="31115">
              <a:lnSpc>
                <a:spcPct val="100000"/>
              </a:lnSpc>
            </a:pPr>
            <a:r>
              <a:rPr lang="pl-PL" sz="1000" b="1"/>
              <a:t>Position: </a:t>
            </a:r>
            <a:r>
              <a:rPr lang="en-US" sz="1000"/>
              <a:t>The numerical rank or visual placement of your brand or link within the AI-generated answer, such as being the first recommended product.</a:t>
            </a:r>
            <a:endParaRPr lang="pl-PL" sz="1000"/>
          </a:p>
          <a:p>
            <a:pPr marL="31115">
              <a:lnSpc>
                <a:spcPct val="100000"/>
              </a:lnSpc>
            </a:pPr>
            <a:r>
              <a:rPr lang="pl-PL" sz="1000" b="1"/>
              <a:t>Sentiment: </a:t>
            </a:r>
            <a:r>
              <a:rPr lang="en-US" sz="1000"/>
              <a:t>The overall emotional tone (positive, neutral, or negative) and favorability that the AI engine uses when describing your brand to the user.</a:t>
            </a:r>
          </a:p>
        </p:txBody>
      </p:sp>
    </p:spTree>
    <p:extLst>
      <p:ext uri="{BB962C8B-B14F-4D97-AF65-F5344CB8AC3E}">
        <p14:creationId xmlns:p14="http://schemas.microsoft.com/office/powerpoint/2010/main" val="354547197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CDF3A-9F00-E4F9-5556-519EDA7B863A}"/>
            </a:ext>
          </a:extLst>
        </p:cNvPr>
        <p:cNvGrpSpPr/>
        <p:nvPr/>
      </p:nvGrpSpPr>
      <p:grpSpPr>
        <a:xfrm>
          <a:off x="0" y="0"/>
          <a:ext cx="0" cy="0"/>
          <a:chOff x="0" y="0"/>
          <a:chExt cx="0" cy="0"/>
        </a:xfrm>
      </p:grpSpPr>
      <p:sp>
        <p:nvSpPr>
          <p:cNvPr id="15" name="Shape 7">
            <a:extLst>
              <a:ext uri="{FF2B5EF4-FFF2-40B4-BE49-F238E27FC236}">
                <a16:creationId xmlns:a16="http://schemas.microsoft.com/office/drawing/2014/main" id="{B2C3CA84-7988-3D55-3907-311770B6B5C0}"/>
              </a:ext>
            </a:extLst>
          </p:cNvPr>
          <p:cNvSpPr/>
          <p:nvPr/>
        </p:nvSpPr>
        <p:spPr>
          <a:xfrm>
            <a:off x="3115968" y="1532491"/>
            <a:ext cx="2892357" cy="2680214"/>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16" name="Shape 8">
            <a:extLst>
              <a:ext uri="{FF2B5EF4-FFF2-40B4-BE49-F238E27FC236}">
                <a16:creationId xmlns:a16="http://schemas.microsoft.com/office/drawing/2014/main" id="{E7897160-C368-319F-75C0-3EF9F4B7EEB0}"/>
              </a:ext>
            </a:extLst>
          </p:cNvPr>
          <p:cNvSpPr/>
          <p:nvPr/>
        </p:nvSpPr>
        <p:spPr>
          <a:xfrm>
            <a:off x="4292047" y="1703941"/>
            <a:ext cx="480060" cy="480060"/>
          </a:xfrm>
          <a:prstGeom prst="ellipse">
            <a:avLst/>
          </a:prstGeom>
          <a:solidFill>
            <a:schemeClr val="tx1"/>
          </a:solidFill>
          <a:ln/>
        </p:spPr>
        <p:txBody>
          <a:bodyPr/>
          <a:lstStyle/>
          <a:p>
            <a:endParaRPr lang="pl-PL" sz="1350"/>
          </a:p>
        </p:txBody>
      </p:sp>
      <p:pic>
        <p:nvPicPr>
          <p:cNvPr id="7" name="Image 0" descr="/home/claude/geo_deck/icons/search.png">
            <a:extLst>
              <a:ext uri="{FF2B5EF4-FFF2-40B4-BE49-F238E27FC236}">
                <a16:creationId xmlns:a16="http://schemas.microsoft.com/office/drawing/2014/main" id="{271DACA4-C83F-1A47-AC17-561A55837550}"/>
              </a:ext>
            </a:extLst>
          </p:cNvPr>
          <p:cNvPicPr>
            <a:picLocks noChangeAspect="1"/>
          </p:cNvPicPr>
          <p:nvPr/>
        </p:nvPicPr>
        <p:blipFill>
          <a:blip r:embed="rId2"/>
          <a:stretch>
            <a:fillRect/>
          </a:stretch>
        </p:blipFill>
        <p:spPr>
          <a:xfrm>
            <a:off x="4392156" y="1806811"/>
            <a:ext cx="274320" cy="274320"/>
          </a:xfrm>
          <a:prstGeom prst="rect">
            <a:avLst/>
          </a:prstGeom>
          <a:solidFill>
            <a:schemeClr val="tx1"/>
          </a:solidFill>
        </p:spPr>
      </p:pic>
      <p:sp>
        <p:nvSpPr>
          <p:cNvPr id="18" name="Text 10">
            <a:extLst>
              <a:ext uri="{FF2B5EF4-FFF2-40B4-BE49-F238E27FC236}">
                <a16:creationId xmlns:a16="http://schemas.microsoft.com/office/drawing/2014/main" id="{2BD59EB6-5BBD-49F6-27DC-06E71EFD542E}"/>
              </a:ext>
            </a:extLst>
          </p:cNvPr>
          <p:cNvSpPr/>
          <p:nvPr/>
        </p:nvSpPr>
        <p:spPr>
          <a:xfrm>
            <a:off x="3115968" y="2286871"/>
            <a:ext cx="2892357" cy="274320"/>
          </a:xfrm>
          <a:prstGeom prst="rect">
            <a:avLst/>
          </a:prstGeom>
          <a:noFill/>
          <a:ln/>
        </p:spPr>
        <p:txBody>
          <a:bodyPr wrap="square" rtlCol="0" anchor="ctr"/>
          <a:lstStyle/>
          <a:p>
            <a:pPr algn="ctr"/>
            <a:r>
              <a:rPr lang="pl-PL" sz="1100" b="1">
                <a:cs typeface="Arial"/>
              </a:rPr>
              <a:t>Analyze: </a:t>
            </a:r>
            <a:r>
              <a:rPr lang="en-US" sz="1100">
                <a:cs typeface="Arial"/>
              </a:rPr>
              <a:t>Reverse-engineer what wins</a:t>
            </a:r>
            <a:r>
              <a:rPr lang="pl-PL" sz="1100">
                <a:cs typeface="Arial"/>
              </a:rPr>
              <a:t>*</a:t>
            </a:r>
            <a:endParaRPr lang="en-US" sz="1100">
              <a:cs typeface="Arial"/>
            </a:endParaRPr>
          </a:p>
        </p:txBody>
      </p:sp>
      <p:sp>
        <p:nvSpPr>
          <p:cNvPr id="19" name="Text 11">
            <a:extLst>
              <a:ext uri="{FF2B5EF4-FFF2-40B4-BE49-F238E27FC236}">
                <a16:creationId xmlns:a16="http://schemas.microsoft.com/office/drawing/2014/main" id="{5E1AE06A-5099-B2E8-00EE-48513DF27284}"/>
              </a:ext>
            </a:extLst>
          </p:cNvPr>
          <p:cNvSpPr/>
          <p:nvPr/>
        </p:nvSpPr>
        <p:spPr>
          <a:xfrm>
            <a:off x="3136543" y="2736900"/>
            <a:ext cx="2871782" cy="1475805"/>
          </a:xfrm>
          <a:prstGeom prst="rect">
            <a:avLst/>
          </a:prstGeom>
          <a:noFill/>
          <a:ln/>
        </p:spPr>
        <p:txBody>
          <a:bodyPr wrap="square" rtlCol="0" anchor="t"/>
          <a:lstStyle/>
          <a:p>
            <a:pPr algn="ctr">
              <a:lnSpc>
                <a:spcPct val="115000"/>
              </a:lnSpc>
            </a:pPr>
            <a:r>
              <a:rPr lang="en-US" sz="1000">
                <a:cs typeface="Arial"/>
              </a:rPr>
              <a:t>Check cited pages for clear H1/H2 structure, FAQs, recent update dates, and direct, quotable answers.</a:t>
            </a:r>
            <a:r>
              <a:rPr lang="pl-PL" sz="1000">
                <a:cs typeface="Arial"/>
              </a:rPr>
              <a:t> </a:t>
            </a:r>
            <a:r>
              <a:rPr lang="en-US" sz="1000">
                <a:cs typeface="Arial"/>
              </a:rPr>
              <a:t>Where a competitor is cited instead, open their page and</a:t>
            </a:r>
            <a:r>
              <a:rPr lang="pl-PL" sz="1000">
                <a:cs typeface="Arial"/>
              </a:rPr>
              <a:t> </a:t>
            </a:r>
            <a:r>
              <a:rPr lang="en-US" sz="1000">
                <a:cs typeface="Arial"/>
              </a:rPr>
              <a:t>diagnose the gap: better structure, fresher data, or a question you simply hasn't answered.</a:t>
            </a:r>
          </a:p>
          <a:p>
            <a:pPr algn="ctr">
              <a:lnSpc>
                <a:spcPct val="115000"/>
              </a:lnSpc>
            </a:pPr>
            <a:endParaRPr lang="en-US" sz="1000">
              <a:cs typeface="Arial"/>
            </a:endParaRPr>
          </a:p>
        </p:txBody>
      </p:sp>
      <p:sp>
        <p:nvSpPr>
          <p:cNvPr id="8" name="Shape 0">
            <a:extLst>
              <a:ext uri="{FF2B5EF4-FFF2-40B4-BE49-F238E27FC236}">
                <a16:creationId xmlns:a16="http://schemas.microsoft.com/office/drawing/2014/main" id="{5D165A6F-BBBB-BD53-C95F-4200A8E5FF46}"/>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0F5A6131-3632-1521-C82E-667BE2A44CED}"/>
              </a:ext>
            </a:extLst>
          </p:cNvPr>
          <p:cNvSpPr/>
          <p:nvPr/>
        </p:nvSpPr>
        <p:spPr>
          <a:xfrm>
            <a:off x="342900" y="192024"/>
            <a:ext cx="7886700" cy="377190"/>
          </a:xfrm>
          <a:prstGeom prst="rect">
            <a:avLst/>
          </a:prstGeom>
          <a:noFill/>
          <a:ln/>
        </p:spPr>
        <p:txBody>
          <a:bodyPr wrap="square" lIns="0" tIns="0" rIns="0" bIns="0" rtlCol="0" anchor="ctr"/>
          <a:lstStyle/>
          <a:p>
            <a:pPr lvl="0">
              <a:defRPr/>
            </a:pPr>
            <a:r>
              <a:rPr lang="pl-PL" sz="2200">
                <a:solidFill>
                  <a:srgbClr val="E7FFD9"/>
                </a:solidFill>
                <a:cs typeface="Arial"/>
              </a:rPr>
              <a:t>How to Use the Harvested Data</a:t>
            </a:r>
            <a:endParaRPr lang="en-US" sz="2200">
              <a:solidFill>
                <a:srgbClr val="E7FFD9"/>
              </a:solidFill>
              <a:cs typeface="Arial"/>
            </a:endParaRPr>
          </a:p>
        </p:txBody>
      </p:sp>
      <p:sp>
        <p:nvSpPr>
          <p:cNvPr id="12" name="Text 2">
            <a:extLst>
              <a:ext uri="{FF2B5EF4-FFF2-40B4-BE49-F238E27FC236}">
                <a16:creationId xmlns:a16="http://schemas.microsoft.com/office/drawing/2014/main" id="{6149D91B-44F2-4AB8-E304-B8CD8FDD7AD8}"/>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Converting information into action plan.</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41E60D62-7C11-3AB5-3274-C0E1C73EDDBF}"/>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431DD680-D0ED-5282-DDF8-7329AB1F3AD8}"/>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128</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3" name="Shape 2">
            <a:extLst>
              <a:ext uri="{FF2B5EF4-FFF2-40B4-BE49-F238E27FC236}">
                <a16:creationId xmlns:a16="http://schemas.microsoft.com/office/drawing/2014/main" id="{EA09D151-8796-0AFA-6DE4-27222E1DDB01}"/>
              </a:ext>
            </a:extLst>
          </p:cNvPr>
          <p:cNvSpPr/>
          <p:nvPr/>
        </p:nvSpPr>
        <p:spPr>
          <a:xfrm>
            <a:off x="915267" y="1532491"/>
            <a:ext cx="1474470" cy="2680215"/>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4" name="Shape 3">
            <a:extLst>
              <a:ext uri="{FF2B5EF4-FFF2-40B4-BE49-F238E27FC236}">
                <a16:creationId xmlns:a16="http://schemas.microsoft.com/office/drawing/2014/main" id="{489775EE-D780-28F9-C581-4BD6B8626ED3}"/>
              </a:ext>
            </a:extLst>
          </p:cNvPr>
          <p:cNvSpPr/>
          <p:nvPr/>
        </p:nvSpPr>
        <p:spPr>
          <a:xfrm>
            <a:off x="1412472" y="1703942"/>
            <a:ext cx="480060" cy="480060"/>
          </a:xfrm>
          <a:prstGeom prst="ellipse">
            <a:avLst/>
          </a:prstGeom>
          <a:solidFill>
            <a:schemeClr val="tx1"/>
          </a:solidFill>
          <a:ln/>
        </p:spPr>
        <p:txBody>
          <a:bodyPr/>
          <a:lstStyle/>
          <a:p>
            <a:endParaRPr lang="pl-PL" sz="1350"/>
          </a:p>
        </p:txBody>
      </p:sp>
      <p:sp>
        <p:nvSpPr>
          <p:cNvPr id="9" name="Text 5">
            <a:extLst>
              <a:ext uri="{FF2B5EF4-FFF2-40B4-BE49-F238E27FC236}">
                <a16:creationId xmlns:a16="http://schemas.microsoft.com/office/drawing/2014/main" id="{ACBA9500-7CC0-43F1-3DA9-3542C8A2A206}"/>
              </a:ext>
            </a:extLst>
          </p:cNvPr>
          <p:cNvSpPr/>
          <p:nvPr/>
        </p:nvSpPr>
        <p:spPr>
          <a:xfrm>
            <a:off x="915267" y="2286872"/>
            <a:ext cx="1474470" cy="274320"/>
          </a:xfrm>
          <a:prstGeom prst="rect">
            <a:avLst/>
          </a:prstGeom>
          <a:noFill/>
          <a:ln/>
        </p:spPr>
        <p:txBody>
          <a:bodyPr wrap="square" rtlCol="0" anchor="ctr"/>
          <a:lstStyle/>
          <a:p>
            <a:pPr algn="ctr"/>
            <a:r>
              <a:rPr lang="pl-PL" sz="1100" b="1">
                <a:cs typeface="Arial"/>
              </a:rPr>
              <a:t>Track: </a:t>
            </a:r>
            <a:r>
              <a:rPr lang="pl-PL" sz="1100">
                <a:cs typeface="Arial"/>
              </a:rPr>
              <a:t>L</a:t>
            </a:r>
            <a:r>
              <a:rPr lang="en-US" sz="1100" err="1">
                <a:cs typeface="Arial"/>
              </a:rPr>
              <a:t>og</a:t>
            </a:r>
            <a:r>
              <a:rPr lang="en-US" sz="1100">
                <a:cs typeface="Arial"/>
              </a:rPr>
              <a:t> the cited URL, not just the mention</a:t>
            </a:r>
          </a:p>
        </p:txBody>
      </p:sp>
      <p:sp>
        <p:nvSpPr>
          <p:cNvPr id="13" name="Text 6">
            <a:extLst>
              <a:ext uri="{FF2B5EF4-FFF2-40B4-BE49-F238E27FC236}">
                <a16:creationId xmlns:a16="http://schemas.microsoft.com/office/drawing/2014/main" id="{B4F190F1-0D26-D044-158D-713676EB5D21}"/>
              </a:ext>
            </a:extLst>
          </p:cNvPr>
          <p:cNvSpPr/>
          <p:nvPr/>
        </p:nvSpPr>
        <p:spPr>
          <a:xfrm>
            <a:off x="894693" y="2736900"/>
            <a:ext cx="1515618" cy="1475805"/>
          </a:xfrm>
          <a:prstGeom prst="rect">
            <a:avLst/>
          </a:prstGeom>
          <a:noFill/>
          <a:ln/>
        </p:spPr>
        <p:txBody>
          <a:bodyPr wrap="square" rtlCol="0" anchor="t"/>
          <a:lstStyle/>
          <a:p>
            <a:pPr algn="ctr">
              <a:lnSpc>
                <a:spcPct val="115000"/>
              </a:lnSpc>
            </a:pPr>
            <a:r>
              <a:rPr lang="en-US" sz="1000">
                <a:cs typeface="Arial"/>
              </a:rPr>
              <a:t>For every AI answer that cites Schneider Electric, record the exact page. Patterns emerge fast across enough prompts.</a:t>
            </a:r>
          </a:p>
        </p:txBody>
      </p:sp>
      <p:sp>
        <p:nvSpPr>
          <p:cNvPr id="27" name="Shape 17">
            <a:extLst>
              <a:ext uri="{FF2B5EF4-FFF2-40B4-BE49-F238E27FC236}">
                <a16:creationId xmlns:a16="http://schemas.microsoft.com/office/drawing/2014/main" id="{8F8D5CE8-221D-F78F-D29B-4C03DCF09786}"/>
              </a:ext>
            </a:extLst>
          </p:cNvPr>
          <p:cNvSpPr/>
          <p:nvPr/>
        </p:nvSpPr>
        <p:spPr>
          <a:xfrm>
            <a:off x="6734556" y="1532491"/>
            <a:ext cx="1474470" cy="2680214"/>
          </a:xfrm>
          <a:prstGeom prst="roundRect">
            <a:avLst>
              <a:gd name="adj" fmla="val 4651"/>
            </a:avLst>
          </a:prstGeom>
          <a:solidFill>
            <a:schemeClr val="accent5"/>
          </a:solidFill>
          <a:ln w="12700">
            <a:solidFill>
              <a:schemeClr val="tx1"/>
            </a:solidFill>
            <a:prstDash val="solid"/>
          </a:ln>
          <a:effectLst>
            <a:outerShdw blurRad="76200" dist="25400" dir="5400000" algn="bl" rotWithShape="0">
              <a:srgbClr val="16241C">
                <a:alpha val="18000"/>
              </a:srgbClr>
            </a:outerShdw>
          </a:effectLst>
        </p:spPr>
        <p:txBody>
          <a:bodyPr/>
          <a:lstStyle/>
          <a:p>
            <a:endParaRPr lang="pl-PL" sz="1350"/>
          </a:p>
        </p:txBody>
      </p:sp>
      <p:sp>
        <p:nvSpPr>
          <p:cNvPr id="28" name="Shape 18">
            <a:extLst>
              <a:ext uri="{FF2B5EF4-FFF2-40B4-BE49-F238E27FC236}">
                <a16:creationId xmlns:a16="http://schemas.microsoft.com/office/drawing/2014/main" id="{67E04F7C-8CC5-5450-FEBD-645D6F91A616}"/>
              </a:ext>
            </a:extLst>
          </p:cNvPr>
          <p:cNvSpPr/>
          <p:nvPr/>
        </p:nvSpPr>
        <p:spPr>
          <a:xfrm>
            <a:off x="7231761" y="1703941"/>
            <a:ext cx="480060" cy="480060"/>
          </a:xfrm>
          <a:prstGeom prst="ellipse">
            <a:avLst/>
          </a:prstGeom>
          <a:solidFill>
            <a:schemeClr val="tx1"/>
          </a:solidFill>
          <a:ln/>
        </p:spPr>
        <p:txBody>
          <a:bodyPr/>
          <a:lstStyle/>
          <a:p>
            <a:endParaRPr lang="pl-PL" sz="1350"/>
          </a:p>
        </p:txBody>
      </p:sp>
      <p:pic>
        <p:nvPicPr>
          <p:cNvPr id="29" name="Image 6" descr="/home/claude/geo_deck/icons/clipboard.png">
            <a:extLst>
              <a:ext uri="{FF2B5EF4-FFF2-40B4-BE49-F238E27FC236}">
                <a16:creationId xmlns:a16="http://schemas.microsoft.com/office/drawing/2014/main" id="{A1BB1294-1869-2C76-81B3-AE509EC06845}"/>
              </a:ext>
            </a:extLst>
          </p:cNvPr>
          <p:cNvPicPr>
            <a:picLocks noChangeAspect="1"/>
          </p:cNvPicPr>
          <p:nvPr/>
        </p:nvPicPr>
        <p:blipFill>
          <a:blip r:embed="rId3"/>
          <a:stretch>
            <a:fillRect/>
          </a:stretch>
        </p:blipFill>
        <p:spPr>
          <a:xfrm>
            <a:off x="1515342" y="1798023"/>
            <a:ext cx="274320" cy="274320"/>
          </a:xfrm>
          <a:prstGeom prst="rect">
            <a:avLst/>
          </a:prstGeom>
          <a:solidFill>
            <a:schemeClr val="tx1"/>
          </a:solidFill>
        </p:spPr>
      </p:pic>
      <p:sp>
        <p:nvSpPr>
          <p:cNvPr id="30" name="Text 20">
            <a:extLst>
              <a:ext uri="{FF2B5EF4-FFF2-40B4-BE49-F238E27FC236}">
                <a16:creationId xmlns:a16="http://schemas.microsoft.com/office/drawing/2014/main" id="{872EEFC8-A9D8-5B4C-C335-9FD3D094DA1D}"/>
              </a:ext>
            </a:extLst>
          </p:cNvPr>
          <p:cNvSpPr/>
          <p:nvPr/>
        </p:nvSpPr>
        <p:spPr>
          <a:xfrm>
            <a:off x="6734556" y="2286871"/>
            <a:ext cx="1474470" cy="274320"/>
          </a:xfrm>
          <a:prstGeom prst="rect">
            <a:avLst/>
          </a:prstGeom>
          <a:noFill/>
          <a:ln/>
        </p:spPr>
        <p:txBody>
          <a:bodyPr wrap="square" rtlCol="0" anchor="ctr"/>
          <a:lstStyle/>
          <a:p>
            <a:pPr algn="ctr"/>
            <a:r>
              <a:rPr lang="pl-PL" sz="1100" b="1">
                <a:cs typeface="Arial"/>
              </a:rPr>
              <a:t>Act: </a:t>
            </a:r>
            <a:r>
              <a:rPr lang="en-US" sz="1100">
                <a:cs typeface="Arial"/>
              </a:rPr>
              <a:t>Feed the content roadmap</a:t>
            </a:r>
          </a:p>
        </p:txBody>
      </p:sp>
      <p:sp>
        <p:nvSpPr>
          <p:cNvPr id="31" name="Text 21">
            <a:extLst>
              <a:ext uri="{FF2B5EF4-FFF2-40B4-BE49-F238E27FC236}">
                <a16:creationId xmlns:a16="http://schemas.microsoft.com/office/drawing/2014/main" id="{C9233003-3D18-DAC7-6AB5-B7A64F881DB8}"/>
              </a:ext>
            </a:extLst>
          </p:cNvPr>
          <p:cNvSpPr/>
          <p:nvPr/>
        </p:nvSpPr>
        <p:spPr>
          <a:xfrm>
            <a:off x="6713982" y="2736899"/>
            <a:ext cx="1515618" cy="1475805"/>
          </a:xfrm>
          <a:prstGeom prst="rect">
            <a:avLst/>
          </a:prstGeom>
          <a:noFill/>
          <a:ln/>
        </p:spPr>
        <p:txBody>
          <a:bodyPr wrap="square" rtlCol="0" anchor="t"/>
          <a:lstStyle/>
          <a:p>
            <a:pPr algn="ctr">
              <a:lnSpc>
                <a:spcPct val="115000"/>
              </a:lnSpc>
            </a:pPr>
            <a:r>
              <a:rPr lang="en-US" sz="1000">
                <a:cs typeface="Arial"/>
              </a:rPr>
              <a:t>Convert every recurring gap into a content brief: a new FAQ, an updated spec page, or a clearer comparison page.</a:t>
            </a:r>
          </a:p>
        </p:txBody>
      </p:sp>
      <p:sp>
        <p:nvSpPr>
          <p:cNvPr id="32" name="TextBox 31">
            <a:extLst>
              <a:ext uri="{FF2B5EF4-FFF2-40B4-BE49-F238E27FC236}">
                <a16:creationId xmlns:a16="http://schemas.microsoft.com/office/drawing/2014/main" id="{044D2644-EAA3-6583-22EE-93826BE12927}"/>
              </a:ext>
            </a:extLst>
          </p:cNvPr>
          <p:cNvSpPr txBox="1"/>
          <p:nvPr/>
        </p:nvSpPr>
        <p:spPr>
          <a:xfrm>
            <a:off x="398462" y="4599466"/>
            <a:ext cx="2975119" cy="215444"/>
          </a:xfrm>
          <a:prstGeom prst="rect">
            <a:avLst/>
          </a:prstGeom>
        </p:spPr>
        <p:txBody>
          <a:bodyPr vert="horz" wrap="square" lIns="0" tIns="0" rIns="0" bIns="0" rtlCol="0">
            <a:spAutoFit/>
          </a:bodyPr>
          <a:lstStyle/>
          <a:p>
            <a:pPr algn="l"/>
            <a:r>
              <a:rPr lang="pl-PL" sz="700"/>
              <a:t>*For detail explanation of content reverse engineer mechanism and actions please visit </a:t>
            </a:r>
            <a:r>
              <a:rPr lang="pl-PL" sz="700">
                <a:hlinkClick r:id="rId4"/>
              </a:rPr>
              <a:t>Chapter 9 </a:t>
            </a:r>
            <a:r>
              <a:rPr lang="pl-PL" sz="700"/>
              <a:t>of this Toolkit.</a:t>
            </a:r>
          </a:p>
        </p:txBody>
      </p:sp>
      <p:pic>
        <p:nvPicPr>
          <p:cNvPr id="17" name="Image 2" descr="/home/claude/geo_deck/icons/tags.png">
            <a:extLst>
              <a:ext uri="{FF2B5EF4-FFF2-40B4-BE49-F238E27FC236}">
                <a16:creationId xmlns:a16="http://schemas.microsoft.com/office/drawing/2014/main" id="{D3CA37B3-32E6-4A1F-C0FD-57E59F501B88}"/>
              </a:ext>
            </a:extLst>
          </p:cNvPr>
          <p:cNvPicPr>
            <a:picLocks noChangeAspect="1"/>
          </p:cNvPicPr>
          <p:nvPr/>
        </p:nvPicPr>
        <p:blipFill>
          <a:blip r:embed="rId5"/>
          <a:stretch>
            <a:fillRect/>
          </a:stretch>
        </p:blipFill>
        <p:spPr>
          <a:xfrm>
            <a:off x="7334631" y="1806811"/>
            <a:ext cx="274320" cy="274320"/>
          </a:xfrm>
          <a:prstGeom prst="rect">
            <a:avLst/>
          </a:prstGeom>
          <a:solidFill>
            <a:schemeClr val="tx1"/>
          </a:solidFill>
        </p:spPr>
      </p:pic>
      <p:cxnSp>
        <p:nvCxnSpPr>
          <p:cNvPr id="34" name="Straight Arrow Connector 33">
            <a:extLst>
              <a:ext uri="{FF2B5EF4-FFF2-40B4-BE49-F238E27FC236}">
                <a16:creationId xmlns:a16="http://schemas.microsoft.com/office/drawing/2014/main" id="{071A190E-D55A-CFDE-2098-6B5360F564CB}"/>
              </a:ext>
            </a:extLst>
          </p:cNvPr>
          <p:cNvCxnSpPr>
            <a:cxnSpLocks/>
            <a:stCxn id="3" idx="3"/>
            <a:endCxn id="15" idx="1"/>
          </p:cNvCxnSpPr>
          <p:nvPr/>
        </p:nvCxnSpPr>
        <p:spPr>
          <a:xfrm flipV="1">
            <a:off x="2389737" y="2872598"/>
            <a:ext cx="726231" cy="1"/>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7EAF03E0-338A-A4AB-0501-895063F9C2CE}"/>
              </a:ext>
            </a:extLst>
          </p:cNvPr>
          <p:cNvCxnSpPr>
            <a:cxnSpLocks/>
            <a:endCxn id="27" idx="1"/>
          </p:cNvCxnSpPr>
          <p:nvPr/>
        </p:nvCxnSpPr>
        <p:spPr>
          <a:xfrm>
            <a:off x="6008325" y="2872598"/>
            <a:ext cx="726231" cy="0"/>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861130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31B89-E7EC-61C0-D39F-3E2B06BC4689}"/>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D501B2C3-DD17-02BF-29C5-65D1D645F85B}"/>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D9369D6B-C29D-FC3C-EDE0-C415411C0A38}"/>
              </a:ext>
            </a:extLst>
          </p:cNvPr>
          <p:cNvSpPr/>
          <p:nvPr/>
        </p:nvSpPr>
        <p:spPr>
          <a:xfrm>
            <a:off x="342900" y="192024"/>
            <a:ext cx="7886700" cy="377190"/>
          </a:xfrm>
          <a:prstGeom prst="rect">
            <a:avLst/>
          </a:prstGeom>
          <a:noFill/>
          <a:ln/>
        </p:spPr>
        <p:txBody>
          <a:bodyPr wrap="square" lIns="0" tIns="0" rIns="0" bIns="0" rtlCol="0" anchor="ctr"/>
          <a:lstStyle/>
          <a:p>
            <a:pPr lvl="0">
              <a:defRPr/>
            </a:pPr>
            <a:r>
              <a:rPr lang="pl-PL" sz="2200">
                <a:solidFill>
                  <a:srgbClr val="E7FFD9"/>
                </a:solidFill>
                <a:cs typeface="Arial"/>
              </a:rPr>
              <a:t>GEO Strategic Score – Web Page Assessment</a:t>
            </a:r>
            <a:endParaRPr lang="en-US" sz="2200">
              <a:solidFill>
                <a:srgbClr val="E7FFD9"/>
              </a:solidFill>
              <a:cs typeface="Arial"/>
            </a:endParaRPr>
          </a:p>
        </p:txBody>
      </p:sp>
      <p:sp>
        <p:nvSpPr>
          <p:cNvPr id="12" name="Text 2">
            <a:extLst>
              <a:ext uri="{FF2B5EF4-FFF2-40B4-BE49-F238E27FC236}">
                <a16:creationId xmlns:a16="http://schemas.microsoft.com/office/drawing/2014/main" id="{5F9387D3-0BCA-360D-BA3A-CDA2A3D106D6}"/>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100">
                <a:solidFill>
                  <a:srgbClr val="E7FFD9"/>
                </a:solidFill>
                <a:latin typeface="Poppins"/>
                <a:cs typeface="Arial"/>
              </a:rPr>
              <a:t>A formula to calculate our own GEO performance.</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ECE4ADDD-1692-5E53-8D94-C013BA3D3C03}"/>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25F1D991-669F-03AD-2852-B450337CE789}"/>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129</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36" name="Table 35">
            <a:extLst>
              <a:ext uri="{FF2B5EF4-FFF2-40B4-BE49-F238E27FC236}">
                <a16:creationId xmlns:a16="http://schemas.microsoft.com/office/drawing/2014/main" id="{246DC1CF-3D87-4857-69FD-80D7DE4F7FA9}"/>
              </a:ext>
            </a:extLst>
          </p:cNvPr>
          <p:cNvGraphicFramePr>
            <a:graphicFrameLocks noGrp="1"/>
          </p:cNvGraphicFramePr>
          <p:nvPr>
            <p:extLst>
              <p:ext uri="{D42A27DB-BD31-4B8C-83A1-F6EECF244321}">
                <p14:modId xmlns:p14="http://schemas.microsoft.com/office/powerpoint/2010/main" val="3031621609"/>
              </p:ext>
            </p:extLst>
          </p:nvPr>
        </p:nvGraphicFramePr>
        <p:xfrm>
          <a:off x="2764466" y="1220724"/>
          <a:ext cx="6308651" cy="3285050"/>
        </p:xfrm>
        <a:graphic>
          <a:graphicData uri="http://schemas.openxmlformats.org/drawingml/2006/table">
            <a:tbl>
              <a:tblPr firstRow="1" bandRow="1">
                <a:tableStyleId>{5C22544A-7EE6-4342-B048-85BDC9FD1C3A}</a:tableStyleId>
              </a:tblPr>
              <a:tblGrid>
                <a:gridCol w="1352433">
                  <a:extLst>
                    <a:ext uri="{9D8B030D-6E8A-4147-A177-3AD203B41FA5}">
                      <a16:colId xmlns:a16="http://schemas.microsoft.com/office/drawing/2014/main" val="2835010798"/>
                    </a:ext>
                  </a:extLst>
                </a:gridCol>
                <a:gridCol w="923216">
                  <a:extLst>
                    <a:ext uri="{9D8B030D-6E8A-4147-A177-3AD203B41FA5}">
                      <a16:colId xmlns:a16="http://schemas.microsoft.com/office/drawing/2014/main" val="1699443646"/>
                    </a:ext>
                  </a:extLst>
                </a:gridCol>
                <a:gridCol w="4033002">
                  <a:extLst>
                    <a:ext uri="{9D8B030D-6E8A-4147-A177-3AD203B41FA5}">
                      <a16:colId xmlns:a16="http://schemas.microsoft.com/office/drawing/2014/main" val="1646138265"/>
                    </a:ext>
                  </a:extLst>
                </a:gridCol>
              </a:tblGrid>
              <a:tr h="293470">
                <a:tc gridSpan="3">
                  <a:txBody>
                    <a:bodyPr/>
                    <a:lstStyle/>
                    <a:p>
                      <a:pPr algn="ctr"/>
                      <a:r>
                        <a:rPr lang="pl-PL" sz="1050" b="1">
                          <a:solidFill>
                            <a:schemeClr val="accent5"/>
                          </a:solidFill>
                        </a:rPr>
                        <a:t>Standard Framework Weights: </a:t>
                      </a:r>
                      <a:r>
                        <a:rPr lang="pl-PL" sz="1050" b="0">
                          <a:solidFill>
                            <a:schemeClr val="accent5"/>
                          </a:solidFill>
                        </a:rPr>
                        <a:t>e</a:t>
                      </a:r>
                      <a:r>
                        <a:rPr lang="en-US" sz="1050" b="0">
                          <a:solidFill>
                            <a:schemeClr val="accent5"/>
                          </a:solidFill>
                        </a:rPr>
                        <a:t>ach component is graded on a 0 to 5 rubric based on how effectively an AI crawler parses and elevates the content</a:t>
                      </a:r>
                      <a:endParaRPr lang="pl-PL" sz="1050" b="0">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tc hMerge="1">
                  <a:txBody>
                    <a:bodyPr/>
                    <a:lstStyle/>
                    <a:p>
                      <a:endParaRPr lang="pl-PL" sz="1000"/>
                    </a:p>
                  </a:txBody>
                  <a:tcPr/>
                </a:tc>
                <a:tc hMerge="1">
                  <a:txBody>
                    <a:bodyPr/>
                    <a:lstStyle/>
                    <a:p>
                      <a:endParaRPr lang="pl-PL" sz="1000"/>
                    </a:p>
                  </a:txBody>
                  <a:tcPr/>
                </a:tc>
                <a:extLst>
                  <a:ext uri="{0D108BD9-81ED-4DB2-BD59-A6C34878D82A}">
                    <a16:rowId xmlns:a16="http://schemas.microsoft.com/office/drawing/2014/main" val="3011920083"/>
                  </a:ext>
                </a:extLst>
              </a:tr>
              <a:tr h="282770">
                <a:tc>
                  <a:txBody>
                    <a:bodyPr/>
                    <a:lstStyle/>
                    <a:p>
                      <a:pPr algn="ctr"/>
                      <a:r>
                        <a:rPr lang="pl-PL" sz="1000" b="0">
                          <a:solidFill>
                            <a:schemeClr val="accent5"/>
                          </a:solidFill>
                        </a:rPr>
                        <a:t>Metric</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Weight</a:t>
                      </a:r>
                    </a:p>
                  </a:txBody>
                  <a:tcPr anchor="ctr">
                    <a:lnB w="12700" cap="flat" cmpd="sng" algn="ctr">
                      <a:solidFill>
                        <a:schemeClr val="tx1"/>
                      </a:solidFill>
                      <a:prstDash val="solid"/>
                      <a:round/>
                      <a:headEnd type="none" w="med" len="med"/>
                      <a:tailEnd type="none" w="med" len="med"/>
                    </a:lnB>
                    <a:solidFill>
                      <a:schemeClr val="tx1"/>
                    </a:solidFill>
                  </a:tcPr>
                </a:tc>
                <a:tc>
                  <a:txBody>
                    <a:bodyPr/>
                    <a:lstStyle/>
                    <a:p>
                      <a:pPr algn="ctr"/>
                      <a:r>
                        <a:rPr lang="pl-PL" sz="1000" b="0">
                          <a:solidFill>
                            <a:schemeClr val="accent5"/>
                          </a:solidFill>
                        </a:rPr>
                        <a:t>Definition</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715758303"/>
                  </a:ext>
                </a:extLst>
              </a:tr>
              <a:tr h="282770">
                <a:tc>
                  <a:txBody>
                    <a:bodyPr/>
                    <a:lstStyle/>
                    <a:p>
                      <a:pPr algn="ctr"/>
                      <a:r>
                        <a:rPr lang="pl-PL" sz="1000" b="1"/>
                        <a:t>AI Interpretability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b="1"/>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a:t> Evaluate technical formatting that allows Large Language Models (LLMs) to scan your data. This includes clean HTML structure, optimized server-side rendering, and explicit bot allowance in your LLMs.txt and robots.txt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809579085"/>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b="1"/>
                        <a:t>Semantic Richness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b="1"/>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a:t>G</a:t>
                      </a:r>
                      <a:r>
                        <a:rPr lang="en-US" sz="1000" err="1"/>
                        <a:t>rade</a:t>
                      </a:r>
                      <a:r>
                        <a:rPr lang="en-US" sz="1000"/>
                        <a:t> the density of your entities, natural synonyms, and the depth of factual data available for the LLM to pull into its context window.</a:t>
                      </a:r>
                      <a:endParaRPr lang="pl-PL"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965314"/>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b="1"/>
                        <a:t>Conversational Relevance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pl-PL" sz="1000" b="1"/>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000"/>
                        <a:t> Assess how directly the content matches long-tail conversational user prompts and follows Q&amp;A formats.</a:t>
                      </a:r>
                      <a:endParaRPr lang="pl-PL"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15158843"/>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b="1"/>
                        <a:t>Structural Optimization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b="1"/>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a:t>Review your schema implementation. High scores require explicit schema markup for Organization, </a:t>
                      </a:r>
                      <a:r>
                        <a:rPr lang="en-US" sz="1000" err="1"/>
                        <a:t>FAQPage</a:t>
                      </a:r>
                      <a:r>
                        <a:rPr lang="en-US" sz="1000"/>
                        <a:t>, Article, or </a:t>
                      </a:r>
                      <a:r>
                        <a:rPr lang="en-US" sz="1000" err="1"/>
                        <a:t>HowTo</a:t>
                      </a:r>
                      <a:r>
                        <a:rPr lang="en-US" sz="1000"/>
                        <a:t> to allow structured snippet retrieval.</a:t>
                      </a:r>
                      <a:endParaRPr lang="pl-PL"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7746660"/>
                  </a:ext>
                </a:extLst>
              </a:tr>
              <a:tr h="282770">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000" b="1"/>
                        <a:t>Generative Engagement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l-PL" sz="1000" b="1"/>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a:t> A lagging indicator measuring how often the live AI engine actually pulls from this URL when prompted.</a:t>
                      </a:r>
                      <a:endParaRPr lang="pl-PL" sz="1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2073736"/>
                  </a:ext>
                </a:extLst>
              </a:tr>
            </a:tbl>
          </a:graphicData>
        </a:graphic>
      </p:graphicFrame>
      <p:sp>
        <p:nvSpPr>
          <p:cNvPr id="37" name="TextBox 36">
            <a:extLst>
              <a:ext uri="{FF2B5EF4-FFF2-40B4-BE49-F238E27FC236}">
                <a16:creationId xmlns:a16="http://schemas.microsoft.com/office/drawing/2014/main" id="{6436C921-72B1-3D0F-A361-A3ADB6EC5ADE}"/>
              </a:ext>
            </a:extLst>
          </p:cNvPr>
          <p:cNvSpPr txBox="1"/>
          <p:nvPr/>
        </p:nvSpPr>
        <p:spPr>
          <a:xfrm>
            <a:off x="70883" y="1220259"/>
            <a:ext cx="2549156" cy="3285515"/>
          </a:xfrm>
          <a:prstGeom prst="rect">
            <a:avLst/>
          </a:prstGeom>
          <a:solidFill>
            <a:schemeClr val="accent5"/>
          </a:solidFill>
          <a:ln>
            <a:solidFill>
              <a:schemeClr val="tx1"/>
            </a:solidFill>
          </a:ln>
        </p:spPr>
        <p:txBody>
          <a:bodyPr wrap="square" lIns="91440" tIns="45720" rIns="91440" bIns="45720" anchor="t">
            <a:spAutoFit/>
          </a:bodyPr>
          <a:lstStyle/>
          <a:p>
            <a:pPr>
              <a:spcAft>
                <a:spcPts val="300"/>
              </a:spcAft>
            </a:pPr>
            <a:r>
              <a:rPr lang="en-US" sz="1000"/>
              <a:t>To calculate the </a:t>
            </a:r>
            <a:r>
              <a:rPr lang="en-US" sz="1000" b="1"/>
              <a:t>Strategic GEO Score, </a:t>
            </a:r>
            <a:r>
              <a:rPr lang="en-US" sz="1000"/>
              <a:t>you must evaluate your content across its technical, semantic, and AI-interpretability layers using a weighted average formula.</a:t>
            </a:r>
            <a:endParaRPr lang="pl-PL" sz="1000"/>
          </a:p>
          <a:p>
            <a:pPr>
              <a:spcAft>
                <a:spcPts val="300"/>
              </a:spcAft>
            </a:pPr>
            <a:endParaRPr lang="pl-PL" sz="1000" b="1"/>
          </a:p>
          <a:p>
            <a:pPr>
              <a:spcAft>
                <a:spcPts val="300"/>
              </a:spcAft>
            </a:pPr>
            <a:r>
              <a:rPr lang="pl-PL" sz="1000" b="1"/>
              <a:t>The Core Formula:</a:t>
            </a:r>
          </a:p>
          <a:p>
            <a:pPr>
              <a:spcAft>
                <a:spcPts val="300"/>
              </a:spcAft>
            </a:pPr>
            <a:r>
              <a:rPr lang="en-US" sz="1000"/>
              <a:t>The final score is a weighted average of your site's performance across critical AI visibility indicators, normalized to a 100-point scale:</a:t>
            </a:r>
            <a:endParaRPr lang="pl-PL" sz="1000"/>
          </a:p>
          <a:p>
            <a:pPr>
              <a:spcAft>
                <a:spcPts val="300"/>
              </a:spcAft>
            </a:pPr>
            <a:endParaRPr lang="pl-PL" sz="1000"/>
          </a:p>
          <a:p>
            <a:pPr>
              <a:spcAft>
                <a:spcPts val="300"/>
              </a:spcAft>
            </a:pPr>
            <a:r>
              <a:rPr lang="pl-PL" sz="1000" b="1"/>
              <a:t>Raw GEO Score= SUM of all (Component Score x Component Weight)</a:t>
            </a:r>
          </a:p>
          <a:p>
            <a:pPr>
              <a:spcAft>
                <a:spcPts val="300"/>
              </a:spcAft>
            </a:pPr>
            <a:endParaRPr lang="pl-PL" sz="1000"/>
          </a:p>
          <a:p>
            <a:pPr>
              <a:spcAft>
                <a:spcPts val="300"/>
              </a:spcAft>
            </a:pPr>
            <a:r>
              <a:rPr lang="pl-PL" sz="1000" b="1"/>
              <a:t>Final Strategic GEO Score= (Raw GEO Score/5)x100</a:t>
            </a:r>
          </a:p>
        </p:txBody>
      </p:sp>
      <p:sp>
        <p:nvSpPr>
          <p:cNvPr id="2" name="TextBox 1">
            <a:extLst>
              <a:ext uri="{FF2B5EF4-FFF2-40B4-BE49-F238E27FC236}">
                <a16:creationId xmlns:a16="http://schemas.microsoft.com/office/drawing/2014/main" id="{58DCD33C-4E2C-F86F-6A78-0C66E55AD7C0}"/>
              </a:ext>
            </a:extLst>
          </p:cNvPr>
          <p:cNvSpPr txBox="1"/>
          <p:nvPr/>
        </p:nvSpPr>
        <p:spPr>
          <a:xfrm>
            <a:off x="4848447" y="4565458"/>
            <a:ext cx="4224669" cy="553998"/>
          </a:xfrm>
          <a:prstGeom prst="rect">
            <a:avLst/>
          </a:prstGeom>
          <a:solidFill>
            <a:schemeClr val="accent4">
              <a:lumMod val="40000"/>
              <a:lumOff val="60000"/>
            </a:schemeClr>
          </a:solidFill>
          <a:ln>
            <a:solidFill>
              <a:schemeClr val="tx1"/>
            </a:solidFill>
          </a:ln>
        </p:spPr>
        <p:txBody>
          <a:bodyPr wrap="square" lIns="91440" tIns="45720" rIns="91440" bIns="45720" anchor="t">
            <a:spAutoFit/>
          </a:bodyPr>
          <a:lstStyle/>
          <a:p>
            <a:r>
              <a:rPr lang="pl-PL" sz="1000" b="1"/>
              <a:t>GEO tips &amp; tricks</a:t>
            </a:r>
            <a:endParaRPr lang="en-US" sz="1000" b="1"/>
          </a:p>
          <a:p>
            <a:r>
              <a:rPr lang="pl-PL" sz="1000"/>
              <a:t>You don’t need to evaluate the score by yourself – use AI to do it for you, simply by asking it to give you the score per metric.</a:t>
            </a:r>
            <a:endParaRPr lang="en-US" sz="1000">
              <a:cs typeface="Poppins"/>
            </a:endParaRPr>
          </a:p>
        </p:txBody>
      </p:sp>
    </p:spTree>
    <p:extLst>
      <p:ext uri="{BB962C8B-B14F-4D97-AF65-F5344CB8AC3E}">
        <p14:creationId xmlns:p14="http://schemas.microsoft.com/office/powerpoint/2010/main" val="27688576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F2E1-78B8-7095-F729-A510A345ED10}"/>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F0B1B477-F539-F4D7-02C4-2E65545997B3}"/>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8ACA2C40-CDC5-BC3D-ACA8-31C41550D96A}"/>
              </a:ext>
            </a:extLst>
          </p:cNvPr>
          <p:cNvSpPr/>
          <p:nvPr/>
        </p:nvSpPr>
        <p:spPr>
          <a:xfrm>
            <a:off x="342900" y="192024"/>
            <a:ext cx="7886700" cy="377190"/>
          </a:xfrm>
          <a:prstGeom prst="rect">
            <a:avLst/>
          </a:prstGeom>
          <a:noFill/>
          <a:ln/>
        </p:spPr>
        <p:txBody>
          <a:bodyPr wrap="square" lIns="0" tIns="0" rIns="0" bIns="0" rtlCol="0" anchor="ctr"/>
          <a:lstStyle/>
          <a:p>
            <a:pPr lvl="0">
              <a:defRPr/>
            </a:pPr>
            <a:r>
              <a:rPr lang="pl-PL" sz="2200">
                <a:solidFill>
                  <a:srgbClr val="E7FFD9"/>
                </a:solidFill>
                <a:cs typeface="Arial"/>
              </a:rPr>
              <a:t>GEO Strategic Score – Web Page Assessment</a:t>
            </a:r>
            <a:endParaRPr lang="en-US" sz="2200">
              <a:solidFill>
                <a:srgbClr val="E7FFD9"/>
              </a:solidFill>
              <a:cs typeface="Arial"/>
            </a:endParaRPr>
          </a:p>
        </p:txBody>
      </p:sp>
      <p:sp>
        <p:nvSpPr>
          <p:cNvPr id="12" name="Text 2">
            <a:extLst>
              <a:ext uri="{FF2B5EF4-FFF2-40B4-BE49-F238E27FC236}">
                <a16:creationId xmlns:a16="http://schemas.microsoft.com/office/drawing/2014/main" id="{E061AFFD-AD42-8B43-82CA-DF5730AB439B}"/>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100">
                <a:solidFill>
                  <a:srgbClr val="E7FFD9"/>
                </a:solidFill>
                <a:latin typeface="Poppins"/>
                <a:cs typeface="Arial"/>
              </a:rPr>
              <a:t>Example of calculation and results.</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3849E908-BF76-9184-0ADC-60F37229299F}"/>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4037744E-E5FA-F2EC-0896-87FA7B4583AB}"/>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130</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sp>
        <p:nvSpPr>
          <p:cNvPr id="37" name="TextBox 36">
            <a:extLst>
              <a:ext uri="{FF2B5EF4-FFF2-40B4-BE49-F238E27FC236}">
                <a16:creationId xmlns:a16="http://schemas.microsoft.com/office/drawing/2014/main" id="{F99EA3B8-FFA5-C02E-5B73-B98322DB24FF}"/>
              </a:ext>
            </a:extLst>
          </p:cNvPr>
          <p:cNvSpPr txBox="1"/>
          <p:nvPr/>
        </p:nvSpPr>
        <p:spPr>
          <a:xfrm>
            <a:off x="398463" y="1382922"/>
            <a:ext cx="4274290" cy="2862322"/>
          </a:xfrm>
          <a:prstGeom prst="rect">
            <a:avLst/>
          </a:prstGeom>
          <a:solidFill>
            <a:schemeClr val="accent5"/>
          </a:solidFill>
          <a:ln>
            <a:solidFill>
              <a:schemeClr val="tx1"/>
            </a:solidFill>
          </a:ln>
        </p:spPr>
        <p:txBody>
          <a:bodyPr wrap="square" lIns="91440" tIns="45720" rIns="91440" bIns="45720" anchor="t">
            <a:spAutoFit/>
          </a:bodyPr>
          <a:lstStyle/>
          <a:p>
            <a:pPr>
              <a:spcAft>
                <a:spcPts val="300"/>
              </a:spcAft>
            </a:pPr>
            <a:r>
              <a:rPr lang="en-US" sz="1000" b="1"/>
              <a:t>Step-by-Step Calculation Example</a:t>
            </a:r>
            <a:endParaRPr lang="pl-PL" sz="1000" b="1"/>
          </a:p>
          <a:p>
            <a:pPr>
              <a:spcAft>
                <a:spcPts val="300"/>
              </a:spcAft>
            </a:pPr>
            <a:endParaRPr lang="pl-PL" sz="1000"/>
          </a:p>
          <a:p>
            <a:pPr>
              <a:spcAft>
                <a:spcPts val="300"/>
              </a:spcAft>
            </a:pPr>
            <a:r>
              <a:rPr lang="en-US" sz="1000"/>
              <a:t>If a target page scores the following on your internal 0–5 point grading rubric:</a:t>
            </a:r>
            <a:endParaRPr lang="pl-PL" sz="1000"/>
          </a:p>
          <a:p>
            <a:pPr marL="171450" indent="-171450">
              <a:spcAft>
                <a:spcPts val="300"/>
              </a:spcAft>
              <a:buFont typeface="Arial" panose="020B0604020202020204" pitchFamily="34" charset="0"/>
              <a:buChar char="•"/>
            </a:pPr>
            <a:r>
              <a:rPr lang="en-US" sz="1000" i="1"/>
              <a:t>AI Interpretability: 4/5</a:t>
            </a:r>
            <a:endParaRPr lang="pl-PL" sz="1000" i="1"/>
          </a:p>
          <a:p>
            <a:pPr marL="171450" indent="-171450">
              <a:spcAft>
                <a:spcPts val="300"/>
              </a:spcAft>
              <a:buFont typeface="Arial" panose="020B0604020202020204" pitchFamily="34" charset="0"/>
              <a:buChar char="•"/>
            </a:pPr>
            <a:r>
              <a:rPr lang="en-US" sz="1000" i="1"/>
              <a:t>Semantic Richness: 5/5</a:t>
            </a:r>
            <a:endParaRPr lang="pl-PL" sz="1000" i="1"/>
          </a:p>
          <a:p>
            <a:pPr marL="171450" indent="-171450">
              <a:spcAft>
                <a:spcPts val="300"/>
              </a:spcAft>
              <a:buFont typeface="Arial" panose="020B0604020202020204" pitchFamily="34" charset="0"/>
              <a:buChar char="•"/>
            </a:pPr>
            <a:r>
              <a:rPr lang="en-US" sz="1000" i="1"/>
              <a:t>Conversational Relevance: 3/5</a:t>
            </a:r>
            <a:endParaRPr lang="pl-PL" sz="1000" i="1"/>
          </a:p>
          <a:p>
            <a:pPr marL="171450" indent="-171450">
              <a:spcAft>
                <a:spcPts val="300"/>
              </a:spcAft>
              <a:buFont typeface="Arial" panose="020B0604020202020204" pitchFamily="34" charset="0"/>
              <a:buChar char="•"/>
            </a:pPr>
            <a:r>
              <a:rPr lang="en-US" sz="1000" i="1"/>
              <a:t>Structural Optimization: 5/5</a:t>
            </a:r>
            <a:endParaRPr lang="pl-PL" sz="1000" i="1"/>
          </a:p>
          <a:p>
            <a:pPr marL="171450" indent="-171450">
              <a:spcAft>
                <a:spcPts val="300"/>
              </a:spcAft>
              <a:buFont typeface="Arial" panose="020B0604020202020204" pitchFamily="34" charset="0"/>
              <a:buChar char="•"/>
            </a:pPr>
            <a:r>
              <a:rPr lang="en-US" sz="1000" i="1"/>
              <a:t>Generative Engagement: 2/5</a:t>
            </a:r>
            <a:endParaRPr lang="pl-PL" sz="1000" i="1"/>
          </a:p>
          <a:p>
            <a:pPr marL="171450" indent="-171450">
              <a:spcAft>
                <a:spcPts val="300"/>
              </a:spcAft>
              <a:buFont typeface="Arial" panose="020B0604020202020204" pitchFamily="34" charset="0"/>
              <a:buChar char="•"/>
            </a:pPr>
            <a:endParaRPr lang="pl-PL" sz="1000" b="1" i="1"/>
          </a:p>
          <a:p>
            <a:pPr>
              <a:spcAft>
                <a:spcPts val="300"/>
              </a:spcAft>
            </a:pPr>
            <a:r>
              <a:rPr lang="en-US" sz="1000" b="1"/>
              <a:t>Weighted Raw Score: </a:t>
            </a:r>
            <a:r>
              <a:rPr lang="en-US" sz="1000"/>
              <a:t>1.20</a:t>
            </a:r>
            <a:r>
              <a:rPr lang="pl-PL" sz="1000"/>
              <a:t>*</a:t>
            </a:r>
            <a:r>
              <a:rPr lang="en-US" sz="1000"/>
              <a:t> + 1.25 + 0.60 + 0.75 + 0.20 = </a:t>
            </a:r>
            <a:r>
              <a:rPr lang="pl-PL" sz="1000"/>
              <a:t>4.0</a:t>
            </a:r>
          </a:p>
          <a:p>
            <a:pPr>
              <a:spcAft>
                <a:spcPts val="300"/>
              </a:spcAft>
            </a:pPr>
            <a:r>
              <a:rPr lang="en-US" sz="1000" b="1"/>
              <a:t>Normalized Final Score: </a:t>
            </a:r>
            <a:r>
              <a:rPr lang="en-US" sz="1000"/>
              <a:t>(4.0/5) </a:t>
            </a:r>
            <a:r>
              <a:rPr lang="pl-PL" sz="1000"/>
              <a:t>x</a:t>
            </a:r>
            <a:r>
              <a:rPr lang="en-US" sz="1000"/>
              <a:t> 100 = </a:t>
            </a:r>
            <a:r>
              <a:rPr lang="pl-PL" sz="1000"/>
              <a:t>80 </a:t>
            </a:r>
            <a:r>
              <a:rPr lang="en-US" sz="1000"/>
              <a:t>out of 100.</a:t>
            </a:r>
            <a:endParaRPr lang="pl-PL" sz="1000"/>
          </a:p>
          <a:p>
            <a:pPr>
              <a:spcAft>
                <a:spcPts val="300"/>
              </a:spcAft>
            </a:pPr>
            <a:endParaRPr lang="pl-PL" sz="1000"/>
          </a:p>
          <a:p>
            <a:pPr>
              <a:spcAft>
                <a:spcPts val="300"/>
              </a:spcAft>
            </a:pPr>
            <a:r>
              <a:rPr lang="en-US" sz="1000"/>
              <a:t>*We calculate the weighted score: the score was 4/5, the weight is 30% so 0.3 – 4x0.3=1.2</a:t>
            </a:r>
          </a:p>
        </p:txBody>
      </p:sp>
      <p:graphicFrame>
        <p:nvGraphicFramePr>
          <p:cNvPr id="4" name="Table 3">
            <a:extLst>
              <a:ext uri="{FF2B5EF4-FFF2-40B4-BE49-F238E27FC236}">
                <a16:creationId xmlns:a16="http://schemas.microsoft.com/office/drawing/2014/main" id="{CA75F194-115F-2759-8AF5-0703F44DB684}"/>
              </a:ext>
            </a:extLst>
          </p:cNvPr>
          <p:cNvGraphicFramePr>
            <a:graphicFrameLocks noGrp="1"/>
          </p:cNvGraphicFramePr>
          <p:nvPr>
            <p:extLst>
              <p:ext uri="{D42A27DB-BD31-4B8C-83A1-F6EECF244321}">
                <p14:modId xmlns:p14="http://schemas.microsoft.com/office/powerpoint/2010/main" val="1857939920"/>
              </p:ext>
            </p:extLst>
          </p:nvPr>
        </p:nvGraphicFramePr>
        <p:xfrm>
          <a:off x="4784651" y="1894549"/>
          <a:ext cx="4077740" cy="1862811"/>
        </p:xfrm>
        <a:graphic>
          <a:graphicData uri="http://schemas.openxmlformats.org/drawingml/2006/table">
            <a:tbl>
              <a:tblPr firstRow="1" bandRow="1">
                <a:tableStyleId>{5C22544A-7EE6-4342-B048-85BDC9FD1C3A}</a:tableStyleId>
              </a:tblPr>
              <a:tblGrid>
                <a:gridCol w="2038870">
                  <a:extLst>
                    <a:ext uri="{9D8B030D-6E8A-4147-A177-3AD203B41FA5}">
                      <a16:colId xmlns:a16="http://schemas.microsoft.com/office/drawing/2014/main" val="1082219581"/>
                    </a:ext>
                  </a:extLst>
                </a:gridCol>
                <a:gridCol w="2038870">
                  <a:extLst>
                    <a:ext uri="{9D8B030D-6E8A-4147-A177-3AD203B41FA5}">
                      <a16:colId xmlns:a16="http://schemas.microsoft.com/office/drawing/2014/main" val="3023339729"/>
                    </a:ext>
                  </a:extLst>
                </a:gridCol>
              </a:tblGrid>
              <a:tr h="277851">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chemeClr val="accent5"/>
                          </a:solidFill>
                          <a:effectLst/>
                          <a:uLnTx/>
                          <a:uFillTx/>
                          <a:latin typeface="+mn-lt"/>
                          <a:ea typeface="+mn-ea"/>
                          <a:cs typeface="+mn-cs"/>
                        </a:rPr>
                        <a:t>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372496">
                <a:tc>
                  <a:txBody>
                    <a:bodyPr/>
                    <a:lstStyle/>
                    <a:p>
                      <a:pPr lvl="0" algn="ctr"/>
                      <a:r>
                        <a:rPr kumimoji="0" lang="en-US" sz="1000" b="1" i="0" u="none" strike="noStrike" kern="1200" cap="none" spc="0" normalizeH="0" baseline="0" noProof="0">
                          <a:ln>
                            <a:noFill/>
                          </a:ln>
                          <a:solidFill>
                            <a:srgbClr val="0A2F24"/>
                          </a:solidFill>
                          <a:effectLst/>
                          <a:uLnTx/>
                          <a:uFillTx/>
                          <a:latin typeface="+mn-lt"/>
                          <a:ea typeface="+mn-ea"/>
                          <a:cs typeface="+mn-cs"/>
                        </a:rPr>
                        <a:t>&lt; 40 (Poor)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H</a:t>
                      </a:r>
                      <a:r>
                        <a:rPr kumimoji="0" lang="en-US" sz="1000" b="0" i="0" u="none" strike="noStrike" kern="1200" cap="none" spc="0" normalizeH="0" baseline="0" noProof="0" err="1">
                          <a:ln>
                            <a:noFill/>
                          </a:ln>
                          <a:solidFill>
                            <a:srgbClr val="0A2F24"/>
                          </a:solidFill>
                          <a:effectLst/>
                          <a:uLnTx/>
                          <a:uFillTx/>
                          <a:latin typeface="+mn-lt"/>
                          <a:ea typeface="+mn-ea"/>
                          <a:cs typeface="+mn-cs"/>
                        </a:rPr>
                        <a:t>igh</a:t>
                      </a:r>
                      <a:r>
                        <a:rPr kumimoji="0" lang="en-US" sz="1000" b="0" i="0" u="none" strike="noStrike" kern="1200" cap="none" spc="0" normalizeH="0" baseline="0" noProof="0">
                          <a:ln>
                            <a:noFill/>
                          </a:ln>
                          <a:solidFill>
                            <a:srgbClr val="0A2F24"/>
                          </a:solidFill>
                          <a:effectLst/>
                          <a:uLnTx/>
                          <a:uFillTx/>
                          <a:latin typeface="+mn-lt"/>
                          <a:ea typeface="+mn-ea"/>
                          <a:cs typeface="+mn-cs"/>
                        </a:rPr>
                        <a:t> priority for immediate remediation.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234012278"/>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40 - 69 (Average)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Needs improvement. Add to the optimization backlog.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102199639"/>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1" i="0" u="none" strike="noStrike" kern="1200" cap="none" spc="0" normalizeH="0" baseline="0">
                          <a:ln>
                            <a:noFill/>
                          </a:ln>
                          <a:solidFill>
                            <a:srgbClr val="0A2F24"/>
                          </a:solidFill>
                          <a:effectLst/>
                          <a:uLnTx/>
                          <a:uFillTx/>
                          <a:latin typeface="+mn-lt"/>
                          <a:ea typeface="+mn-ea"/>
                          <a:cs typeface="+mn-cs"/>
                        </a:rPr>
                        <a:t>70 - 89 (Good)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Well-optimized. Minor tweaks may be needed.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39287643"/>
                  </a:ext>
                </a:extLst>
              </a:tr>
              <a:tr h="372496">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1" i="0" u="none" strike="noStrike" kern="1200" cap="none" spc="0" normalizeH="0" baseline="0">
                          <a:ln>
                            <a:noFill/>
                          </a:ln>
                          <a:solidFill>
                            <a:srgbClr val="0A2F24"/>
                          </a:solidFill>
                          <a:effectLst/>
                          <a:uLnTx/>
                          <a:uFillTx/>
                          <a:latin typeface="+mn-lt"/>
                          <a:ea typeface="+mn-ea"/>
                          <a:cs typeface="+mn-cs"/>
                        </a:rPr>
                        <a:t>90+ (Excellent)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rgbClr val="0A2F24"/>
                          </a:solidFill>
                          <a:effectLst/>
                          <a:uLnTx/>
                          <a:uFillTx/>
                          <a:latin typeface="+mn-lt"/>
                          <a:ea typeface="+mn-ea"/>
                          <a:cs typeface="+mn-cs"/>
                        </a:rPr>
                        <a:t>Best-in-class. Use as an internal 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899167559"/>
                  </a:ext>
                </a:extLst>
              </a:tr>
            </a:tbl>
          </a:graphicData>
        </a:graphic>
      </p:graphicFrame>
    </p:spTree>
    <p:extLst>
      <p:ext uri="{BB962C8B-B14F-4D97-AF65-F5344CB8AC3E}">
        <p14:creationId xmlns:p14="http://schemas.microsoft.com/office/powerpoint/2010/main" val="15336810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7FDD4-749A-6FC2-F898-5690F4B984E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55409B0D-2DF6-AD66-646C-85F41B723141}"/>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11" name="Text 1">
            <a:extLst>
              <a:ext uri="{FF2B5EF4-FFF2-40B4-BE49-F238E27FC236}">
                <a16:creationId xmlns:a16="http://schemas.microsoft.com/office/drawing/2014/main" id="{DC4E1847-AFAE-60FC-3475-1F64E4DC7BB1}"/>
              </a:ext>
            </a:extLst>
          </p:cNvPr>
          <p:cNvSpPr/>
          <p:nvPr/>
        </p:nvSpPr>
        <p:spPr>
          <a:xfrm>
            <a:off x="342900" y="192024"/>
            <a:ext cx="7886700" cy="377190"/>
          </a:xfrm>
          <a:prstGeom prst="rect">
            <a:avLst/>
          </a:prstGeom>
          <a:noFill/>
          <a:ln/>
        </p:spPr>
        <p:txBody>
          <a:bodyPr wrap="square" lIns="0" tIns="0" rIns="0" bIns="0" rtlCol="0" anchor="ctr"/>
          <a:lstStyle/>
          <a:p>
            <a:pPr lvl="0">
              <a:defRPr/>
            </a:pPr>
            <a:r>
              <a:rPr lang="pl-PL" sz="2200">
                <a:solidFill>
                  <a:srgbClr val="E7FFD9"/>
                </a:solidFill>
                <a:cs typeface="Arial"/>
              </a:rPr>
              <a:t>Tech GEO Health KPIs </a:t>
            </a:r>
            <a:endParaRPr lang="en-US" sz="2200">
              <a:solidFill>
                <a:srgbClr val="E7FFD9"/>
              </a:solidFill>
              <a:cs typeface="Arial"/>
            </a:endParaRPr>
          </a:p>
        </p:txBody>
      </p:sp>
      <p:sp>
        <p:nvSpPr>
          <p:cNvPr id="12" name="Text 2">
            <a:extLst>
              <a:ext uri="{FF2B5EF4-FFF2-40B4-BE49-F238E27FC236}">
                <a16:creationId xmlns:a16="http://schemas.microsoft.com/office/drawing/2014/main" id="{D57DF2B9-6FB5-07C9-286E-7773AA9876F6}"/>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b="0" i="0" u="none" strike="noStrike" kern="1200" cap="none" spc="0" normalizeH="0" baseline="0" noProof="0">
                <a:ln>
                  <a:noFill/>
                </a:ln>
                <a:solidFill>
                  <a:srgbClr val="E7FFD9"/>
                </a:solidFill>
                <a:effectLst/>
                <a:uLnTx/>
                <a:uFillTx/>
                <a:latin typeface="Poppins"/>
                <a:ea typeface="+mn-ea"/>
                <a:cs typeface="Arial"/>
              </a:rPr>
              <a:t>Technical paramaters are mesured to monitor AI visibility of se.com.</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5" name="Footer Placeholder 4">
            <a:extLst>
              <a:ext uri="{FF2B5EF4-FFF2-40B4-BE49-F238E27FC236}">
                <a16:creationId xmlns:a16="http://schemas.microsoft.com/office/drawing/2014/main" id="{595082FD-5E9A-1C40-87BD-5ED3E01B5B10}"/>
              </a:ext>
            </a:extLst>
          </p:cNvPr>
          <p:cNvSpPr>
            <a:spLocks noGrp="1"/>
          </p:cNvSpPr>
          <p:nvPr>
            <p:ph type="ftr" sz="quarter" idx="3"/>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26469"/>
                </a:solidFill>
                <a:effectLst/>
                <a:uLnTx/>
                <a:uFillTx/>
                <a:latin typeface="Arial"/>
                <a:ea typeface="+mn-ea"/>
                <a:cs typeface="Arial"/>
              </a:rPr>
              <a:t>Property of Schneider Electric |</a:t>
            </a:r>
          </a:p>
        </p:txBody>
      </p:sp>
      <p:sp>
        <p:nvSpPr>
          <p:cNvPr id="6" name="Slide Number Placeholder 5">
            <a:extLst>
              <a:ext uri="{FF2B5EF4-FFF2-40B4-BE49-F238E27FC236}">
                <a16:creationId xmlns:a16="http://schemas.microsoft.com/office/drawing/2014/main" id="{88A204D5-E279-040F-CDB1-8316A81616D2}"/>
              </a:ext>
            </a:extLst>
          </p:cNvPr>
          <p:cNvSpPr>
            <a:spLocks noGrp="1"/>
          </p:cNvSpPr>
          <p:nvPr>
            <p:ph type="sldNum" sz="quarter" idx="4"/>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3DCD58"/>
                </a:solidFill>
                <a:effectLst/>
                <a:uLnTx/>
                <a:uFillTx/>
                <a:latin typeface="Arial"/>
                <a:ea typeface="+mn-ea"/>
                <a:cs typeface="Arial"/>
              </a:rPr>
              <a:t>Page </a:t>
            </a:r>
            <a:fld id="{5A9C12DC-491F-9444-86A2-13AC5C62A2FC}" type="slidenum">
              <a:rPr kumimoji="0" lang="en-US" sz="600" b="0" i="0" u="none" strike="noStrike" kern="1200" cap="none" spc="0" normalizeH="0" baseline="0" noProof="0">
                <a:ln>
                  <a:noFill/>
                </a:ln>
                <a:solidFill>
                  <a:srgbClr val="3DCD58"/>
                </a:solidFill>
                <a:effectLst/>
                <a:uLnTx/>
                <a:uFillTx/>
                <a:latin typeface="Arial"/>
                <a:ea typeface="+mn-ea"/>
                <a:cs typeface="Arial"/>
              </a:rPr>
              <a:pPr marL="0" marR="0" lvl="0" indent="0" algn="l" defTabSz="685800" rtl="0" eaLnBrk="1" fontAlgn="auto" latinLnBrk="0" hangingPunct="1">
                <a:lnSpc>
                  <a:spcPct val="100000"/>
                </a:lnSpc>
                <a:spcBef>
                  <a:spcPts val="0"/>
                </a:spcBef>
                <a:spcAft>
                  <a:spcPts val="0"/>
                </a:spcAft>
                <a:buClrTx/>
                <a:buSzTx/>
                <a:buFontTx/>
                <a:buNone/>
                <a:tabLst/>
                <a:defRPr/>
              </a:pPr>
              <a:t>131</a:t>
            </a:fld>
            <a:endParaRPr kumimoji="0" lang="en-US" sz="600" b="0" i="0" u="none" strike="noStrike" kern="1200" cap="none" spc="0" normalizeH="0" baseline="0" noProof="0">
              <a:ln>
                <a:noFill/>
              </a:ln>
              <a:solidFill>
                <a:srgbClr val="3DCD58"/>
              </a:solidFill>
              <a:effectLst/>
              <a:uLnTx/>
              <a:uFillTx/>
              <a:latin typeface="Arial"/>
              <a:ea typeface="+mn-ea"/>
              <a:cs typeface="Arial"/>
            </a:endParaRPr>
          </a:p>
        </p:txBody>
      </p:sp>
      <p:graphicFrame>
        <p:nvGraphicFramePr>
          <p:cNvPr id="7" name="Table 6">
            <a:extLst>
              <a:ext uri="{FF2B5EF4-FFF2-40B4-BE49-F238E27FC236}">
                <a16:creationId xmlns:a16="http://schemas.microsoft.com/office/drawing/2014/main" id="{99E333CD-74A0-CB96-FDD9-D3DEBAFB8F88}"/>
              </a:ext>
            </a:extLst>
          </p:cNvPr>
          <p:cNvGraphicFramePr>
            <a:graphicFrameLocks noGrp="1"/>
          </p:cNvGraphicFramePr>
          <p:nvPr>
            <p:extLst>
              <p:ext uri="{D42A27DB-BD31-4B8C-83A1-F6EECF244321}">
                <p14:modId xmlns:p14="http://schemas.microsoft.com/office/powerpoint/2010/main" val="465122469"/>
              </p:ext>
            </p:extLst>
          </p:nvPr>
        </p:nvGraphicFramePr>
        <p:xfrm>
          <a:off x="180811" y="1782320"/>
          <a:ext cx="4330984" cy="2968584"/>
        </p:xfrm>
        <a:graphic>
          <a:graphicData uri="http://schemas.openxmlformats.org/drawingml/2006/table">
            <a:tbl>
              <a:tblPr firstRow="1" bandRow="1">
                <a:tableStyleId>{5C22544A-7EE6-4342-B048-85BDC9FD1C3A}</a:tableStyleId>
              </a:tblPr>
              <a:tblGrid>
                <a:gridCol w="754371">
                  <a:extLst>
                    <a:ext uri="{9D8B030D-6E8A-4147-A177-3AD203B41FA5}">
                      <a16:colId xmlns:a16="http://schemas.microsoft.com/office/drawing/2014/main" val="1082219581"/>
                    </a:ext>
                  </a:extLst>
                </a:gridCol>
                <a:gridCol w="1059873">
                  <a:extLst>
                    <a:ext uri="{9D8B030D-6E8A-4147-A177-3AD203B41FA5}">
                      <a16:colId xmlns:a16="http://schemas.microsoft.com/office/drawing/2014/main" val="1163470447"/>
                    </a:ext>
                  </a:extLst>
                </a:gridCol>
                <a:gridCol w="1115290">
                  <a:extLst>
                    <a:ext uri="{9D8B030D-6E8A-4147-A177-3AD203B41FA5}">
                      <a16:colId xmlns:a16="http://schemas.microsoft.com/office/drawing/2014/main" val="2879629697"/>
                    </a:ext>
                  </a:extLst>
                </a:gridCol>
                <a:gridCol w="1401450">
                  <a:extLst>
                    <a:ext uri="{9D8B030D-6E8A-4147-A177-3AD203B41FA5}">
                      <a16:colId xmlns:a16="http://schemas.microsoft.com/office/drawing/2014/main" val="3269814366"/>
                    </a:ext>
                  </a:extLst>
                </a:gridCol>
              </a:tblGrid>
              <a:tr h="281042">
                <a:tc>
                  <a:txBody>
                    <a:bodyPr/>
                    <a:lstStyle/>
                    <a:p>
                      <a:pPr algn="ctr"/>
                      <a:r>
                        <a:rPr lang="pl-PL" sz="1200">
                          <a:solidFill>
                            <a:schemeClr val="accent5"/>
                          </a:solidFill>
                        </a:rPr>
                        <a:t>Weight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pl-PL" sz="1200">
                          <a:solidFill>
                            <a:schemeClr val="accent5"/>
                          </a:solidFill>
                        </a:rPr>
                        <a:t>% of Health URL1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200">
                          <a:solidFill>
                            <a:schemeClr val="accent5"/>
                          </a:solidFill>
                        </a:rPr>
                        <a:t>% of Health URL2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pl-PL" sz="1200">
                          <a:solidFill>
                            <a:schemeClr val="accent5"/>
                          </a:solidFill>
                        </a:rPr>
                        <a:t>Element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352524">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1 or 0</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1</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1</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Robots.txt</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 or 0</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noindex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 or 0</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Canonical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 or 0</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Status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&lt;p&gt; of relevant 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800378"/>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&lt;h1&gt; and &lt;h2&gt;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85822785"/>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&lt;title&gt;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657960268"/>
                  </a:ext>
                </a:extLst>
              </a:tr>
            </a:tbl>
          </a:graphicData>
        </a:graphic>
      </p:graphicFrame>
      <p:graphicFrame>
        <p:nvGraphicFramePr>
          <p:cNvPr id="9" name="Table 8">
            <a:extLst>
              <a:ext uri="{FF2B5EF4-FFF2-40B4-BE49-F238E27FC236}">
                <a16:creationId xmlns:a16="http://schemas.microsoft.com/office/drawing/2014/main" id="{75F9A5C9-47CA-CC2A-278D-7DAE0BCF05C3}"/>
              </a:ext>
            </a:extLst>
          </p:cNvPr>
          <p:cNvGraphicFramePr>
            <a:graphicFrameLocks noGrp="1"/>
          </p:cNvGraphicFramePr>
          <p:nvPr>
            <p:extLst>
              <p:ext uri="{D42A27DB-BD31-4B8C-83A1-F6EECF244321}">
                <p14:modId xmlns:p14="http://schemas.microsoft.com/office/powerpoint/2010/main" val="919513015"/>
              </p:ext>
            </p:extLst>
          </p:nvPr>
        </p:nvGraphicFramePr>
        <p:xfrm>
          <a:off x="4591341" y="1782320"/>
          <a:ext cx="4330984" cy="2616060"/>
        </p:xfrm>
        <a:graphic>
          <a:graphicData uri="http://schemas.openxmlformats.org/drawingml/2006/table">
            <a:tbl>
              <a:tblPr firstRow="1" bandRow="1">
                <a:tableStyleId>{5C22544A-7EE6-4342-B048-85BDC9FD1C3A}</a:tableStyleId>
              </a:tblPr>
              <a:tblGrid>
                <a:gridCol w="791150">
                  <a:extLst>
                    <a:ext uri="{9D8B030D-6E8A-4147-A177-3AD203B41FA5}">
                      <a16:colId xmlns:a16="http://schemas.microsoft.com/office/drawing/2014/main" val="1082219581"/>
                    </a:ext>
                  </a:extLst>
                </a:gridCol>
                <a:gridCol w="1115291">
                  <a:extLst>
                    <a:ext uri="{9D8B030D-6E8A-4147-A177-3AD203B41FA5}">
                      <a16:colId xmlns:a16="http://schemas.microsoft.com/office/drawing/2014/main" val="1163470447"/>
                    </a:ext>
                  </a:extLst>
                </a:gridCol>
                <a:gridCol w="1052945">
                  <a:extLst>
                    <a:ext uri="{9D8B030D-6E8A-4147-A177-3AD203B41FA5}">
                      <a16:colId xmlns:a16="http://schemas.microsoft.com/office/drawing/2014/main" val="2879629697"/>
                    </a:ext>
                  </a:extLst>
                </a:gridCol>
                <a:gridCol w="1371598">
                  <a:extLst>
                    <a:ext uri="{9D8B030D-6E8A-4147-A177-3AD203B41FA5}">
                      <a16:colId xmlns:a16="http://schemas.microsoft.com/office/drawing/2014/main" val="3269814366"/>
                    </a:ext>
                  </a:extLst>
                </a:gridCol>
              </a:tblGrid>
              <a:tr h="281042">
                <a:tc>
                  <a:txBody>
                    <a:bodyPr/>
                    <a:lstStyle/>
                    <a:p>
                      <a:pPr algn="ctr"/>
                      <a:r>
                        <a:rPr lang="pl-PL" sz="1200">
                          <a:solidFill>
                            <a:schemeClr val="accent5"/>
                          </a:solidFill>
                        </a:rPr>
                        <a:t>Weight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pl-PL" sz="1200">
                          <a:solidFill>
                            <a:schemeClr val="accent5"/>
                          </a:solidFill>
                        </a:rPr>
                        <a:t>% of Health URL1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200">
                          <a:solidFill>
                            <a:schemeClr val="accent5"/>
                          </a:solidFill>
                        </a:rPr>
                        <a:t>% of Health URL2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pl-PL" sz="1200">
                          <a:solidFill>
                            <a:schemeClr val="accent5"/>
                          </a:solidFill>
                        </a:rPr>
                        <a:t>Element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49721912"/>
                  </a:ext>
                </a:extLst>
              </a:tr>
              <a:tr h="352524">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4</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100</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0</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Hyperlinks</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Structured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Breadcrumbs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HTML lang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SE Sitemapas &lt;Manual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800378"/>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Meta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85822785"/>
                  </a:ext>
                </a:extLst>
              </a:tr>
            </a:tbl>
          </a:graphicData>
        </a:graphic>
      </p:graphicFrame>
      <p:sp>
        <p:nvSpPr>
          <p:cNvPr id="10" name="TextBox 9">
            <a:extLst>
              <a:ext uri="{FF2B5EF4-FFF2-40B4-BE49-F238E27FC236}">
                <a16:creationId xmlns:a16="http://schemas.microsoft.com/office/drawing/2014/main" id="{8C99B09B-6CA9-39E2-D974-7A3EF054D339}"/>
              </a:ext>
            </a:extLst>
          </p:cNvPr>
          <p:cNvSpPr txBox="1"/>
          <p:nvPr/>
        </p:nvSpPr>
        <p:spPr>
          <a:xfrm>
            <a:off x="676379" y="1080483"/>
            <a:ext cx="7553221" cy="553998"/>
          </a:xfrm>
          <a:prstGeom prst="rect">
            <a:avLst/>
          </a:prstGeom>
          <a:solidFill>
            <a:schemeClr val="accent5"/>
          </a:solidFill>
          <a:ln>
            <a:solidFill>
              <a:schemeClr val="tx1"/>
            </a:solidFill>
          </a:ln>
        </p:spPr>
        <p:txBody>
          <a:bodyPr wrap="square" lIns="91440" tIns="45720" rIns="91440" bIns="45720" anchor="t">
            <a:spAutoFit/>
          </a:bodyPr>
          <a:lstStyle/>
          <a:p>
            <a:pPr>
              <a:spcAft>
                <a:spcPts val="300"/>
              </a:spcAft>
            </a:pPr>
            <a:r>
              <a:rPr lang="pl-PL" sz="1000"/>
              <a:t>Technical GEO is as importnat as content – we can’t be mentioned or cited if we are not visible to AI. Schneider Electric Digital monitor key KPIs for se.com and other SE domains to ensure that the key elements are present on the pages. Below are the KPIs elements and weights. </a:t>
            </a:r>
            <a:endParaRPr lang="en-US" sz="1000"/>
          </a:p>
        </p:txBody>
      </p:sp>
    </p:spTree>
    <p:extLst>
      <p:ext uri="{BB962C8B-B14F-4D97-AF65-F5344CB8AC3E}">
        <p14:creationId xmlns:p14="http://schemas.microsoft.com/office/powerpoint/2010/main" val="18714830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12675-4E3D-DDB5-7242-3F9E21CD3065}"/>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05121160-205B-A386-910F-9C1D2F7D54C9}"/>
              </a:ext>
            </a:extLst>
          </p:cNvPr>
          <p:cNvSpPr/>
          <p:nvPr/>
        </p:nvSpPr>
        <p:spPr>
          <a:xfrm>
            <a:off x="2" y="0"/>
            <a:ext cx="9143771" cy="1028700"/>
          </a:xfrm>
          <a:prstGeom prst="rect">
            <a:avLst/>
          </a:prstGeom>
          <a:solidFill>
            <a:schemeClr val="tx1"/>
          </a:solidFill>
          <a:ln/>
        </p:spPr>
        <p:txBody>
          <a:bodyPr/>
          <a:lstStyle/>
          <a:p>
            <a:pPr defTabSz="457172"/>
            <a:endParaRPr lang="pl-PL">
              <a:solidFill>
                <a:srgbClr val="0A2F24"/>
              </a:solidFill>
              <a:latin typeface="Poppins"/>
            </a:endParaRPr>
          </a:p>
        </p:txBody>
      </p:sp>
      <p:sp>
        <p:nvSpPr>
          <p:cNvPr id="11" name="Text 1">
            <a:extLst>
              <a:ext uri="{FF2B5EF4-FFF2-40B4-BE49-F238E27FC236}">
                <a16:creationId xmlns:a16="http://schemas.microsoft.com/office/drawing/2014/main" id="{1B6FA075-D82F-FAB6-A7D3-85733840022D}"/>
              </a:ext>
            </a:extLst>
          </p:cNvPr>
          <p:cNvSpPr/>
          <p:nvPr/>
        </p:nvSpPr>
        <p:spPr>
          <a:xfrm>
            <a:off x="342900" y="192024"/>
            <a:ext cx="7886700" cy="377190"/>
          </a:xfrm>
          <a:prstGeom prst="rect">
            <a:avLst/>
          </a:prstGeom>
          <a:noFill/>
          <a:ln/>
        </p:spPr>
        <p:txBody>
          <a:bodyPr wrap="square" lIns="0" tIns="0" rIns="0" bIns="0" rtlCol="0" anchor="ctr"/>
          <a:lstStyle/>
          <a:p>
            <a:pPr defTabSz="457172">
              <a:defRPr/>
            </a:pPr>
            <a:r>
              <a:rPr lang="pl-PL" sz="2200">
                <a:solidFill>
                  <a:srgbClr val="E7FFD9"/>
                </a:solidFill>
                <a:latin typeface="Poppins"/>
                <a:cs typeface="Arial"/>
              </a:rPr>
              <a:t>Available Tools that Everybody can Use</a:t>
            </a:r>
            <a:endParaRPr lang="en-US" sz="2200">
              <a:solidFill>
                <a:srgbClr val="E7FFD9"/>
              </a:solidFill>
              <a:latin typeface="Poppins"/>
              <a:cs typeface="Arial"/>
            </a:endParaRPr>
          </a:p>
        </p:txBody>
      </p:sp>
      <p:sp>
        <p:nvSpPr>
          <p:cNvPr id="12" name="Text 2">
            <a:extLst>
              <a:ext uri="{FF2B5EF4-FFF2-40B4-BE49-F238E27FC236}">
                <a16:creationId xmlns:a16="http://schemas.microsoft.com/office/drawing/2014/main" id="{2B6E67D1-D318-5DB7-E6C5-E8C973FEB7F3}"/>
              </a:ext>
            </a:extLst>
          </p:cNvPr>
          <p:cNvSpPr/>
          <p:nvPr/>
        </p:nvSpPr>
        <p:spPr>
          <a:xfrm>
            <a:off x="342900" y="589788"/>
            <a:ext cx="7886700" cy="274320"/>
          </a:xfrm>
          <a:prstGeom prst="rect">
            <a:avLst/>
          </a:prstGeom>
          <a:noFill/>
          <a:ln/>
        </p:spPr>
        <p:txBody>
          <a:bodyPr wrap="square" lIns="0" tIns="0" rIns="0" bIns="0" rtlCol="0" anchor="ctr"/>
          <a:lstStyle/>
          <a:p>
            <a:pPr defTabSz="457172"/>
            <a:r>
              <a:rPr lang="pl-PL" sz="1100">
                <a:solidFill>
                  <a:srgbClr val="E7FFD9"/>
                </a:solidFill>
                <a:latin typeface="Poppins"/>
                <a:cs typeface="Arial"/>
              </a:rPr>
              <a:t>Google Analytics 4</a:t>
            </a:r>
            <a:endParaRPr lang="en-US" sz="1100">
              <a:solidFill>
                <a:srgbClr val="E7FFD9"/>
              </a:solidFill>
              <a:latin typeface="Poppins"/>
              <a:cs typeface="Arial"/>
            </a:endParaRPr>
          </a:p>
        </p:txBody>
      </p:sp>
      <p:sp>
        <p:nvSpPr>
          <p:cNvPr id="5" name="Footer Placeholder 4">
            <a:extLst>
              <a:ext uri="{FF2B5EF4-FFF2-40B4-BE49-F238E27FC236}">
                <a16:creationId xmlns:a16="http://schemas.microsoft.com/office/drawing/2014/main" id="{597F587D-43B3-6B96-6213-C5BD69C5FDC2}"/>
              </a:ext>
            </a:extLst>
          </p:cNvPr>
          <p:cNvSpPr>
            <a:spLocks noGrp="1"/>
          </p:cNvSpPr>
          <p:nvPr>
            <p:ph type="ftr" sz="quarter" idx="3"/>
          </p:nvPr>
        </p:nvSpPr>
        <p:spPr/>
        <p:txBody>
          <a:bodyPr/>
          <a:lstStyle/>
          <a:p>
            <a:pPr defTabSz="685783">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7D161991-D0F6-2779-6973-98447C1BC022}"/>
              </a:ext>
            </a:extLst>
          </p:cNvPr>
          <p:cNvSpPr>
            <a:spLocks noGrp="1"/>
          </p:cNvSpPr>
          <p:nvPr>
            <p:ph type="sldNum" sz="quarter" idx="4"/>
          </p:nvPr>
        </p:nvSpPr>
        <p:spPr/>
        <p:txBody>
          <a:bodyPr/>
          <a:lstStyle/>
          <a:p>
            <a:pPr defTabSz="685783">
              <a:defRPr/>
            </a:pPr>
            <a:r>
              <a:rPr lang="en-US">
                <a:solidFill>
                  <a:srgbClr val="3DCD58"/>
                </a:solidFill>
              </a:rPr>
              <a:t>Page </a:t>
            </a:r>
            <a:fld id="{5A9C12DC-491F-9444-86A2-13AC5C62A2FC}" type="slidenum">
              <a:rPr lang="en-US">
                <a:solidFill>
                  <a:srgbClr val="3DCD58"/>
                </a:solidFill>
              </a:rPr>
              <a:pPr defTabSz="685783">
                <a:defRPr/>
              </a:pPr>
              <a:t>132</a:t>
            </a:fld>
            <a:endParaRPr lang="en-US">
              <a:solidFill>
                <a:srgbClr val="3DCD58"/>
              </a:solidFill>
            </a:endParaRPr>
          </a:p>
        </p:txBody>
      </p:sp>
      <p:sp>
        <p:nvSpPr>
          <p:cNvPr id="3" name="TextBox 2">
            <a:extLst>
              <a:ext uri="{FF2B5EF4-FFF2-40B4-BE49-F238E27FC236}">
                <a16:creationId xmlns:a16="http://schemas.microsoft.com/office/drawing/2014/main" id="{170C59F1-24B7-A5A3-0742-3757872ADF83}"/>
              </a:ext>
            </a:extLst>
          </p:cNvPr>
          <p:cNvSpPr txBox="1"/>
          <p:nvPr/>
        </p:nvSpPr>
        <p:spPr>
          <a:xfrm>
            <a:off x="382723" y="4600554"/>
            <a:ext cx="6620402" cy="207749"/>
          </a:xfrm>
          <a:prstGeom prst="rect">
            <a:avLst/>
          </a:prstGeom>
        </p:spPr>
        <p:txBody>
          <a:bodyPr vert="horz" wrap="none" lIns="0" tIns="0" rIns="0" bIns="0" rtlCol="0">
            <a:spAutoFit/>
          </a:bodyPr>
          <a:lstStyle/>
          <a:p>
            <a:pPr defTabSz="685800"/>
            <a:r>
              <a:rPr lang="pl-PL" sz="675">
                <a:solidFill>
                  <a:srgbClr val="0A2F24"/>
                </a:solidFill>
                <a:latin typeface="Poppins"/>
              </a:rPr>
              <a:t>* AI Assistant group was introduced by Google in Jun’26 therefore you can only analyse data from mid-Jun 2026 using this group. </a:t>
            </a:r>
            <a:br>
              <a:rPr lang="pl-PL" sz="675">
                <a:solidFill>
                  <a:srgbClr val="0A2F24"/>
                </a:solidFill>
                <a:latin typeface="Poppins"/>
              </a:rPr>
            </a:br>
            <a:r>
              <a:rPr lang="pl-PL" sz="675">
                <a:solidFill>
                  <a:srgbClr val="0A2F24"/>
                </a:solidFill>
                <a:latin typeface="Poppins"/>
              </a:rPr>
              <a:t>For the past, you can take a look on dimension „Session Default Channel Group 2” and „AI Traffic” group created as custom field by Digital Analytics team.</a:t>
            </a:r>
          </a:p>
        </p:txBody>
      </p:sp>
      <p:pic>
        <p:nvPicPr>
          <p:cNvPr id="4" name="Picture 3">
            <a:extLst>
              <a:ext uri="{FF2B5EF4-FFF2-40B4-BE49-F238E27FC236}">
                <a16:creationId xmlns:a16="http://schemas.microsoft.com/office/drawing/2014/main" id="{68771ACE-ECC1-D464-06EF-FB13EC2F7835}"/>
              </a:ext>
            </a:extLst>
          </p:cNvPr>
          <p:cNvPicPr>
            <a:picLocks noChangeAspect="1"/>
          </p:cNvPicPr>
          <p:nvPr/>
        </p:nvPicPr>
        <p:blipFill>
          <a:blip r:embed="rId2"/>
          <a:stretch>
            <a:fillRect/>
          </a:stretch>
        </p:blipFill>
        <p:spPr>
          <a:xfrm>
            <a:off x="6568347" y="1320145"/>
            <a:ext cx="2461658" cy="2050562"/>
          </a:xfrm>
          <a:prstGeom prst="rect">
            <a:avLst/>
          </a:prstGeom>
          <a:ln>
            <a:solidFill>
              <a:schemeClr val="tx1"/>
            </a:solidFill>
          </a:ln>
        </p:spPr>
      </p:pic>
      <p:grpSp>
        <p:nvGrpSpPr>
          <p:cNvPr id="18" name="Group 17">
            <a:extLst>
              <a:ext uri="{FF2B5EF4-FFF2-40B4-BE49-F238E27FC236}">
                <a16:creationId xmlns:a16="http://schemas.microsoft.com/office/drawing/2014/main" id="{4039D6CF-08DD-73B7-AB22-FC75C0649D41}"/>
              </a:ext>
            </a:extLst>
          </p:cNvPr>
          <p:cNvGrpSpPr/>
          <p:nvPr/>
        </p:nvGrpSpPr>
        <p:grpSpPr>
          <a:xfrm>
            <a:off x="4627563" y="1320145"/>
            <a:ext cx="1885107" cy="2789960"/>
            <a:chOff x="6077887" y="2894891"/>
            <a:chExt cx="2740810" cy="3968463"/>
          </a:xfrm>
        </p:grpSpPr>
        <p:pic>
          <p:nvPicPr>
            <p:cNvPr id="15" name="Picture 14">
              <a:extLst>
                <a:ext uri="{FF2B5EF4-FFF2-40B4-BE49-F238E27FC236}">
                  <a16:creationId xmlns:a16="http://schemas.microsoft.com/office/drawing/2014/main" id="{741BCB8B-53E4-479C-BE73-66ADE7A1E1F8}"/>
                </a:ext>
              </a:extLst>
            </p:cNvPr>
            <p:cNvPicPr>
              <a:picLocks noChangeAspect="1"/>
            </p:cNvPicPr>
            <p:nvPr/>
          </p:nvPicPr>
          <p:blipFill>
            <a:blip r:embed="rId3"/>
            <a:stretch>
              <a:fillRect/>
            </a:stretch>
          </p:blipFill>
          <p:spPr>
            <a:xfrm>
              <a:off x="6077887" y="3434354"/>
              <a:ext cx="2740807" cy="3429000"/>
            </a:xfrm>
            <a:prstGeom prst="rect">
              <a:avLst/>
            </a:prstGeom>
            <a:ln>
              <a:solidFill>
                <a:schemeClr val="tx1"/>
              </a:solidFill>
            </a:ln>
          </p:spPr>
        </p:pic>
        <p:pic>
          <p:nvPicPr>
            <p:cNvPr id="17" name="Picture 16">
              <a:extLst>
                <a:ext uri="{FF2B5EF4-FFF2-40B4-BE49-F238E27FC236}">
                  <a16:creationId xmlns:a16="http://schemas.microsoft.com/office/drawing/2014/main" id="{FFB6DC32-1A1B-ED3E-AE59-8F17D2293AE7}"/>
                </a:ext>
              </a:extLst>
            </p:cNvPr>
            <p:cNvPicPr>
              <a:picLocks noChangeAspect="1"/>
            </p:cNvPicPr>
            <p:nvPr/>
          </p:nvPicPr>
          <p:blipFill>
            <a:blip r:embed="rId4"/>
            <a:stretch>
              <a:fillRect/>
            </a:stretch>
          </p:blipFill>
          <p:spPr>
            <a:xfrm>
              <a:off x="6077890" y="2894891"/>
              <a:ext cx="2740807" cy="504618"/>
            </a:xfrm>
            <a:prstGeom prst="rect">
              <a:avLst/>
            </a:prstGeom>
            <a:ln>
              <a:solidFill>
                <a:schemeClr val="tx1"/>
              </a:solidFill>
            </a:ln>
          </p:spPr>
        </p:pic>
      </p:grpSp>
      <p:sp>
        <p:nvSpPr>
          <p:cNvPr id="2" name="Rectangle 1">
            <a:extLst>
              <a:ext uri="{FF2B5EF4-FFF2-40B4-BE49-F238E27FC236}">
                <a16:creationId xmlns:a16="http://schemas.microsoft.com/office/drawing/2014/main" id="{4D998BCB-5994-7F3E-5768-A6D1CAC40B60}"/>
              </a:ext>
            </a:extLst>
          </p:cNvPr>
          <p:cNvSpPr/>
          <p:nvPr/>
        </p:nvSpPr>
        <p:spPr>
          <a:xfrm>
            <a:off x="237857" y="1320676"/>
            <a:ext cx="4334030" cy="1198811"/>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72" rtl="0" eaLnBrk="1" fontAlgn="auto" latinLnBrk="0" hangingPunct="1">
              <a:lnSpc>
                <a:spcPct val="100000"/>
              </a:lnSpc>
              <a:spcBef>
                <a:spcPts val="0"/>
              </a:spcBef>
              <a:spcAft>
                <a:spcPts val="300"/>
              </a:spcAft>
              <a:buClrTx/>
              <a:buSzTx/>
              <a:buFontTx/>
              <a:buNone/>
              <a:tabLst/>
              <a:defRPr/>
            </a:pPr>
            <a:r>
              <a:rPr kumimoji="0" lang="pl-PL" sz="1000" b="1" i="0" u="none" strike="noStrike" kern="1200" cap="none" spc="0" normalizeH="0" baseline="0" noProof="0">
                <a:ln>
                  <a:noFill/>
                </a:ln>
                <a:solidFill>
                  <a:srgbClr val="0A2F24"/>
                </a:solidFill>
                <a:effectLst/>
                <a:uLnTx/>
                <a:uFillTx/>
                <a:latin typeface="Poppins"/>
                <a:ea typeface="+mn-ea"/>
                <a:cs typeface="+mn-cs"/>
                <a:hlinkClick r:id="rId5"/>
              </a:rPr>
              <a:t>Google Analytics</a:t>
            </a:r>
            <a:endParaRPr kumimoji="0" lang="pl-PL" sz="1000" b="1" i="0" u="none" strike="noStrike" kern="1200" cap="none" spc="0" normalizeH="0" baseline="0" noProof="0">
              <a:ln>
                <a:noFill/>
              </a:ln>
              <a:solidFill>
                <a:srgbClr val="0A2F24"/>
              </a:solidFill>
              <a:effectLst/>
              <a:uLnTx/>
              <a:uFillTx/>
              <a:latin typeface="Poppins"/>
              <a:ea typeface="+mn-ea"/>
              <a:cs typeface="+mn-cs"/>
            </a:endParaRP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pl-PL" sz="900" b="1" i="0" u="none" strike="noStrike" kern="1200" cap="none" spc="0" normalizeH="0" baseline="0" noProof="0">
                <a:ln>
                  <a:noFill/>
                </a:ln>
                <a:solidFill>
                  <a:srgbClr val="0A2F24"/>
                </a:solidFill>
                <a:effectLst/>
                <a:uLnTx/>
                <a:uFillTx/>
                <a:latin typeface="Poppins"/>
                <a:ea typeface="+mn-ea"/>
                <a:cs typeface="+mn-cs"/>
              </a:rPr>
              <a:t>In GA tool under Report&gt;Aquisition&gt;Traffic Aquisition section you can easily track the AI Assistant* traffic evolution. </a:t>
            </a: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pl-PL" sz="900" b="0" i="0" u="none" strike="noStrike" kern="1200" cap="none" spc="0" normalizeH="0" baseline="0" noProof="0">
                <a:ln>
                  <a:noFill/>
                </a:ln>
                <a:solidFill>
                  <a:srgbClr val="0A2F24"/>
                </a:solidFill>
                <a:effectLst/>
                <a:uLnTx/>
                <a:uFillTx/>
                <a:latin typeface="Poppins"/>
                <a:ea typeface="+mn-ea"/>
                <a:cs typeface="+mn-cs"/>
              </a:rPr>
              <a:t>This view will provide you visibility on the number of clicks (sessions started on se.com) coming from citations together with engagement metrics. The same kind of report can be reached for mySchneider, shop &amp; eshop properties.</a:t>
            </a:r>
            <a:endParaRPr kumimoji="0" lang="pl-PL" sz="1000" b="1" i="0" u="none" strike="noStrike" kern="1200" cap="none" spc="0" normalizeH="0" baseline="0" noProof="0">
              <a:ln>
                <a:noFill/>
              </a:ln>
              <a:solidFill>
                <a:srgbClr val="0A2F24"/>
              </a:solidFill>
              <a:effectLst/>
              <a:uLnTx/>
              <a:uFillTx/>
              <a:latin typeface="Poppins"/>
              <a:ea typeface="+mn-ea"/>
              <a:cs typeface="+mn-cs"/>
            </a:endParaRPr>
          </a:p>
        </p:txBody>
      </p:sp>
      <p:sp>
        <p:nvSpPr>
          <p:cNvPr id="7" name="Rectangle 6">
            <a:extLst>
              <a:ext uri="{FF2B5EF4-FFF2-40B4-BE49-F238E27FC236}">
                <a16:creationId xmlns:a16="http://schemas.microsoft.com/office/drawing/2014/main" id="{91146B49-DB83-383C-4F69-912DD159BEA8}"/>
              </a:ext>
            </a:extLst>
          </p:cNvPr>
          <p:cNvSpPr/>
          <p:nvPr/>
        </p:nvSpPr>
        <p:spPr>
          <a:xfrm>
            <a:off x="237857" y="2565583"/>
            <a:ext cx="4334030" cy="1291254"/>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72" rtl="0" eaLnBrk="1" fontAlgn="auto" latinLnBrk="0" hangingPunct="1">
              <a:lnSpc>
                <a:spcPct val="100000"/>
              </a:lnSpc>
              <a:spcBef>
                <a:spcPts val="0"/>
              </a:spcBef>
              <a:spcAft>
                <a:spcPts val="300"/>
              </a:spcAft>
              <a:buClrTx/>
              <a:buSzTx/>
              <a:buFontTx/>
              <a:buNone/>
              <a:tabLst/>
              <a:defRPr/>
            </a:pPr>
            <a:r>
              <a:rPr kumimoji="0" lang="pl-PL" sz="900" b="1" i="0" u="none" strike="noStrike" kern="1200" cap="none" spc="0" normalizeH="0" baseline="0" noProof="0">
                <a:ln>
                  <a:noFill/>
                </a:ln>
                <a:solidFill>
                  <a:srgbClr val="0A2F24"/>
                </a:solidFill>
                <a:effectLst/>
                <a:uLnTx/>
                <a:uFillTx/>
                <a:latin typeface="Poppins"/>
                <a:ea typeface="+mn-ea"/>
                <a:cs typeface="+mn-cs"/>
                <a:hlinkClick r:id="rId6"/>
              </a:rPr>
              <a:t>Digital Platforms’ Performance Dashboard  </a:t>
            </a:r>
            <a:r>
              <a:rPr kumimoji="0" lang="pl-PL" sz="900" b="1" i="0" u="none" strike="noStrike" kern="1200" cap="none" spc="0" normalizeH="0" baseline="0" noProof="0">
                <a:ln>
                  <a:noFill/>
                </a:ln>
                <a:solidFill>
                  <a:srgbClr val="0A2F24"/>
                </a:solidFill>
                <a:effectLst/>
                <a:uLnTx/>
                <a:uFillTx/>
                <a:latin typeface="Poppins"/>
                <a:ea typeface="+mn-ea"/>
                <a:cs typeface="+mn-cs"/>
              </a:rPr>
              <a:t>(Looker Studio report) </a:t>
            </a:r>
            <a:br>
              <a:rPr kumimoji="0" lang="pl-PL" sz="900" b="1" i="0" u="none" strike="noStrike" kern="1200" cap="none" spc="0" normalizeH="0" baseline="0" noProof="0">
                <a:ln>
                  <a:noFill/>
                </a:ln>
                <a:solidFill>
                  <a:srgbClr val="0A2F24"/>
                </a:solidFill>
                <a:effectLst/>
                <a:uLnTx/>
                <a:uFillTx/>
                <a:latin typeface="Poppins"/>
                <a:ea typeface="+mn-ea"/>
                <a:cs typeface="+mn-cs"/>
              </a:rPr>
            </a:br>
            <a:r>
              <a:rPr kumimoji="0" lang="en-US" sz="900" b="1" i="0" u="none" strike="noStrike" kern="1200" cap="none" spc="0" normalizeH="0" baseline="0" noProof="0">
                <a:ln>
                  <a:noFill/>
                </a:ln>
                <a:solidFill>
                  <a:srgbClr val="0A2F24"/>
                </a:solidFill>
                <a:effectLst/>
                <a:uLnTx/>
                <a:uFillTx/>
                <a:latin typeface="Poppins"/>
                <a:ea typeface="+mn-ea"/>
                <a:cs typeface="+mn-cs"/>
              </a:rPr>
              <a:t>Built by the Web Analytics &amp; Performance Team using GA data, this dashboard provides advanced traffic insights, including a dedicated AI Traffic section. </a:t>
            </a:r>
            <a:endParaRPr kumimoji="0" lang="pl-PL" sz="900" b="1" i="0" u="none" strike="noStrike" kern="1200" cap="none" spc="0" normalizeH="0" baseline="0" noProof="0">
              <a:ln>
                <a:noFill/>
              </a:ln>
              <a:solidFill>
                <a:srgbClr val="0A2F24"/>
              </a:solidFill>
              <a:effectLst/>
              <a:uLnTx/>
              <a:uFillTx/>
              <a:latin typeface="Poppins"/>
              <a:ea typeface="+mn-ea"/>
              <a:cs typeface="+mn-cs"/>
            </a:endParaRP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rgbClr val="0A2F24"/>
                </a:solidFill>
                <a:effectLst/>
                <a:uLnTx/>
                <a:uFillTx/>
                <a:latin typeface="Poppins"/>
                <a:ea typeface="+mn-ea"/>
                <a:cs typeface="+mn-cs"/>
              </a:rPr>
              <a:t>Navigate to Traffic &gt; Deep Dive within a platform to analyze </a:t>
            </a:r>
            <a:r>
              <a:rPr kumimoji="0" lang="pl-PL" sz="900" b="0" i="0" u="none" strike="noStrike" kern="1200" cap="none" spc="0" normalizeH="0" baseline="0" noProof="0">
                <a:ln>
                  <a:noFill/>
                </a:ln>
                <a:solidFill>
                  <a:srgbClr val="0A2F24"/>
                </a:solidFill>
                <a:effectLst/>
                <a:uLnTx/>
                <a:uFillTx/>
                <a:latin typeface="Poppins"/>
                <a:ea typeface="+mn-ea"/>
                <a:cs typeface="+mn-cs"/>
              </a:rPr>
              <a:t>AI </a:t>
            </a:r>
            <a:r>
              <a:rPr kumimoji="0" lang="en-US" sz="900" b="0" i="0" u="none" strike="noStrike" kern="1200" cap="none" spc="0" normalizeH="0" baseline="0" noProof="0">
                <a:ln>
                  <a:noFill/>
                </a:ln>
                <a:solidFill>
                  <a:srgbClr val="0A2F24"/>
                </a:solidFill>
                <a:effectLst/>
                <a:uLnTx/>
                <a:uFillTx/>
                <a:latin typeface="Poppins"/>
                <a:ea typeface="+mn-ea"/>
                <a:cs typeface="+mn-cs"/>
              </a:rPr>
              <a:t>traffic, citation sources, AI traffic share trends, and breakdowns by country, </a:t>
            </a:r>
            <a:r>
              <a:rPr kumimoji="0" lang="pl-PL" sz="900" b="0" i="0" u="none" strike="noStrike" kern="1200" cap="none" spc="0" normalizeH="0" baseline="0" noProof="0">
                <a:ln>
                  <a:noFill/>
                </a:ln>
                <a:solidFill>
                  <a:srgbClr val="0A2F24"/>
                </a:solidFill>
                <a:effectLst/>
                <a:uLnTx/>
                <a:uFillTx/>
                <a:latin typeface="Poppins"/>
                <a:ea typeface="+mn-ea"/>
                <a:cs typeface="+mn-cs"/>
              </a:rPr>
              <a:t>and </a:t>
            </a:r>
            <a:r>
              <a:rPr kumimoji="0" lang="en-US" sz="900" b="0" i="0" u="none" strike="noStrike" kern="1200" cap="none" spc="0" normalizeH="0" baseline="0" noProof="0">
                <a:ln>
                  <a:noFill/>
                </a:ln>
                <a:solidFill>
                  <a:srgbClr val="0A2F24"/>
                </a:solidFill>
                <a:effectLst/>
                <a:uLnTx/>
                <a:uFillTx/>
                <a:latin typeface="Poppins"/>
                <a:ea typeface="+mn-ea"/>
                <a:cs typeface="+mn-cs"/>
              </a:rPr>
              <a:t>page category. Available for se.com, </a:t>
            </a:r>
            <a:r>
              <a:rPr kumimoji="0" lang="en-US" sz="900" b="0" i="0" u="none" strike="noStrike" kern="1200" cap="none" spc="0" normalizeH="0" baseline="0" noProof="0" err="1">
                <a:ln>
                  <a:noFill/>
                </a:ln>
                <a:solidFill>
                  <a:srgbClr val="0A2F24"/>
                </a:solidFill>
                <a:effectLst/>
                <a:uLnTx/>
                <a:uFillTx/>
                <a:latin typeface="Poppins"/>
                <a:ea typeface="+mn-ea"/>
                <a:cs typeface="+mn-cs"/>
              </a:rPr>
              <a:t>mySchneider</a:t>
            </a:r>
            <a:r>
              <a:rPr kumimoji="0" lang="en-US" sz="900" b="0" i="0" u="none" strike="noStrike" kern="1200" cap="none" spc="0" normalizeH="0" baseline="0" noProof="0">
                <a:ln>
                  <a:noFill/>
                </a:ln>
                <a:solidFill>
                  <a:srgbClr val="0A2F24"/>
                </a:solidFill>
                <a:effectLst/>
                <a:uLnTx/>
                <a:uFillTx/>
                <a:latin typeface="Poppins"/>
                <a:ea typeface="+mn-ea"/>
                <a:cs typeface="+mn-cs"/>
              </a:rPr>
              <a:t>, shop.se.com, and eshop.se.com.</a:t>
            </a:r>
            <a:endParaRPr kumimoji="0" lang="pl-PL" sz="900" b="0" i="0" u="none" strike="noStrike" kern="1200" cap="none" spc="0" normalizeH="0" baseline="0" noProof="0">
              <a:ln>
                <a:noFill/>
              </a:ln>
              <a:solidFill>
                <a:srgbClr val="0A2F24"/>
              </a:solidFill>
              <a:effectLst/>
              <a:uLnTx/>
              <a:uFillTx/>
              <a:latin typeface="Poppins"/>
              <a:ea typeface="+mn-ea"/>
              <a:cs typeface="+mn-cs"/>
            </a:endParaRPr>
          </a:p>
        </p:txBody>
      </p:sp>
      <p:sp>
        <p:nvSpPr>
          <p:cNvPr id="9" name="Rectangle 8">
            <a:extLst>
              <a:ext uri="{FF2B5EF4-FFF2-40B4-BE49-F238E27FC236}">
                <a16:creationId xmlns:a16="http://schemas.microsoft.com/office/drawing/2014/main" id="{073E420A-BCA7-CCD4-1D63-1B7A5F111FF5}"/>
              </a:ext>
            </a:extLst>
          </p:cNvPr>
          <p:cNvSpPr/>
          <p:nvPr/>
        </p:nvSpPr>
        <p:spPr>
          <a:xfrm>
            <a:off x="6568345" y="3455423"/>
            <a:ext cx="2461659" cy="1098289"/>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72" rtl="0" eaLnBrk="1" fontAlgn="auto" latinLnBrk="0" hangingPunct="1">
              <a:lnSpc>
                <a:spcPct val="100000"/>
              </a:lnSpc>
              <a:spcBef>
                <a:spcPts val="0"/>
              </a:spcBef>
              <a:spcAft>
                <a:spcPts val="0"/>
              </a:spcAft>
              <a:buClr>
                <a:srgbClr val="3DCD58"/>
              </a:buClr>
              <a:buSzTx/>
              <a:buFont typeface="Wingdings" panose="05000000000000000000" pitchFamily="2" charset="2"/>
              <a:buNone/>
              <a:tabLst/>
              <a:defRPr/>
            </a:pPr>
            <a:r>
              <a:rPr kumimoji="0" lang="pl-PL" sz="1100" b="1" i="0" u="none" strike="noStrike" kern="1200" cap="none" spc="0" normalizeH="0" baseline="0" noProof="0">
                <a:ln>
                  <a:noFill/>
                </a:ln>
                <a:solidFill>
                  <a:srgbClr val="E7FFD9"/>
                </a:solidFill>
                <a:effectLst/>
                <a:uLnTx/>
                <a:uFillTx/>
                <a:latin typeface="Poppins"/>
                <a:ea typeface="+mn-ea"/>
                <a:cs typeface="+mn-cs"/>
              </a:rPr>
              <a:t>Access requirements: </a:t>
            </a:r>
            <a:r>
              <a:rPr kumimoji="0" lang="en-US" sz="1000" b="0" i="0" u="none" strike="noStrike" kern="1200" cap="none" spc="0" normalizeH="0" baseline="0" noProof="0">
                <a:ln>
                  <a:noFill/>
                </a:ln>
                <a:solidFill>
                  <a:schemeClr val="accent5"/>
                </a:solidFill>
                <a:effectLst/>
                <a:uLnTx/>
                <a:uFillTx/>
                <a:latin typeface="Poppins"/>
                <a:ea typeface="+mn-ea"/>
                <a:cs typeface="+mn-cs"/>
              </a:rPr>
              <a:t>To view </a:t>
            </a:r>
            <a:r>
              <a:rPr kumimoji="0" lang="pl-PL" sz="1000" b="0" i="0" u="none" strike="noStrike" kern="1200" cap="none" spc="0" normalizeH="0" baseline="0" noProof="0">
                <a:ln>
                  <a:noFill/>
                </a:ln>
                <a:solidFill>
                  <a:schemeClr val="accent5"/>
                </a:solidFill>
                <a:effectLst/>
                <a:uLnTx/>
                <a:uFillTx/>
                <a:latin typeface="Poppins"/>
                <a:ea typeface="+mn-ea"/>
                <a:cs typeface="+mn-cs"/>
              </a:rPr>
              <a:t>Google Analytics and </a:t>
            </a:r>
            <a:r>
              <a:rPr kumimoji="0" lang="en-US" sz="1000" b="0" i="0" u="none" strike="noStrike" kern="1200" cap="none" spc="0" normalizeH="0" baseline="0" noProof="0">
                <a:ln>
                  <a:noFill/>
                </a:ln>
                <a:solidFill>
                  <a:schemeClr val="accent5"/>
                </a:solidFill>
                <a:effectLst/>
                <a:uLnTx/>
                <a:uFillTx/>
                <a:latin typeface="Poppins"/>
                <a:ea typeface="+mn-ea"/>
                <a:cs typeface="+mn-cs"/>
              </a:rPr>
              <a:t>the DPP Looker dashboard, ensure that you have been granted access to the relevant GA4 property for your platform of interest.</a:t>
            </a:r>
            <a:r>
              <a:rPr lang="pl-PL" sz="1000">
                <a:solidFill>
                  <a:schemeClr val="accent5"/>
                </a:solidFill>
                <a:latin typeface="Poppins"/>
              </a:rPr>
              <a:t> </a:t>
            </a:r>
            <a:r>
              <a:rPr kumimoji="0" lang="pl-PL" sz="1000" b="0" i="0" u="none" strike="noStrike" kern="1200" cap="none" spc="0" normalizeH="0" baseline="0" noProof="0">
                <a:ln>
                  <a:noFill/>
                </a:ln>
                <a:solidFill>
                  <a:schemeClr val="accent5"/>
                </a:solidFill>
                <a:effectLst/>
                <a:uLnTx/>
                <a:uFillTx/>
                <a:latin typeface="Poppins"/>
                <a:ea typeface="+mn-ea"/>
                <a:cs typeface="+mn-cs"/>
              </a:rPr>
              <a:t>Full process </a:t>
            </a:r>
            <a:r>
              <a:rPr kumimoji="0" lang="pl-PL" sz="1000" b="0" i="0" u="none" strike="noStrike" kern="1200" cap="none" spc="0" normalizeH="0" baseline="0" noProof="0">
                <a:ln>
                  <a:noFill/>
                </a:ln>
                <a:solidFill>
                  <a:schemeClr val="accent3"/>
                </a:solidFill>
                <a:effectLst/>
                <a:uLnTx/>
                <a:uFillTx/>
                <a:latin typeface="Poppins"/>
                <a:ea typeface="+mn-ea"/>
                <a:cs typeface="+mn-cs"/>
                <a:hlinkClick r:id="rId7">
                  <a:extLst>
                    <a:ext uri="{A12FA001-AC4F-418D-AE19-62706E023703}">
                      <ahyp:hlinkClr xmlns:ahyp="http://schemas.microsoft.com/office/drawing/2018/hyperlinkcolor" val="tx"/>
                    </a:ext>
                  </a:extLst>
                </a:hlinkClick>
              </a:rPr>
              <a:t>here</a:t>
            </a:r>
            <a:r>
              <a:rPr kumimoji="0" lang="pl-PL" sz="1000" b="0" i="0" u="none" strike="noStrike" kern="1200" cap="none" spc="0" normalizeH="0" baseline="0" noProof="0">
                <a:ln>
                  <a:noFill/>
                </a:ln>
                <a:solidFill>
                  <a:schemeClr val="accent5"/>
                </a:solidFill>
                <a:effectLst/>
                <a:uLnTx/>
                <a:uFillTx/>
                <a:latin typeface="Poppins"/>
                <a:ea typeface="+mn-ea"/>
                <a:cs typeface="+mn-cs"/>
              </a:rPr>
              <a:t>.</a:t>
            </a:r>
            <a:endParaRPr kumimoji="0" lang="en-US" sz="1000" b="0" i="0" u="none" strike="noStrike" kern="1200" cap="none" spc="0" normalizeH="0" baseline="0" noProof="0">
              <a:ln>
                <a:noFill/>
              </a:ln>
              <a:solidFill>
                <a:schemeClr val="accent5"/>
              </a:solidFill>
              <a:effectLst/>
              <a:uLnTx/>
              <a:uFillTx/>
              <a:latin typeface="Poppins"/>
              <a:ea typeface="+mn-ea"/>
              <a:cs typeface="+mn-cs"/>
            </a:endParaRPr>
          </a:p>
        </p:txBody>
      </p:sp>
      <p:sp>
        <p:nvSpPr>
          <p:cNvPr id="10" name="Rectangle 9">
            <a:extLst>
              <a:ext uri="{FF2B5EF4-FFF2-40B4-BE49-F238E27FC236}">
                <a16:creationId xmlns:a16="http://schemas.microsoft.com/office/drawing/2014/main" id="{3A633563-5913-1CAE-FD0E-719DD8975B16}"/>
              </a:ext>
            </a:extLst>
          </p:cNvPr>
          <p:cNvSpPr/>
          <p:nvPr/>
        </p:nvSpPr>
        <p:spPr>
          <a:xfrm>
            <a:off x="237857" y="3898232"/>
            <a:ext cx="4334030" cy="660927"/>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72" rtl="0" eaLnBrk="1" fontAlgn="auto" latinLnBrk="0" hangingPunct="1">
              <a:lnSpc>
                <a:spcPct val="100000"/>
              </a:lnSpc>
              <a:spcBef>
                <a:spcPts val="0"/>
              </a:spcBef>
              <a:spcAft>
                <a:spcPts val="300"/>
              </a:spcAft>
              <a:buClrTx/>
              <a:buSzTx/>
              <a:buFontTx/>
              <a:buNone/>
              <a:tabLst/>
              <a:defRPr/>
            </a:pPr>
            <a:r>
              <a:rPr kumimoji="0" lang="pl-PL" sz="900" b="1" i="0" u="none" strike="noStrike" kern="1200" cap="none" spc="0" normalizeH="0" baseline="0" noProof="0">
                <a:ln>
                  <a:noFill/>
                </a:ln>
                <a:solidFill>
                  <a:srgbClr val="0A2F24"/>
                </a:solidFill>
                <a:effectLst/>
                <a:uLnTx/>
                <a:uFillTx/>
                <a:latin typeface="Poppins"/>
                <a:ea typeface="+mn-ea"/>
                <a:cs typeface="+mn-cs"/>
              </a:rPr>
              <a:t>Coming soon: Google Search Console AI Overview</a:t>
            </a: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pl-PL" sz="900" b="0" i="0" u="none" strike="noStrike" kern="1200" cap="none" spc="0" normalizeH="0" baseline="0" noProof="0">
                <a:ln>
                  <a:noFill/>
                </a:ln>
                <a:solidFill>
                  <a:srgbClr val="0A2F24"/>
                </a:solidFill>
                <a:effectLst/>
                <a:uLnTx/>
                <a:uFillTx/>
                <a:latin typeface="Poppins"/>
                <a:ea typeface="+mn-ea"/>
                <a:cs typeface="+mn-cs"/>
              </a:rPr>
              <a:t>Google is rolling out AI Overview tracking in GSC – it will be a great opportunity to track our visibility in AI-powered Google searches. We will keep you posted when Schneder Electric gets functionality.</a:t>
            </a:r>
          </a:p>
        </p:txBody>
      </p:sp>
    </p:spTree>
    <p:extLst>
      <p:ext uri="{BB962C8B-B14F-4D97-AF65-F5344CB8AC3E}">
        <p14:creationId xmlns:p14="http://schemas.microsoft.com/office/powerpoint/2010/main" val="14974405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C303-6B1A-A00E-9AB0-2DC7FF0B013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A61D951-26B7-D429-6473-3FDBA70A5F09}"/>
              </a:ext>
            </a:extLst>
          </p:cNvPr>
          <p:cNvSpPr/>
          <p:nvPr/>
        </p:nvSpPr>
        <p:spPr>
          <a:xfrm>
            <a:off x="742950" y="1820791"/>
            <a:ext cx="7659831" cy="553998"/>
          </a:xfrm>
          <a:prstGeom prst="rect">
            <a:avLst/>
          </a:prstGeom>
          <a:noFill/>
          <a:ln/>
        </p:spPr>
        <p:txBody>
          <a:bodyPr wrap="square" lIns="0" tIns="0" rIns="0" bIns="0" rtlCol="0" anchor="t">
            <a:spAutoFit/>
          </a:bodyPr>
          <a:lstStyle/>
          <a:p>
            <a:r>
              <a:rPr lang="pl-PL" sz="3600">
                <a:solidFill>
                  <a:schemeClr val="accent5"/>
                </a:solidFill>
              </a:rPr>
              <a:t>Chapter 14: Technical GEO</a:t>
            </a:r>
            <a:endParaRPr lang="en-US" sz="3600">
              <a:solidFill>
                <a:schemeClr val="accent5"/>
              </a:solidFill>
            </a:endParaRPr>
          </a:p>
        </p:txBody>
      </p:sp>
      <p:sp>
        <p:nvSpPr>
          <p:cNvPr id="5" name="Text 2">
            <a:extLst>
              <a:ext uri="{FF2B5EF4-FFF2-40B4-BE49-F238E27FC236}">
                <a16:creationId xmlns:a16="http://schemas.microsoft.com/office/drawing/2014/main" id="{21F1D2E3-A8C0-B842-AAE4-F5A01DD21BD7}"/>
              </a:ext>
            </a:extLst>
          </p:cNvPr>
          <p:cNvSpPr/>
          <p:nvPr/>
        </p:nvSpPr>
        <p:spPr>
          <a:xfrm>
            <a:off x="742950" y="4759523"/>
            <a:ext cx="1681551" cy="98297"/>
          </a:xfrm>
          <a:prstGeom prst="rect">
            <a:avLst/>
          </a:prstGeom>
          <a:noFill/>
          <a:ln/>
        </p:spPr>
        <p:txBody>
          <a:bodyPr wrap="none" lIns="0" tIns="0" rIns="0" bIns="0" rtlCol="0" anchor="t">
            <a:spAutoFit/>
          </a:bodyPr>
          <a:lstStyle/>
          <a:p>
            <a:pPr marL="0" indent="0" algn="l">
              <a:lnSpc>
                <a:spcPts val="800"/>
              </a:lnSpc>
              <a:buNone/>
            </a:pPr>
            <a:r>
              <a:rPr lang="en-US" sz="621">
                <a:solidFill>
                  <a:schemeClr val="accent5"/>
                </a:solidFill>
                <a:latin typeface="Arial" pitchFamily="34" charset="0"/>
                <a:ea typeface="Arial" pitchFamily="34" charset="-122"/>
                <a:cs typeface="Arial" pitchFamily="34" charset="-120"/>
              </a:rPr>
              <a:t>©2026 Schneider Electric. All Rights Reserved.</a:t>
            </a:r>
            <a:endParaRPr lang="en-US" sz="621">
              <a:solidFill>
                <a:schemeClr val="accent5"/>
              </a:solidFill>
            </a:endParaRPr>
          </a:p>
        </p:txBody>
      </p:sp>
      <p:pic>
        <p:nvPicPr>
          <p:cNvPr id="7" name="Picture 8">
            <a:extLst>
              <a:ext uri="{FF2B5EF4-FFF2-40B4-BE49-F238E27FC236}">
                <a16:creationId xmlns:a16="http://schemas.microsoft.com/office/drawing/2014/main" id="{0A3CBFA9-8C06-6A2E-C81D-069E146279E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C6E7DD14-923D-019A-D4FC-41D08A3F7C7B}"/>
              </a:ext>
            </a:extLst>
          </p:cNvPr>
          <p:cNvSpPr>
            <a:spLocks noGrp="1"/>
          </p:cNvSpPr>
          <p:nvPr>
            <p:ph type="body" sz="quarter" idx="4294967295"/>
          </p:nvPr>
        </p:nvSpPr>
        <p:spPr>
          <a:xfrm>
            <a:off x="742949" y="4108450"/>
            <a:ext cx="6177395" cy="215900"/>
          </a:xfrm>
        </p:spPr>
        <p:txBody>
          <a:bodyPr/>
          <a:lstStyle/>
          <a:p>
            <a:r>
              <a:rPr lang="pl-PL"/>
              <a:t>Jakub Falkowski</a:t>
            </a:r>
          </a:p>
        </p:txBody>
      </p:sp>
    </p:spTree>
    <p:extLst>
      <p:ext uri="{BB962C8B-B14F-4D97-AF65-F5344CB8AC3E}">
        <p14:creationId xmlns:p14="http://schemas.microsoft.com/office/powerpoint/2010/main" val="382760583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BDDB9-0C88-DBE4-1747-042FB92C24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13E70D-B0C3-41CF-341C-23079304E547}"/>
              </a:ext>
            </a:extLst>
          </p:cNvPr>
          <p:cNvSpPr/>
          <p:nvPr/>
        </p:nvSpPr>
        <p:spPr>
          <a:xfrm>
            <a:off x="1" y="0"/>
            <a:ext cx="9143771" cy="1028700"/>
          </a:xfrm>
          <a:prstGeom prst="rect">
            <a:avLst/>
          </a:prstGeom>
          <a:solidFill>
            <a:schemeClr val="tx1"/>
          </a:solidFill>
          <a:ln/>
        </p:spPr>
        <p:txBody>
          <a:bodyP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0A2F24"/>
              </a:solidFill>
              <a:effectLst/>
              <a:uLnTx/>
              <a:uFillTx/>
              <a:latin typeface="Poppins"/>
              <a:ea typeface="+mn-ea"/>
              <a:cs typeface="+mn-cs"/>
            </a:endParaRPr>
          </a:p>
        </p:txBody>
      </p:sp>
      <p:sp>
        <p:nvSpPr>
          <p:cNvPr id="3" name="Text 1">
            <a:extLst>
              <a:ext uri="{FF2B5EF4-FFF2-40B4-BE49-F238E27FC236}">
                <a16:creationId xmlns:a16="http://schemas.microsoft.com/office/drawing/2014/main" id="{6DF7991C-5F17-7081-7955-F4B1E3F7DA5A}"/>
              </a:ext>
            </a:extLst>
          </p:cNvPr>
          <p:cNvSpPr/>
          <p:nvPr/>
        </p:nvSpPr>
        <p:spPr>
          <a:xfrm>
            <a:off x="342900" y="192024"/>
            <a:ext cx="7886700" cy="37719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2200" b="0" i="0" u="none" strike="noStrike" kern="1200" cap="none" spc="0" normalizeH="0" baseline="0" noProof="0">
                <a:ln>
                  <a:noFill/>
                </a:ln>
                <a:solidFill>
                  <a:srgbClr val="E7FFD9"/>
                </a:solidFill>
                <a:effectLst/>
                <a:uLnTx/>
                <a:uFillTx/>
                <a:latin typeface="Poppins"/>
                <a:ea typeface="+mn-ea"/>
                <a:cs typeface="Arial"/>
              </a:rPr>
              <a:t>About this Chapter</a:t>
            </a:r>
            <a:endParaRPr kumimoji="0" lang="en-US" sz="2200" b="0" i="0" u="none" strike="noStrike" kern="1200" cap="none" spc="0" normalizeH="0" baseline="0" noProof="0">
              <a:ln>
                <a:noFill/>
              </a:ln>
              <a:solidFill>
                <a:srgbClr val="E7FFD9"/>
              </a:solidFill>
              <a:effectLst/>
              <a:uLnTx/>
              <a:uFillTx/>
              <a:latin typeface="Poppins"/>
              <a:ea typeface="+mn-ea"/>
              <a:cs typeface="Arial"/>
            </a:endParaRPr>
          </a:p>
        </p:txBody>
      </p:sp>
      <p:sp>
        <p:nvSpPr>
          <p:cNvPr id="4" name="Text 2">
            <a:extLst>
              <a:ext uri="{FF2B5EF4-FFF2-40B4-BE49-F238E27FC236}">
                <a16:creationId xmlns:a16="http://schemas.microsoft.com/office/drawing/2014/main" id="{46C6E06E-5DEC-2A00-3EF8-E3AFCBB28AC9}"/>
              </a:ext>
            </a:extLst>
          </p:cNvPr>
          <p:cNvSpPr/>
          <p:nvPr/>
        </p:nvSpPr>
        <p:spPr>
          <a:xfrm>
            <a:off x="342900"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sp>
        <p:nvSpPr>
          <p:cNvPr id="10" name="Text 2">
            <a:extLst>
              <a:ext uri="{FF2B5EF4-FFF2-40B4-BE49-F238E27FC236}">
                <a16:creationId xmlns:a16="http://schemas.microsoft.com/office/drawing/2014/main" id="{2CFF856A-1DF5-0EAA-FC1D-BB0D40871B8B}"/>
              </a:ext>
            </a:extLst>
          </p:cNvPr>
          <p:cNvSpPr/>
          <p:nvPr/>
        </p:nvSpPr>
        <p:spPr>
          <a:xfrm>
            <a:off x="377189"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lang="pl-PL" sz="1100">
                <a:solidFill>
                  <a:srgbClr val="E7FFD9"/>
                </a:solidFill>
                <a:latin typeface="Poppins"/>
                <a:cs typeface="Arial"/>
              </a:rPr>
              <a:t>Technical GEO Knowledge base</a:t>
            </a:r>
            <a:endParaRPr kumimoji="0" lang="en-US" sz="1100" b="0" i="0" u="none" strike="noStrike" kern="1200" cap="none" spc="0" normalizeH="0" baseline="0" noProof="0">
              <a:ln>
                <a:noFill/>
              </a:ln>
              <a:solidFill>
                <a:srgbClr val="E7FFD9"/>
              </a:solidFill>
              <a:effectLst/>
              <a:uLnTx/>
              <a:uFillTx/>
              <a:latin typeface="Poppins"/>
              <a:ea typeface="+mn-ea"/>
              <a:cs typeface="Arial"/>
            </a:endParaRPr>
          </a:p>
        </p:txBody>
      </p:sp>
      <p:graphicFrame>
        <p:nvGraphicFramePr>
          <p:cNvPr id="8" name="Table 7">
            <a:extLst>
              <a:ext uri="{FF2B5EF4-FFF2-40B4-BE49-F238E27FC236}">
                <a16:creationId xmlns:a16="http://schemas.microsoft.com/office/drawing/2014/main" id="{DC6F2927-9119-6166-C5B2-9CD698ABE599}"/>
              </a:ext>
            </a:extLst>
          </p:cNvPr>
          <p:cNvGraphicFramePr>
            <a:graphicFrameLocks noGrp="1"/>
          </p:cNvGraphicFramePr>
          <p:nvPr>
            <p:extLst>
              <p:ext uri="{D42A27DB-BD31-4B8C-83A1-F6EECF244321}">
                <p14:modId xmlns:p14="http://schemas.microsoft.com/office/powerpoint/2010/main" val="2887664034"/>
              </p:ext>
            </p:extLst>
          </p:nvPr>
        </p:nvGraphicFramePr>
        <p:xfrm>
          <a:off x="904007" y="1159002"/>
          <a:ext cx="7359881" cy="3352800"/>
        </p:xfrm>
        <a:graphic>
          <a:graphicData uri="http://schemas.openxmlformats.org/drawingml/2006/table">
            <a:tbl>
              <a:tblPr firstRow="1" bandRow="1">
                <a:tableStyleId>{5C22544A-7EE6-4342-B048-85BDC9FD1C3A}</a:tableStyleId>
              </a:tblPr>
              <a:tblGrid>
                <a:gridCol w="7359881">
                  <a:extLst>
                    <a:ext uri="{9D8B030D-6E8A-4147-A177-3AD203B41FA5}">
                      <a16:colId xmlns:a16="http://schemas.microsoft.com/office/drawing/2014/main" val="3037676781"/>
                    </a:ext>
                  </a:extLst>
                </a:gridCol>
              </a:tblGrid>
              <a:tr h="260914">
                <a:tc>
                  <a:txBody>
                    <a:bodyPr/>
                    <a:lstStyle/>
                    <a:p>
                      <a:pPr algn="ctr"/>
                      <a:r>
                        <a:rPr lang="pl-PL" sz="1600" b="1">
                          <a:solidFill>
                            <a:schemeClr val="accent5"/>
                          </a:solidFill>
                        </a:rPr>
                        <a:t>Context</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indent="0">
                        <a:spcBef>
                          <a:spcPts val="0"/>
                        </a:spcBef>
                        <a:spcAft>
                          <a:spcPts val="0"/>
                        </a:spcAft>
                        <a:buClr>
                          <a:srgbClr val="3DCD58"/>
                        </a:buClr>
                        <a:buFont typeface="Wingdings" panose="05000000000000000000" pitchFamily="2" charset="2"/>
                        <a:buNone/>
                        <a:defRPr/>
                      </a:pPr>
                      <a:r>
                        <a:rPr lang="en-US" sz="1200" b="1">
                          <a:solidFill>
                            <a:schemeClr val="tx1"/>
                          </a:solidFill>
                        </a:rPr>
                        <a:t>This chapter was created as a knowledge base about Technical GEO </a:t>
                      </a:r>
                      <a:r>
                        <a:rPr lang="pl-PL" sz="1200" b="0">
                          <a:solidFill>
                            <a:schemeClr val="tx1"/>
                          </a:solidFill>
                        </a:rPr>
                        <a:t>-</a:t>
                      </a:r>
                      <a:r>
                        <a:rPr lang="en-US" sz="1200" b="0">
                          <a:solidFill>
                            <a:schemeClr val="tx1"/>
                          </a:solidFill>
                        </a:rPr>
                        <a:t> not a practical playbook like the rest of the chapters. It exists to document what Technical GEO is and how it works</a:t>
                      </a:r>
                      <a:r>
                        <a:rPr lang="pl-PL" sz="1200" b="0">
                          <a:solidFill>
                            <a:schemeClr val="tx1"/>
                          </a:solidFill>
                        </a:rPr>
                        <a:t> but all the Technical GEO activities are delivered by Schneider Electric Digital.</a:t>
                      </a:r>
                    </a:p>
                    <a:p>
                      <a:pPr marL="0" indent="0">
                        <a:spcBef>
                          <a:spcPts val="0"/>
                        </a:spcBef>
                        <a:spcAft>
                          <a:spcPts val="0"/>
                        </a:spcAft>
                        <a:buClr>
                          <a:srgbClr val="3DCD58"/>
                        </a:buClr>
                        <a:buFont typeface="Wingdings" panose="05000000000000000000" pitchFamily="2" charset="2"/>
                        <a:buNone/>
                        <a:defRPr/>
                      </a:pPr>
                      <a:endParaRPr lang="pl-PL" sz="12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pl-PL" sz="1200" b="1">
                          <a:solidFill>
                            <a:schemeClr val="tx1"/>
                          </a:solidFill>
                        </a:rPr>
                        <a:t>Highlights:</a:t>
                      </a:r>
                    </a:p>
                    <a:p>
                      <a:pPr marL="171450" indent="-171450">
                        <a:spcBef>
                          <a:spcPts val="0"/>
                        </a:spcBef>
                        <a:spcAft>
                          <a:spcPts val="0"/>
                        </a:spcAft>
                        <a:buClr>
                          <a:schemeClr val="tx1"/>
                        </a:buClr>
                        <a:buFont typeface="Arial" panose="020B0604020202020204" pitchFamily="34" charset="0"/>
                        <a:buChar char="•"/>
                        <a:defRPr/>
                      </a:pPr>
                      <a:r>
                        <a:rPr lang="en-US" sz="1200" b="0">
                          <a:solidFill>
                            <a:schemeClr val="tx1"/>
                          </a:solidFill>
                        </a:rPr>
                        <a:t>Schneider Electric Digital is working continuously to improve visibility of its digital properties among AI models and AI-driven search experiences.</a:t>
                      </a:r>
                      <a:endParaRPr lang="pl-PL" sz="1200" b="0">
                        <a:solidFill>
                          <a:schemeClr val="tx1"/>
                        </a:solidFill>
                      </a:endParaRPr>
                    </a:p>
                    <a:p>
                      <a:pPr marL="171450" indent="-171450">
                        <a:spcBef>
                          <a:spcPts val="0"/>
                        </a:spcBef>
                        <a:spcAft>
                          <a:spcPts val="0"/>
                        </a:spcAft>
                        <a:buClr>
                          <a:schemeClr val="tx1"/>
                        </a:buClr>
                        <a:buFont typeface="Arial" panose="020B0604020202020204" pitchFamily="34" charset="0"/>
                        <a:buChar char="•"/>
                        <a:defRPr/>
                      </a:pPr>
                      <a:r>
                        <a:rPr lang="en-US" sz="1200" b="0">
                          <a:solidFill>
                            <a:schemeClr val="tx1"/>
                          </a:solidFill>
                        </a:rPr>
                        <a:t>Technical GEO is a fast-evolving area </a:t>
                      </a:r>
                      <a:r>
                        <a:rPr lang="pl-PL" sz="1200" b="0">
                          <a:solidFill>
                            <a:schemeClr val="tx1"/>
                          </a:solidFill>
                        </a:rPr>
                        <a:t>-</a:t>
                      </a:r>
                      <a:r>
                        <a:rPr lang="en-US" sz="1200" b="0">
                          <a:solidFill>
                            <a:schemeClr val="tx1"/>
                          </a:solidFill>
                        </a:rPr>
                        <a:t> standards, crawler behavior, and AI-search infrastructure change frequently, so this chapter focuses on durable concepts rather than one-time instructions.</a:t>
                      </a:r>
                    </a:p>
                    <a:p>
                      <a:pPr marL="171450" indent="-171450">
                        <a:spcBef>
                          <a:spcPts val="0"/>
                        </a:spcBef>
                        <a:spcAft>
                          <a:spcPts val="0"/>
                        </a:spcAft>
                        <a:buClr>
                          <a:schemeClr val="tx1"/>
                        </a:buClr>
                        <a:buFont typeface="Arial" panose="020B0604020202020204" pitchFamily="34" charset="0"/>
                        <a:buChar char="•"/>
                        <a:defRPr/>
                      </a:pPr>
                      <a:r>
                        <a:rPr lang="en-US" sz="1200" b="0">
                          <a:solidFill>
                            <a:schemeClr val="tx1"/>
                          </a:solidFill>
                        </a:rPr>
                        <a:t>Practical, actionable guidance </a:t>
                      </a:r>
                      <a:r>
                        <a:rPr lang="pl-PL" sz="1200" b="0">
                          <a:solidFill>
                            <a:schemeClr val="tx1"/>
                          </a:solidFill>
                        </a:rPr>
                        <a:t>-</a:t>
                      </a:r>
                      <a:r>
                        <a:rPr lang="en-US" sz="1200" b="0">
                          <a:solidFill>
                            <a:schemeClr val="tx1"/>
                          </a:solidFill>
                        </a:rPr>
                        <a:t> the steps teams can take </a:t>
                      </a:r>
                      <a:r>
                        <a:rPr lang="pl-PL" sz="1200" b="0">
                          <a:solidFill>
                            <a:schemeClr val="tx1"/>
                          </a:solidFill>
                        </a:rPr>
                        <a:t>-</a:t>
                      </a:r>
                      <a:r>
                        <a:rPr lang="en-US" sz="1200" b="0">
                          <a:solidFill>
                            <a:schemeClr val="tx1"/>
                          </a:solidFill>
                        </a:rPr>
                        <a:t> is addressed separately in the other chapters of the GEO Playbook</a:t>
                      </a:r>
                      <a:r>
                        <a:rPr lang="pl-PL" sz="1200" b="0">
                          <a:solidFill>
                            <a:schemeClr val="tx1"/>
                          </a:solidFill>
                        </a:rPr>
                        <a:t>.</a:t>
                      </a:r>
                    </a:p>
                    <a:p>
                      <a:pPr marL="0" indent="0">
                        <a:spcBef>
                          <a:spcPts val="0"/>
                        </a:spcBef>
                        <a:spcAft>
                          <a:spcPts val="0"/>
                        </a:spcAft>
                        <a:buClr>
                          <a:srgbClr val="3DCD58"/>
                        </a:buClr>
                        <a:buFont typeface="Wingdings" panose="05000000000000000000" pitchFamily="2" charset="2"/>
                        <a:buNone/>
                        <a:defRPr/>
                      </a:pPr>
                      <a:endParaRPr lang="pl-PL" sz="12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pl-PL" sz="1200" b="0">
                          <a:solidFill>
                            <a:schemeClr val="tx1"/>
                          </a:solidFill>
                        </a:rPr>
                        <a:t>It is also recommended, that you check in the code of the page/content you own, all the below informations are included. You can easily do it by inspecting the page’s code and searching for specific items.</a:t>
                      </a:r>
                      <a:endParaRPr lang="en-US"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Tree>
    <p:extLst>
      <p:ext uri="{BB962C8B-B14F-4D97-AF65-F5344CB8AC3E}">
        <p14:creationId xmlns:p14="http://schemas.microsoft.com/office/powerpoint/2010/main" val="16826030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C40A-02C9-510B-2325-BE94647A236E}"/>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0713DF2B-183F-912B-BE3B-76C85D1B6BB3}"/>
              </a:ext>
            </a:extLst>
          </p:cNvPr>
          <p:cNvSpPr/>
          <p:nvPr/>
        </p:nvSpPr>
        <p:spPr>
          <a:xfrm>
            <a:off x="1146200" y="3649035"/>
            <a:ext cx="6951782" cy="914400"/>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100" b="1" i="0" u="none" strike="noStrike" kern="1200" cap="none" spc="0" normalizeH="0" baseline="0" noProof="0">
                <a:ln>
                  <a:noFill/>
                </a:ln>
                <a:solidFill>
                  <a:schemeClr val="accent5"/>
                </a:solidFill>
                <a:effectLst/>
                <a:uLnTx/>
                <a:uFillTx/>
                <a:latin typeface="Poppins"/>
                <a:ea typeface="+mn-ea"/>
                <a:cs typeface="+mn-cs"/>
              </a:rPr>
              <a:t>How it relates to</a:t>
            </a:r>
            <a:r>
              <a:rPr kumimoji="0" lang="en-US" sz="1100" b="1" i="0" u="none" strike="noStrike" kern="1200" cap="none" spc="0" normalizeH="0" baseline="0" noProof="0">
                <a:ln>
                  <a:noFill/>
                </a:ln>
                <a:solidFill>
                  <a:schemeClr val="accent5"/>
                </a:solidFill>
                <a:effectLst/>
                <a:uLnTx/>
                <a:uFillTx/>
                <a:latin typeface="Poppins"/>
                <a:ea typeface="+mn-ea"/>
                <a:cs typeface="+mn-cs"/>
              </a:rPr>
              <a:t> </a:t>
            </a:r>
            <a:r>
              <a:rPr kumimoji="0" lang="pl-PL" sz="1100" b="1" i="0" u="none" strike="noStrike" kern="1200" cap="none" spc="0" normalizeH="0" baseline="0" noProof="0">
                <a:ln>
                  <a:noFill/>
                </a:ln>
                <a:solidFill>
                  <a:schemeClr val="accent5"/>
                </a:solidFill>
                <a:effectLst/>
                <a:uLnTx/>
                <a:uFillTx/>
                <a:latin typeface="Poppins"/>
                <a:ea typeface="+mn-ea"/>
                <a:cs typeface="+mn-cs"/>
              </a:rPr>
              <a:t>t</a:t>
            </a:r>
            <a:r>
              <a:rPr kumimoji="0" lang="en-US" sz="1100" b="1" i="0" u="none" strike="noStrike" kern="1200" cap="none" spc="0" normalizeH="0" baseline="0" noProof="0" err="1">
                <a:ln>
                  <a:noFill/>
                </a:ln>
                <a:solidFill>
                  <a:schemeClr val="accent5"/>
                </a:solidFill>
                <a:effectLst/>
                <a:uLnTx/>
                <a:uFillTx/>
                <a:latin typeface="Poppins"/>
                <a:ea typeface="+mn-ea"/>
                <a:cs typeface="+mn-cs"/>
              </a:rPr>
              <a:t>raditional</a:t>
            </a:r>
            <a:r>
              <a:rPr kumimoji="0" lang="en-US" sz="1100" b="1" i="0" u="none" strike="noStrike" kern="1200" cap="none" spc="0" normalizeH="0" baseline="0" noProof="0">
                <a:ln>
                  <a:noFill/>
                </a:ln>
                <a:solidFill>
                  <a:schemeClr val="accent5"/>
                </a:solidFill>
                <a:effectLst/>
                <a:uLnTx/>
                <a:uFillTx/>
                <a:latin typeface="Poppins"/>
                <a:ea typeface="+mn-ea"/>
                <a:cs typeface="+mn-cs"/>
              </a:rPr>
              <a:t> Technical SEO</a:t>
            </a:r>
            <a:r>
              <a:rPr kumimoji="0" lang="pl-PL" sz="1100" b="1" i="0" u="none" strike="noStrike" kern="1200" cap="none" spc="0" normalizeH="0" baseline="0" noProof="0">
                <a:ln>
                  <a:noFill/>
                </a:ln>
                <a:solidFill>
                  <a:schemeClr val="accent5"/>
                </a:solidFill>
                <a:effectLst/>
                <a:uLnTx/>
                <a:uFillTx/>
                <a:latin typeface="Poppins"/>
                <a:ea typeface="+mn-ea"/>
                <a:cs typeface="+mn-cs"/>
              </a:rPr>
              <a:t>?</a:t>
            </a:r>
            <a:endParaRPr kumimoji="0" lang="en-US" sz="1100" b="1" i="0" u="none" strike="noStrike" kern="1200" cap="none" spc="0" normalizeH="0" baseline="0" noProof="0">
              <a:ln>
                <a:noFill/>
              </a:ln>
              <a:solidFill>
                <a:schemeClr val="accent5"/>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chemeClr val="accent5"/>
                </a:solidFill>
                <a:effectLst/>
                <a:uLnTx/>
                <a:uFillTx/>
                <a:latin typeface="Poppins"/>
                <a:ea typeface="+mn-ea"/>
                <a:cs typeface="+mn-cs"/>
              </a:rPr>
              <a:t>Technical GEO builds on many of the same foundations as technical SEO (crawlability, structured data, site architecture), while introducing considerations specific to how AI systems fetch, chunk, and cite content differently from traditional search crawlers.</a:t>
            </a:r>
          </a:p>
        </p:txBody>
      </p:sp>
      <p:sp>
        <p:nvSpPr>
          <p:cNvPr id="8" name="Shape 0">
            <a:extLst>
              <a:ext uri="{FF2B5EF4-FFF2-40B4-BE49-F238E27FC236}">
                <a16:creationId xmlns:a16="http://schemas.microsoft.com/office/drawing/2014/main" id="{16F184A9-D41F-624A-6A09-6F3AB38C72B5}"/>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F5AC9C13-E64E-DC3A-A0F5-2F6D5ECF604E}"/>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Making </a:t>
            </a:r>
            <a:r>
              <a:rPr lang="pl-PL" sz="2200">
                <a:solidFill>
                  <a:schemeClr val="accent5"/>
                </a:solidFill>
                <a:cs typeface="Arial"/>
              </a:rPr>
              <a:t>our Content</a:t>
            </a:r>
            <a:r>
              <a:rPr lang="en-US" sz="2200">
                <a:solidFill>
                  <a:schemeClr val="accent5"/>
                </a:solidFill>
                <a:cs typeface="Arial"/>
              </a:rPr>
              <a:t> </a:t>
            </a:r>
            <a:r>
              <a:rPr lang="pl-PL" sz="2200">
                <a:solidFill>
                  <a:schemeClr val="accent5"/>
                </a:solidFill>
                <a:cs typeface="Arial"/>
              </a:rPr>
              <a:t>M</a:t>
            </a:r>
            <a:r>
              <a:rPr lang="en-US" sz="2200" err="1">
                <a:solidFill>
                  <a:schemeClr val="accent5"/>
                </a:solidFill>
                <a:cs typeface="Arial"/>
              </a:rPr>
              <a:t>achine</a:t>
            </a:r>
            <a:r>
              <a:rPr lang="en-US" sz="2200">
                <a:solidFill>
                  <a:schemeClr val="accent5"/>
                </a:solidFill>
                <a:cs typeface="Arial"/>
              </a:rPr>
              <a:t>-</a:t>
            </a:r>
            <a:r>
              <a:rPr lang="pl-PL" sz="2200">
                <a:solidFill>
                  <a:schemeClr val="accent5"/>
                </a:solidFill>
                <a:cs typeface="Arial"/>
              </a:rPr>
              <a:t>R</a:t>
            </a:r>
            <a:r>
              <a:rPr lang="en-US" sz="2200" err="1">
                <a:solidFill>
                  <a:schemeClr val="accent5"/>
                </a:solidFill>
                <a:cs typeface="Arial"/>
              </a:rPr>
              <a:t>eadable</a:t>
            </a:r>
            <a:endParaRPr lang="en-US" sz="2200">
              <a:solidFill>
                <a:schemeClr val="accent5"/>
              </a:solidFill>
              <a:cs typeface="Arial"/>
            </a:endParaRPr>
          </a:p>
        </p:txBody>
      </p:sp>
      <p:sp>
        <p:nvSpPr>
          <p:cNvPr id="12" name="Text 2">
            <a:extLst>
              <a:ext uri="{FF2B5EF4-FFF2-40B4-BE49-F238E27FC236}">
                <a16:creationId xmlns:a16="http://schemas.microsoft.com/office/drawing/2014/main" id="{8ABD36E0-BE59-2E01-AEF7-412DF3DADBDB}"/>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So the</a:t>
            </a:r>
            <a:r>
              <a:rPr lang="en-US" sz="1100">
                <a:solidFill>
                  <a:schemeClr val="accent5"/>
                </a:solidFill>
                <a:cs typeface="Arial"/>
              </a:rPr>
              <a:t> content optimization can even matter</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FF8CE3C5-FAB8-3D48-A6D4-52E0C70D5CC7}"/>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3FD6B9ED-E642-2E32-E5D3-46DAA6679B56}"/>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135</a:t>
            </a:fld>
            <a:endParaRPr lang="en-US">
              <a:solidFill>
                <a:srgbClr val="3DCD58"/>
              </a:solidFill>
            </a:endParaRPr>
          </a:p>
        </p:txBody>
      </p:sp>
      <p:graphicFrame>
        <p:nvGraphicFramePr>
          <p:cNvPr id="3" name="Table 2">
            <a:extLst>
              <a:ext uri="{FF2B5EF4-FFF2-40B4-BE49-F238E27FC236}">
                <a16:creationId xmlns:a16="http://schemas.microsoft.com/office/drawing/2014/main" id="{FF91ED29-1E0C-53B4-8092-37215E326826}"/>
              </a:ext>
            </a:extLst>
          </p:cNvPr>
          <p:cNvGraphicFramePr>
            <a:graphicFrameLocks noGrp="1"/>
          </p:cNvGraphicFramePr>
          <p:nvPr>
            <p:extLst>
              <p:ext uri="{D42A27DB-BD31-4B8C-83A1-F6EECF244321}">
                <p14:modId xmlns:p14="http://schemas.microsoft.com/office/powerpoint/2010/main" val="3229087404"/>
              </p:ext>
            </p:extLst>
          </p:nvPr>
        </p:nvGraphicFramePr>
        <p:xfrm>
          <a:off x="1146200" y="1388642"/>
          <a:ext cx="3230042" cy="2043664"/>
        </p:xfrm>
        <a:graphic>
          <a:graphicData uri="http://schemas.openxmlformats.org/drawingml/2006/table">
            <a:tbl>
              <a:tblPr firstRow="1" bandRow="1">
                <a:tableStyleId>{5C22544A-7EE6-4342-B048-85BDC9FD1C3A}</a:tableStyleId>
              </a:tblPr>
              <a:tblGrid>
                <a:gridCol w="3230042">
                  <a:extLst>
                    <a:ext uri="{9D8B030D-6E8A-4147-A177-3AD203B41FA5}">
                      <a16:colId xmlns:a16="http://schemas.microsoft.com/office/drawing/2014/main" val="3037676781"/>
                    </a:ext>
                  </a:extLst>
                </a:gridCol>
              </a:tblGrid>
              <a:tr h="275824">
                <a:tc>
                  <a:txBody>
                    <a:bodyPr/>
                    <a:lstStyle/>
                    <a:p>
                      <a:pPr algn="ctr"/>
                      <a:r>
                        <a:rPr lang="pl-PL" sz="1200" b="1">
                          <a:solidFill>
                            <a:schemeClr val="accent5"/>
                          </a:solidFill>
                        </a:rPr>
                        <a:t>Context</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458750">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Even the best-written page can't be cited if an AI crawler is blocked, can't render the content, or can't parse the facts on it. </a:t>
                      </a:r>
                      <a:r>
                        <a:rPr lang="en-US" sz="1000" b="1">
                          <a:solidFill>
                            <a:schemeClr val="tx1"/>
                          </a:solidFill>
                        </a:rPr>
                        <a:t>Technical GEO </a:t>
                      </a:r>
                      <a:r>
                        <a:rPr lang="en-US" sz="1000" b="0">
                          <a:solidFill>
                            <a:schemeClr val="tx1"/>
                          </a:solidFill>
                        </a:rPr>
                        <a:t>is the infrastructure layer underneath everything else in this playbook.</a:t>
                      </a: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Technical GEO </a:t>
                      </a:r>
                      <a:r>
                        <a:rPr lang="en-US" sz="1000" b="0">
                          <a:solidFill>
                            <a:schemeClr val="tx1"/>
                          </a:solidFill>
                        </a:rPr>
                        <a:t>refers to the infrastructure- and code-level factors that determine whether AI systems — large language models, AI-powered search, and answer engines — can discover, access, parse, and trust a website's content.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4" name="Table 3">
            <a:extLst>
              <a:ext uri="{FF2B5EF4-FFF2-40B4-BE49-F238E27FC236}">
                <a16:creationId xmlns:a16="http://schemas.microsoft.com/office/drawing/2014/main" id="{69AC5858-C971-5117-6BEE-0D99A0E6E854}"/>
              </a:ext>
            </a:extLst>
          </p:cNvPr>
          <p:cNvGraphicFramePr>
            <a:graphicFrameLocks noGrp="1"/>
          </p:cNvGraphicFramePr>
          <p:nvPr>
            <p:extLst>
              <p:ext uri="{D42A27DB-BD31-4B8C-83A1-F6EECF244321}">
                <p14:modId xmlns:p14="http://schemas.microsoft.com/office/powerpoint/2010/main" val="1931174515"/>
              </p:ext>
            </p:extLst>
          </p:nvPr>
        </p:nvGraphicFramePr>
        <p:xfrm>
          <a:off x="4668982" y="1388641"/>
          <a:ext cx="3429000" cy="2043662"/>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082219581"/>
                    </a:ext>
                  </a:extLst>
                </a:gridCol>
              </a:tblGrid>
              <a:tr h="281042">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200" b="1" i="0" u="none" strike="noStrike" kern="1200" cap="none" spc="0" normalizeH="0" baseline="0" noProof="0">
                          <a:ln>
                            <a:noFill/>
                          </a:ln>
                          <a:solidFill>
                            <a:srgbClr val="E7FFD9"/>
                          </a:solidFill>
                          <a:effectLst/>
                          <a:uLnTx/>
                          <a:uFillTx/>
                          <a:latin typeface="+mn-lt"/>
                          <a:ea typeface="+mn-ea"/>
                          <a:cs typeface="+mn-cs"/>
                        </a:rPr>
                        <a:t>Technical GEO Principles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49721912"/>
                  </a:ext>
                </a:extLst>
              </a:tr>
              <a:tr h="352524">
                <a:tc>
                  <a:txBody>
                    <a:bodyPr/>
                    <a:lstStyle/>
                    <a:p>
                      <a:pPr lvl="0" algn="ctr"/>
                      <a:r>
                        <a:rPr kumimoji="0" lang="pl-PL" sz="1000" b="0" i="0" u="none" strike="noStrike" kern="1200" cap="none" spc="0" normalizeH="0" baseline="0" noProof="0">
                          <a:ln>
                            <a:noFill/>
                          </a:ln>
                          <a:solidFill>
                            <a:srgbClr val="0A2F24"/>
                          </a:solidFill>
                          <a:effectLst/>
                          <a:uLnTx/>
                          <a:uFillTx/>
                          <a:latin typeface="+mn-lt"/>
                          <a:ea typeface="+mn-ea"/>
                          <a:cs typeface="+mn-cs"/>
                        </a:rPr>
                        <a:t>Crawler Access Control</a:t>
                      </a:r>
                      <a:endParaRPr kumimoji="0" lang="en-US" sz="1000" b="0" i="0" u="none" strike="noStrike" kern="1200" cap="none" spc="0" normalizeH="0" baseline="0" noProof="0">
                        <a:ln>
                          <a:noFill/>
                        </a:ln>
                        <a:solidFill>
                          <a:srgbClr val="0A2F24"/>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4234012278"/>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Structured Data &amp; Schema Markup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199639"/>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a:ln>
                            <a:noFill/>
                          </a:ln>
                          <a:solidFill>
                            <a:srgbClr val="0A2F24"/>
                          </a:solidFill>
                          <a:effectLst/>
                          <a:uLnTx/>
                          <a:uFillTx/>
                          <a:latin typeface="+mn-lt"/>
                          <a:ea typeface="+mn-ea"/>
                          <a:cs typeface="+mn-cs"/>
                        </a:rPr>
                        <a:t>Rendering &amp; Crawlability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39287643"/>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Entity &amp; Knowledge Graph Alignment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781955"/>
                  </a:ext>
                </a:extLst>
              </a:tr>
              <a:tr h="352524">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rgbClr val="0A2F24"/>
                          </a:solidFill>
                          <a:effectLst/>
                          <a:uLnTx/>
                          <a:uFillTx/>
                          <a:latin typeface="+mn-lt"/>
                          <a:ea typeface="+mn-ea"/>
                          <a:cs typeface="+mn-cs"/>
                        </a:rPr>
                        <a:t>Other Contributing Technical Signals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626800378"/>
                  </a:ext>
                </a:extLst>
              </a:tr>
            </a:tbl>
          </a:graphicData>
        </a:graphic>
      </p:graphicFrame>
    </p:spTree>
    <p:extLst>
      <p:ext uri="{BB962C8B-B14F-4D97-AF65-F5344CB8AC3E}">
        <p14:creationId xmlns:p14="http://schemas.microsoft.com/office/powerpoint/2010/main" val="362581728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5CADE-95F1-96A1-D612-73FE5168EC9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E83E27F-23AF-AF87-8DB4-2D917E8FAF9C}"/>
              </a:ext>
            </a:extLst>
          </p:cNvPr>
          <p:cNvSpPr/>
          <p:nvPr/>
        </p:nvSpPr>
        <p:spPr>
          <a:xfrm>
            <a:off x="7620000" y="4632960"/>
            <a:ext cx="1523772" cy="5105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 name="Shape 0">
            <a:extLst>
              <a:ext uri="{FF2B5EF4-FFF2-40B4-BE49-F238E27FC236}">
                <a16:creationId xmlns:a16="http://schemas.microsoft.com/office/drawing/2014/main" id="{CBBB7B5F-DA99-BAB1-D2EE-D9F650199B13}"/>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3DA487CA-FB91-88FC-552A-406C6C477265}"/>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How AI Systems Access Web Content</a:t>
            </a:r>
          </a:p>
        </p:txBody>
      </p:sp>
      <p:sp>
        <p:nvSpPr>
          <p:cNvPr id="12" name="Text 2">
            <a:extLst>
              <a:ext uri="{FF2B5EF4-FFF2-40B4-BE49-F238E27FC236}">
                <a16:creationId xmlns:a16="http://schemas.microsoft.com/office/drawing/2014/main" id="{1C456A67-AF4D-A59F-9F1E-ED02FB111C20}"/>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And h</a:t>
            </a:r>
            <a:r>
              <a:rPr lang="en-US" sz="1100">
                <a:solidFill>
                  <a:schemeClr val="accent5"/>
                </a:solidFill>
                <a:cs typeface="Arial"/>
              </a:rPr>
              <a:t>ow websites communicate crawl and usage preferences to AI systems</a:t>
            </a:r>
            <a:r>
              <a:rPr lang="pl-PL" sz="1100">
                <a:solidFill>
                  <a:schemeClr val="accent5"/>
                </a:solidFill>
                <a:cs typeface="Arial"/>
              </a:rPr>
              <a: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F37A4EBD-08D0-1499-DD6A-6E71D3FB08E3}"/>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C54389F7-6B5E-9A2D-2770-CDA9395ABC58}"/>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136</a:t>
            </a:fld>
            <a:endParaRPr lang="en-US">
              <a:solidFill>
                <a:srgbClr val="3DCD58"/>
              </a:solidFill>
            </a:endParaRPr>
          </a:p>
        </p:txBody>
      </p:sp>
      <p:graphicFrame>
        <p:nvGraphicFramePr>
          <p:cNvPr id="9" name="Table 8">
            <a:extLst>
              <a:ext uri="{FF2B5EF4-FFF2-40B4-BE49-F238E27FC236}">
                <a16:creationId xmlns:a16="http://schemas.microsoft.com/office/drawing/2014/main" id="{07F8675A-4A0B-49A8-8A8B-E2A74C6F448D}"/>
              </a:ext>
            </a:extLst>
          </p:cNvPr>
          <p:cNvGraphicFramePr>
            <a:graphicFrameLocks noGrp="1"/>
          </p:cNvGraphicFramePr>
          <p:nvPr>
            <p:extLst>
              <p:ext uri="{D42A27DB-BD31-4B8C-83A1-F6EECF244321}">
                <p14:modId xmlns:p14="http://schemas.microsoft.com/office/powerpoint/2010/main" val="2999734896"/>
              </p:ext>
            </p:extLst>
          </p:nvPr>
        </p:nvGraphicFramePr>
        <p:xfrm>
          <a:off x="228" y="2479207"/>
          <a:ext cx="9143772" cy="2481052"/>
        </p:xfrm>
        <a:graphic>
          <a:graphicData uri="http://schemas.openxmlformats.org/drawingml/2006/table">
            <a:tbl>
              <a:tblPr firstRow="1" bandRow="1">
                <a:tableStyleId>{5C22544A-7EE6-4342-B048-85BDC9FD1C3A}</a:tableStyleId>
              </a:tblPr>
              <a:tblGrid>
                <a:gridCol w="4571886">
                  <a:extLst>
                    <a:ext uri="{9D8B030D-6E8A-4147-A177-3AD203B41FA5}">
                      <a16:colId xmlns:a16="http://schemas.microsoft.com/office/drawing/2014/main" val="3037676781"/>
                    </a:ext>
                  </a:extLst>
                </a:gridCol>
                <a:gridCol w="4571886">
                  <a:extLst>
                    <a:ext uri="{9D8B030D-6E8A-4147-A177-3AD203B41FA5}">
                      <a16:colId xmlns:a16="http://schemas.microsoft.com/office/drawing/2014/main" val="3869670919"/>
                    </a:ext>
                  </a:extLst>
                </a:gridCol>
              </a:tblGrid>
              <a:tr h="275824">
                <a:tc>
                  <a:txBody>
                    <a:bodyPr/>
                    <a:lstStyle/>
                    <a:p>
                      <a:pPr algn="ctr"/>
                      <a:r>
                        <a:rPr lang="pl-PL" sz="1200" b="1">
                          <a:solidFill>
                            <a:schemeClr val="accent5"/>
                          </a:solidFill>
                        </a:rPr>
                        <a:t>Access control signal: robots.txt – old ways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1200" b="1">
                          <a:solidFill>
                            <a:schemeClr val="accent5"/>
                          </a:solidFill>
                        </a:rPr>
                        <a:t>Access control signal: llms.txt – new horizon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45875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A long-standing web protocol that lets a site declare, per user-agent, which paths a bot may or may not access.</a:t>
                      </a: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171450" indent="-171450">
                        <a:spcBef>
                          <a:spcPts val="0"/>
                        </a:spcBef>
                        <a:spcAft>
                          <a:spcPts val="0"/>
                        </a:spcAft>
                        <a:buClr>
                          <a:schemeClr val="tx1"/>
                        </a:buClr>
                        <a:buFont typeface="Arial" panose="020B0604020202020204" pitchFamily="34" charset="0"/>
                        <a:buChar char="•"/>
                        <a:defRPr/>
                      </a:pPr>
                      <a:r>
                        <a:rPr lang="en-US" sz="1000" b="0">
                          <a:solidFill>
                            <a:schemeClr val="tx1"/>
                          </a:solidFill>
                        </a:rPr>
                        <a:t>Compliance is voluntary </a:t>
                      </a:r>
                      <a:r>
                        <a:rPr lang="pl-PL" sz="1000" b="0">
                          <a:solidFill>
                            <a:schemeClr val="tx1"/>
                          </a:solidFill>
                        </a:rPr>
                        <a:t>-</a:t>
                      </a:r>
                      <a:r>
                        <a:rPr lang="en-US" sz="1000" b="0">
                          <a:solidFill>
                            <a:schemeClr val="tx1"/>
                          </a:solidFill>
                        </a:rPr>
                        <a:t> an “honor system.” Major AI labs generally state that their crawlers respect it.</a:t>
                      </a:r>
                      <a:endParaRPr lang="pl-PL" sz="1000" b="0">
                        <a:solidFill>
                          <a:schemeClr val="tx1"/>
                        </a:solidFill>
                      </a:endParaRPr>
                    </a:p>
                    <a:p>
                      <a:pPr marL="171450" indent="-171450">
                        <a:spcBef>
                          <a:spcPts val="0"/>
                        </a:spcBef>
                        <a:spcAft>
                          <a:spcPts val="0"/>
                        </a:spcAft>
                        <a:buClr>
                          <a:schemeClr val="tx1"/>
                        </a:buClr>
                        <a:buFont typeface="Arial" panose="020B0604020202020204" pitchFamily="34" charset="0"/>
                        <a:buChar char="•"/>
                        <a:defRPr/>
                      </a:pPr>
                      <a:r>
                        <a:rPr lang="en-US" sz="1000" b="0">
                          <a:solidFill>
                            <a:schemeClr val="tx1"/>
                          </a:solidFill>
                        </a:rPr>
                        <a:t>Some bots have inconsistent compliance records and are known to disregard disallow rules in practice.</a:t>
                      </a:r>
                    </a:p>
                    <a:p>
                      <a:pPr marL="171450" indent="-171450">
                        <a:spcBef>
                          <a:spcPts val="0"/>
                        </a:spcBef>
                        <a:spcAft>
                          <a:spcPts val="0"/>
                        </a:spcAft>
                        <a:buClr>
                          <a:schemeClr val="tx1"/>
                        </a:buClr>
                        <a:buFont typeface="Arial" panose="020B0604020202020204" pitchFamily="34" charset="0"/>
                        <a:buChar char="•"/>
                        <a:defRPr/>
                      </a:pPr>
                      <a:r>
                        <a:rPr lang="en-US" sz="1000" b="0">
                          <a:solidFill>
                            <a:schemeClr val="tx1"/>
                          </a:solidFill>
                        </a:rPr>
                        <a:t>Distinguishes rules by exact user-agent, allowing different treatment for training vs. retrieval vs. user-triggered bots.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indent="0">
                        <a:spcBef>
                          <a:spcPts val="0"/>
                        </a:spcBef>
                        <a:spcAft>
                          <a:spcPts val="0"/>
                        </a:spcAft>
                        <a:buClr>
                          <a:schemeClr val="tx1"/>
                        </a:buClr>
                        <a:buFont typeface="Arial" panose="020B0604020202020204" pitchFamily="34" charset="0"/>
                        <a:buNone/>
                        <a:defRPr/>
                      </a:pPr>
                      <a:r>
                        <a:rPr lang="en-US" sz="1000" b="0">
                          <a:solidFill>
                            <a:schemeClr val="tx1"/>
                          </a:solidFill>
                        </a:rPr>
                        <a:t>An emerging, community-proposed standard (first put forward in September 2024) — a Markdown file at a site's root offering a curated index of its key pages for AI systems to read.</a:t>
                      </a:r>
                    </a:p>
                    <a:p>
                      <a:pPr marL="171450" indent="-171450">
                        <a:spcBef>
                          <a:spcPts val="0"/>
                        </a:spcBef>
                        <a:spcAft>
                          <a:spcPts val="0"/>
                        </a:spcAft>
                        <a:buClr>
                          <a:schemeClr val="tx1"/>
                        </a:buClr>
                        <a:buFont typeface="Arial" panose="020B0604020202020204" pitchFamily="34" charset="0"/>
                        <a:buChar char="•"/>
                        <a:defRPr/>
                      </a:pPr>
                      <a:endParaRPr lang="en-US" sz="1000" b="0">
                        <a:solidFill>
                          <a:schemeClr val="tx1"/>
                        </a:solidFill>
                      </a:endParaRPr>
                    </a:p>
                    <a:p>
                      <a:pPr marL="171450" indent="-171450">
                        <a:spcBef>
                          <a:spcPts val="0"/>
                        </a:spcBef>
                        <a:spcAft>
                          <a:spcPts val="0"/>
                        </a:spcAft>
                        <a:buClr>
                          <a:schemeClr val="tx1"/>
                        </a:buClr>
                        <a:buFont typeface="Arial" panose="020B0604020202020204" pitchFamily="34" charset="0"/>
                        <a:buChar char="•"/>
                        <a:defRPr/>
                      </a:pPr>
                      <a:r>
                        <a:rPr lang="en-US" sz="1000" b="0">
                          <a:solidFill>
                            <a:schemeClr val="tx1"/>
                          </a:solidFill>
                        </a:rPr>
                        <a:t>Not yet a formal standard; adoption as of 2026 is described as niche but growing, concentrated among technical and documentation-heavy sites.</a:t>
                      </a:r>
                    </a:p>
                    <a:p>
                      <a:pPr marL="171450" indent="-171450">
                        <a:spcBef>
                          <a:spcPts val="0"/>
                        </a:spcBef>
                        <a:spcAft>
                          <a:spcPts val="0"/>
                        </a:spcAft>
                        <a:buClr>
                          <a:schemeClr val="tx1"/>
                        </a:buClr>
                        <a:buFont typeface="Arial" panose="020B0604020202020204" pitchFamily="34" charset="0"/>
                        <a:buChar char="•"/>
                        <a:defRPr/>
                      </a:pPr>
                      <a:r>
                        <a:rPr lang="en-US" sz="1000" b="0">
                          <a:solidFill>
                            <a:schemeClr val="tx1"/>
                          </a:solidFill>
                        </a:rPr>
                        <a:t>A related llms-full.txt variant offers a complete text export of a site's content, rather than just an index.</a:t>
                      </a:r>
                    </a:p>
                    <a:p>
                      <a:pPr marL="171450" indent="-171450">
                        <a:spcBef>
                          <a:spcPts val="0"/>
                        </a:spcBef>
                        <a:spcAft>
                          <a:spcPts val="0"/>
                        </a:spcAft>
                        <a:buClr>
                          <a:schemeClr val="tx1"/>
                        </a:buClr>
                        <a:buFont typeface="Arial" panose="020B0604020202020204" pitchFamily="34" charset="0"/>
                        <a:buChar char="•"/>
                        <a:defRPr/>
                      </a:pPr>
                      <a:r>
                        <a:rPr lang="en-US" sz="1000" b="0">
                          <a:solidFill>
                            <a:schemeClr val="tx1"/>
                          </a:solidFill>
                        </a:rPr>
                        <a:t>Purpose is to reduce the navigation, scripts, and ad markup an AI system would otherwise have to process to find the substance of a page.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r h="284988">
                <a:tc gridSpan="2">
                  <a:txBody>
                    <a:bodyPr/>
                    <a:lstStyle/>
                    <a:p>
                      <a:pPr marL="0" indent="0" algn="ctr">
                        <a:spcBef>
                          <a:spcPts val="0"/>
                        </a:spcBef>
                        <a:spcAft>
                          <a:spcPts val="0"/>
                        </a:spcAft>
                        <a:buClr>
                          <a:schemeClr val="tx1"/>
                        </a:buClr>
                        <a:buNone/>
                        <a:defRPr/>
                      </a:pPr>
                      <a:r>
                        <a:rPr lang="pl-PL" sz="1000" b="0">
                          <a:solidFill>
                            <a:schemeClr val="accent5"/>
                          </a:solidFill>
                        </a:rPr>
                        <a:t>Where are we: currently SE is relying on robots.txt but one of 2027 Technical GEO initiatives is a development of llms.txt.</a:t>
                      </a:r>
                      <a:endParaRPr lang="en-US" sz="1000" b="0">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marL="171450" indent="-171450">
                        <a:spcBef>
                          <a:spcPts val="0"/>
                        </a:spcBef>
                        <a:spcAft>
                          <a:spcPts val="0"/>
                        </a:spcAft>
                        <a:buClr>
                          <a:schemeClr val="tx1"/>
                        </a:buClr>
                        <a:buFont typeface="Arial" panose="020B0604020202020204" pitchFamily="34" charset="0"/>
                        <a:buChar char="•"/>
                        <a:defRPr/>
                      </a:pP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852134144"/>
                  </a:ext>
                </a:extLst>
              </a:tr>
            </a:tbl>
          </a:graphicData>
        </a:graphic>
      </p:graphicFrame>
      <p:graphicFrame>
        <p:nvGraphicFramePr>
          <p:cNvPr id="14" name="Table 13">
            <a:extLst>
              <a:ext uri="{FF2B5EF4-FFF2-40B4-BE49-F238E27FC236}">
                <a16:creationId xmlns:a16="http://schemas.microsoft.com/office/drawing/2014/main" id="{0B5E7EC7-A4B3-D196-C397-547BF296D73D}"/>
              </a:ext>
            </a:extLst>
          </p:cNvPr>
          <p:cNvGraphicFramePr>
            <a:graphicFrameLocks noGrp="1"/>
          </p:cNvGraphicFramePr>
          <p:nvPr>
            <p:extLst>
              <p:ext uri="{D42A27DB-BD31-4B8C-83A1-F6EECF244321}">
                <p14:modId xmlns:p14="http://schemas.microsoft.com/office/powerpoint/2010/main" val="180744314"/>
              </p:ext>
            </p:extLst>
          </p:nvPr>
        </p:nvGraphicFramePr>
        <p:xfrm>
          <a:off x="0" y="1220724"/>
          <a:ext cx="9144000" cy="12623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649067429"/>
                    </a:ext>
                  </a:extLst>
                </a:gridCol>
                <a:gridCol w="3048000">
                  <a:extLst>
                    <a:ext uri="{9D8B030D-6E8A-4147-A177-3AD203B41FA5}">
                      <a16:colId xmlns:a16="http://schemas.microsoft.com/office/drawing/2014/main" val="3743655456"/>
                    </a:ext>
                  </a:extLst>
                </a:gridCol>
                <a:gridCol w="3048000">
                  <a:extLst>
                    <a:ext uri="{9D8B030D-6E8A-4147-A177-3AD203B41FA5}">
                      <a16:colId xmlns:a16="http://schemas.microsoft.com/office/drawing/2014/main" val="2108948991"/>
                    </a:ext>
                  </a:extLst>
                </a:gridCol>
              </a:tblGrid>
              <a:tr h="370840">
                <a:tc gridSpan="3">
                  <a:txBody>
                    <a:bodyPr/>
                    <a:lstStyle/>
                    <a:p>
                      <a:pPr algn="ctr"/>
                      <a:r>
                        <a:rPr lang="en-US" sz="1200">
                          <a:solidFill>
                            <a:schemeClr val="accent5"/>
                          </a:solidFill>
                        </a:rPr>
                        <a:t>Three broad categories of automated access</a:t>
                      </a:r>
                      <a:endParaRPr lang="pl-PL" sz="1200">
                        <a:solidFill>
                          <a:schemeClr val="accent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pl-PL"/>
                    </a:p>
                  </a:txBody>
                  <a:tcPr>
                    <a:lnB w="12700" cap="flat" cmpd="sng" algn="ctr">
                      <a:solidFill>
                        <a:schemeClr val="tx1"/>
                      </a:solidFill>
                      <a:prstDash val="solid"/>
                      <a:round/>
                      <a:headEnd type="none" w="med" len="med"/>
                      <a:tailEnd type="none" w="med" len="med"/>
                    </a:lnB>
                    <a:solidFill>
                      <a:schemeClr val="tx1"/>
                    </a:solidFill>
                  </a:tcPr>
                </a:tc>
                <a:tc hMerge="1">
                  <a:txBody>
                    <a:bodyPr/>
                    <a:lstStyle/>
                    <a:p>
                      <a:endParaRPr lang="pl-PL"/>
                    </a:p>
                  </a:txBody>
                  <a:tcPr>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808541129"/>
                  </a:ext>
                </a:extLst>
              </a:tr>
              <a:tr h="370840">
                <a:tc>
                  <a:txBody>
                    <a:bodyPr/>
                    <a:lstStyle/>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Training Crawlers</a:t>
                      </a:r>
                      <a:endParaRPr kumimoji="0" lang="pl-PL" sz="1000" b="1" i="0" u="none" strike="noStrike" kern="1200" cap="none" spc="0" normalizeH="0" baseline="0" noProof="0">
                        <a:ln>
                          <a:noFill/>
                        </a:ln>
                        <a:solidFill>
                          <a:srgbClr val="0A2F24"/>
                        </a:solidFill>
                        <a:effectLst/>
                        <a:uLnTx/>
                        <a:uFillTx/>
                        <a:latin typeface="+mn-lt"/>
                        <a:ea typeface="+mn-ea"/>
                        <a:cs typeface="+mn-cs"/>
                      </a:endParaRP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Collect content to train foundation models. Access happens periodically and is unrelated to any specific user query.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Retrieval / Search-Index Crawlers</a:t>
                      </a: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Build the index that AI answer engines cite from in real time. These are the crawlers most directly tied to appearing in AI-generated answers.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A2F24"/>
                          </a:solidFill>
                          <a:effectLst/>
                          <a:uLnTx/>
                          <a:uFillTx/>
                          <a:latin typeface="+mn-lt"/>
                          <a:ea typeface="+mn-ea"/>
                          <a:cs typeface="+mn-cs"/>
                        </a:rPr>
                        <a:t>User-Triggered Fetchers</a:t>
                      </a:r>
                    </a:p>
                    <a:p>
                      <a:pPr marL="0" marR="0" lvl="0" indent="0" algn="l" defTabSz="457172"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A2F24"/>
                          </a:solidFill>
                          <a:effectLst/>
                          <a:uLnTx/>
                          <a:uFillTx/>
                          <a:latin typeface="+mn-lt"/>
                          <a:ea typeface="+mn-ea"/>
                          <a:cs typeface="+mn-cs"/>
                        </a:rPr>
                        <a:t>Activate at the moment a person asks an AI assistant about a specific page or URL, fetching that page live in response to the request.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2833739"/>
                  </a:ext>
                </a:extLst>
              </a:tr>
            </a:tbl>
          </a:graphicData>
        </a:graphic>
      </p:graphicFrame>
    </p:spTree>
    <p:extLst>
      <p:ext uri="{BB962C8B-B14F-4D97-AF65-F5344CB8AC3E}">
        <p14:creationId xmlns:p14="http://schemas.microsoft.com/office/powerpoint/2010/main" val="254934603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2B66-4396-7345-29D6-9FC7E702059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6D9D0DA-127B-8AFD-CB10-82B261264E6F}"/>
              </a:ext>
            </a:extLst>
          </p:cNvPr>
          <p:cNvSpPr/>
          <p:nvPr/>
        </p:nvSpPr>
        <p:spPr>
          <a:xfrm>
            <a:off x="7620000" y="4632960"/>
            <a:ext cx="1523772" cy="5105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l-PL"/>
          </a:p>
        </p:txBody>
      </p:sp>
      <p:sp>
        <p:nvSpPr>
          <p:cNvPr id="8" name="Shape 0">
            <a:extLst>
              <a:ext uri="{FF2B5EF4-FFF2-40B4-BE49-F238E27FC236}">
                <a16:creationId xmlns:a16="http://schemas.microsoft.com/office/drawing/2014/main" id="{81BF1348-7EE4-771D-E787-F90DD5F0569B}"/>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794131C3-E849-A585-8DF1-D6B130C49BEC}"/>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Structured Data</a:t>
            </a:r>
            <a:r>
              <a:rPr lang="pl-PL" sz="2200">
                <a:solidFill>
                  <a:schemeClr val="accent5"/>
                </a:solidFill>
                <a:cs typeface="Arial"/>
              </a:rPr>
              <a:t>:</a:t>
            </a:r>
            <a:r>
              <a:rPr lang="en-US" sz="2200">
                <a:solidFill>
                  <a:schemeClr val="accent5"/>
                </a:solidFill>
                <a:cs typeface="Arial"/>
              </a:rPr>
              <a:t> Schema Markup</a:t>
            </a:r>
            <a:r>
              <a:rPr lang="pl-PL" sz="2200">
                <a:solidFill>
                  <a:schemeClr val="accent5"/>
                </a:solidFill>
                <a:cs typeface="Arial"/>
              </a:rPr>
              <a:t>s</a:t>
            </a:r>
            <a:endParaRPr lang="en-US" sz="2200">
              <a:solidFill>
                <a:schemeClr val="accent5"/>
              </a:solidFill>
              <a:cs typeface="Arial"/>
            </a:endParaRPr>
          </a:p>
        </p:txBody>
      </p:sp>
      <p:sp>
        <p:nvSpPr>
          <p:cNvPr id="12" name="Text 2">
            <a:extLst>
              <a:ext uri="{FF2B5EF4-FFF2-40B4-BE49-F238E27FC236}">
                <a16:creationId xmlns:a16="http://schemas.microsoft.com/office/drawing/2014/main" id="{21AD65F4-D1BD-01C5-9E6A-0492391C7369}"/>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Maps and road signs so AI can understand where it is and what it reads.</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B6B6347F-601E-BE25-5183-3B45415E495B}"/>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3F116DFB-4957-CD9A-8429-D4F5A0D4D1FC}"/>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137</a:t>
            </a:fld>
            <a:endParaRPr lang="en-US">
              <a:solidFill>
                <a:srgbClr val="3DCD58"/>
              </a:solidFill>
            </a:endParaRPr>
          </a:p>
        </p:txBody>
      </p:sp>
      <p:graphicFrame>
        <p:nvGraphicFramePr>
          <p:cNvPr id="2" name="Table 1">
            <a:extLst>
              <a:ext uri="{FF2B5EF4-FFF2-40B4-BE49-F238E27FC236}">
                <a16:creationId xmlns:a16="http://schemas.microsoft.com/office/drawing/2014/main" id="{87B01B44-E8B8-EF03-9C7D-37A4732AF6B6}"/>
              </a:ext>
            </a:extLst>
          </p:cNvPr>
          <p:cNvGraphicFramePr>
            <a:graphicFrameLocks noGrp="1"/>
          </p:cNvGraphicFramePr>
          <p:nvPr>
            <p:extLst>
              <p:ext uri="{D42A27DB-BD31-4B8C-83A1-F6EECF244321}">
                <p14:modId xmlns:p14="http://schemas.microsoft.com/office/powerpoint/2010/main" val="41027175"/>
              </p:ext>
            </p:extLst>
          </p:nvPr>
        </p:nvGraphicFramePr>
        <p:xfrm>
          <a:off x="342900" y="1113856"/>
          <a:ext cx="6088380" cy="1110140"/>
        </p:xfrm>
        <a:graphic>
          <a:graphicData uri="http://schemas.openxmlformats.org/drawingml/2006/table">
            <a:tbl>
              <a:tblPr firstRow="1" bandRow="1">
                <a:tableStyleId>{5C22544A-7EE6-4342-B048-85BDC9FD1C3A}</a:tableStyleId>
              </a:tblPr>
              <a:tblGrid>
                <a:gridCol w="6088380">
                  <a:extLst>
                    <a:ext uri="{9D8B030D-6E8A-4147-A177-3AD203B41FA5}">
                      <a16:colId xmlns:a16="http://schemas.microsoft.com/office/drawing/2014/main" val="3037676781"/>
                    </a:ext>
                  </a:extLst>
                </a:gridCol>
              </a:tblGrid>
              <a:tr h="207098">
                <a:tc>
                  <a:txBody>
                    <a:bodyPr/>
                    <a:lstStyle/>
                    <a:p>
                      <a:pPr marL="0" marR="0" lvl="0" indent="0" algn="ctr" defTabSz="457184" rtl="0" eaLnBrk="1" fontAlgn="auto" latinLnBrk="0" hangingPunct="1">
                        <a:lnSpc>
                          <a:spcPct val="100000"/>
                        </a:lnSpc>
                        <a:spcBef>
                          <a:spcPts val="0"/>
                        </a:spcBef>
                        <a:spcAft>
                          <a:spcPts val="0"/>
                        </a:spcAft>
                        <a:buClrTx/>
                        <a:buSzTx/>
                        <a:buFontTx/>
                        <a:buNone/>
                        <a:tabLst/>
                        <a:defRPr/>
                      </a:pPr>
                      <a:r>
                        <a:rPr lang="pl-PL" sz="1200" b="1">
                          <a:solidFill>
                            <a:schemeClr val="accent5"/>
                          </a:solidFill>
                        </a:rPr>
                        <a:t>Schema Markup</a:t>
                      </a: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835820">
                <a:tc>
                  <a:txBody>
                    <a:bodyPr/>
                    <a:lstStyle/>
                    <a:p>
                      <a:pPr marL="0" indent="0">
                        <a:spcBef>
                          <a:spcPts val="0"/>
                        </a:spcBef>
                        <a:spcAft>
                          <a:spcPts val="0"/>
                        </a:spcAft>
                        <a:buClr>
                          <a:srgbClr val="3DCD58"/>
                        </a:buClr>
                        <a:buFont typeface="Wingdings" panose="05000000000000000000" pitchFamily="2" charset="2"/>
                        <a:buNone/>
                        <a:defRPr/>
                      </a:pPr>
                      <a:r>
                        <a:rPr lang="pl-PL" sz="1000" b="0">
                          <a:solidFill>
                            <a:schemeClr val="tx1"/>
                          </a:solidFill>
                        </a:rPr>
                        <a:t>Schema markup is</a:t>
                      </a:r>
                      <a:r>
                        <a:rPr lang="en-US" sz="1000" b="0">
                          <a:solidFill>
                            <a:schemeClr val="tx1"/>
                          </a:solidFill>
                        </a:rPr>
                        <a:t> a specialized code added to a website's backend that helps search engines understand content context, enabling rich search results like star ratings, prices, and business hours</a:t>
                      </a:r>
                      <a:r>
                        <a:rPr lang="pl-PL" sz="1000" b="0">
                          <a:solidFill>
                            <a:schemeClr val="tx1"/>
                          </a:solidFill>
                        </a:rPr>
                        <a:t> (</a:t>
                      </a:r>
                      <a:r>
                        <a:rPr lang="en-US" sz="1000" b="0">
                          <a:solidFill>
                            <a:schemeClr val="tx1"/>
                          </a:solidFill>
                        </a:rPr>
                        <a:t>explicit, machine-readable meaning to page elements</a:t>
                      </a:r>
                      <a:r>
                        <a:rPr lang="pl-PL" sz="1000" b="0">
                          <a:solidFill>
                            <a:schemeClr val="tx1"/>
                          </a:solidFill>
                        </a:rPr>
                        <a:t>)</a:t>
                      </a:r>
                      <a:r>
                        <a:rPr lang="en-US" sz="1000" b="0">
                          <a:solidFill>
                            <a:schemeClr val="tx1"/>
                          </a:solidFill>
                        </a:rPr>
                        <a:t>. It uses a shared vocabulary from Schema.org to label data so machines can easily read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7" name="Table 6">
            <a:extLst>
              <a:ext uri="{FF2B5EF4-FFF2-40B4-BE49-F238E27FC236}">
                <a16:creationId xmlns:a16="http://schemas.microsoft.com/office/drawing/2014/main" id="{8627BA55-E663-58E9-14EA-5201C96A8A5E}"/>
              </a:ext>
            </a:extLst>
          </p:cNvPr>
          <p:cNvGraphicFramePr>
            <a:graphicFrameLocks noGrp="1"/>
          </p:cNvGraphicFramePr>
          <p:nvPr>
            <p:extLst>
              <p:ext uri="{D42A27DB-BD31-4B8C-83A1-F6EECF244321}">
                <p14:modId xmlns:p14="http://schemas.microsoft.com/office/powerpoint/2010/main" val="1528403724"/>
              </p:ext>
            </p:extLst>
          </p:nvPr>
        </p:nvGraphicFramePr>
        <p:xfrm>
          <a:off x="342900" y="2389909"/>
          <a:ext cx="6096000" cy="245012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323133131"/>
                    </a:ext>
                  </a:extLst>
                </a:gridCol>
                <a:gridCol w="2032000">
                  <a:extLst>
                    <a:ext uri="{9D8B030D-6E8A-4147-A177-3AD203B41FA5}">
                      <a16:colId xmlns:a16="http://schemas.microsoft.com/office/drawing/2014/main" val="308233906"/>
                    </a:ext>
                  </a:extLst>
                </a:gridCol>
                <a:gridCol w="2032000">
                  <a:extLst>
                    <a:ext uri="{9D8B030D-6E8A-4147-A177-3AD203B41FA5}">
                      <a16:colId xmlns:a16="http://schemas.microsoft.com/office/drawing/2014/main" val="1258244934"/>
                    </a:ext>
                  </a:extLst>
                </a:gridCol>
              </a:tblGrid>
              <a:tr h="408587">
                <a:tc gridSpan="3">
                  <a:txBody>
                    <a:bodyPr/>
                    <a:lstStyle/>
                    <a:p>
                      <a:pPr marL="0" algn="ctr" defTabSz="457184" rtl="0" eaLnBrk="1" latinLnBrk="0" hangingPunct="1"/>
                      <a:r>
                        <a:rPr lang="pl-PL" sz="1200" b="1" kern="1200">
                          <a:solidFill>
                            <a:schemeClr val="accent5"/>
                          </a:solidFill>
                          <a:latin typeface="+mn-lt"/>
                          <a:ea typeface="+mn-ea"/>
                          <a:cs typeface="+mn-cs"/>
                        </a:rPr>
                        <a:t>Commonly referenced schema types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pl-PL"/>
                    </a:p>
                  </a:txBody>
                  <a:tcPr/>
                </a:tc>
                <a:tc hMerge="1">
                  <a:txBody>
                    <a:bodyPr/>
                    <a:lstStyle/>
                    <a:p>
                      <a:endParaRPr lang="pl-PL"/>
                    </a:p>
                  </a:txBody>
                  <a:tcPr/>
                </a:tc>
                <a:extLst>
                  <a:ext uri="{0D108BD9-81ED-4DB2-BD59-A6C34878D82A}">
                    <a16:rowId xmlns:a16="http://schemas.microsoft.com/office/drawing/2014/main" val="3259024410"/>
                  </a:ext>
                </a:extLst>
              </a:tr>
              <a:tr h="12089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Poppins" pitchFamily="34" charset="0"/>
                          <a:ea typeface="Poppins" pitchFamily="34" charset="-122"/>
                          <a:cs typeface="Poppins" pitchFamily="34" charset="-120"/>
                        </a:rPr>
                        <a:t>Organization</a:t>
                      </a:r>
                      <a:endParaRPr kumimoji="0" lang="en-US" sz="1100" b="0" i="0" u="none" strike="noStrike" kern="1200" cap="none" spc="0" normalizeH="0" baseline="0" noProof="0">
                        <a:ln>
                          <a:noFill/>
                        </a:ln>
                        <a:solidFill>
                          <a:schemeClr val="tx1"/>
                        </a:solidFill>
                        <a:effectLst/>
                        <a:uLnTx/>
                        <a:uFillTx/>
                        <a:latin typeface="Calibri" panose="020F050202020403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Poppins" pitchFamily="34" charset="0"/>
                          <a:ea typeface="Poppins" pitchFamily="34" charset="-122"/>
                          <a:cs typeface="Poppins" pitchFamily="34" charset="-120"/>
                        </a:rPr>
                        <a:t>Identifies a business entity — name, logo, official profiles, and relationships to other entities.</a:t>
                      </a:r>
                      <a:endParaRPr kumimoji="0" lang="en-US" sz="1000" b="0" i="0" u="none" strike="noStrike" kern="1200" cap="none" spc="0" normalizeH="0" baseline="0" noProof="0">
                        <a:ln>
                          <a:noFill/>
                        </a:ln>
                        <a:solidFill>
                          <a:schemeClr val="tx1"/>
                        </a:solidFill>
                        <a:effectLst/>
                        <a:uLnTx/>
                        <a:uFillTx/>
                        <a:latin typeface="Calibri"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pl-PL" sz="1100" b="1"/>
                        <a:t>Product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a:ln>
                            <a:noFill/>
                          </a:ln>
                          <a:solidFill>
                            <a:schemeClr val="tx1"/>
                          </a:solidFill>
                          <a:effectLst/>
                          <a:uLnTx/>
                          <a:uFillTx/>
                          <a:latin typeface="Poppins" pitchFamily="34" charset="0"/>
                          <a:cs typeface="Poppins" pitchFamily="34" charset="-120"/>
                        </a:rPr>
                        <a:t>Describes product attributes, offers, and availability in a standard, comparable format</a:t>
                      </a:r>
                      <a:r>
                        <a:rPr kumimoji="0" lang="pl-PL" sz="1000" b="0" i="0" u="none" strike="noStrike" kern="1200" cap="none" spc="0" normalizeH="0" baseline="0">
                          <a:ln>
                            <a:noFill/>
                          </a:ln>
                          <a:solidFill>
                            <a:schemeClr val="tx1"/>
                          </a:solidFill>
                          <a:effectLst/>
                          <a:uLnTx/>
                          <a:uFillTx/>
                          <a:latin typeface="Poppins" pitchFamily="34" charset="0"/>
                          <a:cs typeface="Poppins" pitchFamily="34" charset="-12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pl-PL" sz="1100" b="1"/>
                        <a:t>FAQPage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a:ln>
                            <a:noFill/>
                          </a:ln>
                          <a:solidFill>
                            <a:schemeClr val="tx1"/>
                          </a:solidFill>
                          <a:effectLst/>
                          <a:uLnTx/>
                          <a:uFillTx/>
                          <a:latin typeface="Poppins" pitchFamily="34" charset="0"/>
                          <a:ea typeface="+mn-ea"/>
                          <a:cs typeface="Poppins" pitchFamily="34" charset="-120"/>
                        </a:rPr>
                        <a:t>Marks up question-and-answer pairs as discrete, individually addressable units.</a:t>
                      </a:r>
                    </a:p>
                    <a:p>
                      <a:endParaRPr lang="pl-PL"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931074658"/>
                  </a:ext>
                </a:extLst>
              </a:tr>
              <a:tr h="832566">
                <a:tc>
                  <a:txBody>
                    <a:bodyPr/>
                    <a:lstStyle/>
                    <a:p>
                      <a:r>
                        <a:rPr lang="pl-PL" sz="1100" b="1"/>
                        <a:t>Article</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a:ln>
                            <a:noFill/>
                          </a:ln>
                          <a:solidFill>
                            <a:schemeClr val="tx1"/>
                          </a:solidFill>
                          <a:effectLst/>
                          <a:uLnTx/>
                          <a:uFillTx/>
                          <a:latin typeface="Poppins" pitchFamily="34" charset="0"/>
                          <a:ea typeface="+mn-ea"/>
                          <a:cs typeface="Poppins" pitchFamily="34" charset="-120"/>
                        </a:rPr>
                        <a:t>Identifies editorial content, authorship, and publication/update dates.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pl-PL" sz="1100" b="1"/>
                        <a:t>HowTo</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a:ln>
                            <a:noFill/>
                          </a:ln>
                          <a:solidFill>
                            <a:schemeClr val="tx1"/>
                          </a:solidFill>
                          <a:effectLst/>
                          <a:uLnTx/>
                          <a:uFillTx/>
                          <a:latin typeface="Poppins" pitchFamily="34" charset="0"/>
                          <a:ea typeface="+mn-ea"/>
                          <a:cs typeface="Poppins" pitchFamily="34" charset="-120"/>
                        </a:rPr>
                        <a:t>Describes a sequence of steps toward a defined outcome.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pl-PL" sz="1100" b="1"/>
                        <a:t>BreadcrumbList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a:ln>
                            <a:noFill/>
                          </a:ln>
                          <a:solidFill>
                            <a:schemeClr val="tx1"/>
                          </a:solidFill>
                          <a:effectLst/>
                          <a:uLnTx/>
                          <a:uFillTx/>
                          <a:latin typeface="Poppins" pitchFamily="34" charset="0"/>
                          <a:ea typeface="+mn-ea"/>
                          <a:cs typeface="Poppins" pitchFamily="34" charset="-120"/>
                        </a:rPr>
                        <a:t>Describes a page's position within a site's hierarchy.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2547505"/>
                  </a:ext>
                </a:extLst>
              </a:tr>
            </a:tbl>
          </a:graphicData>
        </a:graphic>
      </p:graphicFrame>
      <p:sp>
        <p:nvSpPr>
          <p:cNvPr id="9" name="Rectangle 8">
            <a:extLst>
              <a:ext uri="{FF2B5EF4-FFF2-40B4-BE49-F238E27FC236}">
                <a16:creationId xmlns:a16="http://schemas.microsoft.com/office/drawing/2014/main" id="{9069471F-39B5-3230-6181-4E7F0E8C671E}"/>
              </a:ext>
            </a:extLst>
          </p:cNvPr>
          <p:cNvSpPr/>
          <p:nvPr/>
        </p:nvSpPr>
        <p:spPr>
          <a:xfrm>
            <a:off x="6547180" y="1113856"/>
            <a:ext cx="2482520" cy="3726175"/>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b="1" i="0" u="none" strike="noStrike" kern="1200" cap="none" spc="0" normalizeH="0" baseline="0" noProof="0">
                <a:ln>
                  <a:noFill/>
                </a:ln>
                <a:solidFill>
                  <a:schemeClr val="accent5"/>
                </a:solidFill>
                <a:effectLst/>
                <a:uLnTx/>
                <a:uFillTx/>
                <a:latin typeface="Poppins"/>
                <a:ea typeface="+mn-ea"/>
                <a:cs typeface="+mn-cs"/>
              </a:rPr>
              <a:t>How does schema markup look in the code? </a:t>
            </a:r>
            <a:r>
              <a:rPr lang="pl-PL" sz="1000" b="1">
                <a:solidFill>
                  <a:schemeClr val="accent5"/>
                </a:solidFill>
                <a:latin typeface="Poppins"/>
              </a:rPr>
              <a:t>Example of Product schema markup:</a:t>
            </a:r>
            <a:endParaRPr kumimoji="0" lang="en-US" sz="1000" b="1" i="0" u="none" strike="noStrike" kern="1200" cap="none" spc="0" normalizeH="0" baseline="0" noProof="0">
              <a:ln>
                <a:noFill/>
              </a:ln>
              <a:solidFill>
                <a:schemeClr val="accent5"/>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&lt;script type="application/</a:t>
            </a:r>
            <a:r>
              <a:rPr kumimoji="0" lang="en-US" sz="900" b="0" i="0" u="none" strike="noStrike" kern="1200" cap="none" spc="0" normalizeH="0" baseline="0" noProof="0" err="1">
                <a:ln>
                  <a:noFill/>
                </a:ln>
                <a:solidFill>
                  <a:schemeClr val="accent5"/>
                </a:solidFill>
                <a:effectLst/>
                <a:uLnTx/>
                <a:uFillTx/>
                <a:latin typeface="Poppins"/>
                <a:ea typeface="+mn-ea"/>
                <a:cs typeface="+mn-cs"/>
              </a:rPr>
              <a:t>ld+json</a:t>
            </a:r>
            <a:r>
              <a:rPr kumimoji="0" lang="en-US" sz="900" b="0" i="0" u="none" strike="noStrike" kern="1200" cap="none" spc="0" normalizeH="0" baseline="0" noProof="0">
                <a:ln>
                  <a:noFill/>
                </a:ln>
                <a:solidFill>
                  <a:schemeClr val="accent5"/>
                </a:solidFill>
                <a:effectLst/>
                <a:uLnTx/>
                <a:uFillTx/>
                <a:latin typeface="Poppins"/>
                <a:ea typeface="+mn-ea"/>
                <a:cs typeface="+mn-cs"/>
              </a:rPr>
              <a:t>"&gt;</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"@context": "https://schema.org",</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"@type": "Product",</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"name": "</a:t>
            </a:r>
            <a:r>
              <a:rPr kumimoji="0" lang="en-US" sz="900" b="0" i="0" u="none" strike="noStrike" kern="1200" cap="none" spc="0" normalizeH="0" baseline="0" noProof="0" err="1">
                <a:ln>
                  <a:noFill/>
                </a:ln>
                <a:solidFill>
                  <a:schemeClr val="accent5"/>
                </a:solidFill>
                <a:effectLst/>
                <a:uLnTx/>
                <a:uFillTx/>
                <a:latin typeface="Poppins"/>
                <a:ea typeface="+mn-ea"/>
                <a:cs typeface="+mn-cs"/>
              </a:rPr>
              <a:t>EcoStruxure</a:t>
            </a:r>
            <a:r>
              <a:rPr kumimoji="0" lang="en-US" sz="900" b="0" i="0" u="none" strike="noStrike" kern="1200" cap="none" spc="0" normalizeH="0" baseline="0" noProof="0">
                <a:ln>
                  <a:noFill/>
                </a:ln>
                <a:solidFill>
                  <a:schemeClr val="accent5"/>
                </a:solidFill>
                <a:effectLst/>
                <a:uLnTx/>
                <a:uFillTx/>
                <a:latin typeface="Poppins"/>
                <a:ea typeface="+mn-ea"/>
                <a:cs typeface="+mn-cs"/>
              </a:rPr>
              <a:t> IT",</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"category": "Data Center Infrastructure</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Management (DCIM)",</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"brand": {</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"@type": "Organization",</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"name": "Schneider Electric"</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"description": "Cloud-based DCIM software</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for monitoring UPS, power, and cooling</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    across distributed sites."</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a:t>
            </a: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a:ln>
                  <a:noFill/>
                </a:ln>
                <a:solidFill>
                  <a:schemeClr val="accent5"/>
                </a:solidFill>
                <a:effectLst/>
                <a:uLnTx/>
                <a:uFillTx/>
                <a:latin typeface="Poppins"/>
                <a:ea typeface="+mn-ea"/>
                <a:cs typeface="+mn-cs"/>
              </a:rPr>
              <a:t>&lt;/script&gt;</a:t>
            </a:r>
            <a:endParaRPr kumimoji="0" lang="en-US" sz="1000" b="0" i="0" u="none" strike="noStrike" kern="1200" cap="none" spc="0" normalizeH="0" baseline="0" noProof="0">
              <a:ln>
                <a:noFill/>
              </a:ln>
              <a:solidFill>
                <a:schemeClr val="accent5"/>
              </a:solidFill>
              <a:effectLst/>
              <a:uLnTx/>
              <a:uFillTx/>
              <a:latin typeface="Poppins"/>
              <a:ea typeface="+mn-ea"/>
              <a:cs typeface="+mn-cs"/>
            </a:endParaRPr>
          </a:p>
        </p:txBody>
      </p:sp>
    </p:spTree>
    <p:extLst>
      <p:ext uri="{BB962C8B-B14F-4D97-AF65-F5344CB8AC3E}">
        <p14:creationId xmlns:p14="http://schemas.microsoft.com/office/powerpoint/2010/main" val="317201805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B0A89-88D3-02D6-C475-4D7D25D1D36E}"/>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76C0AC6-A9C7-FA6E-E725-1E8814E5CF6E}"/>
              </a:ext>
            </a:extLst>
          </p:cNvPr>
          <p:cNvSpPr/>
          <p:nvPr/>
        </p:nvSpPr>
        <p:spPr>
          <a:xfrm>
            <a:off x="5938838" y="2391226"/>
            <a:ext cx="2504226" cy="1673457"/>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100" b="1" i="0" u="none" strike="noStrike" kern="1200" cap="none" spc="0" normalizeH="0" baseline="0" noProof="0">
                <a:ln>
                  <a:noFill/>
                </a:ln>
                <a:solidFill>
                  <a:schemeClr val="accent5"/>
                </a:solidFill>
                <a:effectLst/>
                <a:uLnTx/>
                <a:uFillTx/>
                <a:latin typeface="Poppins"/>
                <a:ea typeface="+mn-ea"/>
                <a:cs typeface="+mn-cs"/>
              </a:rPr>
              <a:t>Why does it matter for AI and which one is recommended?</a:t>
            </a:r>
            <a:endParaRPr kumimoji="0" lang="en-US" sz="1100" b="1" i="0" u="none" strike="noStrike" kern="1200" cap="none" spc="0" normalizeH="0" baseline="0" noProof="0">
              <a:ln>
                <a:noFill/>
              </a:ln>
              <a:solidFill>
                <a:schemeClr val="accent5"/>
              </a:solidFill>
              <a:effectLst/>
              <a:uLnTx/>
              <a:uFillTx/>
              <a:latin typeface="Poppins"/>
              <a:ea typeface="+mn-ea"/>
              <a:cs typeface="+mn-cs"/>
            </a:endParaRPr>
          </a:p>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chemeClr val="accent5"/>
                </a:solidFill>
                <a:effectLst/>
                <a:uLnTx/>
                <a:uFillTx/>
                <a:latin typeface="Poppins"/>
                <a:ea typeface="+mn-ea"/>
                <a:cs typeface="+mn-cs"/>
              </a:rPr>
              <a:t>Many AI crawlers process raw HTML and do not execute JavaScript. </a:t>
            </a:r>
            <a:r>
              <a:rPr kumimoji="0" lang="en-US" sz="1000" b="1" i="0" u="none" strike="noStrike" kern="1200" cap="none" spc="0" normalizeH="0" baseline="0" noProof="0">
                <a:ln>
                  <a:noFill/>
                </a:ln>
                <a:solidFill>
                  <a:schemeClr val="accent5"/>
                </a:solidFill>
                <a:effectLst/>
                <a:uLnTx/>
                <a:uFillTx/>
                <a:latin typeface="Poppins"/>
                <a:ea typeface="+mn-ea"/>
                <a:cs typeface="+mn-cs"/>
              </a:rPr>
              <a:t>Content that is only rendered client-side may, as a result, be effectively invisible</a:t>
            </a:r>
            <a:r>
              <a:rPr kumimoji="0" lang="en-US" sz="1000" b="0" i="0" u="none" strike="noStrike" kern="1200" cap="none" spc="0" normalizeH="0" baseline="0" noProof="0">
                <a:ln>
                  <a:noFill/>
                </a:ln>
                <a:solidFill>
                  <a:schemeClr val="accent5"/>
                </a:solidFill>
                <a:effectLst/>
                <a:uLnTx/>
                <a:uFillTx/>
                <a:latin typeface="Poppins"/>
                <a:ea typeface="+mn-ea"/>
                <a:cs typeface="+mn-cs"/>
              </a:rPr>
              <a:t> to those crawlers even though it is visible to a human visitor.</a:t>
            </a:r>
          </a:p>
        </p:txBody>
      </p:sp>
      <p:sp>
        <p:nvSpPr>
          <p:cNvPr id="8" name="Shape 0">
            <a:extLst>
              <a:ext uri="{FF2B5EF4-FFF2-40B4-BE49-F238E27FC236}">
                <a16:creationId xmlns:a16="http://schemas.microsoft.com/office/drawing/2014/main" id="{91E9C813-A4E5-AAC4-8470-6F5DF5FA2E54}"/>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80AA15BD-7E3D-F6CE-565F-EE95AAD089FF}"/>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Rendering</a:t>
            </a:r>
            <a:r>
              <a:rPr lang="pl-PL" sz="2200">
                <a:solidFill>
                  <a:schemeClr val="accent5"/>
                </a:solidFill>
                <a:cs typeface="Arial"/>
              </a:rPr>
              <a:t> and</a:t>
            </a:r>
            <a:r>
              <a:rPr lang="en-US" sz="2200">
                <a:solidFill>
                  <a:schemeClr val="accent5"/>
                </a:solidFill>
                <a:cs typeface="Arial"/>
              </a:rPr>
              <a:t> Crawlability</a:t>
            </a:r>
          </a:p>
        </p:txBody>
      </p:sp>
      <p:sp>
        <p:nvSpPr>
          <p:cNvPr id="12" name="Text 2">
            <a:extLst>
              <a:ext uri="{FF2B5EF4-FFF2-40B4-BE49-F238E27FC236}">
                <a16:creationId xmlns:a16="http://schemas.microsoft.com/office/drawing/2014/main" id="{32B0974C-8598-8576-0D03-40455199781E}"/>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Server-Side Rendering or Client-Side Rendering?</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A9A7BD4B-0EE3-290A-2BAE-5EC0A6B9585D}"/>
              </a:ext>
            </a:extLst>
          </p:cNvPr>
          <p:cNvSpPr>
            <a:spLocks noGrp="1"/>
          </p:cNvSpPr>
          <p:nvPr>
            <p:ph type="ftr" sz="quarter" idx="3"/>
          </p:nvPr>
        </p:nvSpPr>
        <p:spPr>
          <a:xfrm>
            <a:off x="342900" y="4809078"/>
            <a:ext cx="1097280" cy="92333"/>
          </a:xfrm>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4CD0E8A9-0236-5D1B-F452-CA80832463C2}"/>
              </a:ext>
            </a:extLst>
          </p:cNvPr>
          <p:cNvSpPr>
            <a:spLocks noGrp="1"/>
          </p:cNvSpPr>
          <p:nvPr>
            <p:ph type="sldNum" sz="quarter" idx="4"/>
          </p:nvPr>
        </p:nvSpPr>
        <p:spPr>
          <a:xfrm>
            <a:off x="1438750" y="4809079"/>
            <a:ext cx="525690" cy="92333"/>
          </a:xfrm>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138</a:t>
            </a:fld>
            <a:endParaRPr lang="en-US">
              <a:solidFill>
                <a:srgbClr val="3DCD58"/>
              </a:solidFill>
            </a:endParaRPr>
          </a:p>
        </p:txBody>
      </p:sp>
      <p:graphicFrame>
        <p:nvGraphicFramePr>
          <p:cNvPr id="2" name="Table 1">
            <a:extLst>
              <a:ext uri="{FF2B5EF4-FFF2-40B4-BE49-F238E27FC236}">
                <a16:creationId xmlns:a16="http://schemas.microsoft.com/office/drawing/2014/main" id="{81068711-9FA3-3137-E343-04B0246A7F0A}"/>
              </a:ext>
            </a:extLst>
          </p:cNvPr>
          <p:cNvGraphicFramePr>
            <a:graphicFrameLocks noGrp="1"/>
          </p:cNvGraphicFramePr>
          <p:nvPr>
            <p:extLst>
              <p:ext uri="{D42A27DB-BD31-4B8C-83A1-F6EECF244321}">
                <p14:modId xmlns:p14="http://schemas.microsoft.com/office/powerpoint/2010/main" val="2113374162"/>
              </p:ext>
            </p:extLst>
          </p:nvPr>
        </p:nvGraphicFramePr>
        <p:xfrm>
          <a:off x="641851" y="1220724"/>
          <a:ext cx="3499935" cy="1014053"/>
        </p:xfrm>
        <a:graphic>
          <a:graphicData uri="http://schemas.openxmlformats.org/drawingml/2006/table">
            <a:tbl>
              <a:tblPr firstRow="1" bandRow="1">
                <a:tableStyleId>{5C22544A-7EE6-4342-B048-85BDC9FD1C3A}</a:tableStyleId>
              </a:tblPr>
              <a:tblGrid>
                <a:gridCol w="3499935">
                  <a:extLst>
                    <a:ext uri="{9D8B030D-6E8A-4147-A177-3AD203B41FA5}">
                      <a16:colId xmlns:a16="http://schemas.microsoft.com/office/drawing/2014/main" val="3037676781"/>
                    </a:ext>
                  </a:extLst>
                </a:gridCol>
              </a:tblGrid>
              <a:tr h="174667">
                <a:tc>
                  <a:txBody>
                    <a:bodyPr/>
                    <a:lstStyle/>
                    <a:p>
                      <a:pPr algn="ctr"/>
                      <a:r>
                        <a:rPr lang="pl-PL" sz="1200" b="1">
                          <a:solidFill>
                            <a:schemeClr val="accent5"/>
                          </a:solidFill>
                        </a:rPr>
                        <a:t>Server-Side Rendering (SSR)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739733">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The server delivers a page's full HTML content immediately, before any script executes.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7" name="Table 6">
            <a:extLst>
              <a:ext uri="{FF2B5EF4-FFF2-40B4-BE49-F238E27FC236}">
                <a16:creationId xmlns:a16="http://schemas.microsoft.com/office/drawing/2014/main" id="{09BD3AD3-731D-FC41-DC29-CF18B7D40E1E}"/>
              </a:ext>
            </a:extLst>
          </p:cNvPr>
          <p:cNvGraphicFramePr>
            <a:graphicFrameLocks noGrp="1"/>
          </p:cNvGraphicFramePr>
          <p:nvPr>
            <p:extLst>
              <p:ext uri="{D42A27DB-BD31-4B8C-83A1-F6EECF244321}">
                <p14:modId xmlns:p14="http://schemas.microsoft.com/office/powerpoint/2010/main" val="1189707257"/>
              </p:ext>
            </p:extLst>
          </p:nvPr>
        </p:nvGraphicFramePr>
        <p:xfrm>
          <a:off x="4943130" y="1224178"/>
          <a:ext cx="3499934" cy="1007143"/>
        </p:xfrm>
        <a:graphic>
          <a:graphicData uri="http://schemas.openxmlformats.org/drawingml/2006/table">
            <a:tbl>
              <a:tblPr firstRow="1" bandRow="1">
                <a:tableStyleId>{5C22544A-7EE6-4342-B048-85BDC9FD1C3A}</a:tableStyleId>
              </a:tblPr>
              <a:tblGrid>
                <a:gridCol w="3499934">
                  <a:extLst>
                    <a:ext uri="{9D8B030D-6E8A-4147-A177-3AD203B41FA5}">
                      <a16:colId xmlns:a16="http://schemas.microsoft.com/office/drawing/2014/main" val="3037676781"/>
                    </a:ext>
                  </a:extLst>
                </a:gridCol>
              </a:tblGrid>
              <a:tr h="181577">
                <a:tc>
                  <a:txBody>
                    <a:bodyPr/>
                    <a:lstStyle/>
                    <a:p>
                      <a:pPr algn="ctr"/>
                      <a:r>
                        <a:rPr lang="pl-PL" sz="1200" b="1">
                          <a:solidFill>
                            <a:schemeClr val="accent5"/>
                          </a:solidFill>
                        </a:rPr>
                        <a:t>Client-Side Rendering (CSR)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732823">
                <a:tc>
                  <a:txBody>
                    <a:bodyPr/>
                    <a:lstStyle/>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Content is assembled in the browser via JavaScript after the initial page load, rather than being present in the raw HTML.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pSp>
        <p:nvGrpSpPr>
          <p:cNvPr id="13" name="Group 12">
            <a:extLst>
              <a:ext uri="{FF2B5EF4-FFF2-40B4-BE49-F238E27FC236}">
                <a16:creationId xmlns:a16="http://schemas.microsoft.com/office/drawing/2014/main" id="{DF5A463A-A6FC-BEF7-55E7-3AB6597F0C3D}"/>
              </a:ext>
            </a:extLst>
          </p:cNvPr>
          <p:cNvGrpSpPr/>
          <p:nvPr/>
        </p:nvGrpSpPr>
        <p:grpSpPr>
          <a:xfrm>
            <a:off x="3449273" y="2391226"/>
            <a:ext cx="2275166" cy="1673457"/>
            <a:chOff x="4543534" y="381351"/>
            <a:chExt cx="3834926" cy="3201126"/>
          </a:xfrm>
        </p:grpSpPr>
        <p:pic>
          <p:nvPicPr>
            <p:cNvPr id="14" name="Picture 13">
              <a:extLst>
                <a:ext uri="{FF2B5EF4-FFF2-40B4-BE49-F238E27FC236}">
                  <a16:creationId xmlns:a16="http://schemas.microsoft.com/office/drawing/2014/main" id="{5DA7D9F5-7632-0701-1BD2-FC3AD72D6222}"/>
                </a:ext>
              </a:extLst>
            </p:cNvPr>
            <p:cNvPicPr>
              <a:picLocks noChangeAspect="1"/>
            </p:cNvPicPr>
            <p:nvPr/>
          </p:nvPicPr>
          <p:blipFill>
            <a:blip r:embed="rId2"/>
            <a:stretch>
              <a:fillRect/>
            </a:stretch>
          </p:blipFill>
          <p:spPr>
            <a:xfrm>
              <a:off x="4543536" y="884935"/>
              <a:ext cx="3834924" cy="2697542"/>
            </a:xfrm>
            <a:prstGeom prst="rect">
              <a:avLst/>
            </a:prstGeom>
            <a:ln>
              <a:solidFill>
                <a:schemeClr val="tx1"/>
              </a:solidFill>
            </a:ln>
          </p:spPr>
        </p:pic>
        <p:sp>
          <p:nvSpPr>
            <p:cNvPr id="15" name="Rectangle 14">
              <a:extLst>
                <a:ext uri="{FF2B5EF4-FFF2-40B4-BE49-F238E27FC236}">
                  <a16:creationId xmlns:a16="http://schemas.microsoft.com/office/drawing/2014/main" id="{7F26BEFF-30D0-853E-E143-6F09B368B96C}"/>
                </a:ext>
              </a:extLst>
            </p:cNvPr>
            <p:cNvSpPr/>
            <p:nvPr/>
          </p:nvSpPr>
          <p:spPr>
            <a:xfrm>
              <a:off x="4543534" y="381351"/>
              <a:ext cx="3834926" cy="619487"/>
            </a:xfrm>
            <a:prstGeom prst="rect">
              <a:avLst/>
            </a:prstGeom>
            <a:solidFill>
              <a:schemeClr val="tx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r>
                <a:rPr lang="en-US" sz="1000" b="1">
                  <a:solidFill>
                    <a:schemeClr val="accent5"/>
                  </a:solidFill>
                </a:rPr>
                <a:t>Machine – AI Bots</a:t>
              </a:r>
              <a:r>
                <a:rPr lang="pl-PL" sz="1000" b="1">
                  <a:solidFill>
                    <a:schemeClr val="accent5"/>
                  </a:solidFill>
                </a:rPr>
                <a:t> (e.g. ChatGPT can’t read Java</a:t>
              </a:r>
              <a:r>
                <a:rPr lang="en-US" sz="1000" b="1">
                  <a:solidFill>
                    <a:schemeClr val="accent5"/>
                  </a:solidFill>
                </a:rPr>
                <a:t>S</a:t>
              </a:r>
              <a:r>
                <a:rPr lang="pl-PL" sz="1000" b="1">
                  <a:solidFill>
                    <a:schemeClr val="accent5"/>
                  </a:solidFill>
                </a:rPr>
                <a:t>cript)</a:t>
              </a:r>
              <a:endParaRPr lang="en-US" sz="1000" b="1">
                <a:solidFill>
                  <a:schemeClr val="accent5"/>
                </a:solidFill>
              </a:endParaRPr>
            </a:p>
          </p:txBody>
        </p:sp>
      </p:grpSp>
      <p:pic>
        <p:nvPicPr>
          <p:cNvPr id="16" name="Picture 15">
            <a:extLst>
              <a:ext uri="{FF2B5EF4-FFF2-40B4-BE49-F238E27FC236}">
                <a16:creationId xmlns:a16="http://schemas.microsoft.com/office/drawing/2014/main" id="{24C9115E-B81D-F5F8-5FB3-7DD02D258ABE}"/>
              </a:ext>
            </a:extLst>
          </p:cNvPr>
          <p:cNvPicPr>
            <a:picLocks noChangeAspect="1"/>
          </p:cNvPicPr>
          <p:nvPr/>
        </p:nvPicPr>
        <p:blipFill>
          <a:blip r:embed="rId3"/>
          <a:stretch>
            <a:fillRect/>
          </a:stretch>
        </p:blipFill>
        <p:spPr>
          <a:xfrm>
            <a:off x="641852" y="2535313"/>
            <a:ext cx="2385243" cy="1499685"/>
          </a:xfrm>
          <a:prstGeom prst="rect">
            <a:avLst/>
          </a:prstGeom>
          <a:ln>
            <a:solidFill>
              <a:schemeClr val="tx1"/>
            </a:solidFill>
          </a:ln>
        </p:spPr>
      </p:pic>
      <p:sp>
        <p:nvSpPr>
          <p:cNvPr id="10" name="Rectangle 9">
            <a:extLst>
              <a:ext uri="{FF2B5EF4-FFF2-40B4-BE49-F238E27FC236}">
                <a16:creationId xmlns:a16="http://schemas.microsoft.com/office/drawing/2014/main" id="{C226D912-818E-BE97-8099-E2386E742260}"/>
              </a:ext>
            </a:extLst>
          </p:cNvPr>
          <p:cNvSpPr/>
          <p:nvPr/>
        </p:nvSpPr>
        <p:spPr>
          <a:xfrm>
            <a:off x="642350" y="2391225"/>
            <a:ext cx="2384745" cy="323851"/>
          </a:xfrm>
          <a:prstGeom prst="rect">
            <a:avLst/>
          </a:prstGeom>
          <a:solidFill>
            <a:schemeClr val="tx1"/>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US" sz="1000" b="1">
                <a:solidFill>
                  <a:schemeClr val="accent5"/>
                </a:solidFill>
              </a:rPr>
              <a:t>Human - User View - CSR</a:t>
            </a:r>
          </a:p>
        </p:txBody>
      </p:sp>
      <p:sp>
        <p:nvSpPr>
          <p:cNvPr id="17" name="Rectangle 16">
            <a:extLst>
              <a:ext uri="{FF2B5EF4-FFF2-40B4-BE49-F238E27FC236}">
                <a16:creationId xmlns:a16="http://schemas.microsoft.com/office/drawing/2014/main" id="{206888B0-9965-8B93-04FC-75BAE4601B6C}"/>
              </a:ext>
            </a:extLst>
          </p:cNvPr>
          <p:cNvSpPr/>
          <p:nvPr/>
        </p:nvSpPr>
        <p:spPr>
          <a:xfrm>
            <a:off x="641851" y="4194288"/>
            <a:ext cx="7801213" cy="409860"/>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pl-PL" sz="1000" i="0" u="none" strike="noStrike" kern="1200" cap="none" spc="0" normalizeH="0" baseline="0" noProof="0">
                <a:ln>
                  <a:noFill/>
                </a:ln>
                <a:solidFill>
                  <a:schemeClr val="tx1"/>
                </a:solidFill>
                <a:effectLst/>
                <a:uLnTx/>
                <a:uFillTx/>
                <a:latin typeface="Poppins"/>
                <a:ea typeface="+mn-ea"/>
                <a:cs typeface="+mn-cs"/>
              </a:rPr>
              <a:t>In Schneider Electric there is ongoing project to move all out pages to SSR to enhance the visibility level. </a:t>
            </a:r>
            <a:r>
              <a:rPr lang="pl-PL" sz="1000">
                <a:solidFill>
                  <a:schemeClr val="tx1"/>
                </a:solidFill>
                <a:latin typeface="Poppins"/>
              </a:rPr>
              <a:t>Project is planned to be fully delivered by Februray 2027.</a:t>
            </a:r>
            <a:endParaRPr kumimoji="0" lang="en-US" sz="1000" i="0" u="none" strike="noStrike" kern="1200" cap="none" spc="0" normalizeH="0" baseline="0" noProof="0">
              <a:ln>
                <a:noFill/>
              </a:ln>
              <a:solidFill>
                <a:schemeClr val="tx1"/>
              </a:solidFill>
              <a:effectLst/>
              <a:uLnTx/>
              <a:uFillTx/>
              <a:latin typeface="Poppins"/>
              <a:ea typeface="+mn-ea"/>
              <a:cs typeface="+mn-cs"/>
            </a:endParaRPr>
          </a:p>
        </p:txBody>
      </p:sp>
    </p:spTree>
    <p:extLst>
      <p:ext uri="{BB962C8B-B14F-4D97-AF65-F5344CB8AC3E}">
        <p14:creationId xmlns:p14="http://schemas.microsoft.com/office/powerpoint/2010/main" val="2484563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F479-5676-EAF4-FB15-C9F8E7F88A52}"/>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8AD62DC-61E9-A7B3-4C95-E4405000BA7C}"/>
              </a:ext>
            </a:extLst>
          </p:cNvPr>
          <p:cNvSpPr/>
          <p:nvPr/>
        </p:nvSpPr>
        <p:spPr>
          <a:xfrm>
            <a:off x="687514" y="3913488"/>
            <a:ext cx="7769199" cy="546100"/>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accent5"/>
                </a:solidFill>
                <a:effectLst/>
                <a:uLnTx/>
                <a:uFillTx/>
                <a:latin typeface="Poppins"/>
                <a:ea typeface="+mn-ea"/>
                <a:cs typeface="+mn-cs"/>
              </a:rPr>
              <a:t>Consistent entity identification helps AI systems correctly disambiguate a brand and connect information about it that is spread across many sources.</a:t>
            </a:r>
            <a:r>
              <a:rPr kumimoji="0" lang="pl-PL" sz="1000" i="0" u="none" strike="noStrike" kern="1200" cap="none" spc="0" normalizeH="0" baseline="0" noProof="0">
                <a:ln>
                  <a:noFill/>
                </a:ln>
                <a:solidFill>
                  <a:schemeClr val="accent5"/>
                </a:solidFill>
                <a:effectLst/>
                <a:uLnTx/>
                <a:uFillTx/>
                <a:latin typeface="Poppins"/>
                <a:ea typeface="+mn-ea"/>
                <a:cs typeface="+mn-cs"/>
              </a:rPr>
              <a:t> For international company like Schneider Electric having with multiple web channels, it is very important to present ourselves as one entity, building up our domain authority and AI credability.</a:t>
            </a:r>
            <a:endParaRPr kumimoji="0" lang="en-US" sz="1000" i="0" u="none" strike="noStrike" kern="1200" cap="none" spc="0" normalizeH="0" baseline="0" noProof="0">
              <a:ln>
                <a:noFill/>
              </a:ln>
              <a:solidFill>
                <a:schemeClr val="accent5"/>
              </a:solidFill>
              <a:effectLst/>
              <a:uLnTx/>
              <a:uFillTx/>
              <a:latin typeface="Poppins"/>
              <a:ea typeface="+mn-ea"/>
              <a:cs typeface="+mn-cs"/>
            </a:endParaRPr>
          </a:p>
        </p:txBody>
      </p:sp>
      <p:sp>
        <p:nvSpPr>
          <p:cNvPr id="8" name="Shape 0">
            <a:extLst>
              <a:ext uri="{FF2B5EF4-FFF2-40B4-BE49-F238E27FC236}">
                <a16:creationId xmlns:a16="http://schemas.microsoft.com/office/drawing/2014/main" id="{2FC0C8E5-959E-4D85-25AA-A95AACCD3A05}"/>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8E215DE8-A683-CB3B-19A9-55DDEB91E439}"/>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Entity </a:t>
            </a:r>
            <a:r>
              <a:rPr lang="pl-PL" sz="2200">
                <a:solidFill>
                  <a:schemeClr val="accent5"/>
                </a:solidFill>
                <a:cs typeface="Arial"/>
              </a:rPr>
              <a:t>and</a:t>
            </a:r>
            <a:r>
              <a:rPr lang="en-US" sz="2200">
                <a:solidFill>
                  <a:schemeClr val="accent5"/>
                </a:solidFill>
                <a:cs typeface="Arial"/>
              </a:rPr>
              <a:t> Knowledge Graph Alignment</a:t>
            </a:r>
          </a:p>
        </p:txBody>
      </p:sp>
      <p:sp>
        <p:nvSpPr>
          <p:cNvPr id="12" name="Text 2">
            <a:extLst>
              <a:ext uri="{FF2B5EF4-FFF2-40B4-BE49-F238E27FC236}">
                <a16:creationId xmlns:a16="http://schemas.microsoft.com/office/drawing/2014/main" id="{8FB602C2-C508-75AD-BF9B-E314AF6428A7}"/>
              </a:ext>
            </a:extLst>
          </p:cNvPr>
          <p:cNvSpPr/>
          <p:nvPr/>
        </p:nvSpPr>
        <p:spPr>
          <a:xfrm>
            <a:off x="342900" y="589788"/>
            <a:ext cx="7886700" cy="274320"/>
          </a:xfrm>
          <a:prstGeom prst="rect">
            <a:avLst/>
          </a:prstGeom>
          <a:noFill/>
          <a:ln/>
        </p:spPr>
        <p:txBody>
          <a:bodyPr wrap="square" lIns="0" tIns="0" rIns="0" bIns="0" rtlCol="0" anchor="ctr"/>
          <a:lstStyle/>
          <a:p>
            <a:r>
              <a:rPr lang="pl-PL" sz="1100">
                <a:solidFill>
                  <a:schemeClr val="accent5"/>
                </a:solidFill>
                <a:cs typeface="Arial"/>
              </a:rPr>
              <a:t>Sowing AI the structure of the website and everything that relates to it.</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39B51E55-B1F6-CEBA-5603-FBE9E2CA0077}"/>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A7DDBF4F-9AFE-6DBE-9708-F86B9F5E8168}"/>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139</a:t>
            </a:fld>
            <a:endParaRPr lang="en-US">
              <a:solidFill>
                <a:srgbClr val="3DCD58"/>
              </a:solidFill>
            </a:endParaRPr>
          </a:p>
        </p:txBody>
      </p:sp>
      <p:graphicFrame>
        <p:nvGraphicFramePr>
          <p:cNvPr id="3" name="Table 2">
            <a:extLst>
              <a:ext uri="{FF2B5EF4-FFF2-40B4-BE49-F238E27FC236}">
                <a16:creationId xmlns:a16="http://schemas.microsoft.com/office/drawing/2014/main" id="{4FA6AF4F-BA35-2E1A-0E41-3FD760F2411A}"/>
              </a:ext>
            </a:extLst>
          </p:cNvPr>
          <p:cNvGraphicFramePr>
            <a:graphicFrameLocks noGrp="1"/>
          </p:cNvGraphicFramePr>
          <p:nvPr>
            <p:extLst>
              <p:ext uri="{D42A27DB-BD31-4B8C-83A1-F6EECF244321}">
                <p14:modId xmlns:p14="http://schemas.microsoft.com/office/powerpoint/2010/main" val="4134493049"/>
              </p:ext>
            </p:extLst>
          </p:nvPr>
        </p:nvGraphicFramePr>
        <p:xfrm>
          <a:off x="687400" y="2025009"/>
          <a:ext cx="7769199" cy="1734574"/>
        </p:xfrm>
        <a:graphic>
          <a:graphicData uri="http://schemas.openxmlformats.org/drawingml/2006/table">
            <a:tbl>
              <a:tblPr firstRow="1" bandRow="1">
                <a:tableStyleId>{5C22544A-7EE6-4342-B048-85BDC9FD1C3A}</a:tableStyleId>
              </a:tblPr>
              <a:tblGrid>
                <a:gridCol w="2589733">
                  <a:extLst>
                    <a:ext uri="{9D8B030D-6E8A-4147-A177-3AD203B41FA5}">
                      <a16:colId xmlns:a16="http://schemas.microsoft.com/office/drawing/2014/main" val="3037676781"/>
                    </a:ext>
                  </a:extLst>
                </a:gridCol>
                <a:gridCol w="2589733">
                  <a:extLst>
                    <a:ext uri="{9D8B030D-6E8A-4147-A177-3AD203B41FA5}">
                      <a16:colId xmlns:a16="http://schemas.microsoft.com/office/drawing/2014/main" val="1705003577"/>
                    </a:ext>
                  </a:extLst>
                </a:gridCol>
                <a:gridCol w="2589733">
                  <a:extLst>
                    <a:ext uri="{9D8B030D-6E8A-4147-A177-3AD203B41FA5}">
                      <a16:colId xmlns:a16="http://schemas.microsoft.com/office/drawing/2014/main" val="22386686"/>
                    </a:ext>
                  </a:extLst>
                </a:gridCol>
              </a:tblGrid>
              <a:tr h="275824">
                <a:tc gridSpan="3">
                  <a:txBody>
                    <a:bodyPr/>
                    <a:lstStyle/>
                    <a:p>
                      <a:pPr algn="ctr"/>
                      <a:r>
                        <a:rPr lang="pl-PL" sz="1200" b="1">
                          <a:solidFill>
                            <a:schemeClr val="accent5"/>
                          </a:solidFill>
                        </a:rPr>
                        <a:t>Mechanism for entity identification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pPr algn="ctr"/>
                      <a:endParaRPr lang="pl-PL" sz="1200">
                        <a:solidFill>
                          <a:schemeClr val="accent5"/>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458750">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Naming consistency</a:t>
                      </a: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Using the same name, spelling, and description for an entity across a site and its external profiles, reducing ambiguity when systems attempt to match records.</a:t>
                      </a:r>
                      <a:endParaRPr lang="pl-PL"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indent="0">
                        <a:spcBef>
                          <a:spcPts val="0"/>
                        </a:spcBef>
                        <a:spcAft>
                          <a:spcPts val="0"/>
                        </a:spcAft>
                        <a:buClr>
                          <a:srgbClr val="3DCD58"/>
                        </a:buClr>
                        <a:buFont typeface="Wingdings" panose="05000000000000000000" pitchFamily="2" charset="2"/>
                        <a:buNone/>
                        <a:defRPr/>
                      </a:pPr>
                      <a:r>
                        <a:rPr lang="en-US" sz="1000" b="1">
                          <a:solidFill>
                            <a:schemeClr val="tx1"/>
                          </a:solidFill>
                        </a:rPr>
                        <a:t>Knowledge base presence</a:t>
                      </a: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Association with established reference sources such as </a:t>
                      </a:r>
                      <a:r>
                        <a:rPr lang="en-US" sz="1000" b="0" err="1">
                          <a:solidFill>
                            <a:schemeClr val="tx1"/>
                          </a:solidFill>
                        </a:rPr>
                        <a:t>Wikidata</a:t>
                      </a:r>
                      <a:r>
                        <a:rPr lang="en-US" sz="1000" b="0">
                          <a:solidFill>
                            <a:schemeClr val="tx1"/>
                          </a:solidFill>
                        </a:rPr>
                        <a:t> or Wikipedia, which many AI systems draw on when resolving what an entity 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indent="0">
                        <a:spcBef>
                          <a:spcPts val="0"/>
                        </a:spcBef>
                        <a:spcAft>
                          <a:spcPts val="0"/>
                        </a:spcAft>
                        <a:buClr>
                          <a:srgbClr val="3DCD58"/>
                        </a:buClr>
                        <a:buFont typeface="Wingdings" panose="05000000000000000000" pitchFamily="2" charset="2"/>
                        <a:buNone/>
                        <a:defRPr/>
                      </a:pPr>
                      <a:r>
                        <a:rPr lang="en-US" sz="1000" b="1" err="1">
                          <a:solidFill>
                            <a:schemeClr val="tx1"/>
                          </a:solidFill>
                        </a:rPr>
                        <a:t>sameAs</a:t>
                      </a:r>
                      <a:r>
                        <a:rPr lang="en-US" sz="1000" b="1">
                          <a:solidFill>
                            <a:schemeClr val="tx1"/>
                          </a:solidFill>
                        </a:rPr>
                        <a:t> links</a:t>
                      </a:r>
                    </a:p>
                    <a:p>
                      <a:pPr marL="0" indent="0">
                        <a:spcBef>
                          <a:spcPts val="0"/>
                        </a:spcBef>
                        <a:spcAft>
                          <a:spcPts val="0"/>
                        </a:spcAft>
                        <a:buClr>
                          <a:srgbClr val="3DCD58"/>
                        </a:buClr>
                        <a:buFont typeface="Wingdings" panose="05000000000000000000" pitchFamily="2" charset="2"/>
                        <a:buNone/>
                        <a:defRPr/>
                      </a:pPr>
                      <a:endParaRPr lang="pl-PL" sz="1000" b="0">
                        <a:solidFill>
                          <a:schemeClr val="tx1"/>
                        </a:solidFill>
                      </a:endParaRPr>
                    </a:p>
                    <a:p>
                      <a:pPr marL="0" indent="0">
                        <a:spcBef>
                          <a:spcPts val="0"/>
                        </a:spcBef>
                        <a:spcAft>
                          <a:spcPts val="0"/>
                        </a:spcAft>
                        <a:buClr>
                          <a:srgbClr val="3DCD58"/>
                        </a:buClr>
                        <a:buFont typeface="Wingdings" panose="05000000000000000000" pitchFamily="2" charset="2"/>
                        <a:buNone/>
                        <a:defRPr/>
                      </a:pPr>
                      <a:r>
                        <a:rPr lang="en-US" sz="1000" b="0">
                          <a:solidFill>
                            <a:schemeClr val="tx1"/>
                          </a:solidFill>
                        </a:rPr>
                        <a:t>A structured-data property connecting a page to authoritative external profiles of the same entity — for instance, official social profiles or a </a:t>
                      </a:r>
                      <a:r>
                        <a:rPr lang="en-US" sz="1000" b="0" err="1">
                          <a:solidFill>
                            <a:schemeClr val="tx1"/>
                          </a:solidFill>
                        </a:rPr>
                        <a:t>Wikidata</a:t>
                      </a:r>
                      <a:r>
                        <a:rPr lang="en-US" sz="1000" b="0">
                          <a:solidFill>
                            <a:schemeClr val="tx1"/>
                          </a:solidFill>
                        </a:rPr>
                        <a:t> record.</a:t>
                      </a:r>
                    </a:p>
                    <a:p>
                      <a:pPr marL="0" indent="0">
                        <a:spcBef>
                          <a:spcPts val="0"/>
                        </a:spcBef>
                        <a:spcAft>
                          <a:spcPts val="0"/>
                        </a:spcAft>
                        <a:buClr>
                          <a:srgbClr val="3DCD58"/>
                        </a:buClr>
                        <a:buFont typeface="Wingdings" panose="05000000000000000000" pitchFamily="2" charset="2"/>
                        <a:buNone/>
                        <a:defRPr/>
                      </a:pPr>
                      <a:endParaRPr lang="en-US" sz="10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2" name="Rectangle 1">
            <a:extLst>
              <a:ext uri="{FF2B5EF4-FFF2-40B4-BE49-F238E27FC236}">
                <a16:creationId xmlns:a16="http://schemas.microsoft.com/office/drawing/2014/main" id="{44BC6914-E8EC-6E7B-BD6C-11ED9E4E223A}"/>
              </a:ext>
            </a:extLst>
          </p:cNvPr>
          <p:cNvSpPr/>
          <p:nvPr/>
        </p:nvSpPr>
        <p:spPr>
          <a:xfrm>
            <a:off x="687400" y="1440891"/>
            <a:ext cx="7769199" cy="430214"/>
          </a:xfrm>
          <a:prstGeom prst="rect">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kumimoji="0" lang="en-US" sz="1000" i="0" u="none" strike="noStrike" kern="1200" cap="none" spc="0" normalizeH="0" baseline="0" noProof="0">
                <a:ln>
                  <a:noFill/>
                </a:ln>
                <a:solidFill>
                  <a:schemeClr val="tx1"/>
                </a:solidFill>
                <a:effectLst/>
                <a:uLnTx/>
                <a:uFillTx/>
                <a:latin typeface="Poppins"/>
                <a:ea typeface="+mn-ea"/>
                <a:cs typeface="+mn-cs"/>
              </a:rPr>
              <a:t>An </a:t>
            </a:r>
            <a:r>
              <a:rPr kumimoji="0" lang="en-US" sz="1000" b="1" i="0" u="none" strike="noStrike" kern="1200" cap="none" spc="0" normalizeH="0" baseline="0" noProof="0">
                <a:ln>
                  <a:noFill/>
                </a:ln>
                <a:solidFill>
                  <a:schemeClr val="tx1"/>
                </a:solidFill>
                <a:effectLst/>
                <a:uLnTx/>
                <a:uFillTx/>
                <a:latin typeface="Poppins"/>
                <a:ea typeface="+mn-ea"/>
                <a:cs typeface="+mn-cs"/>
              </a:rPr>
              <a:t>entity </a:t>
            </a:r>
            <a:r>
              <a:rPr kumimoji="0" lang="en-US" sz="1000" i="0" u="none" strike="noStrike" kern="1200" cap="none" spc="0" normalizeH="0" baseline="0" noProof="0">
                <a:ln>
                  <a:noFill/>
                </a:ln>
                <a:solidFill>
                  <a:schemeClr val="tx1"/>
                </a:solidFill>
                <a:effectLst/>
                <a:uLnTx/>
                <a:uFillTx/>
                <a:latin typeface="Poppins"/>
                <a:ea typeface="+mn-ea"/>
                <a:cs typeface="+mn-cs"/>
              </a:rPr>
              <a:t>is a distinct real-world thing — an organization, a product, a person — that AI systems build an internal representation of, drawing on multiple sources across the web rather than any single page.</a:t>
            </a:r>
          </a:p>
        </p:txBody>
      </p:sp>
    </p:spTree>
    <p:extLst>
      <p:ext uri="{BB962C8B-B14F-4D97-AF65-F5344CB8AC3E}">
        <p14:creationId xmlns:p14="http://schemas.microsoft.com/office/powerpoint/2010/main" val="39091160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6BFE4-8A90-E394-1545-5F03F7F0BE84}"/>
            </a:ext>
          </a:extLst>
        </p:cNvPr>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56220D2-94B6-C775-8549-C75EA19BBE3B}"/>
              </a:ext>
            </a:extLst>
          </p:cNvPr>
          <p:cNvGraphicFramePr>
            <a:graphicFrameLocks noGrp="1"/>
          </p:cNvGraphicFramePr>
          <p:nvPr>
            <p:extLst>
              <p:ext uri="{D42A27DB-BD31-4B8C-83A1-F6EECF244321}">
                <p14:modId xmlns:p14="http://schemas.microsoft.com/office/powerpoint/2010/main" val="3333153116"/>
              </p:ext>
            </p:extLst>
          </p:nvPr>
        </p:nvGraphicFramePr>
        <p:xfrm>
          <a:off x="3265538" y="1220724"/>
          <a:ext cx="2612924" cy="1280160"/>
        </p:xfrm>
        <a:graphic>
          <a:graphicData uri="http://schemas.openxmlformats.org/drawingml/2006/table">
            <a:tbl>
              <a:tblPr firstRow="1" bandRow="1">
                <a:tableStyleId>{5C22544A-7EE6-4342-B048-85BDC9FD1C3A}</a:tableStyleId>
              </a:tblPr>
              <a:tblGrid>
                <a:gridCol w="2612924">
                  <a:extLst>
                    <a:ext uri="{9D8B030D-6E8A-4147-A177-3AD203B41FA5}">
                      <a16:colId xmlns:a16="http://schemas.microsoft.com/office/drawing/2014/main" val="3037676781"/>
                    </a:ext>
                  </a:extLst>
                </a:gridCol>
              </a:tblGrid>
              <a:tr h="282501">
                <a:tc>
                  <a:txBody>
                    <a:bodyPr/>
                    <a:lstStyle/>
                    <a:p>
                      <a:pPr algn="ctr"/>
                      <a:r>
                        <a:rPr lang="pl-PL" sz="1200" b="1">
                          <a:solidFill>
                            <a:schemeClr val="accent5"/>
                          </a:solidFill>
                        </a:rPr>
                        <a:t>XML Sitemaps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997659">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A machine-readable index listing a site's URLs, used by crawlers as a starting point for discovering content.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8" name="Shape 0">
            <a:extLst>
              <a:ext uri="{FF2B5EF4-FFF2-40B4-BE49-F238E27FC236}">
                <a16:creationId xmlns:a16="http://schemas.microsoft.com/office/drawing/2014/main" id="{D8CF2DEA-2721-7E7C-8A0C-44F86C63F158}"/>
              </a:ext>
            </a:extLst>
          </p:cNvPr>
          <p:cNvSpPr/>
          <p:nvPr/>
        </p:nvSpPr>
        <p:spPr>
          <a:xfrm>
            <a:off x="1" y="0"/>
            <a:ext cx="9143771" cy="1028700"/>
          </a:xfrm>
          <a:prstGeom prst="rect">
            <a:avLst/>
          </a:prstGeom>
          <a:solidFill>
            <a:schemeClr val="tx1"/>
          </a:solidFill>
          <a:ln/>
        </p:spPr>
        <p:txBody>
          <a:bodyPr/>
          <a:lstStyle/>
          <a:p>
            <a:endParaRPr lang="pl-PL"/>
          </a:p>
        </p:txBody>
      </p:sp>
      <p:sp>
        <p:nvSpPr>
          <p:cNvPr id="11" name="Text 1">
            <a:extLst>
              <a:ext uri="{FF2B5EF4-FFF2-40B4-BE49-F238E27FC236}">
                <a16:creationId xmlns:a16="http://schemas.microsoft.com/office/drawing/2014/main" id="{6F4BC86F-8B06-3C00-AA83-5DE7C44225AA}"/>
              </a:ext>
            </a:extLst>
          </p:cNvPr>
          <p:cNvSpPr/>
          <p:nvPr/>
        </p:nvSpPr>
        <p:spPr>
          <a:xfrm>
            <a:off x="342900" y="192024"/>
            <a:ext cx="7886700" cy="377190"/>
          </a:xfrm>
          <a:prstGeom prst="rect">
            <a:avLst/>
          </a:prstGeom>
          <a:noFill/>
          <a:ln/>
        </p:spPr>
        <p:txBody>
          <a:bodyPr wrap="square" lIns="0" tIns="0" rIns="0" bIns="0" rtlCol="0" anchor="ctr"/>
          <a:lstStyle/>
          <a:p>
            <a:r>
              <a:rPr lang="en-US" sz="2200">
                <a:solidFill>
                  <a:schemeClr val="accent5"/>
                </a:solidFill>
                <a:cs typeface="Arial"/>
              </a:rPr>
              <a:t>Other Contributing Technical Signals</a:t>
            </a:r>
          </a:p>
        </p:txBody>
      </p:sp>
      <p:sp>
        <p:nvSpPr>
          <p:cNvPr id="12" name="Text 2">
            <a:extLst>
              <a:ext uri="{FF2B5EF4-FFF2-40B4-BE49-F238E27FC236}">
                <a16:creationId xmlns:a16="http://schemas.microsoft.com/office/drawing/2014/main" id="{73259285-783E-655B-B34B-7ADC3DC980CD}"/>
              </a:ext>
            </a:extLst>
          </p:cNvPr>
          <p:cNvSpPr/>
          <p:nvPr/>
        </p:nvSpPr>
        <p:spPr>
          <a:xfrm>
            <a:off x="342900" y="589788"/>
            <a:ext cx="7886700" cy="274320"/>
          </a:xfrm>
          <a:prstGeom prst="rect">
            <a:avLst/>
          </a:prstGeom>
          <a:noFill/>
          <a:ln/>
        </p:spPr>
        <p:txBody>
          <a:bodyPr wrap="square" lIns="0" tIns="0" rIns="0" bIns="0" rtlCol="0" anchor="ctr"/>
          <a:lstStyle/>
          <a:p>
            <a:r>
              <a:rPr lang="en-US" sz="1100">
                <a:solidFill>
                  <a:schemeClr val="accent5"/>
                </a:solidFill>
                <a:cs typeface="Arial"/>
              </a:rPr>
              <a:t>Additional factors commonly referenced in Technical GEO discussions</a:t>
            </a:r>
            <a:r>
              <a:rPr lang="pl-PL" sz="1100">
                <a:solidFill>
                  <a:schemeClr val="accent5"/>
                </a:solidFill>
                <a:cs typeface="Arial"/>
              </a:rPr>
              <a:t> – good to know.</a:t>
            </a:r>
            <a:endParaRPr lang="en-US" sz="1100">
              <a:solidFill>
                <a:schemeClr val="accent5"/>
              </a:solidFill>
              <a:cs typeface="Arial"/>
            </a:endParaRPr>
          </a:p>
        </p:txBody>
      </p:sp>
      <p:sp>
        <p:nvSpPr>
          <p:cNvPr id="5" name="Footer Placeholder 4">
            <a:extLst>
              <a:ext uri="{FF2B5EF4-FFF2-40B4-BE49-F238E27FC236}">
                <a16:creationId xmlns:a16="http://schemas.microsoft.com/office/drawing/2014/main" id="{CF431DC2-E8FD-5ACE-7776-241F0229B874}"/>
              </a:ext>
            </a:extLst>
          </p:cNvPr>
          <p:cNvSpPr>
            <a:spLocks noGrp="1"/>
          </p:cNvSpPr>
          <p:nvPr>
            <p:ph type="ftr" sz="quarter" idx="3"/>
          </p:nvPr>
        </p:nvSpPr>
        <p:spPr/>
        <p:txBody>
          <a:bodyPr/>
          <a:lstStyle/>
          <a:p>
            <a:pPr defTabSz="685800">
              <a:defRPr/>
            </a:pPr>
            <a:r>
              <a:rPr lang="en-US">
                <a:solidFill>
                  <a:srgbClr val="626469"/>
                </a:solidFill>
              </a:rPr>
              <a:t>Property of Schneider Electric |</a:t>
            </a:r>
          </a:p>
        </p:txBody>
      </p:sp>
      <p:sp>
        <p:nvSpPr>
          <p:cNvPr id="6" name="Slide Number Placeholder 5">
            <a:extLst>
              <a:ext uri="{FF2B5EF4-FFF2-40B4-BE49-F238E27FC236}">
                <a16:creationId xmlns:a16="http://schemas.microsoft.com/office/drawing/2014/main" id="{63DAC90E-FBE9-2C6A-858D-1200F9ECC83F}"/>
              </a:ext>
            </a:extLst>
          </p:cNvPr>
          <p:cNvSpPr>
            <a:spLocks noGrp="1"/>
          </p:cNvSpPr>
          <p:nvPr>
            <p:ph type="sldNum" sz="quarter" idx="4"/>
          </p:nvPr>
        </p:nvSpPr>
        <p:spPr/>
        <p:txBody>
          <a:bodyPr/>
          <a:lstStyle/>
          <a:p>
            <a:pPr defTabSz="685800">
              <a:defRPr/>
            </a:pPr>
            <a:r>
              <a:rPr lang="en-US">
                <a:solidFill>
                  <a:srgbClr val="3DCD58"/>
                </a:solidFill>
              </a:rPr>
              <a:t>Page </a:t>
            </a:r>
            <a:fld id="{5A9C12DC-491F-9444-86A2-13AC5C62A2FC}" type="slidenum">
              <a:rPr lang="en-US">
                <a:solidFill>
                  <a:srgbClr val="3DCD58"/>
                </a:solidFill>
              </a:rPr>
              <a:pPr defTabSz="685800">
                <a:defRPr/>
              </a:pPr>
              <a:t>140</a:t>
            </a:fld>
            <a:endParaRPr lang="en-US">
              <a:solidFill>
                <a:srgbClr val="3DCD58"/>
              </a:solidFill>
            </a:endParaRPr>
          </a:p>
        </p:txBody>
      </p:sp>
      <p:graphicFrame>
        <p:nvGraphicFramePr>
          <p:cNvPr id="2" name="Table 1">
            <a:extLst>
              <a:ext uri="{FF2B5EF4-FFF2-40B4-BE49-F238E27FC236}">
                <a16:creationId xmlns:a16="http://schemas.microsoft.com/office/drawing/2014/main" id="{0E76FA78-0C3C-1E23-6219-B4C12F22A49E}"/>
              </a:ext>
            </a:extLst>
          </p:cNvPr>
          <p:cNvGraphicFramePr>
            <a:graphicFrameLocks noGrp="1"/>
          </p:cNvGraphicFramePr>
          <p:nvPr>
            <p:extLst>
              <p:ext uri="{D42A27DB-BD31-4B8C-83A1-F6EECF244321}">
                <p14:modId xmlns:p14="http://schemas.microsoft.com/office/powerpoint/2010/main" val="3945380700"/>
              </p:ext>
            </p:extLst>
          </p:nvPr>
        </p:nvGraphicFramePr>
        <p:xfrm>
          <a:off x="342900" y="1220725"/>
          <a:ext cx="2612924" cy="1280160"/>
        </p:xfrm>
        <a:graphic>
          <a:graphicData uri="http://schemas.openxmlformats.org/drawingml/2006/table">
            <a:tbl>
              <a:tblPr firstRow="1" bandRow="1">
                <a:tableStyleId>{5C22544A-7EE6-4342-B048-85BDC9FD1C3A}</a:tableStyleId>
              </a:tblPr>
              <a:tblGrid>
                <a:gridCol w="2612924">
                  <a:extLst>
                    <a:ext uri="{9D8B030D-6E8A-4147-A177-3AD203B41FA5}">
                      <a16:colId xmlns:a16="http://schemas.microsoft.com/office/drawing/2014/main" val="3037676781"/>
                    </a:ext>
                  </a:extLst>
                </a:gridCol>
              </a:tblGrid>
              <a:tr h="260914">
                <a:tc>
                  <a:txBody>
                    <a:bodyPr/>
                    <a:lstStyle/>
                    <a:p>
                      <a:pPr algn="ctr"/>
                      <a:r>
                        <a:rPr lang="pl-PL" sz="1200" b="1">
                          <a:solidFill>
                            <a:schemeClr val="accent5"/>
                          </a:solidFill>
                        </a:rPr>
                        <a:t>Semantic HTML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37084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000" b="0" i="0" u="none" strike="noStrike" kern="1200" cap="none" spc="0" normalizeH="0" baseline="0" noProof="0">
                          <a:ln>
                            <a:noFill/>
                          </a:ln>
                          <a:solidFill>
                            <a:schemeClr val="tx1"/>
                          </a:solidFill>
                          <a:effectLst/>
                          <a:uLnTx/>
                          <a:uFillTx/>
                          <a:latin typeface="+mn-lt"/>
                          <a:ea typeface="+mn-ea"/>
                          <a:cs typeface="+mn-cs"/>
                        </a:rPr>
                        <a:t>T</a:t>
                      </a:r>
                      <a:r>
                        <a:rPr kumimoji="0" lang="en-US" sz="1000" b="0" i="0" u="none" strike="noStrike" kern="1200" cap="none" spc="0" normalizeH="0" baseline="0" noProof="0">
                          <a:ln>
                            <a:noFill/>
                          </a:ln>
                          <a:solidFill>
                            <a:schemeClr val="tx1"/>
                          </a:solidFill>
                          <a:effectLst/>
                          <a:uLnTx/>
                          <a:uFillTx/>
                          <a:latin typeface="+mn-lt"/>
                          <a:ea typeface="+mn-ea"/>
                          <a:cs typeface="+mn-cs"/>
                        </a:rPr>
                        <a:t>he use of HTML markup that clearly describes the meaning and purpose of its content to both the browser and the developer, using elements like &lt;article&gt;, &lt;nav&gt;, and &lt;header&gt; instead of generic tags.</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5" name="Table 14">
            <a:extLst>
              <a:ext uri="{FF2B5EF4-FFF2-40B4-BE49-F238E27FC236}">
                <a16:creationId xmlns:a16="http://schemas.microsoft.com/office/drawing/2014/main" id="{0EB4D6CC-E0A0-66FD-16DF-1742C2F0CF4A}"/>
              </a:ext>
            </a:extLst>
          </p:cNvPr>
          <p:cNvGraphicFramePr>
            <a:graphicFrameLocks noGrp="1"/>
          </p:cNvGraphicFramePr>
          <p:nvPr>
            <p:extLst>
              <p:ext uri="{D42A27DB-BD31-4B8C-83A1-F6EECF244321}">
                <p14:modId xmlns:p14="http://schemas.microsoft.com/office/powerpoint/2010/main" val="435344573"/>
              </p:ext>
            </p:extLst>
          </p:nvPr>
        </p:nvGraphicFramePr>
        <p:xfrm>
          <a:off x="3265538" y="2642617"/>
          <a:ext cx="2612924" cy="1280160"/>
        </p:xfrm>
        <a:graphic>
          <a:graphicData uri="http://schemas.openxmlformats.org/drawingml/2006/table">
            <a:tbl>
              <a:tblPr firstRow="1" bandRow="1">
                <a:tableStyleId>{5C22544A-7EE6-4342-B048-85BDC9FD1C3A}</a:tableStyleId>
              </a:tblPr>
              <a:tblGrid>
                <a:gridCol w="2612924">
                  <a:extLst>
                    <a:ext uri="{9D8B030D-6E8A-4147-A177-3AD203B41FA5}">
                      <a16:colId xmlns:a16="http://schemas.microsoft.com/office/drawing/2014/main" val="3037676781"/>
                    </a:ext>
                  </a:extLst>
                </a:gridCol>
              </a:tblGrid>
              <a:tr h="282092">
                <a:tc>
                  <a:txBody>
                    <a:bodyPr/>
                    <a:lstStyle/>
                    <a:p>
                      <a:pPr algn="ctr"/>
                      <a:r>
                        <a:rPr lang="pl-PL" sz="1200" b="1">
                          <a:solidFill>
                            <a:schemeClr val="accent5"/>
                          </a:solidFill>
                        </a:rPr>
                        <a:t>Page 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998068">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Loading speed and stability, which can affect how much of a site a crawler completes within its allotted time or resources</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6" name="Table 15">
            <a:extLst>
              <a:ext uri="{FF2B5EF4-FFF2-40B4-BE49-F238E27FC236}">
                <a16:creationId xmlns:a16="http://schemas.microsoft.com/office/drawing/2014/main" id="{1FA60DC4-83CF-2134-77BB-BB23A7EC4361}"/>
              </a:ext>
            </a:extLst>
          </p:cNvPr>
          <p:cNvGraphicFramePr>
            <a:graphicFrameLocks noGrp="1"/>
          </p:cNvGraphicFramePr>
          <p:nvPr>
            <p:extLst>
              <p:ext uri="{D42A27DB-BD31-4B8C-83A1-F6EECF244321}">
                <p14:modId xmlns:p14="http://schemas.microsoft.com/office/powerpoint/2010/main" val="1737062053"/>
              </p:ext>
            </p:extLst>
          </p:nvPr>
        </p:nvGraphicFramePr>
        <p:xfrm>
          <a:off x="6188176" y="1220724"/>
          <a:ext cx="2612924" cy="1280159"/>
        </p:xfrm>
        <a:graphic>
          <a:graphicData uri="http://schemas.openxmlformats.org/drawingml/2006/table">
            <a:tbl>
              <a:tblPr firstRow="1" bandRow="1">
                <a:tableStyleId>{5C22544A-7EE6-4342-B048-85BDC9FD1C3A}</a:tableStyleId>
              </a:tblPr>
              <a:tblGrid>
                <a:gridCol w="2612924">
                  <a:extLst>
                    <a:ext uri="{9D8B030D-6E8A-4147-A177-3AD203B41FA5}">
                      <a16:colId xmlns:a16="http://schemas.microsoft.com/office/drawing/2014/main" val="3037676781"/>
                    </a:ext>
                  </a:extLst>
                </a:gridCol>
              </a:tblGrid>
              <a:tr h="284029">
                <a:tc>
                  <a:txBody>
                    <a:bodyPr/>
                    <a:lstStyle/>
                    <a:p>
                      <a:pPr algn="ctr"/>
                      <a:r>
                        <a:rPr lang="pl-PL" sz="1200" b="1">
                          <a:solidFill>
                            <a:schemeClr val="accent5"/>
                          </a:solidFill>
                        </a:rPr>
                        <a:t>Canonicalization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996130">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A signal indicating which URL is the authoritative version among near-duplicate or similar pages.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17" name="Table 16">
            <a:extLst>
              <a:ext uri="{FF2B5EF4-FFF2-40B4-BE49-F238E27FC236}">
                <a16:creationId xmlns:a16="http://schemas.microsoft.com/office/drawing/2014/main" id="{61E47F6F-117D-F2FA-0380-FD48A3FEE8B3}"/>
              </a:ext>
            </a:extLst>
          </p:cNvPr>
          <p:cNvGraphicFramePr>
            <a:graphicFrameLocks noGrp="1"/>
          </p:cNvGraphicFramePr>
          <p:nvPr>
            <p:extLst>
              <p:ext uri="{D42A27DB-BD31-4B8C-83A1-F6EECF244321}">
                <p14:modId xmlns:p14="http://schemas.microsoft.com/office/powerpoint/2010/main" val="394846644"/>
              </p:ext>
            </p:extLst>
          </p:nvPr>
        </p:nvGraphicFramePr>
        <p:xfrm>
          <a:off x="342900" y="2642617"/>
          <a:ext cx="2612924" cy="1280159"/>
        </p:xfrm>
        <a:graphic>
          <a:graphicData uri="http://schemas.openxmlformats.org/drawingml/2006/table">
            <a:tbl>
              <a:tblPr firstRow="1" bandRow="1">
                <a:tableStyleId>{5C22544A-7EE6-4342-B048-85BDC9FD1C3A}</a:tableStyleId>
              </a:tblPr>
              <a:tblGrid>
                <a:gridCol w="2612924">
                  <a:extLst>
                    <a:ext uri="{9D8B030D-6E8A-4147-A177-3AD203B41FA5}">
                      <a16:colId xmlns:a16="http://schemas.microsoft.com/office/drawing/2014/main" val="3037676781"/>
                    </a:ext>
                  </a:extLst>
                </a:gridCol>
              </a:tblGrid>
              <a:tr h="286834">
                <a:tc>
                  <a:txBody>
                    <a:bodyPr/>
                    <a:lstStyle/>
                    <a:p>
                      <a:pPr algn="ctr"/>
                      <a:r>
                        <a:rPr lang="pl-PL" sz="1200" b="1">
                          <a:solidFill>
                            <a:schemeClr val="accent5"/>
                          </a:solidFill>
                        </a:rPr>
                        <a:t>Freshness Signals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993325">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Timestamps, such as a </a:t>
                      </a:r>
                      <a:r>
                        <a:rPr kumimoji="0" lang="pl-PL" sz="1000" b="0" i="0" u="none" strike="noStrike" kern="1200" cap="none" spc="0" normalizeH="0" baseline="0" noProof="0">
                          <a:ln>
                            <a:noFill/>
                          </a:ln>
                          <a:solidFill>
                            <a:schemeClr val="tx1"/>
                          </a:solidFill>
                          <a:effectLst/>
                          <a:uLnTx/>
                          <a:uFillTx/>
                          <a:latin typeface="+mn-lt"/>
                          <a:ea typeface="+mn-ea"/>
                          <a:cs typeface="+mn-cs"/>
                        </a:rPr>
                        <a:t>&lt;</a:t>
                      </a:r>
                      <a:r>
                        <a:rPr kumimoji="0" lang="en-US" sz="1000" b="0" i="0" u="none" strike="noStrike" kern="1200" cap="none" spc="0" normalizeH="0" baseline="0" noProof="0" err="1">
                          <a:ln>
                            <a:noFill/>
                          </a:ln>
                          <a:solidFill>
                            <a:schemeClr val="tx1"/>
                          </a:solidFill>
                          <a:effectLst/>
                          <a:uLnTx/>
                          <a:uFillTx/>
                          <a:latin typeface="+mn-lt"/>
                          <a:ea typeface="+mn-ea"/>
                          <a:cs typeface="+mn-cs"/>
                        </a:rPr>
                        <a:t>lastmod</a:t>
                      </a:r>
                      <a:r>
                        <a:rPr kumimoji="0" lang="pl-PL" sz="1000" b="0" i="0" u="none" strike="noStrike" kern="1200" cap="none" spc="0" normalizeH="0" baseline="0" noProof="0">
                          <a:ln>
                            <a:noFill/>
                          </a:ln>
                          <a:solidFill>
                            <a:schemeClr val="tx1"/>
                          </a:solidFill>
                          <a:effectLst/>
                          <a:uLnTx/>
                          <a:uFillTx/>
                          <a:latin typeface="+mn-lt"/>
                          <a:ea typeface="+mn-ea"/>
                          <a:cs typeface="+mn-cs"/>
                        </a:rPr>
                        <a:t>&gt;</a:t>
                      </a:r>
                      <a:r>
                        <a:rPr kumimoji="0" lang="en-US" sz="1000" b="0" i="0" u="none" strike="noStrike" kern="1200" cap="none" spc="0" normalizeH="0" baseline="0" noProof="0">
                          <a:ln>
                            <a:noFill/>
                          </a:ln>
                          <a:solidFill>
                            <a:schemeClr val="tx1"/>
                          </a:solidFill>
                          <a:effectLst/>
                          <a:uLnTx/>
                          <a:uFillTx/>
                          <a:latin typeface="+mn-lt"/>
                          <a:ea typeface="+mn-ea"/>
                          <a:cs typeface="+mn-cs"/>
                        </a:rPr>
                        <a:t> date, that indicate when content was last created or updated.</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graphicFrame>
        <p:nvGraphicFramePr>
          <p:cNvPr id="20" name="Table 19">
            <a:extLst>
              <a:ext uri="{FF2B5EF4-FFF2-40B4-BE49-F238E27FC236}">
                <a16:creationId xmlns:a16="http://schemas.microsoft.com/office/drawing/2014/main" id="{8AE53625-5F89-194A-5C07-3C6B2ECE45E4}"/>
              </a:ext>
            </a:extLst>
          </p:cNvPr>
          <p:cNvGraphicFramePr>
            <a:graphicFrameLocks noGrp="1"/>
          </p:cNvGraphicFramePr>
          <p:nvPr>
            <p:extLst>
              <p:ext uri="{D42A27DB-BD31-4B8C-83A1-F6EECF244321}">
                <p14:modId xmlns:p14="http://schemas.microsoft.com/office/powerpoint/2010/main" val="3299815714"/>
              </p:ext>
            </p:extLst>
          </p:nvPr>
        </p:nvGraphicFramePr>
        <p:xfrm>
          <a:off x="6188176" y="2642616"/>
          <a:ext cx="2612924" cy="1280159"/>
        </p:xfrm>
        <a:graphic>
          <a:graphicData uri="http://schemas.openxmlformats.org/drawingml/2006/table">
            <a:tbl>
              <a:tblPr firstRow="1" bandRow="1">
                <a:tableStyleId>{5C22544A-7EE6-4342-B048-85BDC9FD1C3A}</a:tableStyleId>
              </a:tblPr>
              <a:tblGrid>
                <a:gridCol w="2612924">
                  <a:extLst>
                    <a:ext uri="{9D8B030D-6E8A-4147-A177-3AD203B41FA5}">
                      <a16:colId xmlns:a16="http://schemas.microsoft.com/office/drawing/2014/main" val="3037676781"/>
                    </a:ext>
                  </a:extLst>
                </a:gridCol>
              </a:tblGrid>
              <a:tr h="278140">
                <a:tc>
                  <a:txBody>
                    <a:bodyPr/>
                    <a:lstStyle/>
                    <a:p>
                      <a:pPr algn="ctr"/>
                      <a:r>
                        <a:rPr lang="pl-PL" sz="1200" b="1">
                          <a:solidFill>
                            <a:schemeClr val="accent5"/>
                          </a:solidFill>
                        </a:rPr>
                        <a:t>hreflang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992716372"/>
                  </a:ext>
                </a:extLst>
              </a:tr>
              <a:tr h="1002019">
                <a:tc>
                  <a:txBody>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A signal indicating that equivalent content exists in other languages or for other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083675175"/>
                  </a:ext>
                </a:extLst>
              </a:tr>
            </a:tbl>
          </a:graphicData>
        </a:graphic>
      </p:graphicFrame>
      <p:sp>
        <p:nvSpPr>
          <p:cNvPr id="21" name="Rectangle 20">
            <a:extLst>
              <a:ext uri="{FF2B5EF4-FFF2-40B4-BE49-F238E27FC236}">
                <a16:creationId xmlns:a16="http://schemas.microsoft.com/office/drawing/2014/main" id="{0272D309-2D3F-AEC1-A941-74164C62B830}"/>
              </a:ext>
            </a:extLst>
          </p:cNvPr>
          <p:cNvSpPr/>
          <p:nvPr/>
        </p:nvSpPr>
        <p:spPr>
          <a:xfrm>
            <a:off x="342901" y="4064507"/>
            <a:ext cx="8458199" cy="565904"/>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184" rtl="0" eaLnBrk="1" fontAlgn="auto" latinLnBrk="0" hangingPunct="1">
              <a:lnSpc>
                <a:spcPct val="100000"/>
              </a:lnSpc>
              <a:spcBef>
                <a:spcPts val="0"/>
              </a:spcBef>
              <a:spcAft>
                <a:spcPts val="300"/>
              </a:spcAft>
              <a:buClrTx/>
              <a:buSzTx/>
              <a:buFontTx/>
              <a:buNone/>
              <a:tabLst/>
              <a:defRPr/>
            </a:pPr>
            <a:r>
              <a:rPr lang="pl-PL" sz="1000">
                <a:solidFill>
                  <a:schemeClr val="accent5"/>
                </a:solidFill>
                <a:latin typeface="Poppins"/>
              </a:rPr>
              <a:t>Schneider Electric Digital is working on all ofinitiatives, enhancing our performance with every realease. Many of the above (and other activities, not listed here) are not only impacting GEO, but multiple initiatives on se.com – they are beeing developed by multiple teams in the same time.</a:t>
            </a:r>
            <a:endParaRPr kumimoji="0" lang="en-US" sz="1000" i="0" u="none" strike="noStrike" kern="1200" cap="none" spc="0" normalizeH="0" baseline="0" noProof="0">
              <a:ln>
                <a:noFill/>
              </a:ln>
              <a:solidFill>
                <a:schemeClr val="accent5"/>
              </a:solidFill>
              <a:effectLst/>
              <a:uLnTx/>
              <a:uFillTx/>
              <a:latin typeface="Poppins"/>
              <a:ea typeface="+mn-ea"/>
              <a:cs typeface="+mn-cs"/>
            </a:endParaRPr>
          </a:p>
        </p:txBody>
      </p:sp>
    </p:spTree>
    <p:extLst>
      <p:ext uri="{BB962C8B-B14F-4D97-AF65-F5344CB8AC3E}">
        <p14:creationId xmlns:p14="http://schemas.microsoft.com/office/powerpoint/2010/main" val="148530055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780C7-8137-1194-435F-E41BD6B4F71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F343D31-AE64-63F5-B654-E60E76DF43C5}"/>
              </a:ext>
            </a:extLst>
          </p:cNvPr>
          <p:cNvSpPr/>
          <p:nvPr/>
        </p:nvSpPr>
        <p:spPr>
          <a:xfrm>
            <a:off x="742950" y="1820791"/>
            <a:ext cx="7659831" cy="553998"/>
          </a:xfrm>
          <a:prstGeom prst="rect">
            <a:avLst/>
          </a:prstGeom>
          <a:noFill/>
          <a:ln/>
        </p:spPr>
        <p:txBody>
          <a:bodyPr wrap="square" lIns="0" tIns="0" rIns="0" bIns="0" rtlCol="0" anchor="t">
            <a:spAutoFit/>
          </a:bodyP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a:ln>
                  <a:noFill/>
                </a:ln>
                <a:solidFill>
                  <a:srgbClr val="E7FFD9"/>
                </a:solidFill>
                <a:effectLst/>
                <a:uLnTx/>
                <a:uFillTx/>
                <a:latin typeface="Poppins"/>
                <a:ea typeface="+mn-ea"/>
                <a:cs typeface="+mn-cs"/>
              </a:rPr>
              <a:t>Glossary and Main Contacts</a:t>
            </a:r>
          </a:p>
        </p:txBody>
      </p:sp>
      <p:sp>
        <p:nvSpPr>
          <p:cNvPr id="5" name="Text 2">
            <a:extLst>
              <a:ext uri="{FF2B5EF4-FFF2-40B4-BE49-F238E27FC236}">
                <a16:creationId xmlns:a16="http://schemas.microsoft.com/office/drawing/2014/main" id="{22E2DAB1-2CBF-3ED0-B1D8-F177D516A8DD}"/>
              </a:ext>
            </a:extLst>
          </p:cNvPr>
          <p:cNvSpPr/>
          <p:nvPr/>
        </p:nvSpPr>
        <p:spPr>
          <a:xfrm>
            <a:off x="742950" y="4759523"/>
            <a:ext cx="1681551" cy="98297"/>
          </a:xfrm>
          <a:prstGeom prst="rect">
            <a:avLst/>
          </a:prstGeom>
          <a:noFill/>
          <a:ln/>
        </p:spPr>
        <p:txBody>
          <a:bodyPr wrap="none" lIns="0" tIns="0" rIns="0" bIns="0" rtlCol="0" anchor="t">
            <a:spAutoFit/>
          </a:bodyPr>
          <a:lstStyle/>
          <a:p>
            <a:pPr marL="0" marR="0" lvl="0" indent="0" algn="l" defTabSz="457184" rtl="0" eaLnBrk="1" fontAlgn="auto" latinLnBrk="0" hangingPunct="1">
              <a:lnSpc>
                <a:spcPts val="800"/>
              </a:lnSpc>
              <a:spcBef>
                <a:spcPts val="0"/>
              </a:spcBef>
              <a:spcAft>
                <a:spcPts val="0"/>
              </a:spcAft>
              <a:buClrTx/>
              <a:buSzTx/>
              <a:buFontTx/>
              <a:buNone/>
              <a:tabLst/>
              <a:defRPr/>
            </a:pPr>
            <a:r>
              <a:rPr kumimoji="0" lang="en-US" sz="621" b="0" i="0" u="none" strike="noStrike" kern="1200" cap="none" spc="0" normalizeH="0" baseline="0" noProof="0">
                <a:ln>
                  <a:noFill/>
                </a:ln>
                <a:solidFill>
                  <a:srgbClr val="E7FFD9"/>
                </a:solidFill>
                <a:effectLst/>
                <a:uLnTx/>
                <a:uFillTx/>
                <a:latin typeface="Arial" pitchFamily="34" charset="0"/>
                <a:ea typeface="Arial" pitchFamily="34" charset="-122"/>
                <a:cs typeface="Arial" pitchFamily="34" charset="-120"/>
              </a:rPr>
              <a:t>©2026 Schneider Electric. All Rights Reserved.</a:t>
            </a:r>
            <a:endParaRPr kumimoji="0" lang="en-US" sz="621" b="0" i="0" u="none" strike="noStrike" kern="1200" cap="none" spc="0" normalizeH="0" baseline="0" noProof="0">
              <a:ln>
                <a:noFill/>
              </a:ln>
              <a:solidFill>
                <a:srgbClr val="E7FFD9"/>
              </a:solidFill>
              <a:effectLst/>
              <a:uLnTx/>
              <a:uFillTx/>
              <a:latin typeface="Poppins"/>
              <a:ea typeface="+mn-ea"/>
              <a:cs typeface="+mn-cs"/>
            </a:endParaRPr>
          </a:p>
        </p:txBody>
      </p:sp>
      <p:pic>
        <p:nvPicPr>
          <p:cNvPr id="7" name="Picture 8">
            <a:extLst>
              <a:ext uri="{FF2B5EF4-FFF2-40B4-BE49-F238E27FC236}">
                <a16:creationId xmlns:a16="http://schemas.microsoft.com/office/drawing/2014/main" id="{A7BAAD7C-3F37-502A-7A85-2A6FA65049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710648" y="4683469"/>
            <a:ext cx="976154" cy="289230"/>
          </a:xfrm>
          <a:prstGeom prst="rect">
            <a:avLst/>
          </a:prstGeom>
        </p:spPr>
      </p:pic>
      <p:sp>
        <p:nvSpPr>
          <p:cNvPr id="9" name="Text Placeholder 8">
            <a:extLst>
              <a:ext uri="{FF2B5EF4-FFF2-40B4-BE49-F238E27FC236}">
                <a16:creationId xmlns:a16="http://schemas.microsoft.com/office/drawing/2014/main" id="{09058675-4F26-D5DD-8802-23F82D81B25D}"/>
              </a:ext>
            </a:extLst>
          </p:cNvPr>
          <p:cNvSpPr>
            <a:spLocks noGrp="1"/>
          </p:cNvSpPr>
          <p:nvPr>
            <p:ph type="body" sz="quarter" idx="4294967295"/>
          </p:nvPr>
        </p:nvSpPr>
        <p:spPr>
          <a:xfrm>
            <a:off x="742950" y="4108450"/>
            <a:ext cx="3371850" cy="215900"/>
          </a:xfrm>
        </p:spPr>
        <p:txBody>
          <a:bodyPr/>
          <a:lstStyle/>
          <a:p>
            <a:r>
              <a:rPr lang="pl-PL"/>
              <a:t>Jakub Falkowski</a:t>
            </a:r>
          </a:p>
        </p:txBody>
      </p:sp>
    </p:spTree>
    <p:extLst>
      <p:ext uri="{BB962C8B-B14F-4D97-AF65-F5344CB8AC3E}">
        <p14:creationId xmlns:p14="http://schemas.microsoft.com/office/powerpoint/2010/main" val="374636774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9BEF-5F48-819A-FABB-794C3A48AA7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ACE9A98-FD74-38F6-58C2-381D75938D96}"/>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A9F202FD-8823-D50D-B4D9-29359665EC55}"/>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GEO Glossary</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7DFE7D0E-5EDB-EDDE-2DB2-D46CD4486588}"/>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7" name="Shape 4">
            <a:extLst>
              <a:ext uri="{FF2B5EF4-FFF2-40B4-BE49-F238E27FC236}">
                <a16:creationId xmlns:a16="http://schemas.microsoft.com/office/drawing/2014/main" id="{1AFE072B-3547-FE83-BEB1-E302C65E5B68}"/>
              </a:ext>
            </a:extLst>
          </p:cNvPr>
          <p:cNvSpPr/>
          <p:nvPr/>
        </p:nvSpPr>
        <p:spPr>
          <a:xfrm>
            <a:off x="377189" y="1220724"/>
            <a:ext cx="2497629" cy="3332988"/>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b="1"/>
              <a:t>AEO (Answer Engine Optimization): </a:t>
            </a:r>
            <a:r>
              <a:rPr lang="en-US" sz="1000"/>
              <a:t>The practice of optimizing content to be the single, definitive answer returned by voice assistants and AI engines.</a:t>
            </a:r>
          </a:p>
          <a:p>
            <a:pPr marL="171450" indent="-171450">
              <a:buFont typeface="Arial" panose="020B0604020202020204" pitchFamily="34" charset="0"/>
              <a:buChar char="•"/>
            </a:pPr>
            <a:r>
              <a:rPr lang="en-US" sz="1000" b="1"/>
              <a:t>AI chatbot: </a:t>
            </a:r>
            <a:r>
              <a:rPr lang="en-US" sz="1000"/>
              <a:t>A conversational software application powered by artificial intelligence that interacts with users and answers queries in natural language.</a:t>
            </a:r>
          </a:p>
          <a:p>
            <a:pPr marL="171450" indent="-171450">
              <a:buFont typeface="Arial" panose="020B0604020202020204" pitchFamily="34" charset="0"/>
              <a:buChar char="•"/>
            </a:pPr>
            <a:r>
              <a:rPr lang="en-US" sz="1000" b="1"/>
              <a:t>AI crawler: </a:t>
            </a:r>
            <a:r>
              <a:rPr lang="en-US" sz="1000"/>
              <a:t>An automated bot deployed by AI companies to scan, scrape, and gather data from websites to train machine learning models.</a:t>
            </a:r>
          </a:p>
          <a:p>
            <a:pPr marL="171450" indent="-171450">
              <a:buFont typeface="Arial" panose="020B0604020202020204" pitchFamily="34" charset="0"/>
              <a:buChar char="•"/>
            </a:pPr>
            <a:r>
              <a:rPr lang="en-US" sz="1000" b="1"/>
              <a:t>AI hallucination: </a:t>
            </a:r>
            <a:r>
              <a:rPr lang="en-US" sz="1000"/>
              <a:t>A phenomenon where an AI model generates confident responses that contain false, inaccurate, or fabricated information.</a:t>
            </a:r>
          </a:p>
          <a:p>
            <a:endParaRPr lang="pl-PL" sz="1000"/>
          </a:p>
        </p:txBody>
      </p:sp>
      <p:sp>
        <p:nvSpPr>
          <p:cNvPr id="5" name="Shape 4">
            <a:extLst>
              <a:ext uri="{FF2B5EF4-FFF2-40B4-BE49-F238E27FC236}">
                <a16:creationId xmlns:a16="http://schemas.microsoft.com/office/drawing/2014/main" id="{A5A4BBB7-3611-C21D-20FD-18DEE0027FD4}"/>
              </a:ext>
            </a:extLst>
          </p:cNvPr>
          <p:cNvSpPr/>
          <p:nvPr/>
        </p:nvSpPr>
        <p:spPr>
          <a:xfrm>
            <a:off x="3246986" y="1220724"/>
            <a:ext cx="2497629" cy="3332988"/>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b="1"/>
              <a:t>AI Model: </a:t>
            </a:r>
            <a:r>
              <a:rPr lang="en-US" sz="1000"/>
              <a:t>Any mathematical algorithm trained on data to recognize patterns, make predictions, or generate content.</a:t>
            </a:r>
          </a:p>
          <a:p>
            <a:pPr marL="171450" indent="-171450">
              <a:buFont typeface="Arial" panose="020B0604020202020204" pitchFamily="34" charset="0"/>
              <a:buChar char="•"/>
            </a:pPr>
            <a:r>
              <a:rPr lang="en-US" sz="1000" b="1"/>
              <a:t>Cite Rate: </a:t>
            </a:r>
            <a:r>
              <a:rPr lang="en-US" sz="1000"/>
              <a:t>The frequency or statistical likelihood of an AI engine linking back to your specific domain as a verified source.</a:t>
            </a:r>
          </a:p>
          <a:p>
            <a:pPr marL="171450" indent="-171450">
              <a:buFont typeface="Arial" panose="020B0604020202020204" pitchFamily="34" charset="0"/>
              <a:buChar char="•"/>
            </a:pPr>
            <a:r>
              <a:rPr lang="en-US" sz="1000" b="1"/>
              <a:t>CMS (Content Management System): </a:t>
            </a:r>
            <a:r>
              <a:rPr lang="en-US" sz="1000"/>
              <a:t>A software application or platform used to create, manage, modify, and publish digital content on websites.</a:t>
            </a:r>
            <a:endParaRPr lang="pl-PL" sz="1000"/>
          </a:p>
          <a:p>
            <a:pPr marL="171450" indent="-171450">
              <a:buFont typeface="Arial" panose="020B0604020202020204" pitchFamily="34" charset="0"/>
              <a:buChar char="•"/>
            </a:pPr>
            <a:r>
              <a:rPr lang="en-US" sz="1000" b="1"/>
              <a:t>Context Window: </a:t>
            </a:r>
            <a:r>
              <a:rPr lang="en-US" sz="1000"/>
              <a:t>The maximum amount of text or data an LLM can process and remember at one single time during a prompt interaction.</a:t>
            </a:r>
          </a:p>
          <a:p>
            <a:endParaRPr lang="en-US" sz="1000"/>
          </a:p>
          <a:p>
            <a:endParaRPr lang="fr-FR" sz="1000"/>
          </a:p>
        </p:txBody>
      </p:sp>
      <p:sp>
        <p:nvSpPr>
          <p:cNvPr id="6" name="Shape 4">
            <a:extLst>
              <a:ext uri="{FF2B5EF4-FFF2-40B4-BE49-F238E27FC236}">
                <a16:creationId xmlns:a16="http://schemas.microsoft.com/office/drawing/2014/main" id="{E02E4BBF-491F-011A-0DEB-06F484932F61}"/>
              </a:ext>
            </a:extLst>
          </p:cNvPr>
          <p:cNvSpPr/>
          <p:nvPr/>
        </p:nvSpPr>
        <p:spPr>
          <a:xfrm>
            <a:off x="6116784" y="1220724"/>
            <a:ext cx="2497629" cy="3332988"/>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b="1"/>
              <a:t>CTA (Call to Action): </a:t>
            </a:r>
            <a:r>
              <a:rPr lang="en-US" sz="1000"/>
              <a:t>A prompt, button, or phrase designed to encourage website visitors to take a specific, immediate action.</a:t>
            </a:r>
          </a:p>
          <a:p>
            <a:pPr marL="171450" indent="-171450">
              <a:buFont typeface="Arial" panose="020B0604020202020204" pitchFamily="34" charset="0"/>
              <a:buChar char="•"/>
            </a:pPr>
            <a:r>
              <a:rPr lang="en-US" sz="1000" b="1"/>
              <a:t>GEO (Generative Engine Optimization): </a:t>
            </a:r>
            <a:r>
              <a:rPr lang="en-US" sz="1000"/>
              <a:t>The process of optimizing digital content so it is accurately cited and recommended by generative AI search engines.</a:t>
            </a:r>
            <a:endParaRPr lang="pl-PL" sz="1000"/>
          </a:p>
          <a:p>
            <a:pPr marL="171450" indent="-171450">
              <a:buFont typeface="Arial" panose="020B0604020202020204" pitchFamily="34" charset="0"/>
              <a:buChar char="•"/>
            </a:pPr>
            <a:r>
              <a:rPr lang="en-US" sz="1000" b="1"/>
              <a:t>H1/H2/</a:t>
            </a:r>
            <a:r>
              <a:rPr lang="pl-PL" sz="1000" b="1"/>
              <a:t>...</a:t>
            </a:r>
            <a:r>
              <a:rPr lang="en-US" sz="1000" b="1"/>
              <a:t>: </a:t>
            </a:r>
            <a:r>
              <a:rPr lang="en-US" sz="1000"/>
              <a:t>HTML heading tags used to structure content hierarchically, helping both human readers and AI crawlers understand page topics.</a:t>
            </a:r>
          </a:p>
          <a:p>
            <a:pPr marL="171450" indent="-171450">
              <a:buFont typeface="Arial" panose="020B0604020202020204" pitchFamily="34" charset="0"/>
              <a:buChar char="•"/>
            </a:pPr>
            <a:r>
              <a:rPr lang="en-US" sz="1000" b="1"/>
              <a:t>Indexing the page: </a:t>
            </a:r>
            <a:r>
              <a:rPr lang="en-US" sz="1000"/>
              <a:t>The process by which search engines or AI bots discover, analyze, and store web pages in their database for future retrieval.</a:t>
            </a:r>
          </a:p>
          <a:p>
            <a:endParaRPr lang="fr-FR" sz="1000"/>
          </a:p>
        </p:txBody>
      </p:sp>
      <p:sp>
        <p:nvSpPr>
          <p:cNvPr id="10" name="Text 2">
            <a:extLst>
              <a:ext uri="{FF2B5EF4-FFF2-40B4-BE49-F238E27FC236}">
                <a16:creationId xmlns:a16="http://schemas.microsoft.com/office/drawing/2014/main" id="{4C6CA954-6EB2-BB07-1E38-BF61DB1E972F}"/>
              </a:ext>
            </a:extLst>
          </p:cNvPr>
          <p:cNvSpPr/>
          <p:nvPr/>
        </p:nvSpPr>
        <p:spPr>
          <a:xfrm>
            <a:off x="377189"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i="0" u="none" strike="noStrike" kern="1200" cap="none" spc="0" normalizeH="0" baseline="0" noProof="0">
                <a:ln>
                  <a:noFill/>
                </a:ln>
                <a:solidFill>
                  <a:srgbClr val="E7FFD9"/>
                </a:solidFill>
                <a:effectLst/>
                <a:uLnTx/>
                <a:uFillTx/>
                <a:latin typeface="Poppins"/>
                <a:ea typeface="+mn-ea"/>
                <a:cs typeface="Arial"/>
              </a:rPr>
              <a:t>GEO and AI related terms that you can find in this tolkit or while working with GEO.</a:t>
            </a:r>
            <a:endParaRPr kumimoji="0" lang="en-US" sz="1100" i="0" u="none" strike="noStrike" kern="1200" cap="none" spc="0" normalizeH="0" baseline="0" noProof="0">
              <a:ln>
                <a:noFill/>
              </a:ln>
              <a:solidFill>
                <a:srgbClr val="E7FFD9"/>
              </a:solidFill>
              <a:effectLst/>
              <a:uLnTx/>
              <a:uFillTx/>
              <a:latin typeface="Poppins"/>
              <a:ea typeface="+mn-ea"/>
              <a:cs typeface="Arial"/>
            </a:endParaRPr>
          </a:p>
        </p:txBody>
      </p:sp>
    </p:spTree>
    <p:extLst>
      <p:ext uri="{BB962C8B-B14F-4D97-AF65-F5344CB8AC3E}">
        <p14:creationId xmlns:p14="http://schemas.microsoft.com/office/powerpoint/2010/main" val="338311804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0263-9270-E944-2A9B-2147805976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BCABDD-5B65-7366-7D31-0636C148835C}"/>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86847D4E-82FE-B0EC-81C2-D00833AF62FC}"/>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cs typeface="Arial"/>
              </a:rPr>
              <a:t>GEO Glossary</a:t>
            </a:r>
            <a:endParaRPr lang="en-US" sz="2200">
              <a:solidFill>
                <a:schemeClr val="accent5"/>
              </a:solidFill>
              <a:cs typeface="Arial"/>
            </a:endParaRPr>
          </a:p>
        </p:txBody>
      </p:sp>
      <p:sp>
        <p:nvSpPr>
          <p:cNvPr id="4" name="Text 2">
            <a:extLst>
              <a:ext uri="{FF2B5EF4-FFF2-40B4-BE49-F238E27FC236}">
                <a16:creationId xmlns:a16="http://schemas.microsoft.com/office/drawing/2014/main" id="{9F9A957E-D9B0-5042-3E42-6DBE0C0D18A5}"/>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7" name="Shape 4">
            <a:extLst>
              <a:ext uri="{FF2B5EF4-FFF2-40B4-BE49-F238E27FC236}">
                <a16:creationId xmlns:a16="http://schemas.microsoft.com/office/drawing/2014/main" id="{2D1E5013-6B8E-685C-0B36-B30B3C103D0C}"/>
              </a:ext>
            </a:extLst>
          </p:cNvPr>
          <p:cNvSpPr/>
          <p:nvPr/>
        </p:nvSpPr>
        <p:spPr>
          <a:xfrm>
            <a:off x="377189" y="1220724"/>
            <a:ext cx="2497629" cy="3332988"/>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b="1"/>
              <a:t>Listicle: </a:t>
            </a:r>
            <a:r>
              <a:rPr lang="en-US" sz="1000"/>
              <a:t>A short-form article or piece of content written in a structured, easy-to-read list format.</a:t>
            </a:r>
          </a:p>
          <a:p>
            <a:pPr marL="171450" indent="-171450">
              <a:buFont typeface="Arial" panose="020B0604020202020204" pitchFamily="34" charset="0"/>
              <a:buChar char="•"/>
            </a:pPr>
            <a:r>
              <a:rPr lang="en-US" sz="1000" b="1"/>
              <a:t>LLM (Large Language Model): </a:t>
            </a:r>
            <a:r>
              <a:rPr lang="en-US" sz="1000"/>
              <a:t>A deep learning algorithm trained on massive datasets to understand, summarize, generate, and predict textual content.</a:t>
            </a:r>
          </a:p>
          <a:p>
            <a:pPr marL="171450" indent="-171450">
              <a:buFont typeface="Arial" panose="020B0604020202020204" pitchFamily="34" charset="0"/>
              <a:buChar char="•"/>
            </a:pPr>
            <a:r>
              <a:rPr lang="en-US" sz="1000" b="1"/>
              <a:t>Prompt: </a:t>
            </a:r>
            <a:r>
              <a:rPr lang="en-US" sz="1000"/>
              <a:t>The natural language input, question, or instruction given to an AI system to guide its generated output.</a:t>
            </a:r>
          </a:p>
          <a:p>
            <a:pPr marL="171450" indent="-171450">
              <a:buFont typeface="Arial" panose="020B0604020202020204" pitchFamily="34" charset="0"/>
              <a:buChar char="•"/>
            </a:pPr>
            <a:r>
              <a:rPr lang="en-US" sz="1000" b="1"/>
              <a:t>ROI (Return on Investment): </a:t>
            </a:r>
            <a:r>
              <a:rPr lang="en-US" sz="1000"/>
              <a:t>A financial metric used to evaluate the efficiency or profitability of an optimization campaign relative to its cost.</a:t>
            </a:r>
          </a:p>
          <a:p>
            <a:endParaRPr lang="pl-PL" sz="1000"/>
          </a:p>
        </p:txBody>
      </p:sp>
      <p:sp>
        <p:nvSpPr>
          <p:cNvPr id="5" name="Shape 4">
            <a:extLst>
              <a:ext uri="{FF2B5EF4-FFF2-40B4-BE49-F238E27FC236}">
                <a16:creationId xmlns:a16="http://schemas.microsoft.com/office/drawing/2014/main" id="{F9967F03-7747-9981-8704-7301DA7A4463}"/>
              </a:ext>
            </a:extLst>
          </p:cNvPr>
          <p:cNvSpPr/>
          <p:nvPr/>
        </p:nvSpPr>
        <p:spPr>
          <a:xfrm>
            <a:off x="3246986" y="1220724"/>
            <a:ext cx="2497629" cy="3332988"/>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b="1"/>
              <a:t>Schema markup: </a:t>
            </a:r>
            <a:r>
              <a:rPr lang="en-US" sz="1000"/>
              <a:t>A standardized code format added to a website to help AI and search engines understand the explicit context of its data.</a:t>
            </a:r>
          </a:p>
          <a:p>
            <a:pPr marL="171450" indent="-171450">
              <a:buFont typeface="Arial" panose="020B0604020202020204" pitchFamily="34" charset="0"/>
              <a:buChar char="•"/>
            </a:pPr>
            <a:r>
              <a:rPr lang="en-US" sz="1000" b="1"/>
              <a:t>Sentiment Alignment: </a:t>
            </a:r>
            <a:r>
              <a:rPr lang="en-US" sz="1000"/>
              <a:t>The practice of formatting content to match the positive, neutral, or analytical tone that AI models naturally favor for recommendations.</a:t>
            </a:r>
          </a:p>
          <a:p>
            <a:pPr marL="171450" indent="-171450">
              <a:buFont typeface="Arial" panose="020B0604020202020204" pitchFamily="34" charset="0"/>
              <a:buChar char="•"/>
            </a:pPr>
            <a:r>
              <a:rPr lang="en-US" sz="1000" b="1"/>
              <a:t>SEO (Search Engine Optimization): </a:t>
            </a:r>
            <a:r>
              <a:rPr lang="en-US" sz="1000"/>
              <a:t>The foundational practice of increasing website visibility and organic traffic from traditional search engines.</a:t>
            </a:r>
          </a:p>
          <a:p>
            <a:pPr marL="171450" indent="-171450">
              <a:buFont typeface="Arial" panose="020B0604020202020204" pitchFamily="34" charset="0"/>
              <a:buChar char="•"/>
            </a:pPr>
            <a:r>
              <a:rPr lang="en-US" sz="1000" b="1"/>
              <a:t>UX (User Experience): </a:t>
            </a:r>
            <a:r>
              <a:rPr lang="en-US" sz="1000"/>
              <a:t>The overall experience, ease of use, and satisfaction a visitor has when interacting with a website or application.</a:t>
            </a:r>
          </a:p>
          <a:p>
            <a:endParaRPr lang="fr-FR" sz="1000"/>
          </a:p>
        </p:txBody>
      </p:sp>
      <p:sp>
        <p:nvSpPr>
          <p:cNvPr id="6" name="Shape 4">
            <a:extLst>
              <a:ext uri="{FF2B5EF4-FFF2-40B4-BE49-F238E27FC236}">
                <a16:creationId xmlns:a16="http://schemas.microsoft.com/office/drawing/2014/main" id="{B89208F5-BF38-8284-0D19-BBA57CA263D8}"/>
              </a:ext>
            </a:extLst>
          </p:cNvPr>
          <p:cNvSpPr/>
          <p:nvPr/>
        </p:nvSpPr>
        <p:spPr>
          <a:xfrm>
            <a:off x="6116784" y="1220724"/>
            <a:ext cx="2497629" cy="3332988"/>
          </a:xfrm>
          <a:prstGeom prst="roundRect">
            <a:avLst>
              <a:gd name="adj" fmla="val 1978"/>
            </a:avLst>
          </a:prstGeom>
          <a:solidFill>
            <a:schemeClr val="accent5"/>
          </a:solidFill>
          <a:ln>
            <a:solidFill>
              <a:schemeClr val="tx1"/>
            </a:solidFill>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b="1"/>
              <a:t>Zero-Click Search: </a:t>
            </a:r>
            <a:r>
              <a:rPr lang="en-US" sz="1000"/>
              <a:t>A search engine results page interaction where the user's query is fully answered directly on the page, requiring no external clicks.</a:t>
            </a:r>
            <a:endParaRPr lang="fr-FR" sz="1000"/>
          </a:p>
        </p:txBody>
      </p:sp>
      <p:sp>
        <p:nvSpPr>
          <p:cNvPr id="8" name="Text 2">
            <a:extLst>
              <a:ext uri="{FF2B5EF4-FFF2-40B4-BE49-F238E27FC236}">
                <a16:creationId xmlns:a16="http://schemas.microsoft.com/office/drawing/2014/main" id="{D448240D-F98C-B5E3-D249-5C544C8EAA26}"/>
              </a:ext>
            </a:extLst>
          </p:cNvPr>
          <p:cNvSpPr/>
          <p:nvPr/>
        </p:nvSpPr>
        <p:spPr>
          <a:xfrm>
            <a:off x="377189" y="589788"/>
            <a:ext cx="7886700" cy="274320"/>
          </a:xfrm>
          <a:prstGeom prst="rect">
            <a:avLst/>
          </a:prstGeom>
          <a:noFill/>
          <a:ln/>
        </p:spPr>
        <p:txBody>
          <a:bodyPr wrap="square" lIns="0" tIns="0" rIns="0" bIns="0" rtlCol="0" anchor="ctr"/>
          <a:lstStyle/>
          <a:p>
            <a:pPr marL="0" marR="0" lvl="0" indent="0" algn="l" defTabSz="457184" rtl="0" eaLnBrk="1" fontAlgn="auto" latinLnBrk="0" hangingPunct="1">
              <a:lnSpc>
                <a:spcPct val="100000"/>
              </a:lnSpc>
              <a:spcBef>
                <a:spcPts val="0"/>
              </a:spcBef>
              <a:spcAft>
                <a:spcPts val="0"/>
              </a:spcAft>
              <a:buClrTx/>
              <a:buSzTx/>
              <a:buFontTx/>
              <a:buNone/>
              <a:tabLst/>
              <a:defRPr/>
            </a:pPr>
            <a:r>
              <a:rPr kumimoji="0" lang="pl-PL" sz="1100" i="0" u="none" strike="noStrike" kern="1200" cap="none" spc="0" normalizeH="0" baseline="0" noProof="0">
                <a:ln>
                  <a:noFill/>
                </a:ln>
                <a:solidFill>
                  <a:srgbClr val="E7FFD9"/>
                </a:solidFill>
                <a:effectLst/>
                <a:uLnTx/>
                <a:uFillTx/>
                <a:latin typeface="Poppins"/>
                <a:ea typeface="+mn-ea"/>
                <a:cs typeface="Arial"/>
              </a:rPr>
              <a:t>GEO and AI related terms that you can find in this tolkit or while working with GEO.</a:t>
            </a:r>
            <a:endParaRPr kumimoji="0" lang="en-US" sz="1100" i="0" u="none" strike="noStrike" kern="1200" cap="none" spc="0" normalizeH="0" baseline="0" noProof="0">
              <a:ln>
                <a:noFill/>
              </a:ln>
              <a:solidFill>
                <a:srgbClr val="E7FFD9"/>
              </a:solidFill>
              <a:effectLst/>
              <a:uLnTx/>
              <a:uFillTx/>
              <a:latin typeface="Poppins"/>
              <a:ea typeface="+mn-ea"/>
              <a:cs typeface="Arial"/>
            </a:endParaRPr>
          </a:p>
        </p:txBody>
      </p:sp>
    </p:spTree>
    <p:extLst>
      <p:ext uri="{BB962C8B-B14F-4D97-AF65-F5344CB8AC3E}">
        <p14:creationId xmlns:p14="http://schemas.microsoft.com/office/powerpoint/2010/main" val="130586667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1B2A-D970-DC8F-0DED-81484C782E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D721F8-FB80-172C-7A7F-8F449D3D0987}"/>
              </a:ext>
            </a:extLst>
          </p:cNvPr>
          <p:cNvSpPr/>
          <p:nvPr/>
        </p:nvSpPr>
        <p:spPr>
          <a:xfrm>
            <a:off x="1" y="0"/>
            <a:ext cx="9143771" cy="1028700"/>
          </a:xfrm>
          <a:prstGeom prst="rect">
            <a:avLst/>
          </a:prstGeom>
          <a:solidFill>
            <a:schemeClr val="tx1"/>
          </a:solidFill>
          <a:ln/>
        </p:spPr>
        <p:txBody>
          <a:bodyPr/>
          <a:lstStyle/>
          <a:p>
            <a:endParaRPr lang="pl-PL"/>
          </a:p>
        </p:txBody>
      </p:sp>
      <p:sp>
        <p:nvSpPr>
          <p:cNvPr id="3" name="Text 1">
            <a:extLst>
              <a:ext uri="{FF2B5EF4-FFF2-40B4-BE49-F238E27FC236}">
                <a16:creationId xmlns:a16="http://schemas.microsoft.com/office/drawing/2014/main" id="{19EA9259-286A-EA4A-CAF2-4F3D3630737E}"/>
              </a:ext>
            </a:extLst>
          </p:cNvPr>
          <p:cNvSpPr/>
          <p:nvPr/>
        </p:nvSpPr>
        <p:spPr>
          <a:xfrm>
            <a:off x="342900" y="192024"/>
            <a:ext cx="7886700" cy="377190"/>
          </a:xfrm>
          <a:prstGeom prst="rect">
            <a:avLst/>
          </a:prstGeom>
          <a:noFill/>
          <a:ln/>
        </p:spPr>
        <p:txBody>
          <a:bodyPr wrap="square" lIns="0" tIns="0" rIns="0" bIns="0" rtlCol="0" anchor="ctr"/>
          <a:lstStyle/>
          <a:p>
            <a:r>
              <a:rPr lang="pl-PL" sz="2200">
                <a:solidFill>
                  <a:schemeClr val="accent5"/>
                </a:solidFill>
                <a:latin typeface="+mj-lt"/>
                <a:ea typeface="+mj-ea"/>
                <a:cs typeface="Arial"/>
              </a:rPr>
              <a:t>Main GEO contacts</a:t>
            </a:r>
            <a:endParaRPr lang="en-US" sz="2200">
              <a:solidFill>
                <a:schemeClr val="accent5"/>
              </a:solidFill>
              <a:latin typeface="+mj-lt"/>
              <a:ea typeface="+mj-ea"/>
              <a:cs typeface="Arial"/>
            </a:endParaRPr>
          </a:p>
        </p:txBody>
      </p:sp>
      <p:sp>
        <p:nvSpPr>
          <p:cNvPr id="4" name="Text 2">
            <a:extLst>
              <a:ext uri="{FF2B5EF4-FFF2-40B4-BE49-F238E27FC236}">
                <a16:creationId xmlns:a16="http://schemas.microsoft.com/office/drawing/2014/main" id="{2D8F6C96-63B1-D309-72D8-E42D7BD37826}"/>
              </a:ext>
            </a:extLst>
          </p:cNvPr>
          <p:cNvSpPr/>
          <p:nvPr/>
        </p:nvSpPr>
        <p:spPr>
          <a:xfrm>
            <a:off x="342900" y="589788"/>
            <a:ext cx="7886700" cy="274320"/>
          </a:xfrm>
          <a:prstGeom prst="rect">
            <a:avLst/>
          </a:prstGeom>
          <a:noFill/>
          <a:ln/>
        </p:spPr>
        <p:txBody>
          <a:bodyPr wrap="square" lIns="0" tIns="0" rIns="0" bIns="0" rtlCol="0" anchor="ctr"/>
          <a:lstStyle/>
          <a:p>
            <a:endParaRPr lang="en-US" sz="1100">
              <a:solidFill>
                <a:schemeClr val="accent5"/>
              </a:solidFill>
              <a:cs typeface="Arial"/>
            </a:endParaRPr>
          </a:p>
        </p:txBody>
      </p:sp>
      <p:sp>
        <p:nvSpPr>
          <p:cNvPr id="5" name="Title 4">
            <a:extLst>
              <a:ext uri="{FF2B5EF4-FFF2-40B4-BE49-F238E27FC236}">
                <a16:creationId xmlns:a16="http://schemas.microsoft.com/office/drawing/2014/main" id="{DE0F9D54-871E-D7DA-560C-A57E8D6B8943}"/>
              </a:ext>
            </a:extLst>
          </p:cNvPr>
          <p:cNvSpPr>
            <a:spLocks noGrp="1"/>
          </p:cNvSpPr>
          <p:nvPr>
            <p:ph type="title"/>
          </p:nvPr>
        </p:nvSpPr>
        <p:spPr>
          <a:xfrm>
            <a:off x="450270" y="1338487"/>
            <a:ext cx="8264239" cy="3420549"/>
          </a:xfrm>
        </p:spPr>
        <p:txBody>
          <a:bodyPr anchor="t"/>
          <a:lstStyle/>
          <a:p>
            <a:pPr>
              <a:lnSpc>
                <a:spcPct val="150000"/>
              </a:lnSpc>
            </a:pPr>
            <a:r>
              <a:rPr lang="pl-PL" sz="2000" b="1"/>
              <a:t>CXCT:</a:t>
            </a:r>
            <a:br>
              <a:rPr lang="pl-PL" sz="1800"/>
            </a:br>
            <a:r>
              <a:rPr lang="pl-PL" sz="1800"/>
              <a:t>Jakub Falkowski – Global GEO Lead</a:t>
            </a:r>
            <a:br>
              <a:rPr lang="pl-PL" sz="1800"/>
            </a:br>
            <a:r>
              <a:rPr lang="pl-PL" sz="2000" b="1"/>
              <a:t>Brand &amp; Communications:</a:t>
            </a:r>
            <a:br>
              <a:rPr lang="pl-PL" sz="1800"/>
            </a:br>
            <a:r>
              <a:rPr lang="pl-PL" sz="1800"/>
              <a:t>Salman Kureishi – Traffic Insights Manager</a:t>
            </a:r>
            <a:br>
              <a:rPr lang="pl-PL" sz="1800"/>
            </a:br>
            <a:r>
              <a:rPr lang="pl-PL" sz="1800"/>
              <a:t>Matt Graves – Global SEO Manager</a:t>
            </a:r>
            <a:br>
              <a:rPr lang="pl-PL" sz="1800"/>
            </a:br>
            <a:r>
              <a:rPr lang="pl-PL" sz="2000" b="1"/>
              <a:t>SE Digital:</a:t>
            </a:r>
            <a:br>
              <a:rPr lang="pl-PL" sz="1800"/>
            </a:br>
            <a:r>
              <a:rPr lang="pl-PL" sz="1800"/>
              <a:t>Antoine Bisch – Principal, Web Performance</a:t>
            </a:r>
            <a:br>
              <a:rPr lang="pl-PL" sz="1800"/>
            </a:br>
            <a:r>
              <a:rPr lang="pl-PL" sz="1800"/>
              <a:t>Giuseppe Forciniti – Web Perforance/Technical SEO Specialist</a:t>
            </a:r>
          </a:p>
        </p:txBody>
      </p:sp>
    </p:spTree>
    <p:extLst>
      <p:ext uri="{BB962C8B-B14F-4D97-AF65-F5344CB8AC3E}">
        <p14:creationId xmlns:p14="http://schemas.microsoft.com/office/powerpoint/2010/main" val="64069325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6EAAA45-48B1-ED4B-8E3C-E707B7342D85}"/>
              </a:ext>
            </a:extLst>
          </p:cNvPr>
          <p:cNvSpPr>
            <a:spLocks noGrp="1"/>
          </p:cNvSpPr>
          <p:nvPr>
            <p:ph type="ftr" sz="quarter" idx="4294967295"/>
          </p:nvPr>
        </p:nvSpPr>
        <p:spPr>
          <a:xfrm>
            <a:off x="0" y="4867275"/>
            <a:ext cx="1720850" cy="104775"/>
          </a:xfrm>
        </p:spPr>
        <p:txBody>
          <a:bodyPr/>
          <a:lstStyle/>
          <a:p>
            <a:r>
              <a:rPr lang="en-US"/>
              <a:t>©2026 Schneider Electric. All Rights Reserved.</a:t>
            </a:r>
            <a:endParaRPr lang="en-US">
              <a:solidFill>
                <a:schemeClr val="tx1"/>
              </a:solidFill>
            </a:endParaRPr>
          </a:p>
        </p:txBody>
      </p:sp>
      <p:sp>
        <p:nvSpPr>
          <p:cNvPr id="4" name="Slide Number Placeholder 3">
            <a:extLst>
              <a:ext uri="{FF2B5EF4-FFF2-40B4-BE49-F238E27FC236}">
                <a16:creationId xmlns:a16="http://schemas.microsoft.com/office/drawing/2014/main" id="{F8B85387-16AB-DBB8-9E56-F719936E8569}"/>
              </a:ext>
            </a:extLst>
          </p:cNvPr>
          <p:cNvSpPr>
            <a:spLocks noGrp="1"/>
          </p:cNvSpPr>
          <p:nvPr>
            <p:ph type="sldNum" sz="quarter" idx="4294967295"/>
          </p:nvPr>
        </p:nvSpPr>
        <p:spPr>
          <a:xfrm>
            <a:off x="0" y="4873625"/>
            <a:ext cx="525463" cy="92075"/>
          </a:xfrm>
        </p:spPr>
        <p:txBody>
          <a:bodyPr/>
          <a:lstStyle/>
          <a:p>
            <a:r>
              <a:rPr lang="en-US">
                <a:ea typeface="Zalando Sans Medium" pitchFamily="2" charset="77"/>
              </a:rPr>
              <a:t>|</a:t>
            </a:r>
            <a:r>
              <a:rPr lang="en-US"/>
              <a:t> Page </a:t>
            </a:r>
            <a:fld id="{5A9C12DC-491F-9444-86A2-13AC5C62A2FC}" type="slidenum">
              <a:rPr lang="en-US" smtClean="0"/>
              <a:pPr/>
              <a:t>145</a:t>
            </a:fld>
            <a:endParaRPr lang="en-US"/>
          </a:p>
        </p:txBody>
      </p:sp>
    </p:spTree>
    <p:extLst>
      <p:ext uri="{BB962C8B-B14F-4D97-AF65-F5344CB8AC3E}">
        <p14:creationId xmlns:p14="http://schemas.microsoft.com/office/powerpoint/2010/main" val="1017014787"/>
      </p:ext>
    </p:extLst>
  </p:cSld>
  <p:clrMapOvr>
    <a:masterClrMapping/>
  </p:clrMapOvr>
</p:sld>
</file>

<file path=ppt/theme/theme1.xml><?xml version="1.0" encoding="utf-8"?>
<a:theme xmlns:a="http://schemas.openxmlformats.org/drawingml/2006/main" name="White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5AEA4EDA-DBB7-4607-8F98-64F88A7EDE04}" vid="{DFC1A29F-53C0-4E13-B5F1-F114CF188151}"/>
    </a:ext>
  </a:extLst>
</a:theme>
</file>

<file path=ppt/theme/theme2.xml><?xml version="1.0" encoding="utf-8"?>
<a:theme xmlns:a="http://schemas.openxmlformats.org/drawingml/2006/main" name="Light green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5AEA4EDA-DBB7-4607-8F98-64F88A7EDE04}" vid="{F8B2DA32-3C05-425A-A41D-1542F51A63B6}"/>
    </a:ext>
  </a:extLst>
</a:theme>
</file>

<file path=ppt/theme/theme3.xml><?xml version="1.0" encoding="utf-8"?>
<a:theme xmlns:a="http://schemas.openxmlformats.org/drawingml/2006/main" name="Dark green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5AEA4EDA-DBB7-4607-8F98-64F88A7EDE04}" vid="{4BCA4E32-CC55-4ABC-926B-F6F46EDFF5B7}"/>
    </a:ext>
  </a:extLst>
</a:theme>
</file>

<file path=ppt/theme/theme4.xml><?xml version="1.0" encoding="utf-8"?>
<a:theme xmlns:a="http://schemas.openxmlformats.org/drawingml/2006/main" name="1_White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se_energy_tech_ppt_20260421 vCCC.potx" id="{353923F0-6B20-4B71-A658-5CFD0C359E58}" vid="{8FCE58B9-8BE4-447B-98AF-D406B03112C2}"/>
    </a:ext>
  </a:extLst>
</a:theme>
</file>

<file path=ppt/theme/theme5.xml><?xml version="1.0" encoding="utf-8"?>
<a:theme xmlns:a="http://schemas.openxmlformats.org/drawingml/2006/main" name="2_White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5AEA4EDA-DBB7-4607-8F98-64F88A7EDE04}" vid="{DFC1A29F-53C0-4E13-B5F1-F114CF188151}"/>
    </a:ext>
  </a:extLst>
</a:theme>
</file>

<file path=ppt/theme/theme6.xml><?xml version="1.0" encoding="utf-8"?>
<a:theme xmlns:a="http://schemas.openxmlformats.org/drawingml/2006/main" name="3_White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5AEA4EDA-DBB7-4607-8F98-64F88A7EDE04}" vid="{DFC1A29F-53C0-4E13-B5F1-F114CF188151}"/>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147FA186F1F345A74A89168F6DC1A6" ma:contentTypeVersion="3" ma:contentTypeDescription="Create a new document." ma:contentTypeScope="" ma:versionID="25ce68bf98b12e64d93bd11bf0b809cc">
  <xsd:schema xmlns:xsd="http://www.w3.org/2001/XMLSchema" xmlns:xs="http://www.w3.org/2001/XMLSchema" xmlns:p="http://schemas.microsoft.com/office/2006/metadata/properties" xmlns:ns2="67b696f3-4341-4b48-84b2-e8440626289c" targetNamespace="http://schemas.microsoft.com/office/2006/metadata/properties" ma:root="true" ma:fieldsID="e34b6fa43a76acd32a42b7146f73209c" ns2:_="">
    <xsd:import namespace="67b696f3-4341-4b48-84b2-e8440626289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b696f3-4341-4b48-84b2-e844062628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B57AE89-60C2-4D1D-9C0E-53014A466E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b696f3-4341-4b48-84b2-e844062628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661C0-8723-4882-8F1C-AB3DCF5F203A}">
  <ds:schemaRefs>
    <ds:schemaRef ds:uri="http://schemas.microsoft.com/sharepoint/v3/contenttype/forms"/>
  </ds:schemaRefs>
</ds:datastoreItem>
</file>

<file path=customXml/itemProps3.xml><?xml version="1.0" encoding="utf-8"?>
<ds:datastoreItem xmlns:ds="http://schemas.openxmlformats.org/officeDocument/2006/customXml" ds:itemID="{D2CF00BF-0DF2-4ACD-BF59-54E296D2E59C}">
  <ds:schemaRefs>
    <ds:schemaRef ds:uri="67b696f3-4341-4b48-84b2-e8440626289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7443d00-af18-408c-9335-47b5de3ec9b9}"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emplate>SE Global Template</Template>
  <Application>Microsoft Office PowerPoint</Application>
  <PresentationFormat>On-screen Show (16:9)</PresentationFormat>
  <Slides>145</Slides>
  <Notes>74</Notes>
  <HiddenSlides>0</HiddenSlides>
  <ScaleCrop>false</ScaleCrop>
  <HeadingPairs>
    <vt:vector size="4" baseType="variant">
      <vt:variant>
        <vt:lpstr>Theme</vt:lpstr>
      </vt:variant>
      <vt:variant>
        <vt:i4>6</vt:i4>
      </vt:variant>
      <vt:variant>
        <vt:lpstr>Slide Titles</vt:lpstr>
      </vt:variant>
      <vt:variant>
        <vt:i4>145</vt:i4>
      </vt:variant>
    </vt:vector>
  </HeadingPairs>
  <TitlesOfParts>
    <vt:vector size="151" baseType="lpstr">
      <vt:lpstr>White content slides</vt:lpstr>
      <vt:lpstr>Light green content slides</vt:lpstr>
      <vt:lpstr>Dark green content slides</vt:lpstr>
      <vt:lpstr>1_White content slides</vt:lpstr>
      <vt:lpstr>2_White content slides</vt:lpstr>
      <vt:lpstr>3_White 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challenge isn't getting cited - it's getting cited on the topics people are actually talking about.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Today we should write to be quoted, not just read.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today doesn’t invest time to “see” the image. AI rely on us to explain what the image contains.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can't watch your video - but it reads every word around it.</vt:lpstr>
      <vt:lpstr>PowerPoint Presentation</vt:lpstr>
      <vt:lpstr>PowerPoint Presentation</vt:lpstr>
      <vt:lpstr>PowerPoint Presentation</vt:lpstr>
      <vt:lpstr>PowerPoint Presentation</vt:lpstr>
      <vt:lpstr>PowerPoint Presentation</vt:lpstr>
      <vt:lpstr>PowerPoint Presentation</vt:lpstr>
      <vt:lpstr>Properly written FAQs can convert AI models to be one of our best support agents – one who never sleeps.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If an AI can't read our expertise, it doesn't count. We need to provide the evidence, not just state the facts.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Good thought leadership still needs a quotable source. Say the important message first – then tell the story around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don't need to guess why we're missing. We need to study what’s already winning - then out-answer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CXCT: Jakub Falkowski – Global GEO Lead Brand &amp; Communications: Salman Kureishi – Traffic Insights Manager Matt Graves – Global SEO Manager SE Digital: Antoine Bisch – Principal, Web Performance Giuseppe Forciniti – Web Perforance/Technical SEO Specialist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 Power couples</dc:title>
  <dc:creator>JAKUB FALKOWSKI</dc:creator>
  <cp:revision>2</cp:revision>
  <dcterms:created xsi:type="dcterms:W3CDTF">2026-05-04T08:42:54Z</dcterms:created>
  <dcterms:modified xsi:type="dcterms:W3CDTF">2026-10-13T14:12:57Z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0x01010070147FA186F1F345A74A89168F6DC1A6</vt:lpwstr>
  </property>
  <property fmtid="{D5CDD505-2E9C-101B-9397-08002B2CF9AE}" pid="3" name="MediaServiceImageTags">
    <vt:lpwstr/>
  </property>
  <property fmtid="{D5CDD505-2E9C-101B-9397-08002B2CF9AE}" pid="4" name="ClassificationContentMarkingFooterLocations">
    <vt:lpwstr>White content slides:4\Light green content slides:4\Dark green content slides:4\Gradient content slides:5</vt:lpwstr>
  </property>
  <property fmtid="{D5CDD505-2E9C-101B-9397-08002B2CF9AE}" pid="5" name="ClassificationContentMarkingFooterText">
    <vt:lpwstr>General</vt:lpwstr>
  </property>
</Properties>
</file>